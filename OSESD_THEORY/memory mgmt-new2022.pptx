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257" r:id="rId3"/>
    <p:sldId id="336" r:id="rId4"/>
    <p:sldId id="338" r:id="rId5"/>
    <p:sldId id="356" r:id="rId6"/>
    <p:sldId id="339" r:id="rId7"/>
    <p:sldId id="341" r:id="rId8"/>
    <p:sldId id="342" r:id="rId9"/>
    <p:sldId id="357" r:id="rId10"/>
    <p:sldId id="345" r:id="rId11"/>
    <p:sldId id="346" r:id="rId12"/>
    <p:sldId id="328" r:id="rId13"/>
    <p:sldId id="320" r:id="rId14"/>
    <p:sldId id="321" r:id="rId15"/>
    <p:sldId id="322" r:id="rId16"/>
    <p:sldId id="323" r:id="rId17"/>
    <p:sldId id="324" r:id="rId18"/>
    <p:sldId id="330" r:id="rId19"/>
    <p:sldId id="331" r:id="rId20"/>
    <p:sldId id="332" r:id="rId21"/>
    <p:sldId id="333" r:id="rId22"/>
    <p:sldId id="347" r:id="rId23"/>
    <p:sldId id="348" r:id="rId24"/>
    <p:sldId id="349" r:id="rId25"/>
    <p:sldId id="329" r:id="rId26"/>
    <p:sldId id="325" r:id="rId27"/>
    <p:sldId id="326" r:id="rId28"/>
    <p:sldId id="327" r:id="rId29"/>
    <p:sldId id="281" r:id="rId30"/>
    <p:sldId id="334" r:id="rId31"/>
    <p:sldId id="304" r:id="rId32"/>
    <p:sldId id="305" r:id="rId33"/>
    <p:sldId id="307" r:id="rId34"/>
    <p:sldId id="306" r:id="rId35"/>
    <p:sldId id="365" r:id="rId36"/>
    <p:sldId id="364" r:id="rId37"/>
    <p:sldId id="366" r:id="rId38"/>
    <p:sldId id="367" r:id="rId39"/>
    <p:sldId id="368" r:id="rId40"/>
    <p:sldId id="312" r:id="rId41"/>
    <p:sldId id="350" r:id="rId42"/>
    <p:sldId id="355" r:id="rId43"/>
    <p:sldId id="284" r:id="rId44"/>
    <p:sldId id="358" r:id="rId45"/>
    <p:sldId id="285" r:id="rId46"/>
    <p:sldId id="288" r:id="rId47"/>
    <p:sldId id="362" r:id="rId48"/>
    <p:sldId id="359" r:id="rId49"/>
    <p:sldId id="360" r:id="rId50"/>
    <p:sldId id="361" r:id="rId51"/>
    <p:sldId id="286" r:id="rId52"/>
    <p:sldId id="351" r:id="rId53"/>
    <p:sldId id="353" r:id="rId54"/>
    <p:sldId id="352" r:id="rId55"/>
    <p:sldId id="354" r:id="rId56"/>
    <p:sldId id="290" r:id="rId57"/>
    <p:sldId id="363"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76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D35EAA-9CA9-443B-A959-87E67E4061A8}" type="datetimeFigureOut">
              <a:rPr lang="en-US" smtClean="0"/>
              <a:pPr/>
              <a:t>9/14/2022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35CEE0-FF92-426C-816D-7CDB925FC3FD}" type="slidenum">
              <a:rPr lang="en-US" smtClean="0"/>
              <a:pPr/>
              <a:t>‹#›</a:t>
            </a:fld>
            <a:endParaRPr lang="en-US"/>
          </a:p>
        </p:txBody>
      </p:sp>
    </p:spTree>
    <p:extLst>
      <p:ext uri="{BB962C8B-B14F-4D97-AF65-F5344CB8AC3E}">
        <p14:creationId xmlns:p14="http://schemas.microsoft.com/office/powerpoint/2010/main" val="1745267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pPr defTabSz="912879"/>
            <a:fld id="{8D3BF438-0A3B-4311-B221-D875848EC206}" type="slidenum">
              <a:rPr lang="en-US" altLang="en-US" smtClean="0">
                <a:latin typeface="Helvetica" pitchFamily="-84" charset="0"/>
              </a:rPr>
              <a:pPr defTabSz="912879"/>
              <a:t>7</a:t>
            </a:fld>
            <a:endParaRPr lang="en-US" altLang="en-US" dirty="0" smtClean="0">
              <a:latin typeface="Helvetica" pitchFamily="-84"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130269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pPr defTabSz="912879"/>
            <a:fld id="{D93E4295-F3ED-48B2-821C-C2123F30675D}" type="slidenum">
              <a:rPr lang="en-US" altLang="en-US" smtClean="0">
                <a:latin typeface="Helvetica" pitchFamily="-84" charset="0"/>
              </a:rPr>
              <a:pPr defTabSz="912879"/>
              <a:t>11</a:t>
            </a:fld>
            <a:endParaRPr lang="en-US" altLang="en-US" dirty="0" smtClean="0">
              <a:latin typeface="Helvetica" pitchFamily="-84"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50137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pPr defTabSz="912879"/>
            <a:fld id="{10647E65-F222-4D57-ABEB-010B361E06C9}" type="slidenum">
              <a:rPr lang="en-US" altLang="en-US" smtClean="0">
                <a:latin typeface="Helvetica" pitchFamily="-84" charset="0"/>
              </a:rPr>
              <a:pPr defTabSz="912879"/>
              <a:t>33</a:t>
            </a:fld>
            <a:endParaRPr lang="en-US" altLang="en-US" dirty="0" smtClean="0">
              <a:latin typeface="Helvetica" pitchFamily="-84"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220220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pPr defTabSz="912879"/>
            <a:fld id="{909B3B33-0005-4AE0-BA63-704001E1D5A1}" type="slidenum">
              <a:rPr lang="en-US" altLang="en-US" smtClean="0">
                <a:latin typeface="Helvetica" pitchFamily="-84" charset="0"/>
              </a:rPr>
              <a:pPr defTabSz="912879"/>
              <a:t>34</a:t>
            </a:fld>
            <a:endParaRPr lang="en-US" altLang="en-US" dirty="0" smtClean="0">
              <a:latin typeface="Helvetica" pitchFamily="-84"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737115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r="90000" b="90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smtClean="0"/>
              <a:t>Memory Management </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Memory management?</a:t>
            </a:r>
            <a:endParaRPr lang="en-US" dirty="0"/>
          </a:p>
        </p:txBody>
      </p:sp>
      <p:sp>
        <p:nvSpPr>
          <p:cNvPr id="3" name="Content Placeholder 2"/>
          <p:cNvSpPr>
            <a:spLocks noGrp="1"/>
          </p:cNvSpPr>
          <p:nvPr>
            <p:ph idx="1"/>
          </p:nvPr>
        </p:nvSpPr>
        <p:spPr/>
        <p:txBody>
          <a:bodyPr>
            <a:normAutofit/>
          </a:bodyPr>
          <a:lstStyle/>
          <a:p>
            <a:pPr algn="just"/>
            <a:r>
              <a:rPr lang="en-US" sz="2400" dirty="0" smtClean="0"/>
              <a:t>Memory management is the functionality of an operating system which handles or manages primary memory and moves processes back and forth between main memory and disk during execution.</a:t>
            </a:r>
          </a:p>
          <a:p>
            <a:pPr algn="just"/>
            <a:r>
              <a:rPr lang="en-US" sz="2400" dirty="0" smtClean="0"/>
              <a:t> Memory management keeps track of each and every memory location, regardless of either it is allocated to some process or it is free. </a:t>
            </a:r>
          </a:p>
          <a:p>
            <a:pPr algn="just"/>
            <a:r>
              <a:rPr lang="en-US" sz="2400" dirty="0" smtClean="0"/>
              <a:t>It checks how much memory is to be allocated to processes. It decides which process will get memory at what time. </a:t>
            </a:r>
          </a:p>
          <a:p>
            <a:pPr algn="just"/>
            <a:r>
              <a:rPr lang="en-US" sz="2400" dirty="0" smtClean="0"/>
              <a:t>It tracks whenever some memory gets freed or unallocated and correspondingly it updates the status.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816996" y="342900"/>
            <a:ext cx="3962400" cy="1143000"/>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smtClean="0">
                <a:solidFill>
                  <a:schemeClr val="bg1"/>
                </a:solidFill>
              </a:rPr>
              <a:t>Memory Hierarchy</a:t>
            </a:r>
            <a:endParaRPr lang="en-US" sz="3200" b="1" dirty="0">
              <a:solidFill>
                <a:schemeClr val="bg1"/>
              </a:solidFill>
            </a:endParaRPr>
          </a:p>
        </p:txBody>
      </p:sp>
      <p:pic>
        <p:nvPicPr>
          <p:cNvPr id="1026" name="Picture 2" descr="D:\COLLEGE WORK\rtos 2020 blended\ppt\1_4_StorageDeviceHierarch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2438400"/>
            <a:ext cx="4224337" cy="351155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990600" y="819150"/>
            <a:ext cx="3962400" cy="1143000"/>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smtClean="0"/>
              <a:t>Memory Hierarchy</a:t>
            </a:r>
            <a:endParaRPr lang="en-US" sz="3200" b="1" dirty="0"/>
          </a:p>
        </p:txBody>
      </p:sp>
    </p:spTree>
    <p:extLst>
      <p:ext uri="{BB962C8B-B14F-4D97-AF65-F5344CB8AC3E}">
        <p14:creationId xmlns:p14="http://schemas.microsoft.com/office/powerpoint/2010/main" val="11305255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Process Address Space</a:t>
            </a:r>
            <a:endParaRPr lang="en-US" dirty="0"/>
          </a:p>
        </p:txBody>
      </p:sp>
      <p:sp>
        <p:nvSpPr>
          <p:cNvPr id="3" name="Content Placeholder 2"/>
          <p:cNvSpPr>
            <a:spLocks noGrp="1"/>
          </p:cNvSpPr>
          <p:nvPr>
            <p:ph idx="1"/>
          </p:nvPr>
        </p:nvSpPr>
        <p:spPr/>
        <p:txBody>
          <a:bodyPr>
            <a:normAutofit/>
          </a:bodyPr>
          <a:lstStyle/>
          <a:p>
            <a:pPr algn="just"/>
            <a:r>
              <a:rPr lang="en-US" sz="2400" dirty="0" smtClean="0"/>
              <a:t>The process address space is the set of logical addresses that a process references in its code.</a:t>
            </a:r>
          </a:p>
          <a:p>
            <a:pPr algn="just"/>
            <a:r>
              <a:rPr lang="en-US" sz="2400" dirty="0" smtClean="0"/>
              <a:t> For example, when 32-bit addressing is in use, addresses can range from 0 to 0x7fffffff; that is, 2^31 possible numbers, for a total theoretical size of 2 gigabytes.</a:t>
            </a:r>
          </a:p>
          <a:p>
            <a:pPr algn="just"/>
            <a:r>
              <a:rPr lang="en-US" sz="2400" dirty="0" smtClean="0"/>
              <a:t>The operating system takes care of mapping the logical addresses to physical addresses at the time of memory allocation to the program. </a:t>
            </a:r>
          </a:p>
        </p:txBody>
      </p:sp>
    </p:spTree>
    <p:extLst>
      <p:ext uri="{BB962C8B-B14F-4D97-AF65-F5344CB8AC3E}">
        <p14:creationId xmlns:p14="http://schemas.microsoft.com/office/powerpoint/2010/main" val="1990085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2"/>
          <a:stretch>
            <a:fillRect/>
          </a:stretch>
        </p:blipFill>
        <p:spPr>
          <a:xfrm>
            <a:off x="1143000" y="1676400"/>
            <a:ext cx="6610350" cy="4238625"/>
          </a:xfrm>
          <a:prstGeom prst="rect">
            <a:avLst/>
          </a:prstGeom>
        </p:spPr>
      </p:pic>
    </p:spTree>
    <p:extLst>
      <p:ext uri="{BB962C8B-B14F-4D97-AF65-F5344CB8AC3E}">
        <p14:creationId xmlns:p14="http://schemas.microsoft.com/office/powerpoint/2010/main" val="1508266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solidFill>
                  <a:srgbClr val="FF0000"/>
                </a:solidFill>
                <a:latin typeface="+mn-lt"/>
              </a:rPr>
              <a:t>There are three types of addresses used in a program before and after memory is allocated:</a:t>
            </a:r>
            <a:br>
              <a:rPr lang="en-US" sz="2400" dirty="0">
                <a:solidFill>
                  <a:srgbClr val="FF0000"/>
                </a:solidFill>
                <a:latin typeface="+mn-lt"/>
              </a:rPr>
            </a:br>
            <a:endParaRPr lang="en-US" sz="2400" dirty="0">
              <a:latin typeface="+mn-l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85373004"/>
              </p:ext>
            </p:extLst>
          </p:nvPr>
        </p:nvGraphicFramePr>
        <p:xfrm>
          <a:off x="453788" y="1417638"/>
          <a:ext cx="8153402" cy="4525962"/>
        </p:xfrm>
        <a:graphic>
          <a:graphicData uri="http://schemas.openxmlformats.org/drawingml/2006/table">
            <a:tbl>
              <a:tblPr/>
              <a:tblGrid>
                <a:gridCol w="838203"/>
                <a:gridCol w="7315199"/>
              </a:tblGrid>
              <a:tr h="571962">
                <a:tc gridSpan="2">
                  <a:txBody>
                    <a:bodyPr/>
                    <a:lstStyle/>
                    <a:p>
                      <a:pPr algn="ctr" fontAlgn="t"/>
                      <a:r>
                        <a:rPr lang="en-US" sz="1500" dirty="0">
                          <a:effectLst/>
                        </a:rPr>
                        <a:t>Memory Addresses &amp; Description</a:t>
                      </a:r>
                    </a:p>
                  </a:txBody>
                  <a:tcPr marL="62170" marR="62170" marT="62170" marB="62170">
                    <a:lnL w="9525" cap="flat" cmpd="sng" algn="ctr">
                      <a:solidFill>
                        <a:srgbClr val="DDDDDD"/>
                      </a:solidFill>
                      <a:prstDash val="solid"/>
                      <a:round/>
                      <a:headEnd type="none" w="med" len="med"/>
                      <a:tailEnd type="none" w="med" len="med"/>
                    </a:lnL>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hMerge="1">
                  <a:txBody>
                    <a:bodyPr/>
                    <a:lstStyle/>
                    <a:p>
                      <a:endParaRPr lang="en-US" sz="1500" dirty="0"/>
                    </a:p>
                  </a:txBody>
                  <a:tcPr marL="74604" marR="74604" marT="37302" marB="37302">
                    <a:lnL w="9525" cap="flat" cmpd="sng" algn="ctr">
                      <a:solidFill>
                        <a:srgbClr val="DDDDDD"/>
                      </a:solidFill>
                      <a:prstDash val="solid"/>
                      <a:round/>
                      <a:headEnd type="none" w="med" len="med"/>
                      <a:tailEnd type="none" w="med" len="med"/>
                    </a:lnL>
                    <a:lnB w="9525" cap="flat" cmpd="sng" algn="ctr">
                      <a:solidFill>
                        <a:srgbClr val="DDDDDD"/>
                      </a:solidFill>
                      <a:prstDash val="solid"/>
                      <a:round/>
                      <a:headEnd type="none" w="med" len="med"/>
                      <a:tailEnd type="none" w="med" len="med"/>
                    </a:lnB>
                  </a:tcPr>
                </a:tc>
              </a:tr>
              <a:tr h="1467208">
                <a:tc>
                  <a:txBody>
                    <a:bodyPr/>
                    <a:lstStyle/>
                    <a:p>
                      <a:pPr fontAlgn="t"/>
                      <a:r>
                        <a:rPr lang="en-US" sz="1500">
                          <a:effectLst/>
                        </a:rPr>
                        <a:t>1</a:t>
                      </a:r>
                    </a:p>
                  </a:txBody>
                  <a:tcPr marL="62170" marR="62170" marT="62170" marB="6217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500" b="1" dirty="0" smtClean="0">
                          <a:solidFill>
                            <a:srgbClr val="000000"/>
                          </a:solidFill>
                          <a:effectLst/>
                        </a:rPr>
                        <a:t>Symbolic addresses</a:t>
                      </a:r>
                      <a:endParaRPr lang="en-US" sz="1500" dirty="0" smtClean="0">
                        <a:solidFill>
                          <a:srgbClr val="000000"/>
                        </a:solidFill>
                        <a:effectLst/>
                      </a:endParaRPr>
                    </a:p>
                    <a:p>
                      <a:pPr algn="just" fontAlgn="t"/>
                      <a:r>
                        <a:rPr lang="en-US" sz="1500" dirty="0" smtClean="0">
                          <a:solidFill>
                            <a:srgbClr val="000000"/>
                          </a:solidFill>
                          <a:effectLst/>
                        </a:rPr>
                        <a:t>The </a:t>
                      </a:r>
                      <a:r>
                        <a:rPr lang="en-US" sz="1500" dirty="0">
                          <a:solidFill>
                            <a:srgbClr val="000000"/>
                          </a:solidFill>
                          <a:effectLst/>
                        </a:rPr>
                        <a:t>addresses used in a source code. The variable names, constants, and instruction labels are the basic elements of the symbolic address space.</a:t>
                      </a:r>
                    </a:p>
                  </a:txBody>
                  <a:tcPr marL="62170" marR="62170" marT="62170" marB="6217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1243396">
                <a:tc>
                  <a:txBody>
                    <a:bodyPr/>
                    <a:lstStyle/>
                    <a:p>
                      <a:pPr fontAlgn="t"/>
                      <a:r>
                        <a:rPr lang="en-US" sz="1500">
                          <a:effectLst/>
                        </a:rPr>
                        <a:t>2</a:t>
                      </a:r>
                    </a:p>
                  </a:txBody>
                  <a:tcPr marL="62170" marR="62170" marT="62170" marB="6217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500" b="1" dirty="0">
                          <a:solidFill>
                            <a:srgbClr val="000000"/>
                          </a:solidFill>
                          <a:effectLst/>
                        </a:rPr>
                        <a:t>Relative addresses</a:t>
                      </a:r>
                      <a:endParaRPr lang="en-US" sz="1500" dirty="0">
                        <a:solidFill>
                          <a:srgbClr val="000000"/>
                        </a:solidFill>
                        <a:effectLst/>
                      </a:endParaRPr>
                    </a:p>
                    <a:p>
                      <a:pPr algn="just" fontAlgn="t"/>
                      <a:r>
                        <a:rPr lang="en-US" sz="1500" dirty="0">
                          <a:solidFill>
                            <a:srgbClr val="000000"/>
                          </a:solidFill>
                          <a:effectLst/>
                        </a:rPr>
                        <a:t>At the time of compilation, a compiler converts symbolic addresses into relative addresses.</a:t>
                      </a:r>
                    </a:p>
                  </a:txBody>
                  <a:tcPr marL="62170" marR="62170" marT="62170" marB="6217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1243396">
                <a:tc>
                  <a:txBody>
                    <a:bodyPr/>
                    <a:lstStyle/>
                    <a:p>
                      <a:pPr fontAlgn="t"/>
                      <a:r>
                        <a:rPr lang="en-US" sz="1500">
                          <a:effectLst/>
                        </a:rPr>
                        <a:t>3</a:t>
                      </a:r>
                    </a:p>
                  </a:txBody>
                  <a:tcPr marL="62170" marR="62170" marT="62170" marB="6217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500" b="1" dirty="0">
                          <a:solidFill>
                            <a:srgbClr val="000000"/>
                          </a:solidFill>
                          <a:effectLst/>
                        </a:rPr>
                        <a:t>Physical addresses</a:t>
                      </a:r>
                      <a:endParaRPr lang="en-US" sz="1500" dirty="0">
                        <a:solidFill>
                          <a:srgbClr val="000000"/>
                        </a:solidFill>
                        <a:effectLst/>
                      </a:endParaRPr>
                    </a:p>
                    <a:p>
                      <a:pPr algn="just" fontAlgn="t"/>
                      <a:r>
                        <a:rPr lang="en-US" sz="1500" dirty="0">
                          <a:solidFill>
                            <a:srgbClr val="000000"/>
                          </a:solidFill>
                          <a:effectLst/>
                        </a:rPr>
                        <a:t>The loader generates these addresses at the time when a program is loaded into main memory.</a:t>
                      </a:r>
                    </a:p>
                  </a:txBody>
                  <a:tcPr marL="62170" marR="62170" marT="62170" marB="6217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505924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265238" y="112713"/>
            <a:ext cx="6559550" cy="576262"/>
          </a:xfrm>
        </p:spPr>
        <p:txBody>
          <a:bodyPr>
            <a:normAutofit fontScale="90000"/>
          </a:bodyPr>
          <a:lstStyle/>
          <a:p>
            <a:pPr eaLnBrk="1" hangingPunct="1"/>
            <a:r>
              <a:rPr lang="en-US" altLang="en-US" dirty="0" smtClean="0"/>
              <a:t>Base and Limit Registers</a:t>
            </a:r>
          </a:p>
        </p:txBody>
      </p:sp>
      <p:sp>
        <p:nvSpPr>
          <p:cNvPr id="7171" name="Rectangle 3"/>
          <p:cNvSpPr>
            <a:spLocks noGrp="1" noChangeArrowheads="1"/>
          </p:cNvSpPr>
          <p:nvPr>
            <p:ph type="body" idx="1"/>
          </p:nvPr>
        </p:nvSpPr>
        <p:spPr>
          <a:xfrm>
            <a:off x="914400" y="685800"/>
            <a:ext cx="6973887" cy="4183063"/>
          </a:xfrm>
        </p:spPr>
        <p:txBody>
          <a:bodyPr>
            <a:normAutofit/>
          </a:bodyPr>
          <a:lstStyle/>
          <a:p>
            <a:pPr algn="just"/>
            <a:r>
              <a:rPr lang="en-US" altLang="en-US" sz="2400" dirty="0" smtClean="0"/>
              <a:t>A pair of </a:t>
            </a:r>
            <a:r>
              <a:rPr lang="en-US" altLang="en-US" sz="2400" b="1" dirty="0" smtClean="0">
                <a:solidFill>
                  <a:srgbClr val="3366FF"/>
                </a:solidFill>
              </a:rPr>
              <a:t>base</a:t>
            </a:r>
            <a:r>
              <a:rPr lang="en-US" altLang="en-US" sz="2400" dirty="0" smtClean="0">
                <a:solidFill>
                  <a:srgbClr val="3366FF"/>
                </a:solidFill>
              </a:rPr>
              <a:t> </a:t>
            </a:r>
            <a:r>
              <a:rPr lang="en-US" altLang="en-US" sz="2400" dirty="0" smtClean="0"/>
              <a:t>and</a:t>
            </a:r>
            <a:r>
              <a:rPr lang="en-US" altLang="en-US" sz="2400" b="1" dirty="0" smtClean="0">
                <a:solidFill>
                  <a:srgbClr val="FF0000"/>
                </a:solidFill>
              </a:rPr>
              <a:t> </a:t>
            </a:r>
            <a:r>
              <a:rPr lang="en-US" altLang="en-US" sz="2400" b="1" dirty="0" smtClean="0">
                <a:solidFill>
                  <a:srgbClr val="3366FF"/>
                </a:solidFill>
              </a:rPr>
              <a:t>limit</a:t>
            </a:r>
            <a:r>
              <a:rPr lang="en-US" altLang="en-US" sz="2400" dirty="0" smtClean="0">
                <a:solidFill>
                  <a:srgbClr val="3366FF"/>
                </a:solidFill>
              </a:rPr>
              <a:t> </a:t>
            </a:r>
            <a:r>
              <a:rPr lang="en-US" altLang="en-US" sz="2400" b="1" dirty="0" smtClean="0">
                <a:solidFill>
                  <a:srgbClr val="3366FF"/>
                </a:solidFill>
              </a:rPr>
              <a:t>registers</a:t>
            </a:r>
            <a:r>
              <a:rPr lang="en-US" altLang="en-US" sz="2400" dirty="0" smtClean="0"/>
              <a:t> define the logical address space</a:t>
            </a:r>
          </a:p>
          <a:p>
            <a:pPr algn="just"/>
            <a:r>
              <a:rPr lang="en-US" altLang="en-US" sz="2400" dirty="0" smtClean="0"/>
              <a:t>CPU must check every memory access generated in user mode to be sure it is between base and limit for that user</a:t>
            </a:r>
          </a:p>
        </p:txBody>
      </p:sp>
      <p:pic>
        <p:nvPicPr>
          <p:cNvPr id="7172" name="Picture 5"/>
          <p:cNvPicPr>
            <a:picLocks noChangeAspect="1" noChangeArrowheads="1"/>
          </p:cNvPicPr>
          <p:nvPr/>
        </p:nvPicPr>
        <p:blipFill>
          <a:blip r:embed="rId3" cstate="print"/>
          <a:srcRect/>
          <a:stretch>
            <a:fillRect/>
          </a:stretch>
        </p:blipFill>
        <p:spPr bwMode="auto">
          <a:xfrm>
            <a:off x="2895600" y="3429000"/>
            <a:ext cx="3273425" cy="3073400"/>
          </a:xfrm>
          <a:prstGeom prst="rect">
            <a:avLst/>
          </a:prstGeom>
          <a:noFill/>
          <a:ln w="9525">
            <a:noFill/>
            <a:miter lim="800000"/>
            <a:headEnd/>
            <a:tailEnd/>
          </a:ln>
        </p:spPr>
      </p:pic>
    </p:spTree>
    <p:extLst>
      <p:ext uri="{BB962C8B-B14F-4D97-AF65-F5344CB8AC3E}">
        <p14:creationId xmlns:p14="http://schemas.microsoft.com/office/powerpoint/2010/main" val="18683074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941388" y="153988"/>
            <a:ext cx="7745412" cy="576262"/>
          </a:xfrm>
        </p:spPr>
        <p:txBody>
          <a:bodyPr>
            <a:normAutofit fontScale="90000"/>
          </a:bodyPr>
          <a:lstStyle/>
          <a:p>
            <a:r>
              <a:rPr lang="en-US" altLang="en-US" smtClean="0"/>
              <a:t>Hardware Address Protection</a:t>
            </a:r>
          </a:p>
        </p:txBody>
      </p:sp>
      <p:pic>
        <p:nvPicPr>
          <p:cNvPr id="8195" name="Content Placeholder 4" descr="8.02.pdf"/>
          <p:cNvPicPr>
            <a:picLocks noGrp="1" noChangeAspect="1"/>
          </p:cNvPicPr>
          <p:nvPr>
            <p:ph idx="1"/>
          </p:nvPr>
        </p:nvPicPr>
        <p:blipFill>
          <a:blip r:embed="rId2" cstate="print"/>
          <a:srcRect t="-12790" b="-12790"/>
          <a:stretch>
            <a:fillRect/>
          </a:stretch>
        </p:blipFill>
        <p:spPr>
          <a:xfrm>
            <a:off x="1576388" y="1212850"/>
            <a:ext cx="6324600" cy="3482975"/>
          </a:xfrm>
        </p:spPr>
      </p:pic>
    </p:spTree>
    <p:extLst>
      <p:ext uri="{BB962C8B-B14F-4D97-AF65-F5344CB8AC3E}">
        <p14:creationId xmlns:p14="http://schemas.microsoft.com/office/powerpoint/2010/main" val="1701797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219200" y="1752600"/>
            <a:ext cx="6057900" cy="3667125"/>
          </a:xfrm>
          <a:prstGeom prst="rect">
            <a:avLst/>
          </a:prstGeom>
        </p:spPr>
      </p:pic>
    </p:spTree>
    <p:extLst>
      <p:ext uri="{BB962C8B-B14F-4D97-AF65-F5344CB8AC3E}">
        <p14:creationId xmlns:p14="http://schemas.microsoft.com/office/powerpoint/2010/main" val="1160557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Swapping</a:t>
            </a:r>
            <a:endParaRPr lang="en-US" dirty="0"/>
          </a:p>
        </p:txBody>
      </p:sp>
      <p:sp>
        <p:nvSpPr>
          <p:cNvPr id="3" name="Content Placeholder 2"/>
          <p:cNvSpPr>
            <a:spLocks noGrp="1"/>
          </p:cNvSpPr>
          <p:nvPr>
            <p:ph idx="1"/>
          </p:nvPr>
        </p:nvSpPr>
        <p:spPr/>
        <p:txBody>
          <a:bodyPr>
            <a:normAutofit/>
          </a:bodyPr>
          <a:lstStyle/>
          <a:p>
            <a:pPr algn="just"/>
            <a:r>
              <a:rPr lang="en-US" sz="2400" dirty="0" smtClean="0"/>
              <a:t>Swapping is a mechanism in which a process can be swapped temporarily out of main memory (or move) to secondary storage (disk) and make that memory available to other processes. At some later time, the system swaps back the process from the secondary storage to main memory.</a:t>
            </a:r>
          </a:p>
          <a:p>
            <a:pPr algn="just"/>
            <a:r>
              <a:rPr lang="en-US" sz="2400" dirty="0" smtClean="0"/>
              <a:t>Though performance is usually affected by swapping process but it helps in running multiple and big processes in parallel and that's the reason </a:t>
            </a:r>
            <a:r>
              <a:rPr lang="en-US" sz="2400" b="1" dirty="0" smtClean="0"/>
              <a:t>Swapping is also known as a technique for memory compaction.</a:t>
            </a:r>
            <a:endParaRPr lang="en-US" sz="2400" dirty="0"/>
          </a:p>
        </p:txBody>
      </p:sp>
    </p:spTree>
    <p:extLst>
      <p:ext uri="{BB962C8B-B14F-4D97-AF65-F5344CB8AC3E}">
        <p14:creationId xmlns:p14="http://schemas.microsoft.com/office/powerpoint/2010/main" val="308234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817563" y="182563"/>
            <a:ext cx="7869237" cy="576262"/>
          </a:xfrm>
        </p:spPr>
        <p:txBody>
          <a:bodyPr>
            <a:normAutofit fontScale="90000"/>
          </a:bodyPr>
          <a:lstStyle/>
          <a:p>
            <a:pPr eaLnBrk="1" hangingPunct="1"/>
            <a:r>
              <a:rPr lang="en-US" altLang="en-US" smtClean="0"/>
              <a:t>Schematic View of Swapping</a:t>
            </a:r>
            <a:endParaRPr lang="en-US" altLang="en-US" sz="2400" smtClean="0"/>
          </a:p>
        </p:txBody>
      </p:sp>
      <p:pic>
        <p:nvPicPr>
          <p:cNvPr id="18435" name="Picture 4" descr="8"/>
          <p:cNvPicPr>
            <a:picLocks noChangeAspect="1" noChangeArrowheads="1"/>
          </p:cNvPicPr>
          <p:nvPr/>
        </p:nvPicPr>
        <p:blipFill>
          <a:blip r:embed="rId3" cstate="print"/>
          <a:srcRect/>
          <a:stretch>
            <a:fillRect/>
          </a:stretch>
        </p:blipFill>
        <p:spPr bwMode="auto">
          <a:xfrm>
            <a:off x="2081213" y="1400175"/>
            <a:ext cx="5099050" cy="3814763"/>
          </a:xfrm>
          <a:prstGeom prst="rect">
            <a:avLst/>
          </a:prstGeom>
          <a:noFill/>
          <a:ln w="9525">
            <a:noFill/>
            <a:miter lim="800000"/>
            <a:headEnd/>
            <a:tailEnd/>
          </a:ln>
        </p:spPr>
      </p:pic>
    </p:spTree>
    <p:extLst>
      <p:ext uri="{BB962C8B-B14F-4D97-AF65-F5344CB8AC3E}">
        <p14:creationId xmlns:p14="http://schemas.microsoft.com/office/powerpoint/2010/main" val="25465788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Memory management Techniques:</a:t>
            </a:r>
            <a:endParaRPr lang="en-US" dirty="0"/>
          </a:p>
        </p:txBody>
      </p:sp>
      <p:sp>
        <p:nvSpPr>
          <p:cNvPr id="3" name="Content Placeholder 2"/>
          <p:cNvSpPr>
            <a:spLocks noGrp="1"/>
          </p:cNvSpPr>
          <p:nvPr>
            <p:ph idx="1"/>
          </p:nvPr>
        </p:nvSpPr>
        <p:spPr/>
        <p:txBody>
          <a:bodyPr/>
          <a:lstStyle/>
          <a:p>
            <a:endParaRPr lang="en-US"/>
          </a:p>
        </p:txBody>
      </p:sp>
      <p:pic>
        <p:nvPicPr>
          <p:cNvPr id="1026" name="Picture 2" descr="Memory Mana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069556"/>
            <a:ext cx="7620000" cy="402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81224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219200" y="905275"/>
            <a:ext cx="6553200" cy="562970"/>
          </a:xfrm>
          <a:prstGeom prst="rect">
            <a:avLst/>
          </a:prstGeom>
        </p:spPr>
        <p:txBody>
          <a:bodyPr vert="horz" lIns="91440" tIns="45720" rIns="91440" bIns="45720" rtlCol="0" anchor="ctr">
            <a:normAutofit fontScale="85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smtClean="0"/>
              <a:t>Contiguous Memory </a:t>
            </a:r>
            <a:r>
              <a:rPr lang="en-US" sz="3600" b="1" dirty="0"/>
              <a:t>Allocation Types</a:t>
            </a:r>
            <a:endParaRPr lang="en-US" sz="3600" dirty="0"/>
          </a:p>
        </p:txBody>
      </p:sp>
      <p:sp>
        <p:nvSpPr>
          <p:cNvPr id="2" name="Rectangle 1"/>
          <p:cNvSpPr/>
          <p:nvPr/>
        </p:nvSpPr>
        <p:spPr>
          <a:xfrm>
            <a:off x="4343400" y="1957975"/>
            <a:ext cx="4404732" cy="523220"/>
          </a:xfrm>
          <a:prstGeom prst="rect">
            <a:avLst/>
          </a:prstGeom>
        </p:spPr>
        <p:txBody>
          <a:bodyPr wrap="none">
            <a:spAutoFit/>
          </a:bodyPr>
          <a:lstStyle/>
          <a:p>
            <a:r>
              <a:rPr lang="en-US" sz="2800" b="1" dirty="0"/>
              <a:t>1. Single-partition allocation</a:t>
            </a:r>
          </a:p>
        </p:txBody>
      </p:sp>
      <p:sp>
        <p:nvSpPr>
          <p:cNvPr id="3" name="Rectangle 2"/>
          <p:cNvSpPr/>
          <p:nvPr/>
        </p:nvSpPr>
        <p:spPr>
          <a:xfrm>
            <a:off x="4354155" y="2374465"/>
            <a:ext cx="4702891" cy="523220"/>
          </a:xfrm>
          <a:prstGeom prst="rect">
            <a:avLst/>
          </a:prstGeom>
        </p:spPr>
        <p:txBody>
          <a:bodyPr wrap="none">
            <a:spAutoFit/>
          </a:bodyPr>
          <a:lstStyle/>
          <a:p>
            <a:r>
              <a:rPr lang="en-US" sz="2800" b="1" dirty="0"/>
              <a:t>2.Multiple-partition allocation</a:t>
            </a:r>
          </a:p>
        </p:txBody>
      </p:sp>
    </p:spTree>
    <p:extLst>
      <p:ext uri="{BB962C8B-B14F-4D97-AF65-F5344CB8AC3E}">
        <p14:creationId xmlns:p14="http://schemas.microsoft.com/office/powerpoint/2010/main" val="1983819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Single-partition allocation</a:t>
            </a:r>
            <a:endParaRPr lang="en-US" dirty="0"/>
          </a:p>
        </p:txBody>
      </p:sp>
      <p:sp>
        <p:nvSpPr>
          <p:cNvPr id="4" name="Rectangle 3"/>
          <p:cNvSpPr/>
          <p:nvPr/>
        </p:nvSpPr>
        <p:spPr>
          <a:xfrm>
            <a:off x="990600" y="1752600"/>
            <a:ext cx="5715000" cy="954107"/>
          </a:xfrm>
          <a:prstGeom prst="rect">
            <a:avLst/>
          </a:prstGeom>
        </p:spPr>
        <p:txBody>
          <a:bodyPr wrap="square">
            <a:spAutoFit/>
          </a:bodyPr>
          <a:lstStyle/>
          <a:p>
            <a:pPr algn="just"/>
            <a:r>
              <a:rPr lang="en-US" sz="2800" b="1" dirty="0"/>
              <a:t>Low Memory  </a:t>
            </a:r>
          </a:p>
          <a:p>
            <a:pPr algn="just"/>
            <a:r>
              <a:rPr lang="en-US" sz="2800" b="1" dirty="0"/>
              <a:t>High Memory </a:t>
            </a:r>
          </a:p>
        </p:txBody>
      </p:sp>
      <p:graphicFrame>
        <p:nvGraphicFramePr>
          <p:cNvPr id="5" name="Table 4"/>
          <p:cNvGraphicFramePr>
            <a:graphicFrameLocks noGrp="1"/>
          </p:cNvGraphicFramePr>
          <p:nvPr>
            <p:extLst>
              <p:ext uri="{D42A27DB-BD31-4B8C-83A1-F6EECF244321}">
                <p14:modId xmlns:p14="http://schemas.microsoft.com/office/powerpoint/2010/main" val="4050884169"/>
              </p:ext>
            </p:extLst>
          </p:nvPr>
        </p:nvGraphicFramePr>
        <p:xfrm>
          <a:off x="1219200" y="3352800"/>
          <a:ext cx="1828800" cy="1428750"/>
        </p:xfrm>
        <a:graphic>
          <a:graphicData uri="http://schemas.openxmlformats.org/drawingml/2006/table">
            <a:tbl>
              <a:tblPr firstRow="1" bandRow="1">
                <a:tableStyleId>{3C2FFA5D-87B4-456A-9821-1D502468CF0F}</a:tableStyleId>
              </a:tblPr>
              <a:tblGrid>
                <a:gridCol w="1828800"/>
              </a:tblGrid>
              <a:tr h="559076">
                <a:tc>
                  <a:txBody>
                    <a:bodyPr/>
                    <a:lstStyle/>
                    <a:p>
                      <a:r>
                        <a:rPr lang="en-US" sz="1600" b="1" dirty="0" smtClean="0">
                          <a:solidFill>
                            <a:schemeClr val="bg1"/>
                          </a:solidFill>
                        </a:rPr>
                        <a:t>Operating system</a:t>
                      </a:r>
                      <a:endParaRPr lang="en-US" sz="1600" b="1" dirty="0">
                        <a:solidFill>
                          <a:schemeClr val="bg1"/>
                        </a:solidFill>
                      </a:endParaRPr>
                    </a:p>
                  </a:txBody>
                  <a:tcPr marT="34290" marB="34290"/>
                </a:tc>
              </a:tr>
              <a:tr h="434837">
                <a:tc>
                  <a:txBody>
                    <a:bodyPr/>
                    <a:lstStyle/>
                    <a:p>
                      <a:r>
                        <a:rPr lang="en-US" sz="1600" b="1" dirty="0" smtClean="0">
                          <a:solidFill>
                            <a:schemeClr val="bg1"/>
                          </a:solidFill>
                        </a:rPr>
                        <a:t>Process</a:t>
                      </a:r>
                      <a:r>
                        <a:rPr lang="en-US" sz="1600" b="1" baseline="0" dirty="0" smtClean="0">
                          <a:solidFill>
                            <a:schemeClr val="bg1"/>
                          </a:solidFill>
                        </a:rPr>
                        <a:t> 1</a:t>
                      </a:r>
                      <a:endParaRPr lang="en-US" sz="1600" b="1" dirty="0">
                        <a:solidFill>
                          <a:schemeClr val="bg1"/>
                        </a:solidFill>
                      </a:endParaRPr>
                    </a:p>
                  </a:txBody>
                  <a:tcPr marT="34290" marB="34290"/>
                </a:tc>
              </a:tr>
              <a:tr h="434837">
                <a:tc>
                  <a:txBody>
                    <a:bodyPr/>
                    <a:lstStyle/>
                    <a:p>
                      <a:r>
                        <a:rPr lang="en-US" sz="1600" b="1" dirty="0" smtClean="0">
                          <a:solidFill>
                            <a:schemeClr val="bg1"/>
                          </a:solidFill>
                        </a:rPr>
                        <a:t>Free space</a:t>
                      </a:r>
                      <a:endParaRPr lang="en-US" sz="1600" b="1" dirty="0">
                        <a:solidFill>
                          <a:schemeClr val="bg1"/>
                        </a:solidFill>
                      </a:endParaRPr>
                    </a:p>
                  </a:txBody>
                  <a:tcPr marT="34290" marB="34290"/>
                </a:tc>
              </a:tr>
            </a:tbl>
          </a:graphicData>
        </a:graphic>
      </p:graphicFrame>
    </p:spTree>
    <p:extLst>
      <p:ext uri="{BB962C8B-B14F-4D97-AF65-F5344CB8AC3E}">
        <p14:creationId xmlns:p14="http://schemas.microsoft.com/office/powerpoint/2010/main" val="8345479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Multiple Partition Allocation </a:t>
            </a:r>
            <a:endParaRPr lang="en-US" b="1" dirty="0"/>
          </a:p>
        </p:txBody>
      </p:sp>
      <p:sp>
        <p:nvSpPr>
          <p:cNvPr id="5" name="Content Placeholder 4"/>
          <p:cNvSpPr>
            <a:spLocks noGrp="1"/>
          </p:cNvSpPr>
          <p:nvPr>
            <p:ph idx="1"/>
          </p:nvPr>
        </p:nvSpPr>
        <p:spPr>
          <a:xfrm>
            <a:off x="1066800" y="1981200"/>
            <a:ext cx="4114800" cy="3394472"/>
          </a:xfrm>
        </p:spPr>
        <p:txBody>
          <a:bodyPr/>
          <a:lstStyle/>
          <a:p>
            <a:r>
              <a:rPr lang="en-US" b="1" dirty="0" smtClean="0"/>
              <a:t>Fixed partition </a:t>
            </a:r>
          </a:p>
          <a:p>
            <a:r>
              <a:rPr lang="en-US" b="1" dirty="0" smtClean="0"/>
              <a:t>Variable partition</a:t>
            </a:r>
          </a:p>
          <a:p>
            <a:endParaRPr lang="en-US" b="1" dirty="0"/>
          </a:p>
        </p:txBody>
      </p:sp>
      <p:graphicFrame>
        <p:nvGraphicFramePr>
          <p:cNvPr id="6" name="Table 5"/>
          <p:cNvGraphicFramePr>
            <a:graphicFrameLocks noGrp="1"/>
          </p:cNvGraphicFramePr>
          <p:nvPr>
            <p:extLst>
              <p:ext uri="{D42A27DB-BD31-4B8C-83A1-F6EECF244321}">
                <p14:modId xmlns:p14="http://schemas.microsoft.com/office/powerpoint/2010/main" val="3179486098"/>
              </p:ext>
            </p:extLst>
          </p:nvPr>
        </p:nvGraphicFramePr>
        <p:xfrm>
          <a:off x="1524000" y="3352800"/>
          <a:ext cx="1828800" cy="1863587"/>
        </p:xfrm>
        <a:graphic>
          <a:graphicData uri="http://schemas.openxmlformats.org/drawingml/2006/table">
            <a:tbl>
              <a:tblPr firstRow="1" bandRow="1">
                <a:tableStyleId>{3C2FFA5D-87B4-456A-9821-1D502468CF0F}</a:tableStyleId>
              </a:tblPr>
              <a:tblGrid>
                <a:gridCol w="1828800"/>
              </a:tblGrid>
              <a:tr h="559076">
                <a:tc>
                  <a:txBody>
                    <a:bodyPr/>
                    <a:lstStyle/>
                    <a:p>
                      <a:r>
                        <a:rPr lang="en-US" sz="1600" b="1" dirty="0" smtClean="0">
                          <a:solidFill>
                            <a:schemeClr val="bg1"/>
                          </a:solidFill>
                        </a:rPr>
                        <a:t>Operating System</a:t>
                      </a:r>
                      <a:endParaRPr lang="en-US" sz="1600" b="1" dirty="0">
                        <a:solidFill>
                          <a:schemeClr val="bg1"/>
                        </a:solidFill>
                      </a:endParaRPr>
                    </a:p>
                  </a:txBody>
                  <a:tcPr marT="34290" marB="34290"/>
                </a:tc>
              </a:tr>
              <a:tr h="434837">
                <a:tc>
                  <a:txBody>
                    <a:bodyPr/>
                    <a:lstStyle/>
                    <a:p>
                      <a:r>
                        <a:rPr lang="en-US" sz="1600" b="1" dirty="0" smtClean="0">
                          <a:solidFill>
                            <a:schemeClr val="bg1"/>
                          </a:solidFill>
                        </a:rPr>
                        <a:t>Process</a:t>
                      </a:r>
                      <a:r>
                        <a:rPr lang="en-US" sz="1600" b="1" baseline="0" dirty="0" smtClean="0">
                          <a:solidFill>
                            <a:schemeClr val="bg1"/>
                          </a:solidFill>
                        </a:rPr>
                        <a:t> 1</a:t>
                      </a:r>
                      <a:endParaRPr lang="en-US" sz="1600" b="1" dirty="0">
                        <a:solidFill>
                          <a:schemeClr val="bg1"/>
                        </a:solidFill>
                      </a:endParaRPr>
                    </a:p>
                  </a:txBody>
                  <a:tcPr marT="34290" marB="34290"/>
                </a:tc>
              </a:tr>
              <a:tr h="434837">
                <a:tc>
                  <a:txBody>
                    <a:bodyPr/>
                    <a:lstStyle/>
                    <a:p>
                      <a:r>
                        <a:rPr lang="en-US" sz="1600" b="1" dirty="0" smtClean="0">
                          <a:solidFill>
                            <a:schemeClr val="bg1"/>
                          </a:solidFill>
                        </a:rPr>
                        <a:t>Process</a:t>
                      </a:r>
                      <a:r>
                        <a:rPr lang="en-US" sz="1600" b="1" baseline="0" dirty="0" smtClean="0">
                          <a:solidFill>
                            <a:schemeClr val="bg1"/>
                          </a:solidFill>
                        </a:rPr>
                        <a:t> 2</a:t>
                      </a:r>
                      <a:endParaRPr lang="en-US" sz="1600" b="1" dirty="0">
                        <a:solidFill>
                          <a:schemeClr val="bg1"/>
                        </a:solidFill>
                      </a:endParaRPr>
                    </a:p>
                  </a:txBody>
                  <a:tcPr marT="34290" marB="34290"/>
                </a:tc>
              </a:tr>
              <a:tr h="434837">
                <a:tc>
                  <a:txBody>
                    <a:bodyPr/>
                    <a:lstStyle/>
                    <a:p>
                      <a:r>
                        <a:rPr lang="en-US" sz="1600" b="1" dirty="0" smtClean="0">
                          <a:solidFill>
                            <a:schemeClr val="bg1"/>
                          </a:solidFill>
                        </a:rPr>
                        <a:t>Free space</a:t>
                      </a:r>
                      <a:endParaRPr lang="en-US" sz="1600" b="1" dirty="0">
                        <a:solidFill>
                          <a:schemeClr val="bg1"/>
                        </a:solidFill>
                      </a:endParaRPr>
                    </a:p>
                  </a:txBody>
                  <a:tcPr marT="34290" marB="34290"/>
                </a:tc>
              </a:tr>
            </a:tbl>
          </a:graphicData>
        </a:graphic>
      </p:graphicFrame>
    </p:spTree>
    <p:extLst>
      <p:ext uri="{BB962C8B-B14F-4D97-AF65-F5344CB8AC3E}">
        <p14:creationId xmlns:p14="http://schemas.microsoft.com/office/powerpoint/2010/main" val="35693298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Fixed</a:t>
            </a:r>
            <a:r>
              <a:rPr lang="en-US" dirty="0" smtClean="0"/>
              <a:t> </a:t>
            </a:r>
            <a:r>
              <a:rPr lang="en-US" b="1" dirty="0" smtClean="0"/>
              <a:t>Partition</a:t>
            </a:r>
            <a:r>
              <a:rPr lang="en-US" dirty="0" smtClean="0"/>
              <a:t> </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103330972"/>
              </p:ext>
            </p:extLst>
          </p:nvPr>
        </p:nvGraphicFramePr>
        <p:xfrm>
          <a:off x="4038600" y="1905000"/>
          <a:ext cx="1447800" cy="2865120"/>
        </p:xfrm>
        <a:graphic>
          <a:graphicData uri="http://schemas.openxmlformats.org/drawingml/2006/table">
            <a:tbl>
              <a:tblPr firstRow="1" bandRow="1">
                <a:tableStyleId>{3C2FFA5D-87B4-456A-9821-1D502468CF0F}</a:tableStyleId>
              </a:tblPr>
              <a:tblGrid>
                <a:gridCol w="1447800"/>
              </a:tblGrid>
              <a:tr h="480060">
                <a:tc>
                  <a:txBody>
                    <a:bodyPr/>
                    <a:lstStyle/>
                    <a:p>
                      <a:r>
                        <a:rPr lang="en-US" sz="1600" dirty="0" smtClean="0"/>
                        <a:t>Operating System</a:t>
                      </a:r>
                      <a:endParaRPr lang="en-US" sz="1600" dirty="0"/>
                    </a:p>
                  </a:txBody>
                  <a:tcPr marT="34290" marB="34290"/>
                </a:tc>
              </a:tr>
              <a:tr h="480060">
                <a:tc>
                  <a:txBody>
                    <a:bodyPr/>
                    <a:lstStyle/>
                    <a:p>
                      <a:r>
                        <a:rPr lang="en-US" sz="1600" dirty="0" smtClean="0"/>
                        <a:t>Partition 1: 1KB</a:t>
                      </a:r>
                      <a:endParaRPr lang="en-US" sz="1600" dirty="0"/>
                    </a:p>
                  </a:txBody>
                  <a:tcPr marT="34290" marB="34290"/>
                </a:tc>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Partition2: 1KB</a:t>
                      </a:r>
                    </a:p>
                  </a:txBody>
                  <a:tcPr marT="34290" marB="34290"/>
                </a:tc>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Partition3: 1KB</a:t>
                      </a:r>
                    </a:p>
                  </a:txBody>
                  <a:tcPr marT="34290" marB="34290"/>
                </a:tc>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Partition4: 1KB</a:t>
                      </a:r>
                    </a:p>
                  </a:txBody>
                  <a:tcPr marT="34290" marB="34290"/>
                </a:tc>
              </a:tr>
              <a:tr h="274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Equal size</a:t>
                      </a:r>
                    </a:p>
                  </a:txBody>
                  <a:tcPr marT="34290" marB="34290"/>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78107169"/>
              </p:ext>
            </p:extLst>
          </p:nvPr>
        </p:nvGraphicFramePr>
        <p:xfrm>
          <a:off x="1219200" y="1905000"/>
          <a:ext cx="1447800" cy="2865120"/>
        </p:xfrm>
        <a:graphic>
          <a:graphicData uri="http://schemas.openxmlformats.org/drawingml/2006/table">
            <a:tbl>
              <a:tblPr firstRow="1" bandRow="1">
                <a:tableStyleId>{3C2FFA5D-87B4-456A-9821-1D502468CF0F}</a:tableStyleId>
              </a:tblPr>
              <a:tblGrid>
                <a:gridCol w="1447800"/>
              </a:tblGrid>
              <a:tr h="480060">
                <a:tc>
                  <a:txBody>
                    <a:bodyPr/>
                    <a:lstStyle/>
                    <a:p>
                      <a:r>
                        <a:rPr lang="en-US" sz="1600" dirty="0" smtClean="0"/>
                        <a:t>Operating System</a:t>
                      </a:r>
                      <a:endParaRPr lang="en-US" sz="1600" dirty="0"/>
                    </a:p>
                  </a:txBody>
                  <a:tcPr marT="34290" marB="34290"/>
                </a:tc>
              </a:tr>
              <a:tr h="480060">
                <a:tc>
                  <a:txBody>
                    <a:bodyPr/>
                    <a:lstStyle/>
                    <a:p>
                      <a:r>
                        <a:rPr lang="en-US" sz="1600" dirty="0" smtClean="0"/>
                        <a:t>Partition 1: 1KB</a:t>
                      </a:r>
                      <a:endParaRPr lang="en-US" sz="1600" dirty="0"/>
                    </a:p>
                  </a:txBody>
                  <a:tcPr marT="34290" marB="34290"/>
                </a:tc>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Partition2: 3KB</a:t>
                      </a:r>
                    </a:p>
                  </a:txBody>
                  <a:tcPr marT="34290" marB="34290"/>
                </a:tc>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Partition3: 5KB</a:t>
                      </a:r>
                    </a:p>
                  </a:txBody>
                  <a:tcPr marT="34290" marB="34290"/>
                </a:tc>
              </a:tr>
              <a:tr h="4800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Partition4: 2KB</a:t>
                      </a:r>
                    </a:p>
                  </a:txBody>
                  <a:tcPr marT="34290" marB="34290"/>
                </a:tc>
              </a:tr>
              <a:tr h="274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Unequal size</a:t>
                      </a:r>
                    </a:p>
                  </a:txBody>
                  <a:tcPr marT="34290" marB="34290"/>
                </a:tc>
              </a:tr>
            </a:tbl>
          </a:graphicData>
        </a:graphic>
      </p:graphicFrame>
    </p:spTree>
    <p:extLst>
      <p:ext uri="{BB962C8B-B14F-4D97-AF65-F5344CB8AC3E}">
        <p14:creationId xmlns:p14="http://schemas.microsoft.com/office/powerpoint/2010/main" val="149434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Variable Partition/Dynamic Partition</a:t>
            </a:r>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val="3924040719"/>
              </p:ext>
            </p:extLst>
          </p:nvPr>
        </p:nvGraphicFramePr>
        <p:xfrm>
          <a:off x="1447800" y="1600200"/>
          <a:ext cx="1981200" cy="4464309"/>
        </p:xfrm>
        <a:graphic>
          <a:graphicData uri="http://schemas.openxmlformats.org/drawingml/2006/table">
            <a:tbl>
              <a:tblPr firstRow="1" bandRow="1">
                <a:tableStyleId>{3C2FFA5D-87B4-456A-9821-1D502468CF0F}</a:tableStyleId>
              </a:tblPr>
              <a:tblGrid>
                <a:gridCol w="1981200"/>
              </a:tblGrid>
              <a:tr h="550584">
                <a:tc>
                  <a:txBody>
                    <a:bodyPr/>
                    <a:lstStyle/>
                    <a:p>
                      <a:r>
                        <a:rPr lang="en-US" sz="1600" dirty="0" smtClean="0"/>
                        <a:t>Operating System</a:t>
                      </a:r>
                      <a:endParaRPr lang="en-US" sz="1600" dirty="0"/>
                    </a:p>
                  </a:txBody>
                  <a:tcPr marT="34290" marB="34290"/>
                </a:tc>
              </a:tr>
              <a:tr h="550584">
                <a:tc>
                  <a:txBody>
                    <a:bodyPr/>
                    <a:lstStyle/>
                    <a:p>
                      <a:r>
                        <a:rPr lang="en-US" sz="1600" dirty="0" smtClean="0"/>
                        <a:t>Partition 1: 1KB</a:t>
                      </a:r>
                      <a:endParaRPr lang="en-US" sz="1600" dirty="0"/>
                    </a:p>
                  </a:txBody>
                  <a:tcPr marT="34290" marB="34290"/>
                </a:tc>
              </a:tr>
              <a:tr h="103328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Partition2: 4KB</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txBody>
                  <a:tcPr marT="34290" marB="34290"/>
                </a:tc>
              </a:tr>
              <a:tr h="47516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Partition3: 2KB</a:t>
                      </a:r>
                    </a:p>
                  </a:txBody>
                  <a:tcPr marT="34290" marB="34290"/>
                </a:tc>
              </a:tr>
              <a:tr h="55058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Partition4: 3KB</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txBody>
                  <a:tcPr marT="34290" marB="34290"/>
                </a:tc>
              </a:tr>
              <a:tr h="127463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Partition:5 5KB</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txBody>
                  <a:tcPr marT="34290" marB="34290"/>
                </a:tc>
              </a:tr>
            </a:tbl>
          </a:graphicData>
        </a:graphic>
      </p:graphicFrame>
    </p:spTree>
    <p:extLst>
      <p:ext uri="{BB962C8B-B14F-4D97-AF65-F5344CB8AC3E}">
        <p14:creationId xmlns:p14="http://schemas.microsoft.com/office/powerpoint/2010/main" val="64962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Algorithms for memory allocation</a:t>
            </a:r>
            <a:endParaRPr lang="en-US" dirty="0"/>
          </a:p>
        </p:txBody>
      </p:sp>
      <p:sp>
        <p:nvSpPr>
          <p:cNvPr id="3" name="Content Placeholder 2"/>
          <p:cNvSpPr>
            <a:spLocks noGrp="1"/>
          </p:cNvSpPr>
          <p:nvPr>
            <p:ph idx="1"/>
          </p:nvPr>
        </p:nvSpPr>
        <p:spPr/>
        <p:txBody>
          <a:bodyPr/>
          <a:lstStyle/>
          <a:p>
            <a:r>
              <a:rPr lang="en-US" dirty="0" smtClean="0"/>
              <a:t>First fit</a:t>
            </a:r>
          </a:p>
          <a:p>
            <a:r>
              <a:rPr lang="en-US" dirty="0" smtClean="0"/>
              <a:t>Best fit</a:t>
            </a:r>
          </a:p>
          <a:p>
            <a:r>
              <a:rPr lang="en-US" dirty="0" smtClean="0"/>
              <a:t>Worst fit</a:t>
            </a:r>
          </a:p>
          <a:p>
            <a:pPr marL="0" indent="0">
              <a:buNone/>
            </a:pPr>
            <a:endParaRPr lang="en-US" dirty="0"/>
          </a:p>
        </p:txBody>
      </p:sp>
    </p:spTree>
    <p:extLst>
      <p:ext uri="{BB962C8B-B14F-4D97-AF65-F5344CB8AC3E}">
        <p14:creationId xmlns:p14="http://schemas.microsoft.com/office/powerpoint/2010/main" val="28499313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First fit</a:t>
            </a:r>
            <a:br>
              <a:rPr lang="en-US" dirty="0"/>
            </a:br>
            <a:endParaRPr lang="en-US" dirty="0"/>
          </a:p>
        </p:txBody>
      </p:sp>
      <p:sp>
        <p:nvSpPr>
          <p:cNvPr id="3" name="Content Placeholder 2"/>
          <p:cNvSpPr>
            <a:spLocks noGrp="1"/>
          </p:cNvSpPr>
          <p:nvPr>
            <p:ph idx="1"/>
          </p:nvPr>
        </p:nvSpPr>
        <p:spPr/>
        <p:txBody>
          <a:bodyPr>
            <a:normAutofit/>
          </a:bodyPr>
          <a:lstStyle/>
          <a:p>
            <a:r>
              <a:rPr lang="en-US" sz="2400" dirty="0"/>
              <a:t>In the first fit, the partition is allocated which is the first sufficient block from the top of Main Memory. It scans memory from the beginning and chooses the first available block that is large enough. Thus it allocates the first hole that is large enough. </a:t>
            </a:r>
          </a:p>
        </p:txBody>
      </p:sp>
      <p:sp>
        <p:nvSpPr>
          <p:cNvPr id="4" name="AutoShape 2" descr="https://media.geeksforgeeks.org/wp-content/uploads/20200524132212/FIRST-FIT-300x225.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stretch>
            <a:fillRect/>
          </a:stretch>
        </p:blipFill>
        <p:spPr>
          <a:xfrm>
            <a:off x="4114800" y="3065462"/>
            <a:ext cx="4324350" cy="3243263"/>
          </a:xfrm>
          <a:prstGeom prst="rect">
            <a:avLst/>
          </a:prstGeom>
        </p:spPr>
      </p:pic>
    </p:spTree>
    <p:extLst>
      <p:ext uri="{BB962C8B-B14F-4D97-AF65-F5344CB8AC3E}">
        <p14:creationId xmlns:p14="http://schemas.microsoft.com/office/powerpoint/2010/main" val="3702138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Best fit </a:t>
            </a:r>
            <a:endParaRPr lang="en-US" dirty="0"/>
          </a:p>
        </p:txBody>
      </p:sp>
      <p:sp>
        <p:nvSpPr>
          <p:cNvPr id="3" name="Content Placeholder 2"/>
          <p:cNvSpPr>
            <a:spLocks noGrp="1"/>
          </p:cNvSpPr>
          <p:nvPr>
            <p:ph idx="1"/>
          </p:nvPr>
        </p:nvSpPr>
        <p:spPr/>
        <p:txBody>
          <a:bodyPr>
            <a:normAutofit/>
          </a:bodyPr>
          <a:lstStyle/>
          <a:p>
            <a:r>
              <a:rPr lang="en-US" sz="2400" dirty="0"/>
              <a:t>Allocate the process to the partition which is the first smallest sufficient partition among the free available partition. It searches the entire list of holes to find the smallest hole whose size is greater than or equal to the size of the process. </a:t>
            </a:r>
          </a:p>
        </p:txBody>
      </p:sp>
      <p:pic>
        <p:nvPicPr>
          <p:cNvPr id="5" name="Picture 4"/>
          <p:cNvPicPr>
            <a:picLocks noChangeAspect="1"/>
          </p:cNvPicPr>
          <p:nvPr/>
        </p:nvPicPr>
        <p:blipFill>
          <a:blip r:embed="rId2"/>
          <a:stretch>
            <a:fillRect/>
          </a:stretch>
        </p:blipFill>
        <p:spPr>
          <a:xfrm>
            <a:off x="3657600" y="3112874"/>
            <a:ext cx="4267200" cy="3200400"/>
          </a:xfrm>
          <a:prstGeom prst="rect">
            <a:avLst/>
          </a:prstGeom>
        </p:spPr>
      </p:pic>
    </p:spTree>
    <p:extLst>
      <p:ext uri="{BB962C8B-B14F-4D97-AF65-F5344CB8AC3E}">
        <p14:creationId xmlns:p14="http://schemas.microsoft.com/office/powerpoint/2010/main" val="40744408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Worst fit </a:t>
            </a:r>
            <a:endParaRPr lang="en-US" dirty="0"/>
          </a:p>
        </p:txBody>
      </p:sp>
      <p:sp>
        <p:nvSpPr>
          <p:cNvPr id="3" name="Content Placeholder 2"/>
          <p:cNvSpPr>
            <a:spLocks noGrp="1"/>
          </p:cNvSpPr>
          <p:nvPr>
            <p:ph idx="1"/>
          </p:nvPr>
        </p:nvSpPr>
        <p:spPr/>
        <p:txBody>
          <a:bodyPr>
            <a:normAutofit/>
          </a:bodyPr>
          <a:lstStyle/>
          <a:p>
            <a:r>
              <a:rPr lang="en-US" sz="2400" dirty="0"/>
              <a:t>Allocate the process to the partition which is the largest sufficient among the freely available partitions available in the main memory. It is opposite to the best-fit algorithm. It searches the entire list of holes to find the largest hole and allocate it to process.  </a:t>
            </a:r>
          </a:p>
        </p:txBody>
      </p:sp>
      <p:pic>
        <p:nvPicPr>
          <p:cNvPr id="4" name="Picture 3"/>
          <p:cNvPicPr>
            <a:picLocks noChangeAspect="1"/>
          </p:cNvPicPr>
          <p:nvPr/>
        </p:nvPicPr>
        <p:blipFill>
          <a:blip r:embed="rId2"/>
          <a:stretch>
            <a:fillRect/>
          </a:stretch>
        </p:blipFill>
        <p:spPr>
          <a:xfrm>
            <a:off x="4038600" y="3154364"/>
            <a:ext cx="3962400" cy="2971800"/>
          </a:xfrm>
          <a:prstGeom prst="rect">
            <a:avLst/>
          </a:prstGeom>
        </p:spPr>
      </p:pic>
    </p:spTree>
    <p:extLst>
      <p:ext uri="{BB962C8B-B14F-4D97-AF65-F5344CB8AC3E}">
        <p14:creationId xmlns:p14="http://schemas.microsoft.com/office/powerpoint/2010/main" val="23678319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338"/>
            <a:ext cx="8229600" cy="5965825"/>
          </a:xfrm>
        </p:spPr>
        <p:txBody>
          <a:bodyPr>
            <a:normAutofit/>
          </a:bodyPr>
          <a:lstStyle/>
          <a:p>
            <a:pPr fontAlgn="base"/>
            <a:r>
              <a:rPr lang="en-US" sz="2000" b="1" dirty="0"/>
              <a:t>Consider six memory partitions of size 200 KB, 400 KB, 600 KB, 500 KB, 300 KB and 250 KB. These partitions need to be allocated to </a:t>
            </a:r>
            <a:r>
              <a:rPr lang="en-US" sz="2000" b="1" dirty="0" smtClean="0"/>
              <a:t>three processes </a:t>
            </a:r>
            <a:r>
              <a:rPr lang="en-US" sz="2000" b="1" dirty="0"/>
              <a:t>of sizes 357 KB, 210 KB, </a:t>
            </a:r>
            <a:r>
              <a:rPr lang="en-US" sz="2000" b="1" dirty="0" smtClean="0"/>
              <a:t> and 468 </a:t>
            </a:r>
            <a:r>
              <a:rPr lang="en-US" sz="2000" b="1" dirty="0"/>
              <a:t>KB </a:t>
            </a:r>
            <a:r>
              <a:rPr lang="en-US" sz="2000" b="1" dirty="0" smtClean="0"/>
              <a:t> </a:t>
            </a:r>
            <a:r>
              <a:rPr lang="en-US" sz="2000" b="1" dirty="0"/>
              <a:t>in that </a:t>
            </a:r>
            <a:r>
              <a:rPr lang="en-US" sz="2000" b="1" dirty="0" smtClean="0"/>
              <a:t>order. Perform </a:t>
            </a:r>
            <a:r>
              <a:rPr lang="en-US" sz="2000" b="1" dirty="0"/>
              <a:t>the allocation of processes using-</a:t>
            </a:r>
          </a:p>
          <a:p>
            <a:pPr fontAlgn="base"/>
            <a:r>
              <a:rPr lang="en-US" sz="2000" b="1" dirty="0"/>
              <a:t>First Fit Algorithm</a:t>
            </a:r>
          </a:p>
          <a:p>
            <a:pPr fontAlgn="base"/>
            <a:r>
              <a:rPr lang="en-US" sz="2000" b="1" dirty="0"/>
              <a:t>Best Fit Algorithm</a:t>
            </a:r>
          </a:p>
          <a:p>
            <a:pPr fontAlgn="base"/>
            <a:r>
              <a:rPr lang="en-US" sz="2000" b="1" dirty="0"/>
              <a:t>Worst Fit Algorithm</a:t>
            </a:r>
          </a:p>
          <a:p>
            <a:pPr marL="0" indent="0" fontAlgn="base">
              <a:buNone/>
            </a:pPr>
            <a:r>
              <a:rPr lang="en-US" sz="2000" dirty="0"/>
              <a:t>According to question,</a:t>
            </a:r>
          </a:p>
          <a:p>
            <a:pPr fontAlgn="base"/>
            <a:r>
              <a:rPr lang="en-US" sz="2000" dirty="0"/>
              <a:t>The main memory has been divided into fixed size partitions as-</a:t>
            </a:r>
          </a:p>
          <a:p>
            <a:endParaRPr lang="en-US" sz="2000" b="1" dirty="0"/>
          </a:p>
        </p:txBody>
      </p:sp>
      <p:sp>
        <p:nvSpPr>
          <p:cNvPr id="4" name="AutoShape 2" descr="https://www.gatevidyalay.com/wp-content/uploads/2018/11/Contiguous-Memory-Allocation-Problem-01.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2"/>
          <a:stretch>
            <a:fillRect/>
          </a:stretch>
        </p:blipFill>
        <p:spPr>
          <a:xfrm>
            <a:off x="457200" y="3415661"/>
            <a:ext cx="8277225" cy="1362075"/>
          </a:xfrm>
          <a:prstGeom prst="rect">
            <a:avLst/>
          </a:prstGeom>
        </p:spPr>
      </p:pic>
      <p:sp>
        <p:nvSpPr>
          <p:cNvPr id="6" name="AutoShape 4" descr="https://www.gatevidyalay.com/wp-content/uploads/2018/11/Contiguous-Memory-Allocation-Problem-01-First-Fit-Algorithm-Step-03.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312853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r>
              <a:rPr lang="en-US" dirty="0" smtClean="0"/>
              <a:t>First fit</a:t>
            </a:r>
          </a:p>
          <a:p>
            <a:endParaRPr lang="en-US" dirty="0"/>
          </a:p>
          <a:p>
            <a:endParaRPr lang="en-US" dirty="0" smtClean="0"/>
          </a:p>
          <a:p>
            <a:endParaRPr lang="en-US" dirty="0"/>
          </a:p>
          <a:p>
            <a:r>
              <a:rPr lang="en-US" dirty="0" smtClean="0"/>
              <a:t>Best fit</a:t>
            </a:r>
          </a:p>
          <a:p>
            <a:endParaRPr lang="en-US" dirty="0"/>
          </a:p>
          <a:p>
            <a:endParaRPr lang="en-US" dirty="0" smtClean="0"/>
          </a:p>
          <a:p>
            <a:endParaRPr lang="en-US" dirty="0"/>
          </a:p>
          <a:p>
            <a:endParaRPr lang="en-US" dirty="0"/>
          </a:p>
        </p:txBody>
      </p:sp>
      <p:pic>
        <p:nvPicPr>
          <p:cNvPr id="4" name="Picture 3"/>
          <p:cNvPicPr>
            <a:picLocks noChangeAspect="1"/>
          </p:cNvPicPr>
          <p:nvPr/>
        </p:nvPicPr>
        <p:blipFill>
          <a:blip r:embed="rId2"/>
          <a:stretch>
            <a:fillRect/>
          </a:stretch>
        </p:blipFill>
        <p:spPr>
          <a:xfrm>
            <a:off x="408438" y="914400"/>
            <a:ext cx="8277225" cy="1362075"/>
          </a:xfrm>
          <a:prstGeom prst="rect">
            <a:avLst/>
          </a:prstGeom>
        </p:spPr>
      </p:pic>
      <p:sp>
        <p:nvSpPr>
          <p:cNvPr id="5" name="AutoShape 2" descr="https://www.gatevidyalay.com/wp-content/uploads/2018/11/Contiguous-Memory-Allocation-Problem-01-Best-Fit-Algorithm-Step-04.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486770" y="3216512"/>
            <a:ext cx="8277225" cy="1362075"/>
          </a:xfrm>
          <a:prstGeom prst="rect">
            <a:avLst/>
          </a:prstGeom>
        </p:spPr>
      </p:pic>
    </p:spTree>
    <p:extLst>
      <p:ext uri="{BB962C8B-B14F-4D97-AF65-F5344CB8AC3E}">
        <p14:creationId xmlns:p14="http://schemas.microsoft.com/office/powerpoint/2010/main" val="42723147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Worst </a:t>
            </a:r>
            <a:r>
              <a:rPr lang="en-US" dirty="0" smtClean="0"/>
              <a:t>fit </a:t>
            </a:r>
            <a:endParaRPr lang="en-US" dirty="0"/>
          </a:p>
          <a:p>
            <a:endParaRPr lang="en-US" dirty="0"/>
          </a:p>
        </p:txBody>
      </p:sp>
      <p:pic>
        <p:nvPicPr>
          <p:cNvPr id="4" name="Picture 3"/>
          <p:cNvPicPr>
            <a:picLocks noChangeAspect="1"/>
          </p:cNvPicPr>
          <p:nvPr/>
        </p:nvPicPr>
        <p:blipFill>
          <a:blip r:embed="rId2"/>
          <a:stretch>
            <a:fillRect/>
          </a:stretch>
        </p:blipFill>
        <p:spPr>
          <a:xfrm>
            <a:off x="609600" y="2209800"/>
            <a:ext cx="8277225" cy="1362075"/>
          </a:xfrm>
          <a:prstGeom prst="rect">
            <a:avLst/>
          </a:prstGeom>
        </p:spPr>
      </p:pic>
      <p:sp>
        <p:nvSpPr>
          <p:cNvPr id="5" name="Rectangle 4"/>
          <p:cNvSpPr/>
          <p:nvPr/>
        </p:nvSpPr>
        <p:spPr>
          <a:xfrm>
            <a:off x="609600" y="3754437"/>
            <a:ext cx="8077200" cy="923330"/>
          </a:xfrm>
          <a:prstGeom prst="rect">
            <a:avLst/>
          </a:prstGeom>
        </p:spPr>
        <p:txBody>
          <a:bodyPr wrap="square">
            <a:spAutoFit/>
          </a:bodyPr>
          <a:lstStyle/>
          <a:p>
            <a:pPr fontAlgn="base">
              <a:buFont typeface="Arial" panose="020B0604020202020204" pitchFamily="34" charset="0"/>
              <a:buChar char="•"/>
            </a:pPr>
            <a:r>
              <a:rPr lang="en-US" dirty="0">
                <a:solidFill>
                  <a:srgbClr val="303030"/>
                </a:solidFill>
                <a:latin typeface="Arimo"/>
              </a:rPr>
              <a:t>Process P3 and Process P4 can not be allocated the memory.</a:t>
            </a:r>
          </a:p>
          <a:p>
            <a:pPr fontAlgn="base">
              <a:buFont typeface="Arial" panose="020B0604020202020204" pitchFamily="34" charset="0"/>
              <a:buChar char="•"/>
            </a:pPr>
            <a:r>
              <a:rPr lang="en-US" dirty="0">
                <a:solidFill>
                  <a:srgbClr val="303030"/>
                </a:solidFill>
                <a:latin typeface="Arimo"/>
              </a:rPr>
              <a:t>This is because no partition of size greater than or equal to the size of process P3 and process P4 is available.</a:t>
            </a:r>
            <a:endParaRPr lang="en-US" b="0" i="0" dirty="0">
              <a:solidFill>
                <a:srgbClr val="303030"/>
              </a:solidFill>
              <a:effectLst/>
              <a:latin typeface="Arimo"/>
            </a:endParaRPr>
          </a:p>
        </p:txBody>
      </p:sp>
    </p:spTree>
    <p:extLst>
      <p:ext uri="{BB962C8B-B14F-4D97-AF65-F5344CB8AC3E}">
        <p14:creationId xmlns:p14="http://schemas.microsoft.com/office/powerpoint/2010/main" val="42421710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Difference between Internal and External fragmentation - GeeksforGeeks"/>
          <p:cNvSpPr>
            <a:spLocks noGrp="1" noChangeAspect="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r>
              <a:rPr lang="en-US" sz="2400" dirty="0"/>
              <a:t>R</a:t>
            </a:r>
            <a:r>
              <a:rPr lang="en-US" sz="2400" dirty="0" smtClean="0"/>
              <a:t>efers </a:t>
            </a:r>
            <a:r>
              <a:rPr lang="en-US" sz="2400" dirty="0"/>
              <a:t>to an unwanted problem that occurs in the OS in which a process is unloaded and loaded from memory, and the free memory space gets fragmented. </a:t>
            </a:r>
            <a:endParaRPr lang="en-US" sz="2400" dirty="0" smtClean="0"/>
          </a:p>
          <a:p>
            <a:r>
              <a:rPr lang="en-US" sz="2400" dirty="0" smtClean="0"/>
              <a:t>The </a:t>
            </a:r>
            <a:r>
              <a:rPr lang="en-US" sz="2400" dirty="0"/>
              <a:t>processes can not be assigned to the memory blocks because of their small size. Thus the memory blocks always stay unused</a:t>
            </a:r>
          </a:p>
        </p:txBody>
      </p:sp>
      <p:sp>
        <p:nvSpPr>
          <p:cNvPr id="6" name="Title 1"/>
          <p:cNvSpPr>
            <a:spLocks noGrp="1"/>
          </p:cNvSpPr>
          <p:nvPr>
            <p:ph type="title"/>
          </p:nvPr>
        </p:nvSpPr>
        <p:spPr/>
        <p:txBody>
          <a:bodyPr/>
          <a:lstStyle/>
          <a:p>
            <a:r>
              <a:rPr lang="en-US" b="1" dirty="0" smtClean="0"/>
              <a:t>Fragmentation</a:t>
            </a:r>
            <a:endParaRPr lang="en-US" dirty="0" smtClean="0"/>
          </a:p>
        </p:txBody>
      </p:sp>
    </p:spTree>
    <p:extLst>
      <p:ext uri="{BB962C8B-B14F-4D97-AF65-F5344CB8AC3E}">
        <p14:creationId xmlns:p14="http://schemas.microsoft.com/office/powerpoint/2010/main" val="1477871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914400" y="1085850"/>
            <a:ext cx="8229600" cy="857250"/>
          </a:xfrm>
        </p:spPr>
        <p:txBody>
          <a:bodyPr/>
          <a:lstStyle/>
          <a:p>
            <a:r>
              <a:rPr lang="en-US" b="1" dirty="0" smtClean="0"/>
              <a:t>Fragmentation</a:t>
            </a:r>
            <a:endParaRPr lang="en-US" dirty="0" smtClean="0"/>
          </a:p>
        </p:txBody>
      </p:sp>
      <p:sp>
        <p:nvSpPr>
          <p:cNvPr id="3" name="Content Placeholder 2"/>
          <p:cNvSpPr>
            <a:spLocks noGrp="1"/>
          </p:cNvSpPr>
          <p:nvPr>
            <p:ph idx="1"/>
          </p:nvPr>
        </p:nvSpPr>
        <p:spPr>
          <a:xfrm>
            <a:off x="4038600" y="1943101"/>
            <a:ext cx="4648200" cy="3108722"/>
          </a:xfrm>
        </p:spPr>
        <p:txBody>
          <a:bodyPr rtlCol="0">
            <a:noAutofit/>
          </a:bodyPr>
          <a:lstStyle/>
          <a:p>
            <a:pPr algn="just">
              <a:buNone/>
              <a:defRPr/>
            </a:pPr>
            <a:r>
              <a:rPr lang="en-US" sz="2800" b="1" dirty="0">
                <a:latin typeface="+mj-lt"/>
                <a:ea typeface="+mj-ea"/>
                <a:cs typeface="+mj-cs"/>
              </a:rPr>
              <a:t>Fragmentation is of two types:</a:t>
            </a:r>
          </a:p>
          <a:p>
            <a:pPr algn="just">
              <a:defRPr/>
            </a:pPr>
            <a:r>
              <a:rPr lang="en-US" sz="2800" b="1" dirty="0">
                <a:latin typeface="+mj-lt"/>
                <a:ea typeface="+mj-ea"/>
                <a:cs typeface="+mj-cs"/>
              </a:rPr>
              <a:t>External fragmentation</a:t>
            </a:r>
          </a:p>
          <a:p>
            <a:pPr algn="just">
              <a:defRPr/>
            </a:pPr>
            <a:r>
              <a:rPr lang="en-US" sz="2800" b="1" dirty="0">
                <a:latin typeface="+mj-lt"/>
                <a:ea typeface="+mj-ea"/>
                <a:cs typeface="+mj-cs"/>
              </a:rPr>
              <a:t>Internal fragmentation</a:t>
            </a:r>
          </a:p>
        </p:txBody>
      </p:sp>
    </p:spTree>
    <p:extLst>
      <p:ext uri="{BB962C8B-B14F-4D97-AF65-F5344CB8AC3E}">
        <p14:creationId xmlns:p14="http://schemas.microsoft.com/office/powerpoint/2010/main" val="2029911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028700"/>
            <a:ext cx="8229600" cy="857250"/>
          </a:xfrm>
        </p:spPr>
        <p:txBody>
          <a:bodyPr rtlCol="0">
            <a:normAutofit fontScale="90000"/>
          </a:bodyPr>
          <a:lstStyle/>
          <a:p>
            <a:pPr>
              <a:defRPr/>
            </a:pPr>
            <a:r>
              <a:rPr lang="en-US" b="1" dirty="0" smtClean="0"/>
              <a:t>External Fragmentation</a:t>
            </a:r>
            <a:br>
              <a:rPr lang="en-US" b="1" dirty="0" smtClean="0"/>
            </a:br>
            <a:endParaRPr lang="en-US" dirty="0"/>
          </a:p>
        </p:txBody>
      </p:sp>
      <p:pic>
        <p:nvPicPr>
          <p:cNvPr id="1741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4921" y="4723388"/>
            <a:ext cx="6135158"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533400" y="1676400"/>
            <a:ext cx="8458200" cy="2677656"/>
          </a:xfrm>
          <a:prstGeom prst="rect">
            <a:avLst/>
          </a:prstGeom>
        </p:spPr>
        <p:txBody>
          <a:bodyPr wrap="square">
            <a:spAutoFit/>
          </a:bodyPr>
          <a:lstStyle/>
          <a:p>
            <a:r>
              <a:rPr lang="en-US" sz="2400" dirty="0">
                <a:solidFill>
                  <a:srgbClr val="333333"/>
                </a:solidFill>
                <a:cs typeface="Arial" panose="020B0604020202020204" pitchFamily="34" charset="0"/>
              </a:rPr>
              <a:t>External fragmentation occurs whenever a method of dynamic memory allocation happens to allocate some memory and leave a small amount of unusable memory. The total quantity of the memory available is reduced </a:t>
            </a:r>
            <a:r>
              <a:rPr lang="en-US" sz="2400" dirty="0" smtClean="0">
                <a:solidFill>
                  <a:srgbClr val="333333"/>
                </a:solidFill>
                <a:cs typeface="Arial" panose="020B0604020202020204" pitchFamily="34" charset="0"/>
              </a:rPr>
              <a:t>substantially </a:t>
            </a:r>
            <a:r>
              <a:rPr lang="en-US" sz="2400" dirty="0">
                <a:solidFill>
                  <a:srgbClr val="333333"/>
                </a:solidFill>
                <a:cs typeface="Arial" panose="020B0604020202020204" pitchFamily="34" charset="0"/>
              </a:rPr>
              <a:t>in case there’s too much external fragmentation. So, there’s enough memory space in order to complete a request, and it is not contiguous. Thus, it is known as external fragmentation.</a:t>
            </a:r>
            <a:endParaRPr lang="en-US" sz="2400" dirty="0">
              <a:cs typeface="Arial" panose="020B0604020202020204" pitchFamily="34" charset="0"/>
            </a:endParaRPr>
          </a:p>
        </p:txBody>
      </p:sp>
    </p:spTree>
    <p:extLst>
      <p:ext uri="{BB962C8B-B14F-4D97-AF65-F5344CB8AC3E}">
        <p14:creationId xmlns:p14="http://schemas.microsoft.com/office/powerpoint/2010/main" val="340474670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1063229"/>
            <a:ext cx="5791200" cy="857250"/>
          </a:xfrm>
        </p:spPr>
        <p:txBody>
          <a:bodyPr rtlCol="0">
            <a:normAutofit fontScale="90000"/>
          </a:bodyPr>
          <a:lstStyle/>
          <a:p>
            <a:pPr>
              <a:defRPr/>
            </a:pPr>
            <a:r>
              <a:rPr lang="en-US" b="1" dirty="0" smtClean="0"/>
              <a:t>Internal fragmentation</a:t>
            </a:r>
            <a:br>
              <a:rPr lang="en-US" b="1" dirty="0" smtClean="0"/>
            </a:br>
            <a:endParaRPr lang="en-US" dirty="0"/>
          </a:p>
        </p:txBody>
      </p:sp>
      <p:pic>
        <p:nvPicPr>
          <p:cNvPr id="184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104" y="4106525"/>
            <a:ext cx="5877696"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781334" y="1892046"/>
            <a:ext cx="7924800" cy="2308324"/>
          </a:xfrm>
          <a:prstGeom prst="rect">
            <a:avLst/>
          </a:prstGeom>
        </p:spPr>
        <p:txBody>
          <a:bodyPr wrap="square">
            <a:spAutoFit/>
          </a:bodyPr>
          <a:lstStyle/>
          <a:p>
            <a:r>
              <a:rPr lang="en-US" sz="2400" dirty="0">
                <a:solidFill>
                  <a:srgbClr val="333333"/>
                </a:solidFill>
                <a:cs typeface="Arial" panose="020B0604020202020204" pitchFamily="34" charset="0"/>
              </a:rPr>
              <a:t>Whenever a memory block gets allocated with a process, and in case the process happens to be smaller than the total amount of requested memory, a free space is ultimately created in this memory block. And due to this, the memory block’s free space is unused. This is what causes internal fragmentation.</a:t>
            </a:r>
            <a:endParaRPr lang="en-US" sz="2400" dirty="0">
              <a:cs typeface="Arial" panose="020B0604020202020204" pitchFamily="34" charset="0"/>
            </a:endParaRPr>
          </a:p>
        </p:txBody>
      </p:sp>
    </p:spTree>
    <p:extLst>
      <p:ext uri="{BB962C8B-B14F-4D97-AF65-F5344CB8AC3E}">
        <p14:creationId xmlns:p14="http://schemas.microsoft.com/office/powerpoint/2010/main" val="21374564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136525"/>
            <a:ext cx="8229600" cy="576263"/>
          </a:xfrm>
        </p:spPr>
        <p:txBody>
          <a:bodyPr>
            <a:normAutofit fontScale="90000"/>
          </a:bodyPr>
          <a:lstStyle/>
          <a:p>
            <a:r>
              <a:rPr lang="en-US" altLang="en-US" smtClean="0"/>
              <a:t>Fragmentation (Cont.)</a:t>
            </a:r>
          </a:p>
        </p:txBody>
      </p:sp>
      <p:pic>
        <p:nvPicPr>
          <p:cNvPr id="4098" name="Picture 2"/>
          <p:cNvPicPr>
            <a:picLocks noGrp="1" noChangeAspect="1" noChangeArrowheads="1"/>
          </p:cNvPicPr>
          <p:nvPr>
            <p:ph idx="1"/>
          </p:nvPr>
        </p:nvPicPr>
        <p:blipFill>
          <a:blip r:embed="rId2" cstate="print"/>
          <a:srcRect/>
          <a:stretch>
            <a:fillRect/>
          </a:stretch>
        </p:blipFill>
        <p:spPr bwMode="auto">
          <a:xfrm>
            <a:off x="2871716" y="1913930"/>
            <a:ext cx="5715000" cy="3733800"/>
          </a:xfrm>
          <a:prstGeom prst="rect">
            <a:avLst/>
          </a:prstGeom>
          <a:noFill/>
          <a:ln w="9525">
            <a:noFill/>
            <a:miter lim="800000"/>
            <a:headEnd/>
            <a:tailEnd/>
          </a:ln>
          <a:effectLst/>
        </p:spPr>
      </p:pic>
      <p:sp>
        <p:nvSpPr>
          <p:cNvPr id="5" name="Rectangle 4"/>
          <p:cNvSpPr/>
          <p:nvPr/>
        </p:nvSpPr>
        <p:spPr>
          <a:xfrm>
            <a:off x="533400" y="990600"/>
            <a:ext cx="8077200" cy="923330"/>
          </a:xfrm>
          <a:prstGeom prst="rect">
            <a:avLst/>
          </a:prstGeom>
        </p:spPr>
        <p:txBody>
          <a:bodyPr wrap="square">
            <a:spAutoFit/>
          </a:bodyPr>
          <a:lstStyle/>
          <a:p>
            <a:r>
              <a:rPr lang="en-US" dirty="0" smtClean="0"/>
              <a:t>External fragmentation can be reduced by </a:t>
            </a:r>
            <a:r>
              <a:rPr lang="en-US" dirty="0" smtClean="0">
                <a:solidFill>
                  <a:srgbClr val="FF0000"/>
                </a:solidFill>
              </a:rPr>
              <a:t>compaction </a:t>
            </a:r>
            <a:r>
              <a:rPr lang="en-US" dirty="0" smtClean="0"/>
              <a:t>or shuffle memory contents to place all free memory together in one large block. To make compaction feasible, relocation should be dynamic.</a:t>
            </a:r>
            <a:endParaRPr lang="en-US" dirty="0"/>
          </a:p>
        </p:txBody>
      </p:sp>
      <p:sp>
        <p:nvSpPr>
          <p:cNvPr id="2" name="Rectangle 1"/>
          <p:cNvSpPr/>
          <p:nvPr/>
        </p:nvSpPr>
        <p:spPr>
          <a:xfrm>
            <a:off x="507242" y="5644318"/>
            <a:ext cx="8179558" cy="646331"/>
          </a:xfrm>
          <a:prstGeom prst="rect">
            <a:avLst/>
          </a:prstGeom>
        </p:spPr>
        <p:txBody>
          <a:bodyPr wrap="square">
            <a:spAutoFit/>
          </a:bodyPr>
          <a:lstStyle/>
          <a:p>
            <a:r>
              <a:rPr lang="en-US" dirty="0"/>
              <a:t>The internal fragmentation can be reduced by effectively assigning the smallest partition but large enough for the process</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Non contiguous memory allocation techniques </a:t>
            </a:r>
            <a:endParaRPr lang="en-US" dirty="0"/>
          </a:p>
        </p:txBody>
      </p:sp>
      <p:sp>
        <p:nvSpPr>
          <p:cNvPr id="3" name="Content Placeholder 2"/>
          <p:cNvSpPr>
            <a:spLocks noGrp="1"/>
          </p:cNvSpPr>
          <p:nvPr>
            <p:ph idx="1"/>
          </p:nvPr>
        </p:nvSpPr>
        <p:spPr/>
        <p:txBody>
          <a:bodyPr>
            <a:normAutofit/>
          </a:bodyPr>
          <a:lstStyle/>
          <a:p>
            <a:r>
              <a:rPr lang="en-US" sz="2400" dirty="0"/>
              <a:t>In non-contiguous memory allocation, different parts of a process are allocated to different places in Main </a:t>
            </a:r>
            <a:r>
              <a:rPr lang="en-US" sz="2400" dirty="0" smtClean="0"/>
              <a:t>Memory</a:t>
            </a:r>
          </a:p>
          <a:p>
            <a:pPr fontAlgn="base"/>
            <a:r>
              <a:rPr lang="en-US" sz="2400" dirty="0"/>
              <a:t>There are five types of Non-Contiguous Allocation of Memory in the Operating System:</a:t>
            </a:r>
          </a:p>
          <a:p>
            <a:pPr fontAlgn="base"/>
            <a:r>
              <a:rPr lang="en-US" sz="2400" dirty="0"/>
              <a:t>Paging</a:t>
            </a:r>
          </a:p>
          <a:p>
            <a:pPr fontAlgn="base"/>
            <a:r>
              <a:rPr lang="en-US" sz="2400" dirty="0"/>
              <a:t>Multilevel Paging</a:t>
            </a:r>
          </a:p>
          <a:p>
            <a:pPr fontAlgn="base"/>
            <a:r>
              <a:rPr lang="en-US" sz="2400" dirty="0"/>
              <a:t>Inverted Paging</a:t>
            </a:r>
          </a:p>
          <a:p>
            <a:pPr fontAlgn="base"/>
            <a:r>
              <a:rPr lang="en-US" sz="2400" dirty="0"/>
              <a:t>Segmentation</a:t>
            </a:r>
          </a:p>
          <a:p>
            <a:pPr fontAlgn="base"/>
            <a:r>
              <a:rPr lang="en-US" sz="2400" dirty="0"/>
              <a:t>Segmented Paging</a:t>
            </a:r>
          </a:p>
          <a:p>
            <a:endParaRPr lang="en-US" sz="2400" dirty="0"/>
          </a:p>
        </p:txBody>
      </p:sp>
    </p:spTree>
    <p:extLst>
      <p:ext uri="{BB962C8B-B14F-4D97-AF65-F5344CB8AC3E}">
        <p14:creationId xmlns:p14="http://schemas.microsoft.com/office/powerpoint/2010/main" val="36205099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Segmentation</a:t>
            </a:r>
            <a:endParaRPr lang="en-US" dirty="0"/>
          </a:p>
        </p:txBody>
      </p:sp>
      <p:sp>
        <p:nvSpPr>
          <p:cNvPr id="3" name="Content Placeholder 2"/>
          <p:cNvSpPr>
            <a:spLocks noGrp="1"/>
          </p:cNvSpPr>
          <p:nvPr>
            <p:ph idx="1"/>
          </p:nvPr>
        </p:nvSpPr>
        <p:spPr/>
        <p:txBody>
          <a:bodyPr>
            <a:noAutofit/>
          </a:bodyPr>
          <a:lstStyle/>
          <a:p>
            <a:pPr algn="just"/>
            <a:r>
              <a:rPr lang="en-US" sz="2400" dirty="0" smtClean="0"/>
              <a:t>Segmentation is a memory management technique in which each job is divided into several segments of different sizes, one for each module that contains pieces that perform related functions. Each segment is actually a different logical address space of the program.</a:t>
            </a:r>
          </a:p>
          <a:p>
            <a:pPr algn="just"/>
            <a:r>
              <a:rPr lang="en-US" sz="2400" dirty="0" smtClean="0"/>
              <a:t>When a process is to be executed, its corresponding segments are loaded into noncontiguous memory though every segment is loaded into a contiguous block of available memory.</a:t>
            </a:r>
          </a:p>
          <a:p>
            <a:pPr algn="just"/>
            <a:r>
              <a:rPr lang="en-US" sz="2400" dirty="0" smtClean="0"/>
              <a:t>Segmentation memory management works very similar to paging but here segments are of variable-length where as in paging pages are of fixed size.</a:t>
            </a:r>
            <a:endParaRPr lang="en-US" sz="24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b="1" dirty="0"/>
              <a:t>Segmentation </a:t>
            </a:r>
            <a:r>
              <a:rPr lang="en-US" sz="2400" dirty="0"/>
              <a:t>is a memory-management scheme that supports </a:t>
            </a:r>
            <a:r>
              <a:rPr lang="en-US" sz="2400" dirty="0" smtClean="0"/>
              <a:t>the programmer view </a:t>
            </a:r>
            <a:r>
              <a:rPr lang="en-US" sz="2400" dirty="0"/>
              <a:t>of </a:t>
            </a:r>
            <a:r>
              <a:rPr lang="en-US" sz="2400" dirty="0" smtClean="0"/>
              <a:t>memory.</a:t>
            </a:r>
          </a:p>
          <a:p>
            <a:r>
              <a:rPr lang="en-US" sz="2400" dirty="0"/>
              <a:t>A logical address space is a collection of segments</a:t>
            </a:r>
            <a:r>
              <a:rPr lang="en-US" sz="2400" dirty="0" smtClean="0"/>
              <a:t>.</a:t>
            </a:r>
          </a:p>
          <a:p>
            <a:r>
              <a:rPr lang="en-US" sz="2400" dirty="0"/>
              <a:t>Each segment has a name and a length. The addresses specify both the </a:t>
            </a:r>
            <a:r>
              <a:rPr lang="en-US" sz="2400" dirty="0" smtClean="0"/>
              <a:t>segment name </a:t>
            </a:r>
            <a:r>
              <a:rPr lang="en-US" sz="2400" dirty="0"/>
              <a:t>and the offset within the segment. The programmer therefore </a:t>
            </a:r>
            <a:r>
              <a:rPr lang="en-US" sz="2400" dirty="0" smtClean="0"/>
              <a:t>specifies each </a:t>
            </a:r>
            <a:r>
              <a:rPr lang="en-US" sz="2400" dirty="0"/>
              <a:t>address by two quantities: </a:t>
            </a:r>
            <a:r>
              <a:rPr lang="en-US" sz="2400" dirty="0">
                <a:solidFill>
                  <a:srgbClr val="FF0000"/>
                </a:solidFill>
              </a:rPr>
              <a:t>a segment name and an offset.</a:t>
            </a:r>
            <a:endParaRPr lang="en-US" sz="2400" dirty="0" smtClean="0">
              <a:solidFill>
                <a:srgbClr val="FF0000"/>
              </a:solidFill>
            </a:endParaRPr>
          </a:p>
        </p:txBody>
      </p:sp>
      <p:sp>
        <p:nvSpPr>
          <p:cNvPr id="4" name="Title 1"/>
          <p:cNvSpPr>
            <a:spLocks noGrp="1"/>
          </p:cNvSpPr>
          <p:nvPr>
            <p:ph type="title"/>
          </p:nvPr>
        </p:nvSpPr>
        <p:spPr/>
        <p:txBody>
          <a:bodyPr/>
          <a:lstStyle/>
          <a:p>
            <a:r>
              <a:rPr lang="en-US" b="1" dirty="0" smtClean="0"/>
              <a:t>Segmentation</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885825" y="136525"/>
            <a:ext cx="7800975" cy="576263"/>
          </a:xfrm>
        </p:spPr>
        <p:txBody>
          <a:bodyPr>
            <a:normAutofit fontScale="90000"/>
          </a:bodyPr>
          <a:lstStyle/>
          <a:p>
            <a:pPr eaLnBrk="1" hangingPunct="1"/>
            <a:r>
              <a:rPr lang="en-US" altLang="en-US" smtClean="0"/>
              <a:t>Logical View of Segmentation</a:t>
            </a:r>
          </a:p>
        </p:txBody>
      </p:sp>
      <p:sp>
        <p:nvSpPr>
          <p:cNvPr id="31747" name="Oval 3"/>
          <p:cNvSpPr>
            <a:spLocks noChangeArrowheads="1"/>
          </p:cNvSpPr>
          <p:nvPr/>
        </p:nvSpPr>
        <p:spPr bwMode="auto">
          <a:xfrm>
            <a:off x="1371600" y="1171575"/>
            <a:ext cx="2895600" cy="3962400"/>
          </a:xfrm>
          <a:prstGeom prst="ellipse">
            <a:avLst/>
          </a:prstGeom>
          <a:solidFill>
            <a:schemeClr val="bg1"/>
          </a:solidFill>
          <a:ln w="9525">
            <a:solidFill>
              <a:schemeClr val="tx1"/>
            </a:solidFill>
            <a:round/>
            <a:headEnd/>
            <a:tailEnd/>
          </a:ln>
        </p:spPr>
        <p:txBody>
          <a:bodyPr wrap="none" lIns="91435" tIns="45718" rIns="91435" bIns="45718" anchor="ctr"/>
          <a:lstStyle/>
          <a:p>
            <a:endParaRPr lang="en-US" altLang="en-US"/>
          </a:p>
        </p:txBody>
      </p:sp>
      <p:sp>
        <p:nvSpPr>
          <p:cNvPr id="31748" name="Rectangle 4"/>
          <p:cNvSpPr>
            <a:spLocks noChangeArrowheads="1"/>
          </p:cNvSpPr>
          <p:nvPr/>
        </p:nvSpPr>
        <p:spPr bwMode="auto">
          <a:xfrm>
            <a:off x="1905000" y="1857375"/>
            <a:ext cx="990600" cy="533400"/>
          </a:xfrm>
          <a:prstGeom prst="rect">
            <a:avLst/>
          </a:prstGeom>
          <a:solidFill>
            <a:schemeClr val="bg1"/>
          </a:solidFill>
          <a:ln w="9525">
            <a:solidFill>
              <a:schemeClr val="tx1"/>
            </a:solidFill>
            <a:miter lim="800000"/>
            <a:headEnd/>
            <a:tailEnd/>
          </a:ln>
        </p:spPr>
        <p:txBody>
          <a:bodyPr wrap="none" lIns="91435" tIns="45718" rIns="91435" bIns="45718" anchor="ctr"/>
          <a:lstStyle/>
          <a:p>
            <a:pPr algn="ctr"/>
            <a:r>
              <a:rPr lang="en-US" altLang="en-US">
                <a:latin typeface="Helvetica" pitchFamily="-84" charset="0"/>
              </a:rPr>
              <a:t>1</a:t>
            </a:r>
          </a:p>
        </p:txBody>
      </p:sp>
      <p:sp>
        <p:nvSpPr>
          <p:cNvPr id="31749" name="Rectangle 5"/>
          <p:cNvSpPr>
            <a:spLocks noChangeArrowheads="1"/>
          </p:cNvSpPr>
          <p:nvPr/>
        </p:nvSpPr>
        <p:spPr bwMode="auto">
          <a:xfrm>
            <a:off x="1752600" y="3000375"/>
            <a:ext cx="914400" cy="914400"/>
          </a:xfrm>
          <a:prstGeom prst="rect">
            <a:avLst/>
          </a:prstGeom>
          <a:solidFill>
            <a:schemeClr val="bg1"/>
          </a:solidFill>
          <a:ln w="9525">
            <a:solidFill>
              <a:schemeClr val="tx1"/>
            </a:solidFill>
            <a:miter lim="800000"/>
            <a:headEnd/>
            <a:tailEnd/>
          </a:ln>
        </p:spPr>
        <p:txBody>
          <a:bodyPr wrap="none" lIns="91435" tIns="45718" rIns="91435" bIns="45718" anchor="ctr"/>
          <a:lstStyle/>
          <a:p>
            <a:pPr algn="ctr"/>
            <a:r>
              <a:rPr lang="en-US" altLang="en-US">
                <a:latin typeface="Helvetica" pitchFamily="-84" charset="0"/>
              </a:rPr>
              <a:t>3</a:t>
            </a:r>
          </a:p>
        </p:txBody>
      </p:sp>
      <p:sp>
        <p:nvSpPr>
          <p:cNvPr id="31750" name="Rectangle 6"/>
          <p:cNvSpPr>
            <a:spLocks noChangeArrowheads="1"/>
          </p:cNvSpPr>
          <p:nvPr/>
        </p:nvSpPr>
        <p:spPr bwMode="auto">
          <a:xfrm>
            <a:off x="3200400" y="2466975"/>
            <a:ext cx="914400" cy="381000"/>
          </a:xfrm>
          <a:prstGeom prst="rect">
            <a:avLst/>
          </a:prstGeom>
          <a:solidFill>
            <a:schemeClr val="bg1"/>
          </a:solidFill>
          <a:ln w="9525">
            <a:solidFill>
              <a:schemeClr val="tx1"/>
            </a:solidFill>
            <a:miter lim="800000"/>
            <a:headEnd/>
            <a:tailEnd/>
          </a:ln>
        </p:spPr>
        <p:txBody>
          <a:bodyPr wrap="none" lIns="91435" tIns="45718" rIns="91435" bIns="45718" anchor="ctr"/>
          <a:lstStyle/>
          <a:p>
            <a:pPr algn="ctr"/>
            <a:r>
              <a:rPr lang="en-US" altLang="en-US">
                <a:latin typeface="Helvetica" pitchFamily="-84" charset="0"/>
              </a:rPr>
              <a:t>2</a:t>
            </a:r>
          </a:p>
        </p:txBody>
      </p:sp>
      <p:sp>
        <p:nvSpPr>
          <p:cNvPr id="31751" name="Rectangle 7"/>
          <p:cNvSpPr>
            <a:spLocks noChangeArrowheads="1"/>
          </p:cNvSpPr>
          <p:nvPr/>
        </p:nvSpPr>
        <p:spPr bwMode="auto">
          <a:xfrm>
            <a:off x="3124200" y="3457575"/>
            <a:ext cx="914400" cy="533400"/>
          </a:xfrm>
          <a:prstGeom prst="rect">
            <a:avLst/>
          </a:prstGeom>
          <a:solidFill>
            <a:schemeClr val="bg1"/>
          </a:solidFill>
          <a:ln w="9525">
            <a:solidFill>
              <a:schemeClr val="tx1"/>
            </a:solidFill>
            <a:miter lim="800000"/>
            <a:headEnd/>
            <a:tailEnd/>
          </a:ln>
        </p:spPr>
        <p:txBody>
          <a:bodyPr wrap="none" lIns="91435" tIns="45718" rIns="91435" bIns="45718" anchor="ctr"/>
          <a:lstStyle/>
          <a:p>
            <a:pPr algn="ctr"/>
            <a:r>
              <a:rPr lang="en-US" altLang="en-US">
                <a:latin typeface="Helvetica" pitchFamily="-84" charset="0"/>
              </a:rPr>
              <a:t>4</a:t>
            </a:r>
          </a:p>
        </p:txBody>
      </p:sp>
      <p:grpSp>
        <p:nvGrpSpPr>
          <p:cNvPr id="2" name="Group 24"/>
          <p:cNvGrpSpPr>
            <a:grpSpLocks/>
          </p:cNvGrpSpPr>
          <p:nvPr/>
        </p:nvGrpSpPr>
        <p:grpSpPr bwMode="auto">
          <a:xfrm>
            <a:off x="5638800" y="1171575"/>
            <a:ext cx="1143000" cy="3962400"/>
            <a:chOff x="3888" y="1056"/>
            <a:chExt cx="720" cy="2496"/>
          </a:xfrm>
        </p:grpSpPr>
        <p:grpSp>
          <p:nvGrpSpPr>
            <p:cNvPr id="3" name="Group 11"/>
            <p:cNvGrpSpPr>
              <a:grpSpLocks/>
            </p:cNvGrpSpPr>
            <p:nvPr/>
          </p:nvGrpSpPr>
          <p:grpSpPr bwMode="auto">
            <a:xfrm>
              <a:off x="3888" y="1056"/>
              <a:ext cx="720" cy="672"/>
              <a:chOff x="3888" y="1056"/>
              <a:chExt cx="720" cy="672"/>
            </a:xfrm>
          </p:grpSpPr>
          <p:sp>
            <p:nvSpPr>
              <p:cNvPr id="31766" name="Rectangle 8"/>
              <p:cNvSpPr>
                <a:spLocks noChangeArrowheads="1"/>
              </p:cNvSpPr>
              <p:nvPr/>
            </p:nvSpPr>
            <p:spPr bwMode="auto">
              <a:xfrm>
                <a:off x="3888" y="1056"/>
                <a:ext cx="720" cy="672"/>
              </a:xfrm>
              <a:prstGeom prst="rect">
                <a:avLst/>
              </a:prstGeom>
              <a:solidFill>
                <a:schemeClr val="bg1"/>
              </a:solidFill>
              <a:ln w="9525">
                <a:solidFill>
                  <a:schemeClr val="tx1"/>
                </a:solidFill>
                <a:miter lim="800000"/>
                <a:headEnd/>
                <a:tailEnd/>
              </a:ln>
            </p:spPr>
            <p:txBody>
              <a:bodyPr wrap="none" anchor="ctr"/>
              <a:lstStyle/>
              <a:p>
                <a:endParaRPr lang="en-US" altLang="en-US"/>
              </a:p>
            </p:txBody>
          </p:sp>
          <p:sp>
            <p:nvSpPr>
              <p:cNvPr id="31767" name="Line 9"/>
              <p:cNvSpPr>
                <a:spLocks noChangeShapeType="1"/>
              </p:cNvSpPr>
              <p:nvPr/>
            </p:nvSpPr>
            <p:spPr bwMode="auto">
              <a:xfrm>
                <a:off x="3888" y="1392"/>
                <a:ext cx="720" cy="0"/>
              </a:xfrm>
              <a:prstGeom prst="line">
                <a:avLst/>
              </a:prstGeom>
              <a:noFill/>
              <a:ln w="9525">
                <a:solidFill>
                  <a:schemeClr val="tx1"/>
                </a:solidFill>
                <a:round/>
                <a:headEnd/>
                <a:tailEnd/>
              </a:ln>
            </p:spPr>
            <p:txBody>
              <a:bodyPr wrap="none" anchor="ctr"/>
              <a:lstStyle/>
              <a:p>
                <a:endParaRPr lang="en-US"/>
              </a:p>
            </p:txBody>
          </p:sp>
        </p:grpSp>
        <p:grpSp>
          <p:nvGrpSpPr>
            <p:cNvPr id="4" name="Group 12"/>
            <p:cNvGrpSpPr>
              <a:grpSpLocks/>
            </p:cNvGrpSpPr>
            <p:nvPr/>
          </p:nvGrpSpPr>
          <p:grpSpPr bwMode="auto">
            <a:xfrm>
              <a:off x="3888" y="1728"/>
              <a:ext cx="720" cy="672"/>
              <a:chOff x="3888" y="1056"/>
              <a:chExt cx="720" cy="672"/>
            </a:xfrm>
          </p:grpSpPr>
          <p:sp>
            <p:nvSpPr>
              <p:cNvPr id="31764" name="Rectangle 13"/>
              <p:cNvSpPr>
                <a:spLocks noChangeArrowheads="1"/>
              </p:cNvSpPr>
              <p:nvPr/>
            </p:nvSpPr>
            <p:spPr bwMode="auto">
              <a:xfrm>
                <a:off x="3888" y="1056"/>
                <a:ext cx="720" cy="672"/>
              </a:xfrm>
              <a:prstGeom prst="rect">
                <a:avLst/>
              </a:prstGeom>
              <a:solidFill>
                <a:srgbClr val="DDDDDD"/>
              </a:solidFill>
              <a:ln w="9525">
                <a:solidFill>
                  <a:schemeClr val="tx1"/>
                </a:solidFill>
                <a:miter lim="800000"/>
                <a:headEnd/>
                <a:tailEnd/>
              </a:ln>
            </p:spPr>
            <p:txBody>
              <a:bodyPr wrap="none" anchor="ctr"/>
              <a:lstStyle/>
              <a:p>
                <a:endParaRPr lang="en-US" altLang="en-US"/>
              </a:p>
            </p:txBody>
          </p:sp>
          <p:sp>
            <p:nvSpPr>
              <p:cNvPr id="31765" name="Line 14"/>
              <p:cNvSpPr>
                <a:spLocks noChangeShapeType="1"/>
              </p:cNvSpPr>
              <p:nvPr/>
            </p:nvSpPr>
            <p:spPr bwMode="auto">
              <a:xfrm>
                <a:off x="3888" y="1392"/>
                <a:ext cx="720" cy="0"/>
              </a:xfrm>
              <a:prstGeom prst="line">
                <a:avLst/>
              </a:prstGeom>
              <a:noFill/>
              <a:ln w="9525">
                <a:solidFill>
                  <a:schemeClr val="tx1"/>
                </a:solidFill>
                <a:round/>
                <a:headEnd/>
                <a:tailEnd/>
              </a:ln>
            </p:spPr>
            <p:txBody>
              <a:bodyPr wrap="none" anchor="ctr"/>
              <a:lstStyle/>
              <a:p>
                <a:endParaRPr lang="en-US"/>
              </a:p>
            </p:txBody>
          </p:sp>
        </p:grpSp>
        <p:sp>
          <p:nvSpPr>
            <p:cNvPr id="31757" name="Text Box 15"/>
            <p:cNvSpPr txBox="1">
              <a:spLocks noChangeArrowheads="1"/>
            </p:cNvSpPr>
            <p:nvPr/>
          </p:nvSpPr>
          <p:spPr bwMode="auto">
            <a:xfrm>
              <a:off x="4125" y="1132"/>
              <a:ext cx="197" cy="233"/>
            </a:xfrm>
            <a:prstGeom prst="rect">
              <a:avLst/>
            </a:prstGeom>
            <a:noFill/>
            <a:ln w="9525">
              <a:noFill/>
              <a:miter lim="800000"/>
              <a:headEnd/>
              <a:tailEnd/>
            </a:ln>
          </p:spPr>
          <p:txBody>
            <a:bodyPr wrap="none" anchor="ctr">
              <a:spAutoFit/>
            </a:bodyPr>
            <a:lstStyle/>
            <a:p>
              <a:pPr algn="ctr">
                <a:spcBef>
                  <a:spcPct val="50000"/>
                </a:spcBef>
              </a:pPr>
              <a:r>
                <a:rPr lang="en-US" altLang="en-US">
                  <a:latin typeface="Helvetica" pitchFamily="-84" charset="0"/>
                </a:rPr>
                <a:t>1</a:t>
              </a:r>
            </a:p>
          </p:txBody>
        </p:sp>
        <p:sp>
          <p:nvSpPr>
            <p:cNvPr id="31758" name="Text Box 16"/>
            <p:cNvSpPr txBox="1">
              <a:spLocks noChangeArrowheads="1"/>
            </p:cNvSpPr>
            <p:nvPr/>
          </p:nvSpPr>
          <p:spPr bwMode="auto">
            <a:xfrm>
              <a:off x="4127" y="1439"/>
              <a:ext cx="197" cy="233"/>
            </a:xfrm>
            <a:prstGeom prst="rect">
              <a:avLst/>
            </a:prstGeom>
            <a:noFill/>
            <a:ln w="9525">
              <a:noFill/>
              <a:miter lim="800000"/>
              <a:headEnd/>
              <a:tailEnd/>
            </a:ln>
          </p:spPr>
          <p:txBody>
            <a:bodyPr wrap="none" anchor="ctr">
              <a:spAutoFit/>
            </a:bodyPr>
            <a:lstStyle/>
            <a:p>
              <a:pPr algn="ctr">
                <a:spcBef>
                  <a:spcPct val="50000"/>
                </a:spcBef>
              </a:pPr>
              <a:r>
                <a:rPr lang="en-US" altLang="en-US">
                  <a:latin typeface="Helvetica" pitchFamily="-84" charset="0"/>
                </a:rPr>
                <a:t>4</a:t>
              </a:r>
            </a:p>
          </p:txBody>
        </p:sp>
        <p:sp>
          <p:nvSpPr>
            <p:cNvPr id="31759" name="Rectangle 17"/>
            <p:cNvSpPr>
              <a:spLocks noChangeArrowheads="1"/>
            </p:cNvSpPr>
            <p:nvPr/>
          </p:nvSpPr>
          <p:spPr bwMode="auto">
            <a:xfrm>
              <a:off x="3888" y="2400"/>
              <a:ext cx="720" cy="912"/>
            </a:xfrm>
            <a:prstGeom prst="rect">
              <a:avLst/>
            </a:prstGeom>
            <a:solidFill>
              <a:schemeClr val="bg1"/>
            </a:solidFill>
            <a:ln w="9525">
              <a:solidFill>
                <a:schemeClr val="tx1"/>
              </a:solidFill>
              <a:miter lim="800000"/>
              <a:headEnd/>
              <a:tailEnd/>
            </a:ln>
          </p:spPr>
          <p:txBody>
            <a:bodyPr wrap="none" anchor="ctr"/>
            <a:lstStyle/>
            <a:p>
              <a:endParaRPr lang="en-US" altLang="en-US"/>
            </a:p>
          </p:txBody>
        </p:sp>
        <p:sp>
          <p:nvSpPr>
            <p:cNvPr id="31760" name="Rectangle 18"/>
            <p:cNvSpPr>
              <a:spLocks noChangeArrowheads="1"/>
            </p:cNvSpPr>
            <p:nvPr/>
          </p:nvSpPr>
          <p:spPr bwMode="auto">
            <a:xfrm>
              <a:off x="3888" y="3312"/>
              <a:ext cx="720" cy="240"/>
            </a:xfrm>
            <a:prstGeom prst="rect">
              <a:avLst/>
            </a:prstGeom>
            <a:solidFill>
              <a:srgbClr val="DDDDDD"/>
            </a:solidFill>
            <a:ln w="9525">
              <a:solidFill>
                <a:schemeClr val="tx1"/>
              </a:solidFill>
              <a:miter lim="800000"/>
              <a:headEnd/>
              <a:tailEnd/>
            </a:ln>
          </p:spPr>
          <p:txBody>
            <a:bodyPr wrap="none" anchor="ctr"/>
            <a:lstStyle/>
            <a:p>
              <a:endParaRPr lang="en-US" altLang="en-US"/>
            </a:p>
          </p:txBody>
        </p:sp>
        <p:sp>
          <p:nvSpPr>
            <p:cNvPr id="31761" name="Line 19"/>
            <p:cNvSpPr>
              <a:spLocks noChangeShapeType="1"/>
            </p:cNvSpPr>
            <p:nvPr/>
          </p:nvSpPr>
          <p:spPr bwMode="auto">
            <a:xfrm>
              <a:off x="3888" y="2640"/>
              <a:ext cx="720" cy="0"/>
            </a:xfrm>
            <a:prstGeom prst="line">
              <a:avLst/>
            </a:prstGeom>
            <a:noFill/>
            <a:ln w="9525">
              <a:solidFill>
                <a:schemeClr val="tx1"/>
              </a:solidFill>
              <a:round/>
              <a:headEnd/>
              <a:tailEnd/>
            </a:ln>
          </p:spPr>
          <p:txBody>
            <a:bodyPr wrap="none" anchor="ctr"/>
            <a:lstStyle/>
            <a:p>
              <a:endParaRPr lang="en-US"/>
            </a:p>
          </p:txBody>
        </p:sp>
        <p:sp>
          <p:nvSpPr>
            <p:cNvPr id="31762" name="Text Box 20"/>
            <p:cNvSpPr txBox="1">
              <a:spLocks noChangeArrowheads="1"/>
            </p:cNvSpPr>
            <p:nvPr/>
          </p:nvSpPr>
          <p:spPr bwMode="auto">
            <a:xfrm>
              <a:off x="4127" y="2428"/>
              <a:ext cx="197" cy="233"/>
            </a:xfrm>
            <a:prstGeom prst="rect">
              <a:avLst/>
            </a:prstGeom>
            <a:noFill/>
            <a:ln w="9525">
              <a:noFill/>
              <a:miter lim="800000"/>
              <a:headEnd/>
              <a:tailEnd/>
            </a:ln>
          </p:spPr>
          <p:txBody>
            <a:bodyPr wrap="none" anchor="ctr">
              <a:spAutoFit/>
            </a:bodyPr>
            <a:lstStyle/>
            <a:p>
              <a:pPr algn="ctr">
                <a:spcBef>
                  <a:spcPct val="50000"/>
                </a:spcBef>
              </a:pPr>
              <a:r>
                <a:rPr lang="en-US" altLang="en-US">
                  <a:latin typeface="Helvetica" pitchFamily="-84" charset="0"/>
                </a:rPr>
                <a:t>2</a:t>
              </a:r>
            </a:p>
          </p:txBody>
        </p:sp>
        <p:sp>
          <p:nvSpPr>
            <p:cNvPr id="31763" name="Text Box 21"/>
            <p:cNvSpPr txBox="1">
              <a:spLocks noChangeArrowheads="1"/>
            </p:cNvSpPr>
            <p:nvPr/>
          </p:nvSpPr>
          <p:spPr bwMode="auto">
            <a:xfrm>
              <a:off x="4127" y="2888"/>
              <a:ext cx="197" cy="233"/>
            </a:xfrm>
            <a:prstGeom prst="rect">
              <a:avLst/>
            </a:prstGeom>
            <a:noFill/>
            <a:ln w="9525">
              <a:noFill/>
              <a:miter lim="800000"/>
              <a:headEnd/>
              <a:tailEnd/>
            </a:ln>
          </p:spPr>
          <p:txBody>
            <a:bodyPr wrap="none" anchor="ctr">
              <a:spAutoFit/>
            </a:bodyPr>
            <a:lstStyle/>
            <a:p>
              <a:pPr algn="ctr">
                <a:spcBef>
                  <a:spcPct val="50000"/>
                </a:spcBef>
              </a:pPr>
              <a:r>
                <a:rPr lang="en-US" altLang="en-US">
                  <a:latin typeface="Helvetica" pitchFamily="-84" charset="0"/>
                </a:rPr>
                <a:t>3</a:t>
              </a:r>
            </a:p>
          </p:txBody>
        </p:sp>
      </p:grpSp>
      <p:sp>
        <p:nvSpPr>
          <p:cNvPr id="31753" name="Text Box 22"/>
          <p:cNvSpPr txBox="1">
            <a:spLocks noChangeArrowheads="1"/>
          </p:cNvSpPr>
          <p:nvPr/>
        </p:nvSpPr>
        <p:spPr bwMode="auto">
          <a:xfrm>
            <a:off x="2016125" y="5254625"/>
            <a:ext cx="1377950" cy="369888"/>
          </a:xfrm>
          <a:prstGeom prst="rect">
            <a:avLst/>
          </a:prstGeom>
          <a:noFill/>
          <a:ln w="9525">
            <a:noFill/>
            <a:miter lim="800000"/>
            <a:headEnd/>
            <a:tailEnd/>
          </a:ln>
        </p:spPr>
        <p:txBody>
          <a:bodyPr wrap="none" lIns="91435" tIns="45718" rIns="91435" bIns="45718" anchor="ctr">
            <a:spAutoFit/>
          </a:bodyPr>
          <a:lstStyle/>
          <a:p>
            <a:pPr algn="ctr">
              <a:spcBef>
                <a:spcPct val="50000"/>
              </a:spcBef>
            </a:pPr>
            <a:r>
              <a:rPr lang="en-US" altLang="en-US">
                <a:latin typeface="Helvetica" pitchFamily="-84" charset="0"/>
              </a:rPr>
              <a:t>user space </a:t>
            </a:r>
          </a:p>
        </p:txBody>
      </p:sp>
      <p:sp>
        <p:nvSpPr>
          <p:cNvPr id="31754" name="Text Box 23"/>
          <p:cNvSpPr txBox="1">
            <a:spLocks noChangeArrowheads="1"/>
          </p:cNvSpPr>
          <p:nvPr/>
        </p:nvSpPr>
        <p:spPr bwMode="auto">
          <a:xfrm>
            <a:off x="4870450" y="5254625"/>
            <a:ext cx="2597150" cy="369888"/>
          </a:xfrm>
          <a:prstGeom prst="rect">
            <a:avLst/>
          </a:prstGeom>
          <a:noFill/>
          <a:ln w="9525">
            <a:noFill/>
            <a:miter lim="800000"/>
            <a:headEnd/>
            <a:tailEnd/>
          </a:ln>
        </p:spPr>
        <p:txBody>
          <a:bodyPr wrap="none" lIns="91435" tIns="45718" rIns="91435" bIns="45718" anchor="ctr">
            <a:spAutoFit/>
          </a:bodyPr>
          <a:lstStyle/>
          <a:p>
            <a:pPr algn="ctr">
              <a:spcBef>
                <a:spcPct val="50000"/>
              </a:spcBef>
            </a:pPr>
            <a:r>
              <a:rPr lang="en-US" altLang="en-US">
                <a:latin typeface="Helvetica" pitchFamily="-84" charset="0"/>
              </a:rPr>
              <a:t>physical memory space</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182563"/>
            <a:ext cx="8229600" cy="576262"/>
          </a:xfrm>
        </p:spPr>
        <p:txBody>
          <a:bodyPr>
            <a:normAutofit fontScale="90000"/>
          </a:bodyPr>
          <a:lstStyle/>
          <a:p>
            <a:pPr eaLnBrk="1" hangingPunct="1"/>
            <a:r>
              <a:rPr lang="en-US" altLang="en-US" smtClean="0"/>
              <a:t>User</a:t>
            </a:r>
            <a:r>
              <a:rPr lang="ja-JP" altLang="en-US" smtClean="0"/>
              <a:t>’</a:t>
            </a:r>
            <a:r>
              <a:rPr lang="en-US" altLang="ja-JP" smtClean="0"/>
              <a:t>s View of a Program</a:t>
            </a:r>
            <a:endParaRPr lang="en-US" altLang="en-US" sz="2400" smtClean="0"/>
          </a:p>
        </p:txBody>
      </p:sp>
      <p:pic>
        <p:nvPicPr>
          <p:cNvPr id="30723" name="Picture 6"/>
          <p:cNvPicPr>
            <a:picLocks noChangeAspect="1" noChangeArrowheads="1"/>
          </p:cNvPicPr>
          <p:nvPr/>
        </p:nvPicPr>
        <p:blipFill>
          <a:blip r:embed="rId3" cstate="print"/>
          <a:srcRect/>
          <a:stretch>
            <a:fillRect/>
          </a:stretch>
        </p:blipFill>
        <p:spPr bwMode="auto">
          <a:xfrm>
            <a:off x="2466975" y="1233488"/>
            <a:ext cx="3695700" cy="4838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434698"/>
            <a:ext cx="8229600" cy="5257800"/>
          </a:xfrm>
        </p:spPr>
        <p:txBody>
          <a:bodyPr>
            <a:noAutofit/>
          </a:bodyPr>
          <a:lstStyle/>
          <a:p>
            <a:r>
              <a:rPr lang="en-US" sz="2400" dirty="0"/>
              <a:t>For simplicity of implementation, segments are numbered and are </a:t>
            </a:r>
            <a:r>
              <a:rPr lang="en-US" sz="2400" dirty="0" smtClean="0"/>
              <a:t>referred to </a:t>
            </a:r>
            <a:r>
              <a:rPr lang="en-US" sz="2400" dirty="0"/>
              <a:t>by a segment number, rather than by a segment name. Thus, a logical </a:t>
            </a:r>
            <a:r>
              <a:rPr lang="en-US" sz="2400" dirty="0" smtClean="0"/>
              <a:t>address consists </a:t>
            </a:r>
            <a:r>
              <a:rPr lang="en-US" sz="2400" dirty="0"/>
              <a:t>of a </a:t>
            </a:r>
            <a:r>
              <a:rPr lang="en-US" sz="2400" i="1" dirty="0"/>
              <a:t>two tuple</a:t>
            </a:r>
            <a:r>
              <a:rPr lang="en-US" sz="2400" i="1" dirty="0" smtClean="0"/>
              <a:t>:</a:t>
            </a:r>
          </a:p>
          <a:p>
            <a:pPr marL="0" indent="0">
              <a:buNone/>
            </a:pPr>
            <a:r>
              <a:rPr lang="en-US" sz="2400" i="1" dirty="0">
                <a:solidFill>
                  <a:srgbClr val="FF0000"/>
                </a:solidFill>
              </a:rPr>
              <a:t> </a:t>
            </a:r>
            <a:r>
              <a:rPr lang="en-US" sz="2400" i="1" dirty="0" smtClean="0">
                <a:solidFill>
                  <a:srgbClr val="FF0000"/>
                </a:solidFill>
              </a:rPr>
              <a:t>	&lt;</a:t>
            </a:r>
            <a:r>
              <a:rPr lang="en-US" sz="2400" dirty="0">
                <a:solidFill>
                  <a:srgbClr val="FF0000"/>
                </a:solidFill>
              </a:rPr>
              <a:t>segment-number, offset</a:t>
            </a:r>
            <a:r>
              <a:rPr lang="en-US" sz="2400" i="1" dirty="0">
                <a:solidFill>
                  <a:srgbClr val="FF0000"/>
                </a:solidFill>
              </a:rPr>
              <a:t>&gt;</a:t>
            </a:r>
            <a:r>
              <a:rPr lang="en-US" sz="2400" dirty="0">
                <a:solidFill>
                  <a:srgbClr val="FF0000"/>
                </a:solidFill>
              </a:rPr>
              <a:t>.</a:t>
            </a:r>
          </a:p>
          <a:p>
            <a:r>
              <a:rPr lang="en-US" sz="2400" dirty="0" smtClean="0"/>
              <a:t>A </a:t>
            </a:r>
            <a:r>
              <a:rPr lang="en-US" sz="2400" dirty="0"/>
              <a:t>C compiler might create separate segments for the following:</a:t>
            </a:r>
          </a:p>
          <a:p>
            <a:r>
              <a:rPr lang="en-US" sz="2400" b="1" dirty="0"/>
              <a:t>1. </a:t>
            </a:r>
            <a:r>
              <a:rPr lang="en-US" sz="2400" dirty="0"/>
              <a:t>The code</a:t>
            </a:r>
          </a:p>
          <a:p>
            <a:r>
              <a:rPr lang="en-US" sz="2400" b="1" dirty="0"/>
              <a:t>2. </a:t>
            </a:r>
            <a:r>
              <a:rPr lang="en-US" sz="2400" dirty="0"/>
              <a:t>Global variables</a:t>
            </a:r>
          </a:p>
          <a:p>
            <a:r>
              <a:rPr lang="en-US" sz="2400" b="1" dirty="0"/>
              <a:t>3. </a:t>
            </a:r>
            <a:r>
              <a:rPr lang="en-US" sz="2400" dirty="0"/>
              <a:t>The heap, from which memory is allocated</a:t>
            </a:r>
          </a:p>
          <a:p>
            <a:r>
              <a:rPr lang="en-US" sz="2400" b="1" dirty="0"/>
              <a:t>4. </a:t>
            </a:r>
            <a:r>
              <a:rPr lang="en-US" sz="2400" dirty="0"/>
              <a:t>The stacks used by each thread</a:t>
            </a:r>
          </a:p>
          <a:p>
            <a:r>
              <a:rPr lang="en-US" sz="2400" b="1" dirty="0"/>
              <a:t>5. </a:t>
            </a:r>
            <a:r>
              <a:rPr lang="en-US" sz="2400" dirty="0"/>
              <a:t>The standard C library</a:t>
            </a:r>
            <a:endParaRPr lang="en-US" sz="2400" dirty="0"/>
          </a:p>
        </p:txBody>
      </p:sp>
    </p:spTree>
    <p:extLst>
      <p:ext uri="{BB962C8B-B14F-4D97-AF65-F5344CB8AC3E}">
        <p14:creationId xmlns:p14="http://schemas.microsoft.com/office/powerpoint/2010/main" val="168341457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Segmentation Hardware </a:t>
            </a:r>
            <a:endParaRPr lang="en-US" dirty="0"/>
          </a:p>
        </p:txBody>
      </p:sp>
      <p:pic>
        <p:nvPicPr>
          <p:cNvPr id="3" name="Picture 2"/>
          <p:cNvPicPr>
            <a:picLocks noChangeAspect="1"/>
          </p:cNvPicPr>
          <p:nvPr/>
        </p:nvPicPr>
        <p:blipFill>
          <a:blip r:embed="rId2"/>
          <a:stretch>
            <a:fillRect/>
          </a:stretch>
        </p:blipFill>
        <p:spPr>
          <a:xfrm>
            <a:off x="2209800" y="2286000"/>
            <a:ext cx="6800850" cy="4476750"/>
          </a:xfrm>
          <a:prstGeom prst="rect">
            <a:avLst/>
          </a:prstGeom>
        </p:spPr>
      </p:pic>
      <p:sp>
        <p:nvSpPr>
          <p:cNvPr id="4" name="Rectangle 3"/>
          <p:cNvSpPr/>
          <p:nvPr/>
        </p:nvSpPr>
        <p:spPr>
          <a:xfrm>
            <a:off x="76200" y="990600"/>
            <a:ext cx="3505200" cy="3046988"/>
          </a:xfrm>
          <a:prstGeom prst="rect">
            <a:avLst/>
          </a:prstGeom>
        </p:spPr>
        <p:txBody>
          <a:bodyPr wrap="square">
            <a:spAutoFit/>
          </a:bodyPr>
          <a:lstStyle/>
          <a:p>
            <a:pPr marL="342900" indent="-342900">
              <a:buFont typeface="Arial" panose="020B0604020202020204" pitchFamily="34" charset="0"/>
              <a:buChar char="•"/>
            </a:pPr>
            <a:r>
              <a:rPr lang="en-US" sz="2400" dirty="0"/>
              <a:t>The </a:t>
            </a:r>
            <a:r>
              <a:rPr lang="en-US" sz="2400" dirty="0">
                <a:solidFill>
                  <a:srgbClr val="FF0000"/>
                </a:solidFill>
              </a:rPr>
              <a:t>segment base </a:t>
            </a:r>
            <a:r>
              <a:rPr lang="en-US" sz="2400" dirty="0"/>
              <a:t>contains the starting </a:t>
            </a:r>
            <a:r>
              <a:rPr lang="en-US" sz="2400" dirty="0">
                <a:solidFill>
                  <a:srgbClr val="FF0000"/>
                </a:solidFill>
              </a:rPr>
              <a:t>physical address </a:t>
            </a:r>
            <a:r>
              <a:rPr lang="en-US" sz="2400" dirty="0"/>
              <a:t>where the segment resides in memory, and </a:t>
            </a:r>
          </a:p>
          <a:p>
            <a:pPr marL="342900" indent="-342900">
              <a:buFont typeface="Arial" panose="020B0604020202020204" pitchFamily="34" charset="0"/>
              <a:buChar char="•"/>
            </a:pPr>
            <a:r>
              <a:rPr lang="en-US" sz="2400" dirty="0"/>
              <a:t>The </a:t>
            </a:r>
            <a:r>
              <a:rPr lang="en-US" sz="2400" dirty="0">
                <a:solidFill>
                  <a:srgbClr val="FF0000"/>
                </a:solidFill>
              </a:rPr>
              <a:t>segment limit </a:t>
            </a:r>
            <a:r>
              <a:rPr lang="en-US" sz="2400" dirty="0"/>
              <a:t>specifies the </a:t>
            </a:r>
            <a:r>
              <a:rPr lang="en-US" sz="2400" dirty="0">
                <a:solidFill>
                  <a:srgbClr val="FF0000"/>
                </a:solidFill>
              </a:rPr>
              <a:t>length</a:t>
            </a:r>
            <a:r>
              <a:rPr lang="en-US" sz="2400" dirty="0"/>
              <a:t> of the segment.</a:t>
            </a:r>
            <a:endParaRPr lang="en-US" sz="2400" dirty="0"/>
          </a:p>
        </p:txBody>
      </p:sp>
    </p:spTree>
    <p:extLst>
      <p:ext uri="{BB962C8B-B14F-4D97-AF65-F5344CB8AC3E}">
        <p14:creationId xmlns:p14="http://schemas.microsoft.com/office/powerpoint/2010/main" val="311256797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idx="1"/>
          </p:nvPr>
        </p:nvSpPr>
        <p:spPr/>
        <p:txBody>
          <a:bodyPr>
            <a:normAutofit/>
          </a:bodyPr>
          <a:lstStyle/>
          <a:p>
            <a:endParaRPr lang="en-US" sz="2400" dirty="0"/>
          </a:p>
        </p:txBody>
      </p:sp>
    </p:spTree>
    <p:extLst>
      <p:ext uri="{BB962C8B-B14F-4D97-AF65-F5344CB8AC3E}">
        <p14:creationId xmlns:p14="http://schemas.microsoft.com/office/powerpoint/2010/main" val="245836723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Segmentation Example </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491569" y="1181893"/>
            <a:ext cx="6229350" cy="5362575"/>
          </a:xfrm>
          <a:prstGeom prst="rect">
            <a:avLst/>
          </a:prstGeom>
        </p:spPr>
      </p:pic>
    </p:spTree>
    <p:extLst>
      <p:ext uri="{BB962C8B-B14F-4D97-AF65-F5344CB8AC3E}">
        <p14:creationId xmlns:p14="http://schemas.microsoft.com/office/powerpoint/2010/main" val="163892024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2400" dirty="0" smtClean="0"/>
              <a:t>For </a:t>
            </a:r>
            <a:r>
              <a:rPr lang="en-US" sz="2400" dirty="0"/>
              <a:t>example, segment 2 is 400 bytes </a:t>
            </a:r>
            <a:r>
              <a:rPr lang="en-US" sz="2400" dirty="0" smtClean="0"/>
              <a:t>long and </a:t>
            </a:r>
            <a:r>
              <a:rPr lang="en-US" sz="2400" dirty="0"/>
              <a:t>begins at location 4300. Thus, a reference to byte 53 of segment 2 is </a:t>
            </a:r>
            <a:r>
              <a:rPr lang="en-US" sz="2400" dirty="0" smtClean="0"/>
              <a:t>mapped onto </a:t>
            </a:r>
            <a:r>
              <a:rPr lang="en-US" sz="2400" dirty="0"/>
              <a:t>location 4300 + 53 = 4353. </a:t>
            </a:r>
            <a:endParaRPr lang="en-US" sz="2400" dirty="0" smtClean="0"/>
          </a:p>
          <a:p>
            <a:r>
              <a:rPr lang="en-US" sz="2400" dirty="0" smtClean="0"/>
              <a:t>A </a:t>
            </a:r>
            <a:r>
              <a:rPr lang="en-US" sz="2400" dirty="0"/>
              <a:t>reference to segment 3, byte 852, is mapped </a:t>
            </a:r>
            <a:r>
              <a:rPr lang="en-US" sz="2400" dirty="0" smtClean="0"/>
              <a:t>to 3200 </a:t>
            </a:r>
            <a:r>
              <a:rPr lang="en-US" sz="2400" dirty="0"/>
              <a:t>(the base of segment 3) + 852 = 4052. </a:t>
            </a:r>
            <a:endParaRPr lang="en-US" sz="2400" dirty="0" smtClean="0"/>
          </a:p>
          <a:p>
            <a:r>
              <a:rPr lang="en-US" sz="2400" dirty="0" smtClean="0"/>
              <a:t>A </a:t>
            </a:r>
            <a:r>
              <a:rPr lang="en-US" sz="2400" dirty="0"/>
              <a:t>reference to byte 1222 of </a:t>
            </a:r>
            <a:r>
              <a:rPr lang="en-US" sz="2400" dirty="0" smtClean="0"/>
              <a:t>segment 0 </a:t>
            </a:r>
            <a:r>
              <a:rPr lang="en-US" sz="2400" dirty="0"/>
              <a:t>would result in a trap to the operating system, as this segment is only </a:t>
            </a:r>
            <a:r>
              <a:rPr lang="en-US" sz="2400" dirty="0" smtClean="0"/>
              <a:t>1,000 bytes </a:t>
            </a:r>
            <a:r>
              <a:rPr lang="en-US" sz="2400" dirty="0"/>
              <a:t>long.</a:t>
            </a:r>
            <a:endParaRPr lang="en-US" sz="2400" dirty="0"/>
          </a:p>
        </p:txBody>
      </p:sp>
    </p:spTree>
    <p:extLst>
      <p:ext uri="{BB962C8B-B14F-4D97-AF65-F5344CB8AC3E}">
        <p14:creationId xmlns:p14="http://schemas.microsoft.com/office/powerpoint/2010/main" val="328521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a:spLocks noGrp="1"/>
          </p:cNvSpPr>
          <p:nvPr/>
        </p:nvSpPr>
        <p:spPr>
          <a:xfrm>
            <a:off x="609600" y="1219200"/>
            <a:ext cx="8229600" cy="3531870"/>
          </a:xfrm>
          <a:prstGeom prst="rect">
            <a:avLst/>
          </a:prstGeom>
        </p:spPr>
        <p:txBody>
          <a:bodyPr vert="horz">
            <a:normAutofit fontScale="85000" lnSpcReduction="20000"/>
          </a:bodyPr>
          <a:lst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a:lstStyle>
          <a:p>
            <a:pPr marL="0" indent="0">
              <a:buNone/>
            </a:pPr>
            <a:r>
              <a:rPr lang="en-US" b="1" dirty="0"/>
              <a:t>Advantages of Segmentation</a:t>
            </a:r>
          </a:p>
          <a:p>
            <a:r>
              <a:rPr lang="en-US" dirty="0"/>
              <a:t>No internal fragmentation</a:t>
            </a:r>
          </a:p>
          <a:p>
            <a:r>
              <a:rPr lang="en-US" dirty="0" smtClean="0"/>
              <a:t>Less </a:t>
            </a:r>
            <a:r>
              <a:rPr lang="en-US" dirty="0"/>
              <a:t>overhead</a:t>
            </a:r>
          </a:p>
          <a:p>
            <a:r>
              <a:rPr lang="en-US" dirty="0"/>
              <a:t>It is easier to relocate segments than entire address space.</a:t>
            </a:r>
          </a:p>
          <a:p>
            <a:pPr marL="0" indent="0">
              <a:buNone/>
            </a:pPr>
            <a:r>
              <a:rPr lang="en-US" b="1" dirty="0" smtClean="0"/>
              <a:t>Disadvantages</a:t>
            </a:r>
            <a:endParaRPr lang="en-US" b="1" dirty="0"/>
          </a:p>
          <a:p>
            <a:r>
              <a:rPr lang="en-US" dirty="0"/>
              <a:t>It can have external fragmentation.</a:t>
            </a:r>
          </a:p>
          <a:p>
            <a:r>
              <a:rPr lang="en-US" dirty="0"/>
              <a:t>it is difficult to allocate contiguous memory to variable sized partition.</a:t>
            </a:r>
          </a:p>
          <a:p>
            <a:r>
              <a:rPr lang="en-US" dirty="0"/>
              <a:t>Costly memory management algorithms.</a:t>
            </a:r>
          </a:p>
        </p:txBody>
      </p:sp>
    </p:spTree>
    <p:extLst>
      <p:ext uri="{BB962C8B-B14F-4D97-AF65-F5344CB8AC3E}">
        <p14:creationId xmlns:p14="http://schemas.microsoft.com/office/powerpoint/2010/main" val="297218237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643015553"/>
              </p:ext>
            </p:extLst>
          </p:nvPr>
        </p:nvGraphicFramePr>
        <p:xfrm>
          <a:off x="457200" y="685800"/>
          <a:ext cx="3354887" cy="1707785"/>
        </p:xfrm>
        <a:graphic>
          <a:graphicData uri="http://schemas.openxmlformats.org/drawingml/2006/table">
            <a:tbl>
              <a:tblPr/>
              <a:tblGrid>
                <a:gridCol w="1118194"/>
                <a:gridCol w="1118194"/>
                <a:gridCol w="1118499"/>
              </a:tblGrid>
              <a:tr h="354446">
                <a:tc>
                  <a:txBody>
                    <a:bodyPr/>
                    <a:lstStyle/>
                    <a:p>
                      <a:pPr algn="ctr"/>
                      <a:r>
                        <a:rPr lang="en-US" sz="1200" b="1" dirty="0">
                          <a:effectLst/>
                        </a:rPr>
                        <a:t>Segment No.</a:t>
                      </a:r>
                      <a:endParaRPr lang="en-US" dirty="0">
                        <a:effectLst/>
                      </a:endParaRP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US" sz="1200" b="1">
                          <a:effectLst/>
                        </a:rPr>
                        <a:t>Base</a:t>
                      </a:r>
                      <a:endParaRPr lang="en-US">
                        <a:effectLst/>
                      </a:endParaRP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US" sz="1200" b="1" dirty="0">
                          <a:effectLst/>
                        </a:rPr>
                        <a:t>Length</a:t>
                      </a:r>
                      <a:endParaRPr lang="en-US" dirty="0">
                        <a:effectLst/>
                      </a:endParaRP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r>
              <a:tr h="451113">
                <a:tc>
                  <a:txBody>
                    <a:bodyPr/>
                    <a:lstStyle/>
                    <a:p>
                      <a:pPr algn="ctr"/>
                      <a:r>
                        <a:rPr lang="en-US">
                          <a:effectLst/>
                        </a:rPr>
                        <a:t>0</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1219</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700</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r>
              <a:tr h="451113">
                <a:tc>
                  <a:txBody>
                    <a:bodyPr/>
                    <a:lstStyle/>
                    <a:p>
                      <a:pPr algn="ctr"/>
                      <a:r>
                        <a:rPr lang="en-US">
                          <a:effectLst/>
                        </a:rPr>
                        <a:t>1</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2300</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14</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r>
              <a:tr h="451113">
                <a:tc>
                  <a:txBody>
                    <a:bodyPr/>
                    <a:lstStyle/>
                    <a:p>
                      <a:pPr algn="ctr"/>
                      <a:r>
                        <a:rPr lang="en-US">
                          <a:effectLst/>
                        </a:rPr>
                        <a:t>2</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90</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US" dirty="0">
                          <a:effectLst/>
                        </a:rPr>
                        <a:t>100</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r>
            </a:tbl>
          </a:graphicData>
        </a:graphic>
      </p:graphicFrame>
      <p:sp>
        <p:nvSpPr>
          <p:cNvPr id="3" name="Rectangle 1"/>
          <p:cNvSpPr>
            <a:spLocks noChangeArrowheads="1"/>
          </p:cNvSpPr>
          <p:nvPr/>
        </p:nvSpPr>
        <p:spPr bwMode="auto">
          <a:xfrm>
            <a:off x="1647586" y="126831"/>
            <a:ext cx="493442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303030"/>
                </a:solidFill>
                <a:effectLst/>
                <a:latin typeface="+mn-lt"/>
              </a:rPr>
              <a:t>Consider the following segment table-</a:t>
            </a:r>
            <a:endParaRPr kumimoji="0" lang="en-US" sz="2400" b="0" i="0" u="none" strike="noStrike" cap="none" normalizeH="0" baseline="0" dirty="0" smtClean="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303030"/>
                </a:solidFill>
                <a:effectLst/>
                <a:latin typeface="+mn-lt"/>
              </a:rPr>
              <a:t> </a:t>
            </a:r>
            <a:endParaRPr kumimoji="0" lang="en-US" sz="2400" b="0" i="0" u="none" strike="noStrike" cap="none" normalizeH="0" baseline="0" dirty="0" smtClean="0">
              <a:ln>
                <a:noFill/>
              </a:ln>
              <a:solidFill>
                <a:schemeClr val="tx1"/>
              </a:solidFill>
              <a:effectLst/>
              <a:latin typeface="+mn-lt"/>
            </a:endParaRPr>
          </a:p>
        </p:txBody>
      </p:sp>
      <p:sp>
        <p:nvSpPr>
          <p:cNvPr id="4" name="Rectangle 3"/>
          <p:cNvSpPr/>
          <p:nvPr/>
        </p:nvSpPr>
        <p:spPr>
          <a:xfrm>
            <a:off x="4114800" y="685800"/>
            <a:ext cx="4572000" cy="1477328"/>
          </a:xfrm>
          <a:prstGeom prst="rect">
            <a:avLst/>
          </a:prstGeom>
        </p:spPr>
        <p:txBody>
          <a:bodyPr>
            <a:spAutoFit/>
          </a:bodyPr>
          <a:lstStyle/>
          <a:p>
            <a:pPr fontAlgn="base"/>
            <a:r>
              <a:rPr lang="en-US" dirty="0"/>
              <a:t>Calculate the physical </a:t>
            </a:r>
            <a:r>
              <a:rPr lang="en-US" dirty="0" smtClean="0"/>
              <a:t>address for the following logical address</a:t>
            </a:r>
            <a:r>
              <a:rPr lang="en-US" dirty="0" smtClean="0">
                <a:solidFill>
                  <a:srgbClr val="303030"/>
                </a:solidFill>
                <a:latin typeface="Arimo"/>
              </a:rPr>
              <a:t>?</a:t>
            </a:r>
          </a:p>
          <a:p>
            <a:pPr fontAlgn="base">
              <a:buFont typeface="+mj-lt"/>
              <a:buAutoNum type="arabicPeriod"/>
            </a:pPr>
            <a:r>
              <a:rPr lang="en-US" dirty="0" smtClean="0">
                <a:solidFill>
                  <a:srgbClr val="303030"/>
                </a:solidFill>
                <a:latin typeface="Arimo"/>
              </a:rPr>
              <a:t>0, 430</a:t>
            </a:r>
          </a:p>
          <a:p>
            <a:pPr fontAlgn="base">
              <a:buFont typeface="+mj-lt"/>
              <a:buAutoNum type="arabicPeriod"/>
            </a:pPr>
            <a:r>
              <a:rPr lang="en-US" dirty="0" smtClean="0">
                <a:solidFill>
                  <a:srgbClr val="303030"/>
                </a:solidFill>
                <a:latin typeface="Arimo"/>
              </a:rPr>
              <a:t>1</a:t>
            </a:r>
            <a:r>
              <a:rPr lang="en-US" dirty="0">
                <a:solidFill>
                  <a:srgbClr val="303030"/>
                </a:solidFill>
                <a:latin typeface="Arimo"/>
              </a:rPr>
              <a:t>, 11</a:t>
            </a:r>
          </a:p>
          <a:p>
            <a:pPr fontAlgn="base">
              <a:buFont typeface="+mj-lt"/>
              <a:buAutoNum type="arabicPeriod"/>
            </a:pPr>
            <a:r>
              <a:rPr lang="en-US" dirty="0">
                <a:solidFill>
                  <a:srgbClr val="303030"/>
                </a:solidFill>
                <a:latin typeface="Arimo"/>
              </a:rPr>
              <a:t>2, 100</a:t>
            </a:r>
            <a:endParaRPr lang="en-US" b="0" i="0" dirty="0">
              <a:solidFill>
                <a:srgbClr val="303030"/>
              </a:solidFill>
              <a:effectLst/>
              <a:latin typeface="Arimo"/>
            </a:endParaRPr>
          </a:p>
        </p:txBody>
      </p:sp>
      <p:sp>
        <p:nvSpPr>
          <p:cNvPr id="5" name="TextBox 4"/>
          <p:cNvSpPr txBox="1"/>
          <p:nvPr/>
        </p:nvSpPr>
        <p:spPr>
          <a:xfrm>
            <a:off x="152400" y="3657600"/>
            <a:ext cx="8686800" cy="3139321"/>
          </a:xfrm>
          <a:prstGeom prst="rect">
            <a:avLst/>
          </a:prstGeom>
          <a:noFill/>
        </p:spPr>
        <p:txBody>
          <a:bodyPr wrap="square" rtlCol="0">
            <a:spAutoFit/>
          </a:bodyPr>
          <a:lstStyle/>
          <a:p>
            <a:r>
              <a:rPr lang="en-US" dirty="0" smtClean="0"/>
              <a:t>1. </a:t>
            </a:r>
            <a:r>
              <a:rPr lang="en-US" dirty="0" smtClean="0"/>
              <a:t>Physical </a:t>
            </a:r>
            <a:r>
              <a:rPr lang="en-US" dirty="0" smtClean="0"/>
              <a:t>Address = 1219 + 430 = 1649, as 430 &lt;(700-1)</a:t>
            </a:r>
          </a:p>
          <a:p>
            <a:endParaRPr lang="en-US" dirty="0"/>
          </a:p>
          <a:p>
            <a:endParaRPr lang="en-US" dirty="0" smtClean="0"/>
          </a:p>
          <a:p>
            <a:r>
              <a:rPr lang="en-US" dirty="0" smtClean="0"/>
              <a:t>2. Physical Address =2300+11=2311 as 11&lt;(14-1)</a:t>
            </a:r>
          </a:p>
          <a:p>
            <a:endParaRPr lang="en-US" dirty="0" smtClean="0"/>
          </a:p>
          <a:p>
            <a:r>
              <a:rPr lang="en-US" dirty="0"/>
              <a:t>3. </a:t>
            </a:r>
            <a:r>
              <a:rPr lang="en-US" dirty="0" smtClean="0"/>
              <a:t>In </a:t>
            </a:r>
            <a:r>
              <a:rPr lang="en-US" dirty="0"/>
              <a:t>the segment table, limit of segment-2 is 100.</a:t>
            </a:r>
          </a:p>
          <a:p>
            <a:pPr fontAlgn="base"/>
            <a:r>
              <a:rPr lang="en-US" dirty="0"/>
              <a:t>Thus, segment offset must always lie in the range = [0, 100-1] = [0, 99]</a:t>
            </a:r>
          </a:p>
          <a:p>
            <a:pPr fontAlgn="base"/>
            <a:r>
              <a:rPr lang="en-US" dirty="0"/>
              <a:t>Since generated segment offset does not lie in the above range, so request generated is </a:t>
            </a:r>
            <a:r>
              <a:rPr lang="en-US" dirty="0" smtClean="0"/>
              <a:t>invalid</a:t>
            </a:r>
            <a:r>
              <a:rPr lang="en-US" dirty="0" smtClean="0"/>
              <a:t>. Therefore</a:t>
            </a:r>
            <a:r>
              <a:rPr lang="en-US" dirty="0"/>
              <a:t>, trap will be produced.</a:t>
            </a:r>
          </a:p>
          <a:p>
            <a:endParaRPr lang="en-US" dirty="0" smtClean="0"/>
          </a:p>
          <a:p>
            <a:endParaRPr lang="en-US" dirty="0"/>
          </a:p>
        </p:txBody>
      </p:sp>
      <p:sp>
        <p:nvSpPr>
          <p:cNvPr id="6" name="Rectangle 5"/>
          <p:cNvSpPr/>
          <p:nvPr/>
        </p:nvSpPr>
        <p:spPr>
          <a:xfrm>
            <a:off x="152400" y="2590800"/>
            <a:ext cx="8686800" cy="923330"/>
          </a:xfrm>
          <a:prstGeom prst="rect">
            <a:avLst/>
          </a:prstGeom>
        </p:spPr>
        <p:txBody>
          <a:bodyPr wrap="square">
            <a:spAutoFit/>
          </a:bodyPr>
          <a:lstStyle/>
          <a:p>
            <a:pPr fontAlgn="base">
              <a:buFont typeface="Arial" panose="020B0604020202020204" pitchFamily="34" charset="0"/>
              <a:buChar char="•"/>
            </a:pPr>
            <a:r>
              <a:rPr lang="en-US" dirty="0">
                <a:solidFill>
                  <a:srgbClr val="303030"/>
                </a:solidFill>
              </a:rPr>
              <a:t>Segment Offset must always lie in the range [0, limit-1].</a:t>
            </a:r>
          </a:p>
          <a:p>
            <a:pPr fontAlgn="base">
              <a:buFont typeface="Arial" panose="020B0604020202020204" pitchFamily="34" charset="0"/>
              <a:buChar char="•"/>
            </a:pPr>
            <a:r>
              <a:rPr lang="en-US" dirty="0">
                <a:solidFill>
                  <a:srgbClr val="303030"/>
                </a:solidFill>
              </a:rPr>
              <a:t>If segment offset becomes greater than or equal to the limit of segment, then trap addressing error is produced.</a:t>
            </a:r>
            <a:endParaRPr lang="en-US" b="0" i="0" dirty="0">
              <a:solidFill>
                <a:srgbClr val="303030"/>
              </a:solidFill>
              <a:effectLst/>
            </a:endParaRPr>
          </a:p>
        </p:txBody>
      </p:sp>
    </p:spTree>
    <p:extLst>
      <p:ext uri="{BB962C8B-B14F-4D97-AF65-F5344CB8AC3E}">
        <p14:creationId xmlns:p14="http://schemas.microsoft.com/office/powerpoint/2010/main" val="378132996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443841"/>
            <a:ext cx="8991600" cy="3785652"/>
          </a:xfrm>
          <a:prstGeom prst="rect">
            <a:avLst/>
          </a:prstGeom>
        </p:spPr>
        <p:txBody>
          <a:bodyPr wrap="square">
            <a:spAutoFit/>
          </a:bodyPr>
          <a:lstStyle/>
          <a:p>
            <a:pPr algn="ctr"/>
            <a:r>
              <a:rPr lang="en-US" sz="2400" dirty="0" smtClean="0">
                <a:solidFill>
                  <a:srgbClr val="231F20"/>
                </a:solidFill>
              </a:rPr>
              <a:t>Assignment </a:t>
            </a:r>
          </a:p>
          <a:p>
            <a:r>
              <a:rPr lang="en-US" sz="2400" dirty="0" smtClean="0">
                <a:solidFill>
                  <a:srgbClr val="231F20"/>
                </a:solidFill>
              </a:rPr>
              <a:t>Consider </a:t>
            </a:r>
            <a:r>
              <a:rPr lang="en-US" sz="2400" dirty="0">
                <a:solidFill>
                  <a:srgbClr val="231F20"/>
                </a:solidFill>
              </a:rPr>
              <a:t>the following segment table:</a:t>
            </a:r>
          </a:p>
          <a:p>
            <a:endParaRPr lang="en-US" sz="2400" dirty="0" smtClean="0">
              <a:solidFill>
                <a:srgbClr val="231F20"/>
              </a:solidFill>
            </a:endParaRPr>
          </a:p>
          <a:p>
            <a:endParaRPr lang="en-US" sz="2400" dirty="0">
              <a:solidFill>
                <a:srgbClr val="231F20"/>
              </a:solidFill>
            </a:endParaRPr>
          </a:p>
          <a:p>
            <a:endParaRPr lang="en-US" sz="2400" dirty="0" smtClean="0">
              <a:solidFill>
                <a:srgbClr val="231F20"/>
              </a:solidFill>
            </a:endParaRPr>
          </a:p>
          <a:p>
            <a:endParaRPr lang="en-US" sz="2400" dirty="0">
              <a:solidFill>
                <a:srgbClr val="231F20"/>
              </a:solidFill>
            </a:endParaRPr>
          </a:p>
          <a:p>
            <a:endParaRPr lang="en-US" sz="2400" dirty="0" smtClean="0">
              <a:solidFill>
                <a:srgbClr val="231F20"/>
              </a:solidFill>
            </a:endParaRPr>
          </a:p>
          <a:p>
            <a:endParaRPr lang="en-US" sz="2400" dirty="0">
              <a:solidFill>
                <a:srgbClr val="231F20"/>
              </a:solidFill>
            </a:endParaRPr>
          </a:p>
          <a:p>
            <a:r>
              <a:rPr lang="en-US" sz="2400" dirty="0" smtClean="0">
                <a:solidFill>
                  <a:srgbClr val="231F20"/>
                </a:solidFill>
              </a:rPr>
              <a:t>What </a:t>
            </a:r>
            <a:r>
              <a:rPr lang="en-US" sz="2400" dirty="0">
                <a:solidFill>
                  <a:srgbClr val="231F20"/>
                </a:solidFill>
              </a:rPr>
              <a:t>are the physical addresses for the following logical addresses?</a:t>
            </a:r>
          </a:p>
          <a:p>
            <a:endParaRPr lang="en-US" sz="2400" dirty="0"/>
          </a:p>
        </p:txBody>
      </p:sp>
      <p:pic>
        <p:nvPicPr>
          <p:cNvPr id="4" name="Picture 3"/>
          <p:cNvPicPr>
            <a:picLocks noChangeAspect="1"/>
          </p:cNvPicPr>
          <p:nvPr/>
        </p:nvPicPr>
        <p:blipFill>
          <a:blip r:embed="rId2"/>
          <a:stretch>
            <a:fillRect/>
          </a:stretch>
        </p:blipFill>
        <p:spPr>
          <a:xfrm>
            <a:off x="228600" y="2455604"/>
            <a:ext cx="4124325" cy="1762125"/>
          </a:xfrm>
          <a:prstGeom prst="rect">
            <a:avLst/>
          </a:prstGeom>
        </p:spPr>
      </p:pic>
      <p:pic>
        <p:nvPicPr>
          <p:cNvPr id="5" name="Picture 4"/>
          <p:cNvPicPr>
            <a:picLocks noChangeAspect="1"/>
          </p:cNvPicPr>
          <p:nvPr/>
        </p:nvPicPr>
        <p:blipFill>
          <a:blip r:embed="rId3"/>
          <a:stretch>
            <a:fillRect/>
          </a:stretch>
        </p:blipFill>
        <p:spPr>
          <a:xfrm>
            <a:off x="228600" y="5082156"/>
            <a:ext cx="1143000" cy="1771650"/>
          </a:xfrm>
          <a:prstGeom prst="rect">
            <a:avLst/>
          </a:prstGeom>
        </p:spPr>
      </p:pic>
    </p:spTree>
    <p:extLst>
      <p:ext uri="{BB962C8B-B14F-4D97-AF65-F5344CB8AC3E}">
        <p14:creationId xmlns:p14="http://schemas.microsoft.com/office/powerpoint/2010/main" val="47545202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Paging</a:t>
            </a:r>
            <a:endParaRPr lang="en-US" dirty="0"/>
          </a:p>
        </p:txBody>
      </p:sp>
      <p:sp>
        <p:nvSpPr>
          <p:cNvPr id="3" name="Content Placeholder 2"/>
          <p:cNvSpPr>
            <a:spLocks noGrp="1"/>
          </p:cNvSpPr>
          <p:nvPr>
            <p:ph idx="1"/>
          </p:nvPr>
        </p:nvSpPr>
        <p:spPr/>
        <p:txBody>
          <a:bodyPr>
            <a:normAutofit/>
          </a:bodyPr>
          <a:lstStyle/>
          <a:p>
            <a:pPr algn="just"/>
            <a:r>
              <a:rPr lang="en-US" sz="2400" dirty="0" smtClean="0"/>
              <a:t>A computer can address more memory than the amount physically installed on the system.</a:t>
            </a:r>
          </a:p>
          <a:p>
            <a:pPr algn="just"/>
            <a:r>
              <a:rPr lang="en-US" sz="2400" dirty="0" smtClean="0"/>
              <a:t>This extra memory is actually called virtual memory and it is a section of a hard that's set up to emulate the computer's RAM. </a:t>
            </a:r>
          </a:p>
          <a:p>
            <a:pPr algn="just"/>
            <a:r>
              <a:rPr lang="en-US" sz="2400" dirty="0" smtClean="0">
                <a:solidFill>
                  <a:srgbClr val="FF0000"/>
                </a:solidFill>
              </a:rPr>
              <a:t>Paging technique </a:t>
            </a:r>
            <a:r>
              <a:rPr lang="en-US" sz="2400" dirty="0" smtClean="0"/>
              <a:t>plays an important role in implementing virtual memory.</a:t>
            </a:r>
            <a:endParaRPr lang="en-US" sz="24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2057400" y="1905000"/>
            <a:ext cx="5836444" cy="3469776"/>
          </a:xfrm>
          <a:prstGeom prst="rect">
            <a:avLst/>
          </a:prstGeom>
        </p:spPr>
      </p:pic>
    </p:spTree>
    <p:extLst>
      <p:ext uri="{BB962C8B-B14F-4D97-AF65-F5344CB8AC3E}">
        <p14:creationId xmlns:p14="http://schemas.microsoft.com/office/powerpoint/2010/main" val="387948090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smtClean="0"/>
              <a:t>Paging is a memory management technique in which process address space is broken into blocks of the same size called </a:t>
            </a:r>
            <a:r>
              <a:rPr lang="en-US" sz="2400" b="1" dirty="0" smtClean="0"/>
              <a:t>pages (size is power of 2, between 512 bytes and 8192 </a:t>
            </a:r>
            <a:r>
              <a:rPr lang="en-US" sz="2400" dirty="0" smtClean="0"/>
              <a:t>bytes). The size of the process is measured in the number of pages.</a:t>
            </a:r>
          </a:p>
          <a:p>
            <a:r>
              <a:rPr lang="en-US" sz="2400" dirty="0" smtClean="0"/>
              <a:t>Similarly, main memory is divided into small fixed-sized blocks of (physical) memory called </a:t>
            </a:r>
            <a:r>
              <a:rPr lang="en-US" sz="2400" b="1" dirty="0" smtClean="0"/>
              <a:t>frames and the size of a frame is kept the same as that of a page to have optimum </a:t>
            </a:r>
            <a:r>
              <a:rPr lang="en-US" sz="2400" dirty="0" smtClean="0"/>
              <a:t>utilization of the main memory and to avoid external fragmentation.</a:t>
            </a:r>
            <a:endParaRPr lang="en-US" sz="24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Page map table </a:t>
            </a:r>
            <a:endParaRPr lang="en-US" dirty="0"/>
          </a:p>
        </p:txBody>
      </p:sp>
      <p:sp>
        <p:nvSpPr>
          <p:cNvPr id="5" name="Content Placeholder 4"/>
          <p:cNvSpPr>
            <a:spLocks noGrp="1"/>
          </p:cNvSpPr>
          <p:nvPr>
            <p:ph idx="1"/>
          </p:nvPr>
        </p:nvSpPr>
        <p:spPr/>
        <p:txBody>
          <a:bodyPr/>
          <a:lstStyle/>
          <a:p>
            <a:endParaRPr lang="en-US"/>
          </a:p>
        </p:txBody>
      </p:sp>
      <p:pic>
        <p:nvPicPr>
          <p:cNvPr id="7" name="Picture 6"/>
          <p:cNvPicPr>
            <a:picLocks noChangeAspect="1"/>
          </p:cNvPicPr>
          <p:nvPr/>
        </p:nvPicPr>
        <p:blipFill>
          <a:blip r:embed="rId2"/>
          <a:stretch>
            <a:fillRect/>
          </a:stretch>
        </p:blipFill>
        <p:spPr>
          <a:xfrm>
            <a:off x="985837" y="1600200"/>
            <a:ext cx="7172325" cy="4200525"/>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Address Translation</a:t>
            </a:r>
            <a:endParaRPr lang="en-US" dirty="0"/>
          </a:p>
        </p:txBody>
      </p:sp>
      <p:pic>
        <p:nvPicPr>
          <p:cNvPr id="8194" name="Picture 2"/>
          <p:cNvPicPr>
            <a:picLocks noGrp="1" noChangeAspect="1" noChangeArrowheads="1"/>
          </p:cNvPicPr>
          <p:nvPr>
            <p:ph idx="1"/>
          </p:nvPr>
        </p:nvPicPr>
        <p:blipFill>
          <a:blip r:embed="rId2" cstate="print"/>
          <a:srcRect/>
          <a:stretch>
            <a:fillRect/>
          </a:stretch>
        </p:blipFill>
        <p:spPr bwMode="auto">
          <a:xfrm>
            <a:off x="476250" y="1524000"/>
            <a:ext cx="8191500" cy="4572000"/>
          </a:xfrm>
          <a:prstGeom prst="rect">
            <a:avLst/>
          </a:prstGeom>
          <a:noFill/>
          <a:ln w="9525">
            <a:noFill/>
            <a:miter lim="800000"/>
            <a:headEnd/>
            <a:tailEnd/>
          </a:ln>
          <a:effectLst/>
        </p:spPr>
      </p:pic>
    </p:spTree>
    <p:extLst>
      <p:ext uri="{BB962C8B-B14F-4D97-AF65-F5344CB8AC3E}">
        <p14:creationId xmlns:p14="http://schemas.microsoft.com/office/powerpoint/2010/main" val="344163340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Paging model of logical and physical memory.</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3581400" y="1417638"/>
            <a:ext cx="4995863" cy="4652799"/>
          </a:xfrm>
          <a:prstGeom prst="rect">
            <a:avLst/>
          </a:prstGeom>
        </p:spPr>
      </p:pic>
    </p:spTree>
    <p:extLst>
      <p:ext uri="{BB962C8B-B14F-4D97-AF65-F5344CB8AC3E}">
        <p14:creationId xmlns:p14="http://schemas.microsoft.com/office/powerpoint/2010/main" val="425489589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2400" dirty="0"/>
              <a:t>If the size of the logical address space is </a:t>
            </a:r>
            <a:r>
              <a:rPr lang="en-US" sz="2400" dirty="0" smtClean="0">
                <a:solidFill>
                  <a:srgbClr val="FF0000"/>
                </a:solidFill>
              </a:rPr>
              <a:t>2^</a:t>
            </a:r>
            <a:r>
              <a:rPr lang="en-US" sz="2400" i="1" dirty="0" smtClean="0">
                <a:solidFill>
                  <a:srgbClr val="FF0000"/>
                </a:solidFill>
              </a:rPr>
              <a:t>m</a:t>
            </a:r>
            <a:r>
              <a:rPr lang="en-US" sz="2400" dirty="0"/>
              <a:t>, and a page size </a:t>
            </a:r>
            <a:r>
              <a:rPr lang="en-US" sz="2400" dirty="0" smtClean="0"/>
              <a:t>is </a:t>
            </a:r>
            <a:r>
              <a:rPr lang="en-US" sz="2400" dirty="0" smtClean="0">
                <a:solidFill>
                  <a:srgbClr val="FF0000"/>
                </a:solidFill>
              </a:rPr>
              <a:t>2^</a:t>
            </a:r>
            <a:r>
              <a:rPr lang="en-US" sz="2400" i="1" dirty="0" smtClean="0">
                <a:solidFill>
                  <a:srgbClr val="FF0000"/>
                </a:solidFill>
              </a:rPr>
              <a:t>n</a:t>
            </a:r>
            <a:r>
              <a:rPr lang="en-US" sz="2400" i="1" dirty="0" smtClean="0"/>
              <a:t> </a:t>
            </a:r>
            <a:r>
              <a:rPr lang="en-US" sz="2400" dirty="0"/>
              <a:t>bytes, then the high-order </a:t>
            </a:r>
            <a:r>
              <a:rPr lang="en-US" sz="2400" i="1" dirty="0"/>
              <a:t>m</a:t>
            </a:r>
            <a:r>
              <a:rPr lang="en-US" sz="2400" dirty="0"/>
              <a:t>− </a:t>
            </a:r>
            <a:r>
              <a:rPr lang="en-US" sz="2400" i="1" dirty="0"/>
              <a:t>n </a:t>
            </a:r>
            <a:r>
              <a:rPr lang="en-US" sz="2400" dirty="0"/>
              <a:t>bits of a logical address designate the </a:t>
            </a:r>
            <a:r>
              <a:rPr lang="en-US" sz="2400" dirty="0" smtClean="0"/>
              <a:t>page number</a:t>
            </a:r>
            <a:r>
              <a:rPr lang="en-US" sz="2400" dirty="0"/>
              <a:t>, and the </a:t>
            </a:r>
            <a:r>
              <a:rPr lang="en-US" sz="2400" i="1" dirty="0"/>
              <a:t>n </a:t>
            </a:r>
            <a:r>
              <a:rPr lang="en-US" sz="2400" dirty="0"/>
              <a:t>low-order bits designate the page offset. Thus, the </a:t>
            </a:r>
            <a:r>
              <a:rPr lang="en-US" sz="2400" dirty="0" smtClean="0"/>
              <a:t>logical address </a:t>
            </a:r>
            <a:r>
              <a:rPr lang="en-US" sz="2400" dirty="0"/>
              <a:t>is as follows:</a:t>
            </a:r>
            <a:endParaRPr lang="en-US" sz="2400" dirty="0"/>
          </a:p>
        </p:txBody>
      </p:sp>
      <p:pic>
        <p:nvPicPr>
          <p:cNvPr id="4" name="Picture 3"/>
          <p:cNvPicPr>
            <a:picLocks noChangeAspect="1"/>
          </p:cNvPicPr>
          <p:nvPr/>
        </p:nvPicPr>
        <p:blipFill>
          <a:blip r:embed="rId2"/>
          <a:stretch>
            <a:fillRect/>
          </a:stretch>
        </p:blipFill>
        <p:spPr>
          <a:xfrm>
            <a:off x="2133600" y="3657600"/>
            <a:ext cx="4010025" cy="1152525"/>
          </a:xfrm>
          <a:prstGeom prst="rect">
            <a:avLst/>
          </a:prstGeom>
        </p:spPr>
      </p:pic>
      <p:sp>
        <p:nvSpPr>
          <p:cNvPr id="5" name="Rectangle 4"/>
          <p:cNvSpPr/>
          <p:nvPr/>
        </p:nvSpPr>
        <p:spPr>
          <a:xfrm>
            <a:off x="685800" y="5030363"/>
            <a:ext cx="8153400" cy="830997"/>
          </a:xfrm>
          <a:prstGeom prst="rect">
            <a:avLst/>
          </a:prstGeom>
        </p:spPr>
        <p:txBody>
          <a:bodyPr wrap="square">
            <a:spAutoFit/>
          </a:bodyPr>
          <a:lstStyle/>
          <a:p>
            <a:r>
              <a:rPr lang="en-US" sz="2400" dirty="0"/>
              <a:t>where p is an index into the page table and d is </a:t>
            </a:r>
            <a:r>
              <a:rPr lang="en-US" sz="2400" dirty="0" smtClean="0"/>
              <a:t>the displacement </a:t>
            </a:r>
            <a:r>
              <a:rPr lang="en-US" sz="2400" dirty="0"/>
              <a:t>within </a:t>
            </a:r>
            <a:r>
              <a:rPr lang="en-US" sz="2400" dirty="0" smtClean="0"/>
              <a:t>the page</a:t>
            </a:r>
            <a:r>
              <a:rPr lang="en-US" dirty="0">
                <a:solidFill>
                  <a:srgbClr val="231F20"/>
                </a:solidFill>
                <a:latin typeface="Palatino-Roman"/>
              </a:rPr>
              <a:t>.</a:t>
            </a:r>
            <a:endParaRPr lang="en-US" dirty="0"/>
          </a:p>
        </p:txBody>
      </p:sp>
    </p:spTree>
    <p:extLst>
      <p:ext uri="{BB962C8B-B14F-4D97-AF65-F5344CB8AC3E}">
        <p14:creationId xmlns:p14="http://schemas.microsoft.com/office/powerpoint/2010/main" val="101938393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Paging example for a 32-byte memory with 4-byte pages.</a:t>
            </a:r>
            <a:endParaRPr lang="en-US" dirty="0"/>
          </a:p>
        </p:txBody>
      </p:sp>
      <p:sp>
        <p:nvSpPr>
          <p:cNvPr id="3" name="Content Placeholder 2"/>
          <p:cNvSpPr>
            <a:spLocks noGrp="1"/>
          </p:cNvSpPr>
          <p:nvPr>
            <p:ph idx="1"/>
          </p:nvPr>
        </p:nvSpPr>
        <p:spPr>
          <a:xfrm>
            <a:off x="457200" y="1601788"/>
            <a:ext cx="2971800" cy="4524375"/>
          </a:xfrm>
        </p:spPr>
        <p:txBody>
          <a:bodyPr>
            <a:noAutofit/>
          </a:bodyPr>
          <a:lstStyle/>
          <a:p>
            <a:r>
              <a:rPr lang="en-US" sz="2000" dirty="0"/>
              <a:t>Here, in the logical address, </a:t>
            </a:r>
            <a:r>
              <a:rPr lang="en-US" sz="2000" i="1" dirty="0"/>
              <a:t>n</a:t>
            </a:r>
            <a:r>
              <a:rPr lang="en-US" sz="2000" dirty="0"/>
              <a:t>= 2 and </a:t>
            </a:r>
            <a:r>
              <a:rPr lang="en-US" sz="2000" i="1" dirty="0"/>
              <a:t>m </a:t>
            </a:r>
            <a:r>
              <a:rPr lang="en-US" sz="2000" dirty="0"/>
              <a:t>= 4. Using a page </a:t>
            </a:r>
            <a:r>
              <a:rPr lang="en-US" sz="2000" dirty="0" smtClean="0"/>
              <a:t>size of </a:t>
            </a:r>
            <a:r>
              <a:rPr lang="en-US" sz="2000" dirty="0"/>
              <a:t>4 bytes and a physical memory of 32 bytes (8 pages),</a:t>
            </a:r>
            <a:endParaRPr lang="en-US" sz="2000" dirty="0"/>
          </a:p>
        </p:txBody>
      </p:sp>
      <p:pic>
        <p:nvPicPr>
          <p:cNvPr id="4" name="Picture 3"/>
          <p:cNvPicPr>
            <a:picLocks noChangeAspect="1"/>
          </p:cNvPicPr>
          <p:nvPr/>
        </p:nvPicPr>
        <p:blipFill>
          <a:blip r:embed="rId2"/>
          <a:stretch>
            <a:fillRect/>
          </a:stretch>
        </p:blipFill>
        <p:spPr>
          <a:xfrm>
            <a:off x="4572000" y="1601788"/>
            <a:ext cx="4010025" cy="4524375"/>
          </a:xfrm>
          <a:prstGeom prst="rect">
            <a:avLst/>
          </a:prstGeom>
        </p:spPr>
      </p:pic>
      <p:sp>
        <p:nvSpPr>
          <p:cNvPr id="5" name="TextBox 4"/>
          <p:cNvSpPr txBox="1"/>
          <p:nvPr/>
        </p:nvSpPr>
        <p:spPr>
          <a:xfrm>
            <a:off x="304800" y="3962400"/>
            <a:ext cx="3962400" cy="369332"/>
          </a:xfrm>
          <a:prstGeom prst="rect">
            <a:avLst/>
          </a:prstGeom>
          <a:noFill/>
        </p:spPr>
        <p:txBody>
          <a:bodyPr wrap="square" rtlCol="0">
            <a:spAutoFit/>
          </a:bodyPr>
          <a:lstStyle/>
          <a:p>
            <a:r>
              <a:rPr lang="en-US" b="1" dirty="0" smtClean="0">
                <a:solidFill>
                  <a:srgbClr val="FF0000"/>
                </a:solidFill>
              </a:rPr>
              <a:t>Physical address = </a:t>
            </a:r>
            <a:r>
              <a:rPr lang="en-US" b="1" dirty="0" err="1" smtClean="0">
                <a:solidFill>
                  <a:srgbClr val="FF0000"/>
                </a:solidFill>
              </a:rPr>
              <a:t>Fn</a:t>
            </a:r>
            <a:r>
              <a:rPr lang="en-US" b="1" dirty="0" smtClean="0">
                <a:solidFill>
                  <a:srgbClr val="FF0000"/>
                </a:solidFill>
              </a:rPr>
              <a:t>*frame size +offset </a:t>
            </a:r>
            <a:endParaRPr lang="en-US" b="1" dirty="0">
              <a:solidFill>
                <a:srgbClr val="FF0000"/>
              </a:solidFill>
            </a:endParaRPr>
          </a:p>
        </p:txBody>
      </p:sp>
    </p:spTree>
    <p:extLst>
      <p:ext uri="{BB962C8B-B14F-4D97-AF65-F5344CB8AC3E}">
        <p14:creationId xmlns:p14="http://schemas.microsoft.com/office/powerpoint/2010/main" val="388090380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2400" dirty="0" smtClean="0"/>
              <a:t>Logical address </a:t>
            </a:r>
            <a:r>
              <a:rPr lang="en-US" sz="2400" dirty="0"/>
              <a:t>0 is page 0, offset 0. Indexing into the page table, we find that page </a:t>
            </a:r>
            <a:r>
              <a:rPr lang="en-US" sz="2400" dirty="0" smtClean="0"/>
              <a:t>0 is </a:t>
            </a:r>
            <a:r>
              <a:rPr lang="en-US" sz="2400" dirty="0"/>
              <a:t>in frame 5. Thus, logical address 0 maps to physical address 20 [= (5 × 4) </a:t>
            </a:r>
            <a:r>
              <a:rPr lang="en-US" sz="2400" dirty="0" smtClean="0"/>
              <a:t>+0</a:t>
            </a:r>
            <a:r>
              <a:rPr lang="en-US" sz="2400" dirty="0"/>
              <a:t>]. </a:t>
            </a:r>
            <a:endParaRPr lang="en-US" sz="2400" dirty="0" smtClean="0"/>
          </a:p>
          <a:p>
            <a:r>
              <a:rPr lang="en-US" sz="2400" dirty="0" smtClean="0"/>
              <a:t>Logical </a:t>
            </a:r>
            <a:r>
              <a:rPr lang="en-US" sz="2400" dirty="0"/>
              <a:t>address 3 (page 0, offset 3) maps to physical address </a:t>
            </a:r>
            <a:endParaRPr lang="en-US" sz="2400" dirty="0" smtClean="0"/>
          </a:p>
          <a:p>
            <a:pPr marL="0" indent="0">
              <a:buNone/>
            </a:pPr>
            <a:r>
              <a:rPr lang="en-US" sz="2400" dirty="0"/>
              <a:t> </a:t>
            </a:r>
            <a:r>
              <a:rPr lang="en-US" sz="2400" dirty="0" smtClean="0"/>
              <a:t>     23 </a:t>
            </a:r>
            <a:r>
              <a:rPr lang="en-US" sz="2400" dirty="0"/>
              <a:t>[= (5 × 4) </a:t>
            </a:r>
            <a:r>
              <a:rPr lang="en-US" sz="2400" dirty="0" smtClean="0"/>
              <a:t>+3</a:t>
            </a:r>
            <a:r>
              <a:rPr lang="en-US" sz="2400" dirty="0"/>
              <a:t>]. </a:t>
            </a:r>
            <a:endParaRPr lang="en-US" sz="2400" dirty="0" smtClean="0"/>
          </a:p>
          <a:p>
            <a:r>
              <a:rPr lang="en-US" sz="2400" dirty="0" smtClean="0"/>
              <a:t>Logical </a:t>
            </a:r>
            <a:r>
              <a:rPr lang="en-US" sz="2400" dirty="0"/>
              <a:t>address 4 is page 1, offset 0; according to the page table, page 1 </a:t>
            </a:r>
            <a:r>
              <a:rPr lang="en-US" sz="2400" dirty="0" smtClean="0"/>
              <a:t>is  mapped </a:t>
            </a:r>
            <a:r>
              <a:rPr lang="en-US" sz="2400" dirty="0"/>
              <a:t>to frame 6. </a:t>
            </a:r>
            <a:r>
              <a:rPr lang="en-US" sz="2400" dirty="0" smtClean="0"/>
              <a:t>Thus</a:t>
            </a:r>
            <a:r>
              <a:rPr lang="en-US" sz="2400" dirty="0"/>
              <a:t>, logical address 4 maps to physical address </a:t>
            </a:r>
            <a:endParaRPr lang="en-US" sz="2400" dirty="0" smtClean="0"/>
          </a:p>
          <a:p>
            <a:pPr marL="0" indent="0">
              <a:buNone/>
            </a:pPr>
            <a:r>
              <a:rPr lang="en-US" sz="2400" dirty="0" smtClean="0"/>
              <a:t>     24 </a:t>
            </a:r>
            <a:r>
              <a:rPr lang="en-US" sz="2400" dirty="0"/>
              <a:t>[= (</a:t>
            </a:r>
            <a:r>
              <a:rPr lang="en-US" sz="2400" dirty="0" smtClean="0"/>
              <a:t>6 × </a:t>
            </a:r>
            <a:r>
              <a:rPr lang="en-US" sz="2400" dirty="0"/>
              <a:t>4) + 0]. </a:t>
            </a:r>
            <a:endParaRPr lang="en-US" sz="2400" dirty="0" smtClean="0"/>
          </a:p>
          <a:p>
            <a:r>
              <a:rPr lang="en-US" sz="2400" dirty="0" smtClean="0"/>
              <a:t>Logical </a:t>
            </a:r>
            <a:r>
              <a:rPr lang="en-US" sz="2400" dirty="0"/>
              <a:t>address 13 maps to physical address 9.</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72864"/>
            <a:ext cx="8229600" cy="5973763"/>
          </a:xfrm>
        </p:spPr>
        <p:txBody>
          <a:bodyPr>
            <a:normAutofit/>
          </a:bodyPr>
          <a:lstStyle/>
          <a:p>
            <a:r>
              <a:rPr lang="en-US" sz="2400" dirty="0"/>
              <a:t>Assuming a 1-KB page size, what are the page numbers and offsets </a:t>
            </a:r>
            <a:r>
              <a:rPr lang="en-US" sz="2400" dirty="0" smtClean="0"/>
              <a:t>for the </a:t>
            </a:r>
            <a:r>
              <a:rPr lang="en-US" sz="2400" dirty="0"/>
              <a:t>following address references (provided as decimal numbers):</a:t>
            </a:r>
          </a:p>
          <a:p>
            <a:r>
              <a:rPr lang="en-US" sz="2400" dirty="0"/>
              <a:t>a. 3085</a:t>
            </a:r>
          </a:p>
          <a:p>
            <a:r>
              <a:rPr lang="en-US" sz="2400" dirty="0"/>
              <a:t>b. 42095</a:t>
            </a:r>
          </a:p>
          <a:p>
            <a:r>
              <a:rPr lang="en-US" sz="2400" dirty="0"/>
              <a:t>c. 215201</a:t>
            </a:r>
          </a:p>
          <a:p>
            <a:r>
              <a:rPr lang="en-US" sz="2400" dirty="0"/>
              <a:t>d. 650000</a:t>
            </a:r>
          </a:p>
          <a:p>
            <a:r>
              <a:rPr lang="en-US" sz="2400" dirty="0"/>
              <a:t>e. 2000001</a:t>
            </a:r>
          </a:p>
        </p:txBody>
      </p:sp>
    </p:spTree>
    <p:extLst>
      <p:ext uri="{BB962C8B-B14F-4D97-AF65-F5344CB8AC3E}">
        <p14:creationId xmlns:p14="http://schemas.microsoft.com/office/powerpoint/2010/main" val="49341134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Page number = logical address / page </a:t>
            </a:r>
            <a:r>
              <a:rPr lang="en-US" dirty="0" smtClean="0"/>
              <a:t>size</a:t>
            </a:r>
          </a:p>
          <a:p>
            <a:endParaRPr lang="en-US" dirty="0"/>
          </a:p>
          <a:p>
            <a:r>
              <a:rPr lang="en-US" dirty="0"/>
              <a:t>Offset = logical address mod page size</a:t>
            </a:r>
          </a:p>
        </p:txBody>
      </p:sp>
    </p:spTree>
    <p:extLst>
      <p:ext uri="{BB962C8B-B14F-4D97-AF65-F5344CB8AC3E}">
        <p14:creationId xmlns:p14="http://schemas.microsoft.com/office/powerpoint/2010/main" val="381661129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page size = 1 KB = 1024 B</a:t>
            </a:r>
          </a:p>
        </p:txBody>
      </p:sp>
      <p:graphicFrame>
        <p:nvGraphicFramePr>
          <p:cNvPr id="4" name="Table 3"/>
          <p:cNvGraphicFramePr>
            <a:graphicFrameLocks noGrp="1"/>
          </p:cNvGraphicFramePr>
          <p:nvPr>
            <p:extLst>
              <p:ext uri="{D42A27DB-BD31-4B8C-83A1-F6EECF244321}">
                <p14:modId xmlns:p14="http://schemas.microsoft.com/office/powerpoint/2010/main" val="2362328196"/>
              </p:ext>
            </p:extLst>
          </p:nvPr>
        </p:nvGraphicFramePr>
        <p:xfrm>
          <a:off x="685800" y="2438400"/>
          <a:ext cx="6096000" cy="2011680"/>
        </p:xfrm>
        <a:graphic>
          <a:graphicData uri="http://schemas.openxmlformats.org/drawingml/2006/table">
            <a:tbl>
              <a:tblPr firstRow="1" bandRow="1">
                <a:tableStyleId>{5C22544A-7EE6-4342-B048-85BDC9FD1C3A}</a:tableStyleId>
              </a:tblPr>
              <a:tblGrid>
                <a:gridCol w="3048000"/>
                <a:gridCol w="3048000"/>
              </a:tblGrid>
              <a:tr h="292768">
                <a:tc>
                  <a:txBody>
                    <a:bodyPr/>
                    <a:lstStyle/>
                    <a:p>
                      <a:r>
                        <a:rPr lang="en-US" sz="1800" b="0" i="0" kern="1200" dirty="0" smtClean="0">
                          <a:solidFill>
                            <a:schemeClr val="lt1"/>
                          </a:solidFill>
                          <a:effectLst/>
                          <a:latin typeface="+mn-lt"/>
                          <a:ea typeface="+mn-ea"/>
                          <a:cs typeface="+mn-cs"/>
                        </a:rPr>
                        <a:t>Page Number</a:t>
                      </a:r>
                      <a:endParaRPr lang="en-US" dirty="0"/>
                    </a:p>
                  </a:txBody>
                  <a:tcPr/>
                </a:tc>
                <a:tc>
                  <a:txBody>
                    <a:bodyPr/>
                    <a:lstStyle/>
                    <a:p>
                      <a:r>
                        <a:rPr lang="en-US" dirty="0" smtClean="0"/>
                        <a:t>offset</a:t>
                      </a:r>
                      <a:endParaRPr lang="en-US" dirty="0"/>
                    </a:p>
                  </a:txBody>
                  <a:tcPr/>
                </a:tc>
              </a:tr>
              <a:tr h="292768">
                <a:tc>
                  <a:txBody>
                    <a:bodyPr/>
                    <a:lstStyle/>
                    <a:p>
                      <a:r>
                        <a:rPr lang="en-US" sz="1800" b="0" i="0" kern="1200" dirty="0" smtClean="0">
                          <a:solidFill>
                            <a:schemeClr val="dk1"/>
                          </a:solidFill>
                          <a:effectLst/>
                          <a:latin typeface="+mn-lt"/>
                          <a:ea typeface="+mn-ea"/>
                          <a:cs typeface="+mn-cs"/>
                        </a:rPr>
                        <a:t>3085/1024 = 3</a:t>
                      </a:r>
                      <a:endParaRPr lang="en-US" dirty="0"/>
                    </a:p>
                  </a:txBody>
                  <a:tcPr/>
                </a:tc>
                <a:tc>
                  <a:txBody>
                    <a:bodyPr/>
                    <a:lstStyle/>
                    <a:p>
                      <a:r>
                        <a:rPr lang="en-US" sz="1800" b="0" i="0" kern="1200" dirty="0" smtClean="0">
                          <a:solidFill>
                            <a:schemeClr val="dk1"/>
                          </a:solidFill>
                          <a:effectLst/>
                          <a:latin typeface="+mn-lt"/>
                          <a:ea typeface="+mn-ea"/>
                          <a:cs typeface="+mn-cs"/>
                        </a:rPr>
                        <a:t>3085 mod 1024 = 13</a:t>
                      </a:r>
                      <a:endParaRPr lang="en-US" dirty="0"/>
                    </a:p>
                  </a:txBody>
                  <a:tcPr/>
                </a:tc>
              </a:tr>
              <a:tr h="292768">
                <a:tc>
                  <a:txBody>
                    <a:bodyPr/>
                    <a:lstStyle/>
                    <a:p>
                      <a:r>
                        <a:rPr lang="en-US" sz="1800" b="0" i="0" kern="1200" dirty="0" smtClean="0">
                          <a:solidFill>
                            <a:schemeClr val="dk1"/>
                          </a:solidFill>
                          <a:effectLst/>
                          <a:latin typeface="+mn-lt"/>
                          <a:ea typeface="+mn-ea"/>
                          <a:cs typeface="+mn-cs"/>
                        </a:rPr>
                        <a:t>42095/1024 = 41</a:t>
                      </a:r>
                      <a:endParaRPr lang="en-US" dirty="0"/>
                    </a:p>
                  </a:txBody>
                  <a:tcPr/>
                </a:tc>
                <a:tc>
                  <a:txBody>
                    <a:bodyPr/>
                    <a:lstStyle/>
                    <a:p>
                      <a:r>
                        <a:rPr lang="en-US" sz="1800" b="0" i="0" kern="1200" dirty="0" smtClean="0">
                          <a:solidFill>
                            <a:schemeClr val="dk1"/>
                          </a:solidFill>
                          <a:effectLst/>
                          <a:latin typeface="+mn-lt"/>
                          <a:ea typeface="+mn-ea"/>
                          <a:cs typeface="+mn-cs"/>
                        </a:rPr>
                        <a:t>42095 mod 1024 = 111</a:t>
                      </a:r>
                      <a:endParaRPr lang="en-US" dirty="0"/>
                    </a:p>
                  </a:txBody>
                  <a:tcPr/>
                </a:tc>
              </a:tr>
              <a:tr h="579120">
                <a:tc>
                  <a:txBody>
                    <a:bodyPr/>
                    <a:lstStyle/>
                    <a:p>
                      <a:r>
                        <a:rPr lang="en-US" sz="1800" b="0" i="0" kern="1200" dirty="0" smtClean="0">
                          <a:solidFill>
                            <a:schemeClr val="dk1"/>
                          </a:solidFill>
                          <a:effectLst/>
                          <a:latin typeface="+mn-lt"/>
                          <a:ea typeface="+mn-ea"/>
                          <a:cs typeface="+mn-cs"/>
                        </a:rPr>
                        <a:t>2000001/1024 = 1953</a:t>
                      </a:r>
                      <a:endParaRPr lang="en-US" dirty="0"/>
                    </a:p>
                  </a:txBody>
                  <a:tcPr/>
                </a:tc>
                <a:tc>
                  <a:txBody>
                    <a:bodyPr/>
                    <a:lstStyle/>
                    <a:p>
                      <a:pPr fontAlgn="base"/>
                      <a:r>
                        <a:rPr lang="en-US" sz="1800" b="0" i="0" kern="1200" dirty="0" smtClean="0">
                          <a:solidFill>
                            <a:schemeClr val="dk1"/>
                          </a:solidFill>
                          <a:effectLst/>
                          <a:latin typeface="+mn-lt"/>
                          <a:ea typeface="+mn-ea"/>
                          <a:cs typeface="+mn-cs"/>
                        </a:rPr>
                        <a:t>2000001 mod 1024 = 129</a:t>
                      </a:r>
                    </a:p>
                    <a:p>
                      <a:r>
                        <a:rPr lang="en-US" sz="1800" b="0" i="0" kern="1200" dirty="0" smtClean="0">
                          <a:solidFill>
                            <a:schemeClr val="dk1"/>
                          </a:solidFill>
                          <a:effectLst/>
                          <a:latin typeface="+mn-lt"/>
                          <a:ea typeface="+mn-ea"/>
                          <a:cs typeface="+mn-cs"/>
                        </a:rPr>
                        <a:t/>
                      </a:r>
                      <a:br>
                        <a:rPr lang="en-US" sz="1800" b="0" i="0" kern="1200" dirty="0" smtClean="0">
                          <a:solidFill>
                            <a:schemeClr val="dk1"/>
                          </a:solidFill>
                          <a:effectLst/>
                          <a:latin typeface="+mn-lt"/>
                          <a:ea typeface="+mn-ea"/>
                          <a:cs typeface="+mn-cs"/>
                        </a:rPr>
                      </a:br>
                      <a:endParaRPr lang="en-US" dirty="0"/>
                    </a:p>
                  </a:txBody>
                  <a:tcPr/>
                </a:tc>
              </a:tr>
            </a:tbl>
          </a:graphicData>
        </a:graphic>
      </p:graphicFrame>
    </p:spTree>
    <p:extLst>
      <p:ext uri="{BB962C8B-B14F-4D97-AF65-F5344CB8AC3E}">
        <p14:creationId xmlns:p14="http://schemas.microsoft.com/office/powerpoint/2010/main" val="358203659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973763"/>
          </a:xfrm>
        </p:spPr>
        <p:txBody>
          <a:bodyPr>
            <a:normAutofit/>
          </a:bodyPr>
          <a:lstStyle/>
          <a:p>
            <a:pPr marL="0" indent="0">
              <a:buNone/>
            </a:pPr>
            <a:r>
              <a:rPr lang="en-US" sz="2400" dirty="0" smtClean="0"/>
              <a:t>2. Consider </a:t>
            </a:r>
            <a:r>
              <a:rPr lang="en-US" sz="2400" dirty="0"/>
              <a:t>a logical address space of 256 pages with a 4-KB page </a:t>
            </a:r>
            <a:r>
              <a:rPr lang="en-US" sz="2400" dirty="0" err="1" smtClean="0"/>
              <a:t>size,mapped</a:t>
            </a:r>
            <a:r>
              <a:rPr lang="en-US" sz="2400" dirty="0" smtClean="0"/>
              <a:t> </a:t>
            </a:r>
            <a:r>
              <a:rPr lang="en-US" sz="2400" dirty="0"/>
              <a:t>onto a physical memory of 64 frames.</a:t>
            </a:r>
          </a:p>
          <a:p>
            <a:r>
              <a:rPr lang="en-US" sz="2400" dirty="0"/>
              <a:t>a. How many bits are required in the logical address</a:t>
            </a:r>
            <a:r>
              <a:rPr lang="en-US" sz="2400" dirty="0" smtClean="0"/>
              <a:t>?</a:t>
            </a:r>
          </a:p>
          <a:p>
            <a:endParaRPr lang="en-US" sz="2400" dirty="0" smtClean="0"/>
          </a:p>
          <a:p>
            <a:endParaRPr lang="en-US" sz="2400" dirty="0" smtClean="0"/>
          </a:p>
          <a:p>
            <a:endParaRPr lang="en-US" sz="2400" dirty="0"/>
          </a:p>
          <a:p>
            <a:endParaRPr lang="en-US" sz="2400" dirty="0"/>
          </a:p>
          <a:p>
            <a:r>
              <a:rPr lang="en-US" sz="2400" dirty="0" smtClean="0"/>
              <a:t>b. How many bits are required in the physical address?</a:t>
            </a:r>
            <a:r>
              <a:rPr lang="en-US" sz="2400" dirty="0"/>
              <a:t> </a:t>
            </a:r>
            <a:endParaRPr lang="en-US" sz="2400" dirty="0" smtClean="0"/>
          </a:p>
          <a:p>
            <a:pPr marL="0" indent="0">
              <a:buNone/>
            </a:pPr>
            <a:r>
              <a:rPr lang="en-US" sz="1800" dirty="0" smtClean="0"/>
              <a:t>Let </a:t>
            </a:r>
            <a:r>
              <a:rPr lang="en-US" sz="1800" dirty="0"/>
              <a:t>x be the number of physical addresses </a:t>
            </a:r>
          </a:p>
          <a:p>
            <a:pPr marL="0" indent="0">
              <a:buNone/>
            </a:pPr>
            <a:r>
              <a:rPr lang="en-US" sz="1800" dirty="0"/>
              <a:t>Physical address space (/size) = </a:t>
            </a:r>
            <a:r>
              <a:rPr lang="en-US" sz="1800" dirty="0" smtClean="0"/>
              <a:t>2^x </a:t>
            </a:r>
            <a:endParaRPr lang="en-US" sz="1800" dirty="0"/>
          </a:p>
          <a:p>
            <a:pPr marL="0" indent="0">
              <a:buNone/>
            </a:pPr>
            <a:r>
              <a:rPr lang="en-US" sz="1800" dirty="0"/>
              <a:t>Physical address space (size) = # of frames × frame size </a:t>
            </a:r>
          </a:p>
          <a:p>
            <a:pPr marL="0" indent="0">
              <a:buNone/>
            </a:pPr>
            <a:r>
              <a:rPr lang="en-US" sz="1800" dirty="0"/>
              <a:t>Physical address space (size) = 64 × 4 KB </a:t>
            </a:r>
          </a:p>
          <a:p>
            <a:pPr marL="0" indent="0">
              <a:buNone/>
            </a:pPr>
            <a:r>
              <a:rPr lang="en-US" sz="1800" dirty="0"/>
              <a:t>Physical address space (size) = 64 × 4096 </a:t>
            </a:r>
          </a:p>
          <a:p>
            <a:pPr marL="0" indent="0">
              <a:buNone/>
            </a:pPr>
            <a:r>
              <a:rPr lang="en-US" sz="1800" dirty="0"/>
              <a:t>Physical address space (size) = </a:t>
            </a:r>
            <a:r>
              <a:rPr lang="en-US" sz="1800" dirty="0" smtClean="0"/>
              <a:t>2^6 </a:t>
            </a:r>
            <a:r>
              <a:rPr lang="en-US" sz="1800" dirty="0"/>
              <a:t>× </a:t>
            </a:r>
            <a:r>
              <a:rPr lang="en-US" sz="1800" dirty="0" smtClean="0"/>
              <a:t>2^12 </a:t>
            </a:r>
            <a:r>
              <a:rPr lang="en-US" sz="1800" dirty="0"/>
              <a:t>= </a:t>
            </a:r>
            <a:r>
              <a:rPr lang="en-US" sz="1800" dirty="0" smtClean="0"/>
              <a:t>2^18 </a:t>
            </a:r>
            <a:endParaRPr lang="en-US" sz="1800" dirty="0"/>
          </a:p>
          <a:p>
            <a:pPr marL="0" indent="0">
              <a:buNone/>
            </a:pPr>
            <a:r>
              <a:rPr lang="en-US" sz="1800" dirty="0"/>
              <a:t>Number of required bits in the physical address=x =18 bit </a:t>
            </a:r>
          </a:p>
        </p:txBody>
      </p:sp>
      <p:sp>
        <p:nvSpPr>
          <p:cNvPr id="4" name="Rectangle 3"/>
          <p:cNvSpPr/>
          <p:nvPr/>
        </p:nvSpPr>
        <p:spPr>
          <a:xfrm>
            <a:off x="685800" y="1981200"/>
            <a:ext cx="8077200" cy="1477328"/>
          </a:xfrm>
          <a:prstGeom prst="rect">
            <a:avLst/>
          </a:prstGeom>
        </p:spPr>
        <p:txBody>
          <a:bodyPr wrap="square">
            <a:spAutoFit/>
          </a:bodyPr>
          <a:lstStyle/>
          <a:p>
            <a:r>
              <a:rPr lang="en-US" dirty="0" smtClean="0"/>
              <a:t> </a:t>
            </a:r>
            <a:r>
              <a:rPr lang="en-US" dirty="0"/>
              <a:t>Logical address space (/size) = # of pages × page size </a:t>
            </a:r>
          </a:p>
          <a:p>
            <a:r>
              <a:rPr lang="en-US" dirty="0"/>
              <a:t>Logical address space (/size) = 256 × 4 KB </a:t>
            </a:r>
          </a:p>
          <a:p>
            <a:r>
              <a:rPr lang="en-US" dirty="0"/>
              <a:t>Logical address space (/size) = 256 × 4096 </a:t>
            </a:r>
          </a:p>
          <a:p>
            <a:r>
              <a:rPr lang="en-US" dirty="0"/>
              <a:t>Logical address space (/size) = 1048576 </a:t>
            </a:r>
          </a:p>
          <a:p>
            <a:r>
              <a:rPr lang="en-US" dirty="0"/>
              <a:t>Logical address space (/size) = </a:t>
            </a:r>
            <a:r>
              <a:rPr lang="en-US" dirty="0" smtClean="0"/>
              <a:t>2^20 </a:t>
            </a:r>
            <a:endParaRPr lang="en-US" dirty="0"/>
          </a:p>
        </p:txBody>
      </p:sp>
    </p:spTree>
    <p:extLst>
      <p:ext uri="{BB962C8B-B14F-4D97-AF65-F5344CB8AC3E}">
        <p14:creationId xmlns:p14="http://schemas.microsoft.com/office/powerpoint/2010/main" val="267913932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Advantages and Disadvantages of Paging</a:t>
            </a:r>
            <a:endParaRPr lang="en-US" dirty="0"/>
          </a:p>
        </p:txBody>
      </p:sp>
      <p:sp>
        <p:nvSpPr>
          <p:cNvPr id="3" name="Content Placeholder 2"/>
          <p:cNvSpPr>
            <a:spLocks noGrp="1"/>
          </p:cNvSpPr>
          <p:nvPr>
            <p:ph idx="1"/>
          </p:nvPr>
        </p:nvSpPr>
        <p:spPr/>
        <p:txBody>
          <a:bodyPr>
            <a:normAutofit/>
          </a:bodyPr>
          <a:lstStyle/>
          <a:p>
            <a:pPr algn="just"/>
            <a:r>
              <a:rPr lang="en-US" sz="2400" dirty="0" smtClean="0"/>
              <a:t>Paging reduces external fragmentation, but still suffer from internal fragmentation.</a:t>
            </a:r>
          </a:p>
          <a:p>
            <a:pPr algn="just"/>
            <a:r>
              <a:rPr lang="en-US" sz="2400" dirty="0" smtClean="0"/>
              <a:t> Paging is simple to implement and assumed as an efficient memory management technique.</a:t>
            </a:r>
          </a:p>
          <a:p>
            <a:pPr algn="just"/>
            <a:r>
              <a:rPr lang="en-US" sz="2400" dirty="0" smtClean="0"/>
              <a:t> Due to equal size of the pages and frames, swapping becomes very easy.</a:t>
            </a:r>
          </a:p>
          <a:p>
            <a:pPr algn="just"/>
            <a:r>
              <a:rPr lang="en-US" sz="2400" dirty="0" smtClean="0"/>
              <a:t> Page table requires extra memory space, so may not be good for a system having small RAM.</a:t>
            </a:r>
            <a:endParaRPr lang="en-US" sz="2400"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sz="5400" dirty="0" smtClean="0"/>
              <a:t>Thank you</a:t>
            </a:r>
            <a:endParaRPr lang="en-US" sz="5400" dirty="0"/>
          </a:p>
        </p:txBody>
      </p:sp>
    </p:spTree>
    <p:extLst>
      <p:ext uri="{BB962C8B-B14F-4D97-AF65-F5344CB8AC3E}">
        <p14:creationId xmlns:p14="http://schemas.microsoft.com/office/powerpoint/2010/main" val="290082166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1930</TotalTime>
  <Words>2374</Words>
  <Application>Microsoft Office PowerPoint</Application>
  <PresentationFormat>On-screen Show (4:3)</PresentationFormat>
  <Paragraphs>267</Paragraphs>
  <Slides>57</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ＭＳ Ｐゴシック</vt:lpstr>
      <vt:lpstr>Arial</vt:lpstr>
      <vt:lpstr>Arimo</vt:lpstr>
      <vt:lpstr>Calibri</vt:lpstr>
      <vt:lpstr>Helvetica</vt:lpstr>
      <vt:lpstr>Palatino-Roman</vt:lpstr>
      <vt:lpstr>Times New Roman</vt:lpstr>
      <vt:lpstr>Wingdings 2</vt:lpstr>
      <vt:lpstr>Office Theme</vt:lpstr>
      <vt:lpstr>Memory Management </vt:lpstr>
      <vt:lpstr>What is Memory management?</vt:lpstr>
      <vt:lpstr>PowerPoint Presentation</vt:lpstr>
      <vt:lpstr>Process Address Space</vt:lpstr>
      <vt:lpstr>PowerPoint Presentation</vt:lpstr>
      <vt:lpstr>There are three types of addresses used in a program before and after memory is allocated: </vt:lpstr>
      <vt:lpstr>Base and Limit Registers</vt:lpstr>
      <vt:lpstr>Hardware Address Protection</vt:lpstr>
      <vt:lpstr>PowerPoint Presentation</vt:lpstr>
      <vt:lpstr>Swapping</vt:lpstr>
      <vt:lpstr>Schematic View of Swapping</vt:lpstr>
      <vt:lpstr>Memory management Techniques:</vt:lpstr>
      <vt:lpstr>PowerPoint Presentation</vt:lpstr>
      <vt:lpstr>Single-partition allocation</vt:lpstr>
      <vt:lpstr>Multiple Partition Allocation </vt:lpstr>
      <vt:lpstr>Fixed Partition </vt:lpstr>
      <vt:lpstr>Variable Partition/Dynamic Partition</vt:lpstr>
      <vt:lpstr>Algorithms for memory allocation</vt:lpstr>
      <vt:lpstr>First fit </vt:lpstr>
      <vt:lpstr>Best fit </vt:lpstr>
      <vt:lpstr>Worst fit </vt:lpstr>
      <vt:lpstr>PowerPoint Presentation</vt:lpstr>
      <vt:lpstr>PowerPoint Presentation</vt:lpstr>
      <vt:lpstr>PowerPoint Presentation</vt:lpstr>
      <vt:lpstr>Fragmentation</vt:lpstr>
      <vt:lpstr>Fragmentation</vt:lpstr>
      <vt:lpstr>External Fragmentation </vt:lpstr>
      <vt:lpstr>Internal fragmentation </vt:lpstr>
      <vt:lpstr>Fragmentation (Cont.)</vt:lpstr>
      <vt:lpstr>Non contiguous memory allocation techniques </vt:lpstr>
      <vt:lpstr>Segmentation</vt:lpstr>
      <vt:lpstr>Segmentation</vt:lpstr>
      <vt:lpstr>Logical View of Segmentation</vt:lpstr>
      <vt:lpstr>User’s View of a Program</vt:lpstr>
      <vt:lpstr>PowerPoint Presentation</vt:lpstr>
      <vt:lpstr>Segmentation Hardware </vt:lpstr>
      <vt:lpstr>PowerPoint Presentation</vt:lpstr>
      <vt:lpstr>Segmentation Example </vt:lpstr>
      <vt:lpstr>PowerPoint Presentation</vt:lpstr>
      <vt:lpstr>PowerPoint Presentation</vt:lpstr>
      <vt:lpstr>PowerPoint Presentation</vt:lpstr>
      <vt:lpstr>PowerPoint Presentation</vt:lpstr>
      <vt:lpstr>Paging</vt:lpstr>
      <vt:lpstr>PowerPoint Presentation</vt:lpstr>
      <vt:lpstr>PowerPoint Presentation</vt:lpstr>
      <vt:lpstr>Page map table </vt:lpstr>
      <vt:lpstr>Address Translation</vt:lpstr>
      <vt:lpstr>Paging model of logical and physical memory.</vt:lpstr>
      <vt:lpstr>PowerPoint Presentation</vt:lpstr>
      <vt:lpstr>Paging example for a 32-byte memory with 4-byte pages.</vt:lpstr>
      <vt:lpstr>PowerPoint Presentation</vt:lpstr>
      <vt:lpstr>PowerPoint Presentation</vt:lpstr>
      <vt:lpstr>PowerPoint Presentation</vt:lpstr>
      <vt:lpstr>PowerPoint Presentation</vt:lpstr>
      <vt:lpstr>PowerPoint Presentation</vt:lpstr>
      <vt:lpstr>Advantages and Disadvantages of Paging</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Management</dc:title>
  <dc:creator>student</dc:creator>
  <cp:lastModifiedBy>student</cp:lastModifiedBy>
  <cp:revision>80</cp:revision>
  <dcterms:created xsi:type="dcterms:W3CDTF">2006-08-16T00:00:00Z</dcterms:created>
  <dcterms:modified xsi:type="dcterms:W3CDTF">2022-09-15T05:57:21Z</dcterms:modified>
</cp:coreProperties>
</file>