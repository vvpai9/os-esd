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0" r:id="rId13"/>
    <p:sldId id="271" r:id="rId14"/>
    <p:sldId id="272" r:id="rId15"/>
    <p:sldId id="274" r:id="rId16"/>
    <p:sldId id="284" r:id="rId17"/>
    <p:sldId id="285" r:id="rId18"/>
    <p:sldId id="286" r:id="rId19"/>
    <p:sldId id="287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1" r:id="rId30"/>
    <p:sldId id="318" r:id="rId31"/>
    <p:sldId id="319" r:id="rId32"/>
    <p:sldId id="320" r:id="rId3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ECCA"/>
          </a:solidFill>
        </a:fill>
      </a:tcStyle>
    </a:wholeTbl>
    <a:band2H>
      <a:tcTxStyle/>
      <a:tcStyle>
        <a:tcBdr/>
        <a:fill>
          <a:solidFill>
            <a:srgbClr val="EFF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7685803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4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"/>
          <p:cNvGrpSpPr/>
          <p:nvPr/>
        </p:nvGrpSpPr>
        <p:grpSpPr>
          <a:xfrm>
            <a:off x="198437" y="2960687"/>
            <a:ext cx="8610601" cy="201613"/>
            <a:chOff x="0" y="0"/>
            <a:chExt cx="8610600" cy="201612"/>
          </a:xfrm>
        </p:grpSpPr>
        <p:sp>
          <p:nvSpPr>
            <p:cNvPr id="22" name="Rectangle"/>
            <p:cNvSpPr/>
            <p:nvPr/>
          </p:nvSpPr>
          <p:spPr>
            <a:xfrm>
              <a:off x="0" y="0"/>
              <a:ext cx="2870200" cy="201613"/>
            </a:xfrm>
            <a:prstGeom prst="rect">
              <a:avLst/>
            </a:prstGeom>
            <a:solidFill>
              <a:srgbClr val="3366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" name="Rectangle"/>
            <p:cNvSpPr/>
            <p:nvPr/>
          </p:nvSpPr>
          <p:spPr>
            <a:xfrm>
              <a:off x="2870200" y="0"/>
              <a:ext cx="2870200" cy="201613"/>
            </a:xfrm>
            <a:prstGeom prst="rect">
              <a:avLst/>
            </a:prstGeom>
            <a:solidFill>
              <a:srgbClr val="99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" name="Rectangle"/>
            <p:cNvSpPr/>
            <p:nvPr/>
          </p:nvSpPr>
          <p:spPr>
            <a:xfrm>
              <a:off x="5740400" y="0"/>
              <a:ext cx="2870200" cy="201613"/>
            </a:xfrm>
            <a:prstGeom prst="rect">
              <a:avLst/>
            </a:prstGeom>
            <a:solidFill>
              <a:srgbClr val="3366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17EECC304_OS&amp;ESD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6E1B-B933-4386-BAF3-F84D9DEB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09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b="5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-1"/>
            <a:ext cx="228600" cy="2286002"/>
          </a:xfrm>
          <a:prstGeom prst="rect">
            <a:avLst/>
          </a:prstGeom>
          <a:solidFill>
            <a:srgbClr val="33669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/>
          </a:p>
        </p:txBody>
      </p:sp>
      <p:sp>
        <p:nvSpPr>
          <p:cNvPr id="3" name="Line"/>
          <p:cNvSpPr/>
          <p:nvPr/>
        </p:nvSpPr>
        <p:spPr>
          <a:xfrm>
            <a:off x="457200" y="860425"/>
            <a:ext cx="8077201" cy="0"/>
          </a:xfrm>
          <a:prstGeom prst="line">
            <a:avLst/>
          </a:prstGeom>
          <a:ln w="19050">
            <a:solidFill>
              <a:srgbClr val="33669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Rectangle"/>
          <p:cNvSpPr/>
          <p:nvPr/>
        </p:nvSpPr>
        <p:spPr>
          <a:xfrm>
            <a:off x="0" y="2285999"/>
            <a:ext cx="228600" cy="2286002"/>
          </a:xfrm>
          <a:prstGeom prst="rect">
            <a:avLst/>
          </a:prstGeom>
          <a:solidFill>
            <a:srgbClr val="99CC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/>
          </a:p>
        </p:txBody>
      </p:sp>
      <p:sp>
        <p:nvSpPr>
          <p:cNvPr id="5" name="Rectangle"/>
          <p:cNvSpPr/>
          <p:nvPr/>
        </p:nvSpPr>
        <p:spPr>
          <a:xfrm>
            <a:off x="0" y="4571999"/>
            <a:ext cx="228600" cy="2286002"/>
          </a:xfrm>
          <a:prstGeom prst="rect">
            <a:avLst/>
          </a:prstGeom>
          <a:solidFill>
            <a:srgbClr val="33669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/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56087" y="6613525"/>
            <a:ext cx="394802" cy="3708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/>
          <a:lstStyle/>
          <a:p>
            <a:r>
              <a:t>Title Text</a:t>
            </a:r>
          </a:p>
        </p:txBody>
      </p:sp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9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742950" marR="0" indent="-28575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80000"/>
        <a:buFontTx/>
        <a:buChar char="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0858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Tx/>
        <a:buChar char="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4287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Tx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17716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2288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26860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1432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36004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hapter 3:  Processes"/>
          <p:cNvSpPr txBox="1">
            <a:spLocks noGrp="1"/>
          </p:cNvSpPr>
          <p:nvPr>
            <p:ph type="title" idx="4294967295"/>
          </p:nvPr>
        </p:nvSpPr>
        <p:spPr>
          <a:xfrm>
            <a:off x="371475" y="1831974"/>
            <a:ext cx="8458200" cy="11430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300"/>
            </a:lvl1pPr>
          </a:lstStyle>
          <a:p>
            <a:r>
              <a:rPr dirty="0"/>
              <a:t>Chapter </a:t>
            </a:r>
            <a:r>
              <a:rPr lang="en-US" dirty="0" smtClean="0"/>
              <a:t>2</a:t>
            </a:r>
            <a:r>
              <a:rPr dirty="0" smtClean="0"/>
              <a:t>:  </a:t>
            </a:r>
            <a:r>
              <a:rPr dirty="0"/>
              <a:t>Processes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hapter 3:  Processes"/>
          <p:cNvSpPr txBox="1">
            <a:spLocks noGrp="1"/>
          </p:cNvSpPr>
          <p:nvPr>
            <p:ph type="title" idx="4294967295"/>
          </p:nvPr>
        </p:nvSpPr>
        <p:spPr>
          <a:xfrm>
            <a:off x="1644650" y="182562"/>
            <a:ext cx="6380163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Chapter 3:  Processes</a:t>
            </a:r>
          </a:p>
        </p:txBody>
      </p:sp>
      <p:sp>
        <p:nvSpPr>
          <p:cNvPr id="39" name="Process Concept…"/>
          <p:cNvSpPr txBox="1">
            <a:spLocks noGrp="1"/>
          </p:cNvSpPr>
          <p:nvPr>
            <p:ph type="body" idx="4294967295"/>
          </p:nvPr>
        </p:nvSpPr>
        <p:spPr>
          <a:xfrm>
            <a:off x="806450" y="1120775"/>
            <a:ext cx="7370763" cy="38227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Process Concept</a:t>
            </a:r>
          </a:p>
          <a:p>
            <a:pPr>
              <a:buChar char=""/>
            </a:pPr>
            <a:r>
              <a:t>Process Scheduling</a:t>
            </a:r>
          </a:p>
          <a:p>
            <a:pPr>
              <a:buChar char=""/>
            </a:pPr>
            <a:r>
              <a:t>Operations on Processes</a:t>
            </a:r>
          </a:p>
          <a:p>
            <a:pPr>
              <a:buChar char=""/>
            </a:pPr>
            <a:r>
              <a:t>Interprocess Communication</a:t>
            </a:r>
          </a:p>
          <a:p>
            <a:pPr>
              <a:buChar char=""/>
            </a:pPr>
            <a:r>
              <a:t>Examples of IPC Systems</a:t>
            </a:r>
          </a:p>
          <a:p>
            <a:pPr>
              <a:buChar char=""/>
            </a:pPr>
            <a:r>
              <a:t>Communication in Client-Server Systems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ives"/>
          <p:cNvSpPr txBox="1">
            <a:spLocks noGrp="1"/>
          </p:cNvSpPr>
          <p:nvPr>
            <p:ph type="title" idx="4294967295"/>
          </p:nvPr>
        </p:nvSpPr>
        <p:spPr>
          <a:xfrm>
            <a:off x="457200" y="198437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Objectives</a:t>
            </a:r>
          </a:p>
        </p:txBody>
      </p:sp>
      <p:sp>
        <p:nvSpPr>
          <p:cNvPr id="43" name="To introduce the notion of a process -- a program in execution, which forms the basis of all computation…"/>
          <p:cNvSpPr txBox="1">
            <a:spLocks noGrp="1"/>
          </p:cNvSpPr>
          <p:nvPr>
            <p:ph type="body" idx="4294967295"/>
          </p:nvPr>
        </p:nvSpPr>
        <p:spPr>
          <a:xfrm>
            <a:off x="838200" y="1138237"/>
            <a:ext cx="6823075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To introduce the notion of a process -- a program in execution, which forms the basis of all computation</a:t>
            </a:r>
          </a:p>
          <a:p>
            <a:pPr>
              <a:buChar char=""/>
            </a:pPr>
            <a:r>
              <a:t>To describe the various features of processes, including scheduling, creation and termination, and communication</a:t>
            </a:r>
          </a:p>
          <a:p>
            <a:pPr>
              <a:buChar char=""/>
            </a:pPr>
            <a:r>
              <a:t>To explore interprocess communication using shared memory and message passing</a:t>
            </a:r>
          </a:p>
          <a:p>
            <a:pPr>
              <a:buChar char=""/>
            </a:pPr>
            <a:r>
              <a:t>To describe communication in client-server systems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rocess Concept"/>
          <p:cNvSpPr txBox="1">
            <a:spLocks noGrp="1"/>
          </p:cNvSpPr>
          <p:nvPr>
            <p:ph type="title" idx="4294967295"/>
          </p:nvPr>
        </p:nvSpPr>
        <p:spPr>
          <a:xfrm>
            <a:off x="1576387" y="166687"/>
            <a:ext cx="6107113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Process Concept</a:t>
            </a:r>
          </a:p>
        </p:txBody>
      </p:sp>
      <p:sp>
        <p:nvSpPr>
          <p:cNvPr id="47" name="An operating system executes a variety of programs:…"/>
          <p:cNvSpPr txBox="1">
            <a:spLocks noGrp="1"/>
          </p:cNvSpPr>
          <p:nvPr>
            <p:ph type="body" idx="4294967295"/>
          </p:nvPr>
        </p:nvSpPr>
        <p:spPr>
          <a:xfrm>
            <a:off x="928687" y="1177925"/>
            <a:ext cx="7370763" cy="478631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har char=""/>
            </a:pPr>
            <a:r>
              <a:t>An operating system executes a variety of programs: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</a:pPr>
            <a:r>
              <a:t>Batch system – </a:t>
            </a:r>
            <a:r>
              <a:rPr b="1">
                <a:solidFill>
                  <a:srgbClr val="3366FF"/>
                </a:solidFill>
              </a:rPr>
              <a:t>jobs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</a:pPr>
            <a:r>
              <a:t>Time-shared systems – </a:t>
            </a:r>
            <a:r>
              <a:rPr b="1">
                <a:solidFill>
                  <a:srgbClr val="3366FF"/>
                </a:solidFill>
              </a:rPr>
              <a:t>user programs </a:t>
            </a:r>
            <a:r>
              <a:t>or </a:t>
            </a:r>
            <a:r>
              <a:rPr b="1">
                <a:solidFill>
                  <a:srgbClr val="3366FF"/>
                </a:solidFill>
              </a:rPr>
              <a:t>tasks</a:t>
            </a:r>
          </a:p>
          <a:p>
            <a:pPr>
              <a:lnSpc>
                <a:spcPct val="90000"/>
              </a:lnSpc>
              <a:buChar char=""/>
            </a:pPr>
            <a:r>
              <a:t>Textbook uses the terms </a:t>
            </a:r>
            <a:r>
              <a:rPr b="1" i="1"/>
              <a:t>job</a:t>
            </a:r>
            <a:r>
              <a:t> and </a:t>
            </a:r>
            <a:r>
              <a:rPr b="1" i="1"/>
              <a:t>process</a:t>
            </a:r>
            <a:r>
              <a:t> almost interchangeably</a:t>
            </a:r>
          </a:p>
          <a:p>
            <a:pPr>
              <a:lnSpc>
                <a:spcPct val="90000"/>
              </a:lnSpc>
              <a:buChar char=""/>
              <a:defRPr b="1">
                <a:solidFill>
                  <a:srgbClr val="3366FF"/>
                </a:solidFill>
              </a:defRPr>
            </a:pPr>
            <a:r>
              <a:t>Process</a:t>
            </a:r>
            <a:r>
              <a:rPr b="0">
                <a:solidFill>
                  <a:srgbClr val="000000"/>
                </a:solidFill>
              </a:rPr>
              <a:t> – a program in execution; process execution must progress in sequential fashion</a:t>
            </a:r>
          </a:p>
          <a:p>
            <a:pPr>
              <a:buChar char=""/>
            </a:pPr>
            <a:r>
              <a:t>Multiple parts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The program code, also called </a:t>
            </a:r>
            <a:r>
              <a:rPr b="1">
                <a:solidFill>
                  <a:srgbClr val="3366FF"/>
                </a:solidFill>
              </a:rPr>
              <a:t>text section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Current activity including</a:t>
            </a:r>
            <a:r>
              <a:rPr b="1">
                <a:solidFill>
                  <a:srgbClr val="3366FF"/>
                </a:solidFill>
              </a:rPr>
              <a:t> program</a:t>
            </a:r>
            <a:r>
              <a:rPr b="1"/>
              <a:t> </a:t>
            </a:r>
            <a:r>
              <a:rPr b="1">
                <a:solidFill>
                  <a:srgbClr val="3366FF"/>
                </a:solidFill>
              </a:rPr>
              <a:t>counter</a:t>
            </a:r>
            <a:r>
              <a:t>, processor registers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Stack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0">
                <a:solidFill>
                  <a:srgbClr val="000000"/>
                </a:solidFill>
              </a:rPr>
              <a:t>containing temporary data</a:t>
            </a:r>
          </a:p>
          <a:p>
            <a:pPr lvl="2">
              <a:spcBef>
                <a:spcPts val="0"/>
              </a:spcBef>
              <a:buClr>
                <a:srgbClr val="009900"/>
              </a:buClr>
            </a:pPr>
            <a:r>
              <a:t>Function parameters, return addresses, local variables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Data section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0">
                <a:solidFill>
                  <a:srgbClr val="000000"/>
                </a:solidFill>
              </a:rPr>
              <a:t>containing global variables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Heap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0">
                <a:solidFill>
                  <a:srgbClr val="000000"/>
                </a:solidFill>
              </a:rPr>
              <a:t>containing memory dynamically allocated during run time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cess Concept (Cont.)"/>
          <p:cNvSpPr txBox="1">
            <a:spLocks noGrp="1"/>
          </p:cNvSpPr>
          <p:nvPr>
            <p:ph type="title" idx="4294967295"/>
          </p:nvPr>
        </p:nvSpPr>
        <p:spPr>
          <a:xfrm>
            <a:off x="1576387" y="155575"/>
            <a:ext cx="6107113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Process Concept (Cont.)</a:t>
            </a:r>
          </a:p>
        </p:txBody>
      </p:sp>
      <p:sp>
        <p:nvSpPr>
          <p:cNvPr id="51" name="Program is passive entity stored on disk (executable file), process is active…"/>
          <p:cNvSpPr txBox="1">
            <a:spLocks noGrp="1"/>
          </p:cNvSpPr>
          <p:nvPr>
            <p:ph type="body" idx="4294967295"/>
          </p:nvPr>
        </p:nvSpPr>
        <p:spPr>
          <a:xfrm>
            <a:off x="933450" y="1041400"/>
            <a:ext cx="7164388" cy="478631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Program is </a:t>
            </a:r>
            <a:r>
              <a:rPr b="1" i="1"/>
              <a:t>passive</a:t>
            </a:r>
            <a:r>
              <a:t> entity stored on disk (</a:t>
            </a:r>
            <a:r>
              <a:rPr b="1">
                <a:solidFill>
                  <a:srgbClr val="3366FF"/>
                </a:solidFill>
              </a:rPr>
              <a:t>executable file</a:t>
            </a:r>
            <a:r>
              <a:t>), process is </a:t>
            </a:r>
            <a:r>
              <a:rPr b="1" i="1"/>
              <a:t>active 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Program becomes process when executable file loaded into memory</a:t>
            </a:r>
          </a:p>
          <a:p>
            <a:pPr>
              <a:buChar char=""/>
            </a:pPr>
            <a:r>
              <a:t>Execution of program started via GUI mouse clicks, command line entry of its name, etc</a:t>
            </a:r>
          </a:p>
          <a:p>
            <a:pPr>
              <a:buChar char=""/>
            </a:pPr>
            <a:r>
              <a:t>One program can be several processes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Consider multiple users executing the same program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rocess in Memory"/>
          <p:cNvSpPr txBox="1">
            <a:spLocks noGrp="1"/>
          </p:cNvSpPr>
          <p:nvPr>
            <p:ph type="title" idx="4294967295"/>
          </p:nvPr>
        </p:nvSpPr>
        <p:spPr>
          <a:xfrm>
            <a:off x="457200" y="166687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Process in Memory</a:t>
            </a:r>
          </a:p>
        </p:txBody>
      </p:sp>
      <p:pic>
        <p:nvPicPr>
          <p:cNvPr id="55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0025" y="1254125"/>
            <a:ext cx="2911475" cy="45989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rocess State"/>
          <p:cNvSpPr txBox="1">
            <a:spLocks noGrp="1"/>
          </p:cNvSpPr>
          <p:nvPr>
            <p:ph type="title" idx="4294967295"/>
          </p:nvPr>
        </p:nvSpPr>
        <p:spPr>
          <a:xfrm>
            <a:off x="1360487" y="182562"/>
            <a:ext cx="6251576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Process State</a:t>
            </a:r>
          </a:p>
        </p:txBody>
      </p:sp>
      <p:sp>
        <p:nvSpPr>
          <p:cNvPr id="59" name="As a process executes, it changes state…"/>
          <p:cNvSpPr txBox="1">
            <a:spLocks noGrp="1"/>
          </p:cNvSpPr>
          <p:nvPr>
            <p:ph type="body" sz="half" idx="4294967295"/>
          </p:nvPr>
        </p:nvSpPr>
        <p:spPr>
          <a:xfrm>
            <a:off x="806450" y="1246187"/>
            <a:ext cx="7370763" cy="325437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As a process executes, it changes </a:t>
            </a:r>
            <a:r>
              <a:rPr b="1">
                <a:solidFill>
                  <a:srgbClr val="3366FF"/>
                </a:solidFill>
              </a:rPr>
              <a:t>state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/>
            </a:pPr>
            <a:r>
              <a:t>new</a:t>
            </a:r>
            <a:r>
              <a:rPr b="0"/>
              <a:t>:  The process is being created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/>
            </a:pPr>
            <a:r>
              <a:t>running</a:t>
            </a:r>
            <a:r>
              <a:rPr b="0"/>
              <a:t>:  Instructions are being executed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/>
            </a:pPr>
            <a:r>
              <a:t>waiting</a:t>
            </a:r>
            <a:r>
              <a:rPr b="0"/>
              <a:t>:  The process is waiting for some event to occur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/>
            </a:pPr>
            <a:r>
              <a:t>ready</a:t>
            </a:r>
            <a:r>
              <a:rPr b="0"/>
              <a:t>:  The process is waiting to be assigned to a processor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/>
            </a:pPr>
            <a:r>
              <a:t>terminated</a:t>
            </a:r>
            <a:r>
              <a:rPr b="0"/>
              <a:t>:  The process has finished execution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Diagram of Process State"/>
          <p:cNvSpPr txBox="1">
            <a:spLocks noGrp="1"/>
          </p:cNvSpPr>
          <p:nvPr>
            <p:ph type="title" idx="4294967295"/>
          </p:nvPr>
        </p:nvSpPr>
        <p:spPr>
          <a:xfrm>
            <a:off x="739775" y="182562"/>
            <a:ext cx="7947025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Diagram of Process State</a:t>
            </a:r>
          </a:p>
        </p:txBody>
      </p:sp>
      <p:pic>
        <p:nvPicPr>
          <p:cNvPr id="6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5750" y="1308100"/>
            <a:ext cx="6635750" cy="2646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rocess Control Block (PCB)"/>
          <p:cNvSpPr txBox="1">
            <a:spLocks noGrp="1"/>
          </p:cNvSpPr>
          <p:nvPr>
            <p:ph type="title" idx="4294967295"/>
          </p:nvPr>
        </p:nvSpPr>
        <p:spPr>
          <a:xfrm>
            <a:off x="1166812" y="136525"/>
            <a:ext cx="7519988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Process Control Block (PCB)</a:t>
            </a:r>
          </a:p>
        </p:txBody>
      </p:sp>
      <p:sp>
        <p:nvSpPr>
          <p:cNvPr id="67" name="Information associated with each process…"/>
          <p:cNvSpPr txBox="1">
            <a:spLocks noGrp="1"/>
          </p:cNvSpPr>
          <p:nvPr>
            <p:ph type="body" sz="half" idx="4294967295"/>
          </p:nvPr>
        </p:nvSpPr>
        <p:spPr>
          <a:xfrm>
            <a:off x="806450" y="1041400"/>
            <a:ext cx="4579938" cy="477202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32613" indent="-332613" defTabSz="886968">
              <a:buSzTx/>
              <a:buFont typeface="Monotype Sorts"/>
              <a:buNone/>
              <a:defRPr sz="1746"/>
            </a:pPr>
            <a:r>
              <a:t>Information associated with each process </a:t>
            </a:r>
          </a:p>
          <a:p>
            <a:pPr marL="332613" indent="-332613" defTabSz="886968">
              <a:buSzTx/>
              <a:buFont typeface="Monotype Sorts"/>
              <a:buNone/>
              <a:defRPr sz="1746"/>
            </a:pPr>
            <a:r>
              <a:t>(also called </a:t>
            </a:r>
            <a:r>
              <a:rPr b="1">
                <a:solidFill>
                  <a:srgbClr val="3366FF"/>
                </a:solidFill>
              </a:rPr>
              <a:t>task control block</a:t>
            </a:r>
            <a:r>
              <a:t>)</a:t>
            </a:r>
          </a:p>
          <a:p>
            <a:pPr marL="332613" indent="-332613" defTabSz="886968">
              <a:buChar char=""/>
              <a:defRPr sz="1746"/>
            </a:pPr>
            <a:r>
              <a:t>Process state – running, waiting, etc</a:t>
            </a:r>
          </a:p>
          <a:p>
            <a:pPr marL="332613" indent="-332613" defTabSz="886968">
              <a:buChar char=""/>
              <a:defRPr sz="1746"/>
            </a:pPr>
            <a:r>
              <a:t>Program counter – location of instruction to next execute</a:t>
            </a:r>
          </a:p>
          <a:p>
            <a:pPr marL="332613" indent="-332613" defTabSz="886968">
              <a:buChar char=""/>
              <a:defRPr sz="1746"/>
            </a:pPr>
            <a:r>
              <a:t>CPU registers – contents of all process-centric registers</a:t>
            </a:r>
          </a:p>
          <a:p>
            <a:pPr marL="332613" indent="-332613" defTabSz="886968">
              <a:buChar char=""/>
              <a:defRPr sz="1746"/>
            </a:pPr>
            <a:r>
              <a:t>CPU scheduling information- priorities, scheduling queue pointers</a:t>
            </a:r>
          </a:p>
          <a:p>
            <a:pPr marL="332613" indent="-332613" defTabSz="886968">
              <a:buChar char=""/>
              <a:defRPr sz="1746"/>
            </a:pPr>
            <a:r>
              <a:t>Memory-management information – memory allocated to the process</a:t>
            </a:r>
          </a:p>
          <a:p>
            <a:pPr marL="332613" indent="-332613" defTabSz="886968">
              <a:buChar char=""/>
              <a:defRPr sz="1746"/>
            </a:pPr>
            <a:r>
              <a:t>Accounting information – CPU used, clock time elapsed since start, time limits</a:t>
            </a:r>
          </a:p>
          <a:p>
            <a:pPr marL="332613" indent="-332613" defTabSz="886968">
              <a:buChar char=""/>
              <a:defRPr sz="1746"/>
            </a:pPr>
            <a:r>
              <a:t>I/O status information – I/O devices allocated to process, list of open files</a:t>
            </a:r>
          </a:p>
        </p:txBody>
      </p:sp>
      <p:pic>
        <p:nvPicPr>
          <p:cNvPr id="6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40400" y="1393825"/>
            <a:ext cx="2795588" cy="44894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PU Switch From Process to Process"/>
          <p:cNvSpPr txBox="1">
            <a:spLocks noGrp="1"/>
          </p:cNvSpPr>
          <p:nvPr>
            <p:ph type="title" idx="4294967295"/>
          </p:nvPr>
        </p:nvSpPr>
        <p:spPr>
          <a:xfrm>
            <a:off x="982662" y="182562"/>
            <a:ext cx="8229601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CPU Switch From Process to Process</a:t>
            </a:r>
          </a:p>
        </p:txBody>
      </p:sp>
      <p:pic>
        <p:nvPicPr>
          <p:cNvPr id="7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4300" y="1104900"/>
            <a:ext cx="6969125" cy="46799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rocess Scheduling"/>
          <p:cNvSpPr txBox="1">
            <a:spLocks noGrp="1"/>
          </p:cNvSpPr>
          <p:nvPr>
            <p:ph type="title" idx="4294967295"/>
          </p:nvPr>
        </p:nvSpPr>
        <p:spPr>
          <a:xfrm>
            <a:off x="1041400" y="136525"/>
            <a:ext cx="76454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Process Scheduling</a:t>
            </a:r>
          </a:p>
        </p:txBody>
      </p:sp>
      <p:sp>
        <p:nvSpPr>
          <p:cNvPr id="85" name="Maximize CPU use, quickly switch processes onto CPU for time sharing…"/>
          <p:cNvSpPr txBox="1">
            <a:spLocks noGrp="1"/>
          </p:cNvSpPr>
          <p:nvPr>
            <p:ph type="body" idx="4294967295"/>
          </p:nvPr>
        </p:nvSpPr>
        <p:spPr>
          <a:xfrm>
            <a:off x="887412" y="1168400"/>
            <a:ext cx="6975476" cy="39830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Maximize CPU use, quickly switch processes onto CPU for time sharing</a:t>
            </a:r>
          </a:p>
          <a:p>
            <a:pPr>
              <a:buChar char=""/>
              <a:defRPr b="1">
                <a:solidFill>
                  <a:srgbClr val="3366FF"/>
                </a:solidFill>
              </a:defRPr>
            </a:pPr>
            <a:r>
              <a:t>Process scheduler </a:t>
            </a:r>
            <a:r>
              <a:rPr b="0">
                <a:solidFill>
                  <a:srgbClr val="000000"/>
                </a:solidFill>
              </a:rPr>
              <a:t>selects among available processes for next execution on CPU</a:t>
            </a:r>
          </a:p>
          <a:p>
            <a:pPr>
              <a:buChar char=""/>
            </a:pPr>
            <a:r>
              <a:t>Maintains </a:t>
            </a:r>
            <a:r>
              <a:rPr b="1">
                <a:solidFill>
                  <a:srgbClr val="3366FF"/>
                </a:solidFill>
              </a:rPr>
              <a:t>scheduling queues </a:t>
            </a:r>
            <a:r>
              <a:t>of processes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Job queue </a:t>
            </a:r>
            <a:r>
              <a:rPr b="0">
                <a:solidFill>
                  <a:srgbClr val="000000"/>
                </a:solidFill>
              </a:rPr>
              <a:t>– set of all processes in the system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Ready queue </a:t>
            </a:r>
            <a:r>
              <a:rPr b="0">
                <a:solidFill>
                  <a:srgbClr val="000000"/>
                </a:solidFill>
              </a:rPr>
              <a:t>– set of all processes residing in main memory, ready and waiting to execute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Device queues </a:t>
            </a:r>
            <a:r>
              <a:rPr b="0">
                <a:solidFill>
                  <a:srgbClr val="000000"/>
                </a:solidFill>
              </a:rPr>
              <a:t>– set of processes waiting for an I/O device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Processes migrate among the various queues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presentation of Process Scheduling"/>
          <p:cNvSpPr txBox="1">
            <a:spLocks noGrp="1"/>
          </p:cNvSpPr>
          <p:nvPr>
            <p:ph type="title" idx="4294967295"/>
          </p:nvPr>
        </p:nvSpPr>
        <p:spPr>
          <a:xfrm>
            <a:off x="971550" y="152400"/>
            <a:ext cx="82296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t>Representation of Process Scheduling</a:t>
            </a:r>
          </a:p>
        </p:txBody>
      </p:sp>
      <p:pic>
        <p:nvPicPr>
          <p:cNvPr id="93" name="3" descr="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7487" y="1966912"/>
            <a:ext cx="6546851" cy="3781426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Queueing diagram represents queues, resources, flows"/>
          <p:cNvSpPr txBox="1"/>
          <p:nvPr/>
        </p:nvSpPr>
        <p:spPr>
          <a:xfrm>
            <a:off x="840041" y="1303337"/>
            <a:ext cx="6911468" cy="343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2003" tIns="32003" rIns="32003" bIns="32003">
            <a:spAutoFit/>
          </a:bodyPr>
          <a:lstStyle/>
          <a:p>
            <a:pPr marL="488950" indent="-488950" defTabSz="457200">
              <a:spcBef>
                <a:spcPts val="700"/>
              </a:spcBef>
              <a:buClr>
                <a:srgbClr val="993300"/>
              </a:buClr>
              <a:buSzPct val="90000"/>
              <a:buChar char=""/>
              <a:defRPr b="1">
                <a:solidFill>
                  <a:srgbClr val="3366FF"/>
                </a:solidFill>
              </a:defRPr>
            </a:pPr>
            <a:r>
              <a:t>Queueing diagram </a:t>
            </a:r>
            <a:r>
              <a:rPr b="0">
                <a:solidFill>
                  <a:srgbClr val="000000"/>
                </a:solidFill>
              </a:rPr>
              <a:t>represents queues, resources, flows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chedulers"/>
          <p:cNvSpPr txBox="1">
            <a:spLocks noGrp="1"/>
          </p:cNvSpPr>
          <p:nvPr>
            <p:ph type="title" idx="4294967295"/>
          </p:nvPr>
        </p:nvSpPr>
        <p:spPr>
          <a:xfrm>
            <a:off x="457200" y="18256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Schedulers</a:t>
            </a:r>
          </a:p>
        </p:txBody>
      </p:sp>
      <p:sp>
        <p:nvSpPr>
          <p:cNvPr id="98" name="Short-term scheduler  (or CPU scheduler) – selects which process should be executed next and allocates CPU…"/>
          <p:cNvSpPr txBox="1">
            <a:spLocks noGrp="1"/>
          </p:cNvSpPr>
          <p:nvPr>
            <p:ph type="body" idx="4294967295"/>
          </p:nvPr>
        </p:nvSpPr>
        <p:spPr>
          <a:xfrm>
            <a:off x="887412" y="1108075"/>
            <a:ext cx="7453313" cy="50228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Char char=""/>
              <a:defRPr sz="1600" b="1">
                <a:solidFill>
                  <a:srgbClr val="3366FF"/>
                </a:solidFill>
              </a:defRPr>
            </a:pPr>
            <a:r>
              <a:t>Short-term scheduler  </a:t>
            </a:r>
            <a:r>
              <a:rPr b="0">
                <a:solidFill>
                  <a:srgbClr val="000000"/>
                </a:solidFill>
              </a:rPr>
              <a:t>(or </a:t>
            </a:r>
            <a:r>
              <a:t>CPU scheduler</a:t>
            </a:r>
            <a:r>
              <a:rPr b="0">
                <a:solidFill>
                  <a:srgbClr val="000000"/>
                </a:solidFill>
              </a:rPr>
              <a:t>) – selects which process should be executed next and allocates CPU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sz="1600"/>
            </a:pPr>
            <a:r>
              <a:t>Sometimes the only scheduler in a system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sz="1600"/>
            </a:pPr>
            <a:r>
              <a:t>Short-term scheduler is invoked frequently (milliseconds)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Þ </a:t>
            </a:r>
            <a:r>
              <a:t>(must be fast)</a:t>
            </a:r>
            <a:endParaRPr sz="800"/>
          </a:p>
          <a:p>
            <a:pPr>
              <a:spcBef>
                <a:spcPts val="600"/>
              </a:spcBef>
              <a:buChar char=""/>
              <a:defRPr sz="1600" b="1">
                <a:solidFill>
                  <a:srgbClr val="3366FF"/>
                </a:solidFill>
              </a:defRPr>
            </a:pPr>
            <a:r>
              <a:t>Long-term scheduler  </a:t>
            </a:r>
            <a:r>
              <a:rPr b="0">
                <a:solidFill>
                  <a:srgbClr val="000000"/>
                </a:solidFill>
              </a:rPr>
              <a:t>(or </a:t>
            </a:r>
            <a:r>
              <a:t>job scheduler</a:t>
            </a:r>
            <a:r>
              <a:rPr b="0">
                <a:solidFill>
                  <a:srgbClr val="000000"/>
                </a:solidFill>
              </a:rPr>
              <a:t>) – selects which processes should be brought into the ready queue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sz="1600"/>
            </a:pPr>
            <a:r>
              <a:t>Long-term scheduler is invoked  infrequently (seconds, minutes)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Þ </a:t>
            </a:r>
            <a:r>
              <a:t>(may be slow)</a:t>
            </a:r>
            <a:endParaRPr sz="800"/>
          </a:p>
          <a:p>
            <a:pPr lvl="1">
              <a:spcBef>
                <a:spcPts val="0"/>
              </a:spcBef>
              <a:buClr>
                <a:srgbClr val="CC6600"/>
              </a:buClr>
              <a:defRPr sz="1600"/>
            </a:pPr>
            <a:r>
              <a:t>The long-term scheduler controls the </a:t>
            </a:r>
            <a:r>
              <a:rPr b="1">
                <a:solidFill>
                  <a:srgbClr val="3366FF"/>
                </a:solidFill>
              </a:rPr>
              <a:t>degree of multiprogramming</a:t>
            </a:r>
            <a:endParaRPr sz="800" i="1"/>
          </a:p>
          <a:p>
            <a:pPr>
              <a:spcBef>
                <a:spcPts val="600"/>
              </a:spcBef>
              <a:buChar char=""/>
              <a:defRPr sz="1600"/>
            </a:pPr>
            <a:r>
              <a:t>Processes can be described as either: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sz="1600" b="1">
                <a:solidFill>
                  <a:srgbClr val="3366FF"/>
                </a:solidFill>
              </a:defRPr>
            </a:pPr>
            <a:r>
              <a:t>I/O-bound process</a:t>
            </a:r>
            <a:r>
              <a:rPr b="0">
                <a:solidFill>
                  <a:srgbClr val="000000"/>
                </a:solidFill>
              </a:rPr>
              <a:t> – spends more time doing I/O than computations, many short CPU bursts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sz="1600" b="1">
                <a:solidFill>
                  <a:srgbClr val="3366FF"/>
                </a:solidFill>
              </a:defRPr>
            </a:pPr>
            <a:r>
              <a:t>CPU-bound process </a:t>
            </a:r>
            <a:r>
              <a:rPr b="0">
                <a:solidFill>
                  <a:srgbClr val="000000"/>
                </a:solidFill>
              </a:rPr>
              <a:t>– spends more time doing computations; few very long CPU bursts</a:t>
            </a:r>
          </a:p>
          <a:p>
            <a:pPr>
              <a:spcBef>
                <a:spcPts val="600"/>
              </a:spcBef>
              <a:buChar char=""/>
              <a:defRPr sz="1600"/>
            </a:pPr>
            <a:r>
              <a:t>Long-term scheduler strives for good </a:t>
            </a:r>
            <a:r>
              <a:rPr b="1" i="1"/>
              <a:t>process mix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ddition of Medium Term Scheduling"/>
          <p:cNvSpPr txBox="1">
            <a:spLocks noGrp="1"/>
          </p:cNvSpPr>
          <p:nvPr>
            <p:ph type="title" idx="4294967295"/>
          </p:nvPr>
        </p:nvSpPr>
        <p:spPr>
          <a:xfrm>
            <a:off x="1085850" y="18256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Addition of Medium Term Scheduling</a:t>
            </a:r>
          </a:p>
        </p:txBody>
      </p:sp>
      <p:pic>
        <p:nvPicPr>
          <p:cNvPr id="10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1875" y="2827337"/>
            <a:ext cx="7327900" cy="266541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Medium-term scheduler  can be added if degree of multiple programming needs to decrease…"/>
          <p:cNvSpPr txBox="1"/>
          <p:nvPr/>
        </p:nvSpPr>
        <p:spPr>
          <a:xfrm>
            <a:off x="838453" y="1160462"/>
            <a:ext cx="7136894" cy="2028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2003" tIns="32003" rIns="32003" bIns="32003">
            <a:spAutoFit/>
          </a:bodyPr>
          <a:lstStyle/>
          <a:p>
            <a:pPr marL="488950" indent="-488950" defTabSz="457200">
              <a:spcBef>
                <a:spcPts val="700"/>
              </a:spcBef>
              <a:buClr>
                <a:srgbClr val="993300"/>
              </a:buClr>
              <a:buSzPct val="90000"/>
              <a:buChar char=""/>
              <a:defRPr b="1">
                <a:solidFill>
                  <a:srgbClr val="3366FF"/>
                </a:solidFill>
              </a:defRPr>
            </a:pPr>
            <a:r>
              <a:t>Medium-term scheduler  </a:t>
            </a:r>
            <a:r>
              <a:rPr b="0">
                <a:solidFill>
                  <a:srgbClr val="000000"/>
                </a:solidFill>
              </a:rPr>
              <a:t>can be added if degree of multiple programming needs to decrease</a:t>
            </a:r>
          </a:p>
          <a:p>
            <a:pPr marL="1060450" lvl="1" indent="-407987" defTabSz="457200">
              <a:spcBef>
                <a:spcPts val="700"/>
              </a:spcBef>
              <a:buClr>
                <a:srgbClr val="CC6600"/>
              </a:buClr>
              <a:buSzPct val="80000"/>
              <a:buChar char=""/>
            </a:pPr>
            <a:r>
              <a:t>Remove process from memory, store on disk, bring back in from disk to continue execution: </a:t>
            </a:r>
            <a:r>
              <a:rPr b="1">
                <a:solidFill>
                  <a:srgbClr val="3366FF"/>
                </a:solidFill>
              </a:rPr>
              <a:t>swapping</a:t>
            </a:r>
          </a:p>
          <a:p>
            <a:pPr marL="488950" indent="-488950" defTabSz="457200">
              <a:spcBef>
                <a:spcPts val="700"/>
              </a:spcBef>
              <a:buClr>
                <a:srgbClr val="993300"/>
              </a:buClr>
              <a:buSzPct val="90000"/>
              <a:buChar char=""/>
            </a:pPr>
            <a:endParaRPr b="1">
              <a:solidFill>
                <a:srgbClr val="3366FF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ontext Switch"/>
          <p:cNvSpPr txBox="1">
            <a:spLocks noGrp="1"/>
          </p:cNvSpPr>
          <p:nvPr>
            <p:ph type="title" idx="4294967295"/>
          </p:nvPr>
        </p:nvSpPr>
        <p:spPr>
          <a:xfrm>
            <a:off x="457200" y="166687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Context Switch</a:t>
            </a:r>
          </a:p>
        </p:txBody>
      </p:sp>
      <p:sp>
        <p:nvSpPr>
          <p:cNvPr id="111" name="When CPU switches to another process, the system must save the state of the old process and load the saved state for the new process via a context switch…"/>
          <p:cNvSpPr txBox="1">
            <a:spLocks noGrp="1"/>
          </p:cNvSpPr>
          <p:nvPr>
            <p:ph type="body" idx="4294967295"/>
          </p:nvPr>
        </p:nvSpPr>
        <p:spPr>
          <a:xfrm>
            <a:off x="854075" y="1108075"/>
            <a:ext cx="6997700" cy="444817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When CPU switches to another process, the system must </a:t>
            </a:r>
            <a:r>
              <a:rPr b="1">
                <a:solidFill>
                  <a:srgbClr val="3366FF"/>
                </a:solidFill>
              </a:rPr>
              <a:t>save the state </a:t>
            </a:r>
            <a:r>
              <a:t>of the old process and load the </a:t>
            </a:r>
            <a:r>
              <a:rPr b="1">
                <a:solidFill>
                  <a:srgbClr val="3366FF"/>
                </a:solidFill>
              </a:rPr>
              <a:t>saved state </a:t>
            </a:r>
            <a:r>
              <a:t>for the new process via a </a:t>
            </a:r>
            <a:r>
              <a:rPr b="1">
                <a:solidFill>
                  <a:srgbClr val="3366FF"/>
                </a:solidFill>
              </a:rPr>
              <a:t>context switch</a:t>
            </a:r>
          </a:p>
          <a:p>
            <a:pPr>
              <a:buChar char=""/>
              <a:defRPr b="1">
                <a:solidFill>
                  <a:srgbClr val="3366FF"/>
                </a:solidFill>
              </a:defRPr>
            </a:pPr>
            <a:r>
              <a:t>Context </a:t>
            </a:r>
            <a:r>
              <a:rPr b="0">
                <a:solidFill>
                  <a:srgbClr val="000000"/>
                </a:solidFill>
              </a:rPr>
              <a:t>of a process represented in the PCB</a:t>
            </a:r>
          </a:p>
          <a:p>
            <a:pPr>
              <a:buChar char=""/>
            </a:pPr>
            <a:r>
              <a:t>Context-switch time is overhead; the system does no useful work while switching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The more complex the OS and the PCB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➔ </a:t>
            </a:r>
            <a:r>
              <a:t>the longer the context switch</a:t>
            </a:r>
          </a:p>
          <a:p>
            <a:pPr>
              <a:buChar char=""/>
            </a:pPr>
            <a:r>
              <a:t>Time dependent on hardware support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Some hardware provides multiple sets of registers per CPU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➔</a:t>
            </a:r>
            <a:r>
              <a:t> multiple contexts loaded at once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Interprocess Communication"/>
          <p:cNvSpPr txBox="1">
            <a:spLocks noGrp="1"/>
          </p:cNvSpPr>
          <p:nvPr>
            <p:ph type="title" idx="4294967295"/>
          </p:nvPr>
        </p:nvSpPr>
        <p:spPr>
          <a:xfrm>
            <a:off x="982662" y="168275"/>
            <a:ext cx="7704138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Interprocess Communication</a:t>
            </a:r>
          </a:p>
        </p:txBody>
      </p:sp>
      <p:sp>
        <p:nvSpPr>
          <p:cNvPr id="153" name="Processes within a system may be independent or cooperating…"/>
          <p:cNvSpPr txBox="1">
            <a:spLocks noGrp="1"/>
          </p:cNvSpPr>
          <p:nvPr>
            <p:ph type="body" idx="4294967295"/>
          </p:nvPr>
        </p:nvSpPr>
        <p:spPr>
          <a:xfrm>
            <a:off x="885825" y="1154112"/>
            <a:ext cx="7485063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Processes within a system may be </a:t>
            </a:r>
            <a:r>
              <a:rPr b="1" i="1"/>
              <a:t>independent</a:t>
            </a:r>
            <a:r>
              <a:rPr b="1"/>
              <a:t> </a:t>
            </a:r>
            <a:r>
              <a:t>or </a:t>
            </a:r>
            <a:r>
              <a:rPr b="1" i="1"/>
              <a:t>cooperating</a:t>
            </a:r>
          </a:p>
          <a:p>
            <a:pPr>
              <a:buChar char=""/>
            </a:pPr>
            <a:r>
              <a:t>Cooperating process can affect or be affected by other processes, including sharing data</a:t>
            </a:r>
          </a:p>
          <a:p>
            <a:pPr>
              <a:buChar char=""/>
            </a:pPr>
            <a:r>
              <a:t>Reasons for cooperating processes: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Information sharing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Computation speedup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Modularity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Convenience	</a:t>
            </a:r>
          </a:p>
          <a:p>
            <a:pPr>
              <a:buChar char=""/>
            </a:pPr>
            <a:r>
              <a:t>Cooperating processes need </a:t>
            </a:r>
            <a:r>
              <a:rPr b="1">
                <a:solidFill>
                  <a:srgbClr val="3366FF"/>
                </a:solidFill>
              </a:rPr>
              <a:t>interprocess communication </a:t>
            </a:r>
            <a:r>
              <a:t>(</a:t>
            </a:r>
            <a:r>
              <a:rPr b="1">
                <a:solidFill>
                  <a:srgbClr val="3366FF"/>
                </a:solidFill>
              </a:rPr>
              <a:t>IPC</a:t>
            </a:r>
            <a:r>
              <a:t>)</a:t>
            </a:r>
          </a:p>
          <a:p>
            <a:pPr>
              <a:buChar char=""/>
            </a:pPr>
            <a:r>
              <a:t>Two models of IPC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Shared memory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Message passing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ommunications Models"/>
          <p:cNvSpPr txBox="1">
            <a:spLocks noGrp="1"/>
          </p:cNvSpPr>
          <p:nvPr>
            <p:ph type="title" idx="4294967295"/>
          </p:nvPr>
        </p:nvSpPr>
        <p:spPr>
          <a:xfrm>
            <a:off x="457200" y="18256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Communications Models </a:t>
            </a:r>
          </a:p>
        </p:txBody>
      </p:sp>
      <p:pic>
        <p:nvPicPr>
          <p:cNvPr id="157" name="3_12.pdf" descr="3_12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24012" y="1725612"/>
            <a:ext cx="6100763" cy="432435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(a) Message passing.  (b) shared memory."/>
          <p:cNvSpPr txBox="1"/>
          <p:nvPr/>
        </p:nvSpPr>
        <p:spPr>
          <a:xfrm>
            <a:off x="1015682" y="1142999"/>
            <a:ext cx="6280786" cy="386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(</a:t>
            </a:r>
            <a:r>
              <a:rPr b="0"/>
              <a:t>a) Message passing.  (b) shared memory.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ooperating Processes"/>
          <p:cNvSpPr txBox="1">
            <a:spLocks noGrp="1"/>
          </p:cNvSpPr>
          <p:nvPr>
            <p:ph type="title" idx="4294967295"/>
          </p:nvPr>
        </p:nvSpPr>
        <p:spPr>
          <a:xfrm>
            <a:off x="1060450" y="277812"/>
            <a:ext cx="762635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Cooperating Processes</a:t>
            </a:r>
          </a:p>
        </p:txBody>
      </p:sp>
      <p:sp>
        <p:nvSpPr>
          <p:cNvPr id="162" name="Independent process cannot affect or be affected by the execution of another process…"/>
          <p:cNvSpPr txBox="1">
            <a:spLocks noGrp="1"/>
          </p:cNvSpPr>
          <p:nvPr>
            <p:ph type="body" idx="4294967295"/>
          </p:nvPr>
        </p:nvSpPr>
        <p:spPr>
          <a:xfrm>
            <a:off x="806450" y="1233487"/>
            <a:ext cx="7529513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  <a:defRPr b="1" i="1"/>
            </a:pPr>
            <a:r>
              <a:t>Independent</a:t>
            </a:r>
            <a:r>
              <a:rPr b="0" i="0"/>
              <a:t> process cannot affect or be affected by the execution of another process</a:t>
            </a:r>
          </a:p>
          <a:p>
            <a:pPr>
              <a:buChar char=""/>
              <a:defRPr b="1" i="1"/>
            </a:pPr>
            <a:r>
              <a:t>Cooperating</a:t>
            </a:r>
            <a:r>
              <a:rPr b="0" i="0"/>
              <a:t> process can affect or be affected by the execution of another process</a:t>
            </a:r>
          </a:p>
          <a:p>
            <a:pPr>
              <a:buChar char=""/>
            </a:pPr>
            <a:r>
              <a:t>Advantages of process cooperation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Information sharing 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Computation speed-up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Modularity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Convenience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roducer-Consumer Problem"/>
          <p:cNvSpPr txBox="1">
            <a:spLocks noGrp="1"/>
          </p:cNvSpPr>
          <p:nvPr>
            <p:ph type="title" idx="4294967295"/>
          </p:nvPr>
        </p:nvSpPr>
        <p:spPr>
          <a:xfrm>
            <a:off x="749300" y="247650"/>
            <a:ext cx="79375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Producer-Consumer Problem</a:t>
            </a:r>
          </a:p>
        </p:txBody>
      </p:sp>
      <p:sp>
        <p:nvSpPr>
          <p:cNvPr id="166" name="Paradigm for cooperating processes, producer process produces information that is consumed by a consumer process…"/>
          <p:cNvSpPr txBox="1">
            <a:spLocks noGrp="1"/>
          </p:cNvSpPr>
          <p:nvPr>
            <p:ph type="body" idx="4294967295"/>
          </p:nvPr>
        </p:nvSpPr>
        <p:spPr>
          <a:xfrm>
            <a:off x="842962" y="1185862"/>
            <a:ext cx="6667501" cy="449897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Paradigm for cooperating processes, </a:t>
            </a:r>
            <a:r>
              <a:rPr i="1"/>
              <a:t>producer</a:t>
            </a:r>
            <a:r>
              <a:t> process produces information that is consumed by a </a:t>
            </a:r>
            <a:r>
              <a:rPr i="1"/>
              <a:t>consumer</a:t>
            </a:r>
            <a:r>
              <a:t> process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unbounded-buffer </a:t>
            </a:r>
            <a:r>
              <a:rPr b="0">
                <a:solidFill>
                  <a:srgbClr val="000000"/>
                </a:solidFill>
              </a:rPr>
              <a:t>places no practical limit on the size of the buffer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solidFill>
                  <a:srgbClr val="3366FF"/>
                </a:solidFill>
              </a:defRPr>
            </a:pPr>
            <a:r>
              <a:t>bounded-buffer </a:t>
            </a:r>
            <a:r>
              <a:rPr b="0">
                <a:solidFill>
                  <a:srgbClr val="000000"/>
                </a:solidFill>
              </a:rPr>
              <a:t>assumes that there is a fixed buffer size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Interprocess Communication –  Shared Memory"/>
          <p:cNvSpPr txBox="1">
            <a:spLocks noGrp="1"/>
          </p:cNvSpPr>
          <p:nvPr>
            <p:ph type="title" idx="4294967295"/>
          </p:nvPr>
        </p:nvSpPr>
        <p:spPr>
          <a:xfrm>
            <a:off x="1057275" y="95250"/>
            <a:ext cx="82296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/>
            </a:lvl1pPr>
          </a:lstStyle>
          <a:p>
            <a:r>
              <a:t>Interprocess Communication –  Shared Memory</a:t>
            </a:r>
          </a:p>
        </p:txBody>
      </p:sp>
      <p:sp>
        <p:nvSpPr>
          <p:cNvPr id="182" name="An area of memory shared among the processes that wish to communicate…"/>
          <p:cNvSpPr txBox="1">
            <a:spLocks noGrp="1"/>
          </p:cNvSpPr>
          <p:nvPr>
            <p:ph type="body" idx="4294967295"/>
          </p:nvPr>
        </p:nvSpPr>
        <p:spPr>
          <a:xfrm>
            <a:off x="898525" y="1233487"/>
            <a:ext cx="6621463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har char=""/>
            </a:pPr>
            <a:r>
              <a:rPr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  <a:buChar char=""/>
            </a:pPr>
            <a:r>
              <a:rPr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  <a:buChar char=""/>
            </a:pPr>
            <a:r>
              <a:rPr dirty="0"/>
              <a:t>Major issues is to provide mechanism that will allow the user processes to synchronize their actions when they access shared memory.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Interprocess Communication – Message Passing"/>
          <p:cNvSpPr txBox="1">
            <a:spLocks noGrp="1"/>
          </p:cNvSpPr>
          <p:nvPr>
            <p:ph type="title" idx="4294967295"/>
          </p:nvPr>
        </p:nvSpPr>
        <p:spPr>
          <a:xfrm>
            <a:off x="1057275" y="127000"/>
            <a:ext cx="82296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/>
            </a:lvl1pPr>
          </a:lstStyle>
          <a:p>
            <a:r>
              <a:t>Interprocess Communication – Message Passing</a:t>
            </a:r>
          </a:p>
        </p:txBody>
      </p:sp>
      <p:sp>
        <p:nvSpPr>
          <p:cNvPr id="186" name="Mechanism for processes to communicate and to synchronize their actions…"/>
          <p:cNvSpPr txBox="1">
            <a:spLocks noGrp="1"/>
          </p:cNvSpPr>
          <p:nvPr>
            <p:ph type="body" idx="4294967295"/>
          </p:nvPr>
        </p:nvSpPr>
        <p:spPr>
          <a:xfrm>
            <a:off x="885825" y="1201737"/>
            <a:ext cx="693420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har char=""/>
            </a:pPr>
            <a:r>
              <a:t>Mechanism for processes to communicate and to synchronize their actions</a:t>
            </a:r>
          </a:p>
          <a:p>
            <a:pPr>
              <a:lnSpc>
                <a:spcPct val="90000"/>
              </a:lnSpc>
              <a:buChar char=""/>
              <a:defRPr sz="800"/>
            </a:pPr>
            <a:endParaRPr/>
          </a:p>
          <a:p>
            <a:pPr>
              <a:lnSpc>
                <a:spcPct val="90000"/>
              </a:lnSpc>
              <a:buChar char=""/>
            </a:pPr>
            <a:r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  <a:buChar char=""/>
              <a:defRPr sz="800"/>
            </a:pPr>
            <a:endParaRPr/>
          </a:p>
          <a:p>
            <a:pPr>
              <a:lnSpc>
                <a:spcPct val="90000"/>
              </a:lnSpc>
              <a:buChar char=""/>
            </a:pPr>
            <a:r>
              <a:t>IPC facility provides two operations: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send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(</a:t>
            </a:r>
            <a:r>
              <a:rPr b="0" i="1">
                <a:latin typeface="+mn-lt"/>
                <a:ea typeface="+mn-ea"/>
                <a:cs typeface="+mn-cs"/>
                <a:sym typeface="Helvetica"/>
              </a:rPr>
              <a:t>message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receive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(</a:t>
            </a:r>
            <a:r>
              <a:rPr b="0" i="1">
                <a:latin typeface="+mn-lt"/>
                <a:ea typeface="+mn-ea"/>
                <a:cs typeface="+mn-cs"/>
                <a:sym typeface="Helvetica"/>
              </a:rPr>
              <a:t>message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)</a:t>
            </a:r>
          </a:p>
          <a:p>
            <a:pPr marL="285750" lvl="1" indent="171450">
              <a:lnSpc>
                <a:spcPct val="90000"/>
              </a:lnSpc>
              <a:spcBef>
                <a:spcPts val="0"/>
              </a:spcBef>
              <a:buSzTx/>
              <a:buFont typeface="Monotype Sorts"/>
              <a:buNone/>
              <a:defRPr sz="800"/>
            </a:pP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lnSpc>
                <a:spcPct val="90000"/>
              </a:lnSpc>
              <a:buChar char=""/>
            </a:pPr>
            <a:r>
              <a:t>The</a:t>
            </a:r>
            <a:r>
              <a:rPr i="1"/>
              <a:t> message</a:t>
            </a:r>
            <a:r>
              <a:t> size is either fixed or variable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Message Passing (Cont.)"/>
          <p:cNvSpPr txBox="1">
            <a:spLocks noGrp="1"/>
          </p:cNvSpPr>
          <p:nvPr>
            <p:ph type="title" idx="4294967295"/>
          </p:nvPr>
        </p:nvSpPr>
        <p:spPr>
          <a:xfrm>
            <a:off x="996950" y="107950"/>
            <a:ext cx="82296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/>
            </a:lvl1pPr>
          </a:lstStyle>
          <a:p>
            <a:r>
              <a:t>Message Passing (Cont.)</a:t>
            </a:r>
          </a:p>
        </p:txBody>
      </p:sp>
      <p:sp>
        <p:nvSpPr>
          <p:cNvPr id="190" name="If processes P and Q wish to communicate, they need to:…"/>
          <p:cNvSpPr txBox="1">
            <a:spLocks noGrp="1"/>
          </p:cNvSpPr>
          <p:nvPr>
            <p:ph type="body" idx="4294967295"/>
          </p:nvPr>
        </p:nvSpPr>
        <p:spPr>
          <a:xfrm>
            <a:off x="901700" y="1016000"/>
            <a:ext cx="7694613" cy="4530725"/>
          </a:xfrm>
          <a:prstGeom prst="rect">
            <a:avLst/>
          </a:prstGeo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  <a:defRPr sz="800"/>
            </a:pPr>
            <a:endParaRPr/>
          </a:p>
          <a:p>
            <a:pPr>
              <a:lnSpc>
                <a:spcPct val="90000"/>
              </a:lnSpc>
              <a:buChar char=""/>
            </a:pPr>
            <a:r>
              <a:t>If processes </a:t>
            </a:r>
            <a:r>
              <a:rPr i="1"/>
              <a:t>P</a:t>
            </a:r>
            <a:r>
              <a:t> and </a:t>
            </a:r>
            <a:r>
              <a:rPr i="1"/>
              <a:t>Q</a:t>
            </a:r>
            <a:r>
              <a:t> wish to communicate, they need to: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</a:pPr>
            <a:r>
              <a:t>Establish a </a:t>
            </a:r>
            <a:r>
              <a:rPr b="1" i="1"/>
              <a:t>communication</a:t>
            </a:r>
            <a:r>
              <a:rPr b="1"/>
              <a:t> </a:t>
            </a:r>
            <a:r>
              <a:rPr b="1" i="1"/>
              <a:t>link</a:t>
            </a:r>
            <a:r>
              <a:rPr b="1"/>
              <a:t> </a:t>
            </a:r>
            <a:r>
              <a:t>between them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</a:pPr>
            <a:r>
              <a:t>Exchange messages via send/receive</a:t>
            </a:r>
          </a:p>
          <a:p>
            <a:pPr>
              <a:lnSpc>
                <a:spcPct val="90000"/>
              </a:lnSpc>
              <a:buChar char=""/>
            </a:pPr>
            <a:r>
              <a:t>Implementation issues: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How are links established?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Can a link be associated with more than two processes?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How many links can there be between every pair of communicating processes?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What is the capacity of a link?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Is the size of a message that the link can accommodate fixed or variable?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Is a link unidirectional or bi-directional?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Message Passing (Cont.)"/>
          <p:cNvSpPr txBox="1">
            <a:spLocks noGrp="1"/>
          </p:cNvSpPr>
          <p:nvPr>
            <p:ph type="title" idx="4294967295"/>
          </p:nvPr>
        </p:nvSpPr>
        <p:spPr>
          <a:xfrm>
            <a:off x="933450" y="123825"/>
            <a:ext cx="82296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/>
            </a:lvl1pPr>
          </a:lstStyle>
          <a:p>
            <a:r>
              <a:t>Message Passing (Cont.)</a:t>
            </a:r>
          </a:p>
        </p:txBody>
      </p:sp>
      <p:sp>
        <p:nvSpPr>
          <p:cNvPr id="194" name="Implementation of communication link…"/>
          <p:cNvSpPr txBox="1">
            <a:spLocks noGrp="1"/>
          </p:cNvSpPr>
          <p:nvPr>
            <p:ph type="body" idx="4294967295"/>
          </p:nvPr>
        </p:nvSpPr>
        <p:spPr>
          <a:xfrm>
            <a:off x="901700" y="785812"/>
            <a:ext cx="7694613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  <a:defRPr sz="800"/>
            </a:pPr>
            <a:endParaRPr/>
          </a:p>
          <a:p>
            <a:pPr marL="285750" lvl="1" indent="171450">
              <a:lnSpc>
                <a:spcPct val="90000"/>
              </a:lnSpc>
              <a:spcBef>
                <a:spcPts val="0"/>
              </a:spcBef>
              <a:buSzTx/>
              <a:buFont typeface="Monotype Sorts"/>
              <a:buNone/>
              <a:defRPr sz="800"/>
            </a:pPr>
            <a:endParaRPr/>
          </a:p>
          <a:p>
            <a:pPr>
              <a:lnSpc>
                <a:spcPct val="90000"/>
              </a:lnSpc>
              <a:buChar char=""/>
            </a:pPr>
            <a:r>
              <a:t>Implementation of communication link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</a:pPr>
            <a:r>
              <a:t>Physical: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rgbClr val="009900"/>
              </a:buClr>
            </a:pPr>
            <a:r>
              <a:t>Shared memory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rgbClr val="009900"/>
              </a:buClr>
            </a:pPr>
            <a:r>
              <a:t>Hardware bus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rgbClr val="009900"/>
              </a:buClr>
            </a:pPr>
            <a:r>
              <a:t>Network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CC6600"/>
              </a:buClr>
            </a:pPr>
            <a:r>
              <a:t>Logical: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rgbClr val="009900"/>
              </a:buClr>
            </a:pPr>
            <a:r>
              <a:t> Direct or indirect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rgbClr val="009900"/>
              </a:buClr>
            </a:pPr>
            <a:r>
              <a:t> Synchronous or asynchronous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rgbClr val="009900"/>
              </a:buClr>
            </a:pPr>
            <a:r>
              <a:t> Automatic or explicit buffering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Direct Communication"/>
          <p:cNvSpPr txBox="1">
            <a:spLocks noGrp="1"/>
          </p:cNvSpPr>
          <p:nvPr>
            <p:ph type="title" idx="4294967295"/>
          </p:nvPr>
        </p:nvSpPr>
        <p:spPr>
          <a:xfrm>
            <a:off x="457200" y="177800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Direct Communication</a:t>
            </a:r>
          </a:p>
        </p:txBody>
      </p:sp>
      <p:sp>
        <p:nvSpPr>
          <p:cNvPr id="198" name="Processes must name each other explicitly:…"/>
          <p:cNvSpPr txBox="1">
            <a:spLocks noGrp="1"/>
          </p:cNvSpPr>
          <p:nvPr>
            <p:ph type="body" idx="4294967295"/>
          </p:nvPr>
        </p:nvSpPr>
        <p:spPr>
          <a:xfrm>
            <a:off x="885825" y="1138237"/>
            <a:ext cx="7635875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Processes must name each other explicitly: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send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(</a:t>
            </a:r>
            <a:r>
              <a:rPr b="0" i="1">
                <a:latin typeface="+mn-lt"/>
                <a:ea typeface="+mn-ea"/>
                <a:cs typeface="+mn-cs"/>
                <a:sym typeface="Helvetica"/>
              </a:rPr>
              <a:t>P, message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) – send a message to process P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receive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(</a:t>
            </a:r>
            <a:r>
              <a:rPr b="0" i="1">
                <a:latin typeface="+mn-lt"/>
                <a:ea typeface="+mn-ea"/>
                <a:cs typeface="+mn-cs"/>
                <a:sym typeface="Helvetica"/>
              </a:rPr>
              <a:t>Q, message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) – receive a message from process Q</a:t>
            </a:r>
          </a:p>
          <a:p>
            <a:pPr>
              <a:buChar char=""/>
            </a:pPr>
            <a:r>
              <a:t>Properties of communication link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Links are established automatically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A link is associated with exactly one pair of communicating processes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Between each pair there exists exactly one link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The link may be unidirectional, but is usually bi-directional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Indirect Communication"/>
          <p:cNvSpPr txBox="1">
            <a:spLocks noGrp="1"/>
          </p:cNvSpPr>
          <p:nvPr>
            <p:ph type="title" idx="4294967295"/>
          </p:nvPr>
        </p:nvSpPr>
        <p:spPr>
          <a:xfrm>
            <a:off x="457200" y="152400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Indirect Communication</a:t>
            </a:r>
          </a:p>
        </p:txBody>
      </p:sp>
      <p:sp>
        <p:nvSpPr>
          <p:cNvPr id="202" name="Messages are directed and received from mailboxes (also referred to as ports)…"/>
          <p:cNvSpPr txBox="1">
            <a:spLocks noGrp="1"/>
          </p:cNvSpPr>
          <p:nvPr>
            <p:ph type="body" idx="4294967295"/>
          </p:nvPr>
        </p:nvSpPr>
        <p:spPr>
          <a:xfrm>
            <a:off x="854075" y="1166812"/>
            <a:ext cx="7391400" cy="41592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Messages are directed and received from mailboxes (also referred to as ports)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Each mailbox has a unique id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Processes can communicate only if they share a mailbox</a:t>
            </a:r>
          </a:p>
          <a:p>
            <a:pPr>
              <a:buChar char=""/>
            </a:pPr>
            <a:r>
              <a:t>Properties of communication link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Link established only if processes share a common mailbox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A link may be associated with many processes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Each pair of processes may share several communication links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Link may be unidirectional or bi-directional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Indirect Communication"/>
          <p:cNvSpPr txBox="1">
            <a:spLocks noGrp="1"/>
          </p:cNvSpPr>
          <p:nvPr>
            <p:ph type="title" idx="4294967295"/>
          </p:nvPr>
        </p:nvSpPr>
        <p:spPr>
          <a:xfrm>
            <a:off x="882650" y="18256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Indirect Communication</a:t>
            </a:r>
          </a:p>
        </p:txBody>
      </p:sp>
      <p:sp>
        <p:nvSpPr>
          <p:cNvPr id="206" name="Operations…"/>
          <p:cNvSpPr txBox="1">
            <a:spLocks noGrp="1"/>
          </p:cNvSpPr>
          <p:nvPr>
            <p:ph type="body" idx="4294967295"/>
          </p:nvPr>
        </p:nvSpPr>
        <p:spPr>
          <a:xfrm>
            <a:off x="838200" y="1135062"/>
            <a:ext cx="7580313" cy="382111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Operations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create a new mailbox (port)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send and receive messages through mailbox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destroy a mailbox</a:t>
            </a:r>
          </a:p>
          <a:p>
            <a:pPr>
              <a:buChar char=""/>
            </a:pPr>
            <a:r>
              <a:t>Primitives are defined as:</a:t>
            </a:r>
          </a:p>
          <a:p>
            <a:pPr>
              <a:buSzTx/>
              <a:buFont typeface="Monotype Sorts"/>
              <a:buNone/>
            </a:pPr>
            <a:r>
              <a:t>	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send</a:t>
            </a:r>
            <a:r>
              <a:t>(</a:t>
            </a:r>
            <a:r>
              <a:rPr i="1"/>
              <a:t>A, message</a:t>
            </a:r>
            <a:r>
              <a:t>) – send a message to mailbox A</a:t>
            </a:r>
          </a:p>
          <a:p>
            <a:pPr>
              <a:buSzTx/>
              <a:buFont typeface="Monotype Sorts"/>
              <a:buNone/>
            </a:pPr>
            <a:r>
              <a:t>	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receive</a:t>
            </a:r>
            <a:r>
              <a:t>(</a:t>
            </a:r>
            <a:r>
              <a:rPr i="1"/>
              <a:t>A, message</a:t>
            </a:r>
            <a:r>
              <a:t>) – receive a message from mailbox A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Indirect Communication"/>
          <p:cNvSpPr txBox="1">
            <a:spLocks noGrp="1"/>
          </p:cNvSpPr>
          <p:nvPr>
            <p:ph type="title" idx="4294967295"/>
          </p:nvPr>
        </p:nvSpPr>
        <p:spPr>
          <a:xfrm>
            <a:off x="876300" y="182562"/>
            <a:ext cx="78105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Indirect Communication</a:t>
            </a:r>
          </a:p>
        </p:txBody>
      </p:sp>
      <p:sp>
        <p:nvSpPr>
          <p:cNvPr id="210" name="Mailbox sharing…"/>
          <p:cNvSpPr txBox="1">
            <a:spLocks noGrp="1"/>
          </p:cNvSpPr>
          <p:nvPr>
            <p:ph type="body" idx="4294967295"/>
          </p:nvPr>
        </p:nvSpPr>
        <p:spPr>
          <a:xfrm>
            <a:off x="882650" y="1127125"/>
            <a:ext cx="6637338" cy="453072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Mailbox sharing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i="1"/>
            </a:pPr>
            <a:r>
              <a:t>P</a:t>
            </a:r>
            <a:r>
              <a:rPr baseline="-25000"/>
              <a:t>1</a:t>
            </a:r>
            <a:r>
              <a:t>, P</a:t>
            </a:r>
            <a:r>
              <a:rPr baseline="-25000"/>
              <a:t>2</a:t>
            </a:r>
            <a:r>
              <a:t>,</a:t>
            </a:r>
            <a:r>
              <a:rPr i="0"/>
              <a:t> and</a:t>
            </a:r>
            <a:r>
              <a:t> P</a:t>
            </a:r>
            <a:r>
              <a:rPr baseline="-25000"/>
              <a:t>3</a:t>
            </a:r>
            <a:r>
              <a:rPr i="0"/>
              <a:t> share mailbox A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i="1"/>
            </a:pPr>
            <a:r>
              <a:t>P</a:t>
            </a:r>
            <a:r>
              <a:rPr baseline="-25000"/>
              <a:t>1</a:t>
            </a:r>
            <a:r>
              <a:rPr i="0"/>
              <a:t>, sends; </a:t>
            </a:r>
            <a:r>
              <a:t>P</a:t>
            </a:r>
            <a:r>
              <a:rPr baseline="-25000"/>
              <a:t>2</a:t>
            </a:r>
            <a:r>
              <a:t> </a:t>
            </a:r>
            <a:r>
              <a:rPr i="0"/>
              <a:t>and</a:t>
            </a:r>
            <a:r>
              <a:t> P</a:t>
            </a:r>
            <a:r>
              <a:rPr baseline="-25000"/>
              <a:t>3</a:t>
            </a:r>
            <a:r>
              <a:rPr i="0"/>
              <a:t> receive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Who gets the message?</a:t>
            </a:r>
          </a:p>
          <a:p>
            <a:pPr>
              <a:buChar char=""/>
            </a:pPr>
            <a:r>
              <a:t>Solutions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Allow a link to be associated with at most two processes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Allow only one process at a time to execute a receive operation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Allow the system to select arbitrarily the receiver.  Sender is notified who the receiver was.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ynchronization"/>
          <p:cNvSpPr txBox="1">
            <a:spLocks noGrp="1"/>
          </p:cNvSpPr>
          <p:nvPr>
            <p:ph type="title" idx="4294967295"/>
          </p:nvPr>
        </p:nvSpPr>
        <p:spPr>
          <a:xfrm>
            <a:off x="457200" y="168275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Synchronization</a:t>
            </a:r>
          </a:p>
        </p:txBody>
      </p:sp>
      <p:sp>
        <p:nvSpPr>
          <p:cNvPr id="214" name="Message passing may be either blocking or non-blocking…"/>
          <p:cNvSpPr txBox="1">
            <a:spLocks noGrp="1"/>
          </p:cNvSpPr>
          <p:nvPr>
            <p:ph type="body" idx="4294967295"/>
          </p:nvPr>
        </p:nvSpPr>
        <p:spPr>
          <a:xfrm>
            <a:off x="931862" y="1050925"/>
            <a:ext cx="7267576" cy="49847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79412" indent="-379412">
              <a:buChar char=""/>
            </a:pPr>
            <a:r>
              <a:t>Message passing may be either blocking or non-blocking</a:t>
            </a:r>
          </a:p>
          <a:p>
            <a:pPr marL="379412" indent="-379412">
              <a:buChar char=""/>
              <a:defRPr b="1">
                <a:solidFill>
                  <a:srgbClr val="3366FF"/>
                </a:solidFill>
              </a:defRPr>
            </a:pPr>
            <a:r>
              <a:t>Blocking</a:t>
            </a:r>
            <a:r>
              <a:rPr b="0">
                <a:solidFill>
                  <a:srgbClr val="000000"/>
                </a:solidFill>
              </a:rPr>
              <a:t> is considered </a:t>
            </a:r>
            <a:r>
              <a:t>synchronous</a:t>
            </a:r>
          </a:p>
          <a:p>
            <a:pPr marL="798512" lvl="1" indent="-341312">
              <a:spcBef>
                <a:spcPts val="0"/>
              </a:spcBef>
              <a:buClr>
                <a:srgbClr val="CC6600"/>
              </a:buClr>
              <a:defRPr b="1"/>
            </a:pPr>
            <a:r>
              <a:t>Blocking send </a:t>
            </a:r>
            <a:r>
              <a:rPr b="0"/>
              <a:t>--</a:t>
            </a:r>
            <a:r>
              <a:t> </a:t>
            </a:r>
            <a:r>
              <a:rPr b="0"/>
              <a:t>the sender is blocked until the message is received</a:t>
            </a:r>
          </a:p>
          <a:p>
            <a:pPr marL="798512" lvl="1" indent="-341312">
              <a:spcBef>
                <a:spcPts val="0"/>
              </a:spcBef>
              <a:buClr>
                <a:srgbClr val="CC6600"/>
              </a:buClr>
              <a:defRPr b="1"/>
            </a:pPr>
            <a:r>
              <a:t>Blocking receive </a:t>
            </a:r>
            <a:r>
              <a:rPr b="0"/>
              <a:t>--</a:t>
            </a:r>
            <a:r>
              <a:t> </a:t>
            </a:r>
            <a:r>
              <a:rPr b="0"/>
              <a:t>the receiver is  blocked until a message is available</a:t>
            </a:r>
          </a:p>
          <a:p>
            <a:pPr marL="379412" indent="-379412">
              <a:buChar char=""/>
              <a:defRPr b="1">
                <a:solidFill>
                  <a:srgbClr val="3366FF"/>
                </a:solidFill>
              </a:defRPr>
            </a:pPr>
            <a:r>
              <a:t>Non-blocking</a:t>
            </a:r>
            <a:r>
              <a:rPr b="0">
                <a:solidFill>
                  <a:srgbClr val="000000"/>
                </a:solidFill>
              </a:rPr>
              <a:t> is considered </a:t>
            </a:r>
            <a:r>
              <a:t>asynchronous</a:t>
            </a:r>
          </a:p>
          <a:p>
            <a:pPr marL="798512" lvl="1" indent="-341312">
              <a:spcBef>
                <a:spcPts val="0"/>
              </a:spcBef>
              <a:buClr>
                <a:srgbClr val="CC6600"/>
              </a:buClr>
              <a:defRPr b="1"/>
            </a:pPr>
            <a:r>
              <a:t>Non-blocking send</a:t>
            </a:r>
            <a:r>
              <a:rPr b="0"/>
              <a:t> -- the sender sends the message and continue</a:t>
            </a:r>
          </a:p>
          <a:p>
            <a:pPr marL="798512" lvl="1" indent="-341312">
              <a:spcBef>
                <a:spcPts val="0"/>
              </a:spcBef>
              <a:buClr>
                <a:srgbClr val="CC6600"/>
              </a:buClr>
              <a:defRPr b="1"/>
            </a:pPr>
            <a:r>
              <a:t>Non-blocking receive</a:t>
            </a:r>
            <a:r>
              <a:rPr b="0"/>
              <a:t> -- the receiver receives:</a:t>
            </a:r>
          </a:p>
          <a:p>
            <a:pPr marL="1141412" lvl="2" indent="-341312">
              <a:spcBef>
                <a:spcPts val="0"/>
              </a:spcBef>
              <a:buClr>
                <a:srgbClr val="009900"/>
              </a:buClr>
              <a:buChar char=""/>
            </a:pPr>
            <a:r>
              <a:t> A valid message,  or </a:t>
            </a:r>
          </a:p>
          <a:p>
            <a:pPr marL="1141412" lvl="2" indent="-341312">
              <a:spcBef>
                <a:spcPts val="0"/>
              </a:spcBef>
              <a:buClr>
                <a:srgbClr val="009900"/>
              </a:buClr>
              <a:buChar char=""/>
            </a:pPr>
            <a:r>
              <a:t> Null message</a:t>
            </a:r>
          </a:p>
          <a:p>
            <a:pPr marL="379412" indent="-379412">
              <a:buChar char=""/>
            </a:pPr>
            <a:r>
              <a:t>Different combinations possible</a:t>
            </a:r>
          </a:p>
          <a:p>
            <a:pPr marL="798512" lvl="1" indent="-341312">
              <a:spcBef>
                <a:spcPts val="0"/>
              </a:spcBef>
              <a:buClr>
                <a:srgbClr val="CC6600"/>
              </a:buClr>
            </a:pPr>
            <a:r>
              <a:t>If both send and receive are blocking, we have a </a:t>
            </a:r>
            <a:r>
              <a:rPr b="1">
                <a:solidFill>
                  <a:srgbClr val="3366FF"/>
                </a:solidFill>
              </a:rPr>
              <a:t>rendezvous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Buffering"/>
          <p:cNvSpPr txBox="1">
            <a:spLocks noGrp="1"/>
          </p:cNvSpPr>
          <p:nvPr>
            <p:ph type="title" idx="4294967295"/>
          </p:nvPr>
        </p:nvSpPr>
        <p:spPr>
          <a:xfrm>
            <a:off x="457200" y="136525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Buffering</a:t>
            </a:r>
          </a:p>
        </p:txBody>
      </p:sp>
      <p:sp>
        <p:nvSpPr>
          <p:cNvPr id="223" name="Queue of messages attached to the link.…"/>
          <p:cNvSpPr txBox="1">
            <a:spLocks noGrp="1"/>
          </p:cNvSpPr>
          <p:nvPr>
            <p:ph type="body" idx="4294967295"/>
          </p:nvPr>
        </p:nvSpPr>
        <p:spPr>
          <a:xfrm>
            <a:off x="889000" y="1233487"/>
            <a:ext cx="7121525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Queue of messages attached to the link.</a:t>
            </a:r>
          </a:p>
          <a:p>
            <a:pPr>
              <a:buChar char=""/>
            </a:pPr>
            <a:r>
              <a:t>implemented in one of three ways</a:t>
            </a:r>
          </a:p>
          <a:p>
            <a:pPr marL="285750" lvl="1" indent="171450">
              <a:spcBef>
                <a:spcPts val="0"/>
              </a:spcBef>
              <a:buSzTx/>
              <a:buFont typeface="Monotype Sorts"/>
              <a:buNone/>
              <a:defRPr>
                <a:solidFill>
                  <a:srgbClr val="CC6600"/>
                </a:solidFill>
              </a:defRPr>
            </a:pPr>
            <a:r>
              <a:t>1.</a:t>
            </a:r>
            <a:r>
              <a:rPr>
                <a:solidFill>
                  <a:srgbClr val="000000"/>
                </a:solidFill>
              </a:rPr>
              <a:t>	Zero capacity – no messages are queued on a link.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Sender must wait for receiver (rendezvous)</a:t>
            </a:r>
          </a:p>
          <a:p>
            <a:pPr marL="285750" lvl="1" indent="171450">
              <a:spcBef>
                <a:spcPts val="0"/>
              </a:spcBef>
              <a:buSzTx/>
              <a:buFont typeface="Monotype Sorts"/>
              <a:buNone/>
              <a:defRPr>
                <a:solidFill>
                  <a:srgbClr val="CC6600"/>
                </a:solidFill>
              </a:defRPr>
            </a:pPr>
            <a:r>
              <a:t>2.</a:t>
            </a:r>
            <a:r>
              <a:rPr>
                <a:solidFill>
                  <a:srgbClr val="000000"/>
                </a:solidFill>
              </a:rPr>
              <a:t>	Bounded capacity – finite length of </a:t>
            </a:r>
            <a:r>
              <a:rPr i="1">
                <a:solidFill>
                  <a:srgbClr val="000000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 messages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Sender must wait if link full</a:t>
            </a:r>
          </a:p>
          <a:p>
            <a:pPr marL="285750" lvl="1" indent="171450">
              <a:spcBef>
                <a:spcPts val="0"/>
              </a:spcBef>
              <a:buSzTx/>
              <a:buFont typeface="Monotype Sorts"/>
              <a:buNone/>
              <a:defRPr>
                <a:solidFill>
                  <a:srgbClr val="CC6600"/>
                </a:solidFill>
              </a:defRPr>
            </a:pPr>
            <a:r>
              <a:t>3.</a:t>
            </a:r>
            <a:r>
              <a:rPr>
                <a:solidFill>
                  <a:srgbClr val="000000"/>
                </a:solidFill>
              </a:rPr>
              <a:t>	Unbounded capacity – infinite length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Sender never waits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End of Chapter 3"/>
          <p:cNvSpPr txBox="1">
            <a:spLocks noGrp="1"/>
          </p:cNvSpPr>
          <p:nvPr>
            <p:ph type="title" idx="4294967295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300"/>
            </a:lvl1pPr>
          </a:lstStyle>
          <a:p>
            <a:r>
              <a:t>End of Chapter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1143000"/>
            <a:ext cx="7772400" cy="990600"/>
          </a:xfrm>
        </p:spPr>
        <p:txBody>
          <a:bodyPr/>
          <a:lstStyle/>
          <a:p>
            <a:r>
              <a:rPr lang="en-US" sz="4000" dirty="0"/>
              <a:t>References: 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smtClean="0">
                <a:latin typeface="+mn-lt"/>
              </a:rPr>
              <a:t>Abraham </a:t>
            </a:r>
            <a:r>
              <a:rPr lang="en-US" sz="2000" dirty="0">
                <a:latin typeface="+mn-lt"/>
              </a:rPr>
              <a:t>Silberschatz, Greg Gagne, and Peter Baer Galvin, "Operating System Concepts, Ninth Edition </a:t>
            </a:r>
            <a:r>
              <a:rPr lang="en-US" sz="2000" dirty="0" smtClean="0">
                <a:latin typeface="+mn-lt"/>
              </a:rPr>
              <a:t>“</a:t>
            </a:r>
          </a:p>
          <a:p>
            <a:r>
              <a:rPr lang="en-US" sz="2000" dirty="0">
                <a:latin typeface="+mn-lt"/>
              </a:rPr>
              <a:t>Operating Systems, by </a:t>
            </a:r>
            <a:r>
              <a:rPr lang="en-US" sz="2000" dirty="0" smtClean="0">
                <a:latin typeface="+mn-lt"/>
              </a:rPr>
              <a:t>Dhananjay </a:t>
            </a:r>
            <a:r>
              <a:rPr lang="en-US" sz="2000" dirty="0">
                <a:latin typeface="+mn-lt"/>
              </a:rPr>
              <a:t>Dhamdhere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17EECC304_OS&amp;ESD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9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17EECC304_OS&amp;ESD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85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00"/>
      </a:accent1>
      <a:accent2>
        <a:srgbClr val="CCCC6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s-8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s-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s-8">
  <a:themeElements>
    <a:clrScheme name="os-8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00"/>
      </a:accent1>
      <a:accent2>
        <a:srgbClr val="CCCC6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s-8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s-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1417</Words>
  <Application>Microsoft Office PowerPoint</Application>
  <PresentationFormat>On-screen Show (4:3)</PresentationFormat>
  <Paragraphs>211</Paragraphs>
  <Slides>32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os-8</vt:lpstr>
      <vt:lpstr>Chapter 2:  Processes</vt:lpstr>
      <vt:lpstr>Chapter 3:  Processes</vt:lpstr>
      <vt:lpstr>Objectives</vt:lpstr>
      <vt:lpstr>Process Concept</vt:lpstr>
      <vt:lpstr>Process Concept (Cont.)</vt:lpstr>
      <vt:lpstr>Process in Memory</vt:lpstr>
      <vt:lpstr>Process State</vt:lpstr>
      <vt:lpstr>Diagram of Process State</vt:lpstr>
      <vt:lpstr>Process Control Block (PCB)</vt:lpstr>
      <vt:lpstr>CPU Switch From Process to Process</vt:lpstr>
      <vt:lpstr>Process Scheduling</vt:lpstr>
      <vt:lpstr>Representation of Process Scheduling</vt:lpstr>
      <vt:lpstr>Schedulers</vt:lpstr>
      <vt:lpstr>Addition of Medium Term Scheduling</vt:lpstr>
      <vt:lpstr>Context Switch</vt:lpstr>
      <vt:lpstr>Interprocess Communication</vt:lpstr>
      <vt:lpstr>Communications Models </vt:lpstr>
      <vt:lpstr>Cooperating Processes</vt:lpstr>
      <vt:lpstr>Producer-Consumer Problem</vt:lpstr>
      <vt:lpstr>Interprocess Communication –  Shared Memory</vt:lpstr>
      <vt:lpstr>Interprocess Communication – Message Passing</vt:lpstr>
      <vt:lpstr>Message Passing (Cont.)</vt:lpstr>
      <vt:lpstr>Message Passing (Cont.)</vt:lpstr>
      <vt:lpstr>Direct Communication</vt:lpstr>
      <vt:lpstr>Indirect Communication</vt:lpstr>
      <vt:lpstr>Indirect Communication</vt:lpstr>
      <vt:lpstr>Indirect Communication</vt:lpstr>
      <vt:lpstr>Synchronization</vt:lpstr>
      <vt:lpstr>Buffering</vt:lpstr>
      <vt:lpstr>End of Chapter 3</vt:lpstr>
      <vt:lpstr>References:  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 Processes</dc:title>
  <dc:creator>supriyavinayak</dc:creator>
  <cp:lastModifiedBy>Acer</cp:lastModifiedBy>
  <cp:revision>4</cp:revision>
  <dcterms:modified xsi:type="dcterms:W3CDTF">2021-08-10T09:50:18Z</dcterms:modified>
</cp:coreProperties>
</file>