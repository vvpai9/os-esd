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53" roundtripDataSignature="AMtx7mhwSB4hisXucTlLIzqDaJLjhrtM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F8CBB1-B04D-45E8-9B6C-0B7561C744B2}">
  <a:tblStyle styleId="{3CF8CBB1-B04D-45E8-9B6C-0B7561C744B2}" styleName="Table_0">
    <a:wholeTbl>
      <a:tcTxStyle b="off" i="off">
        <a:font>
          <a:latin typeface="Palatino Linotype"/>
          <a:ea typeface="Palatino Linotype"/>
          <a:cs typeface="Palatino Linotype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BF2"/>
          </a:solidFill>
        </a:fill>
      </a:tcStyle>
    </a:wholeTbl>
    <a:band1H>
      <a:tcTxStyle/>
      <a:tcStyle>
        <a:fill>
          <a:solidFill>
            <a:srgbClr val="D1D5E5"/>
          </a:solidFill>
        </a:fill>
      </a:tcStyle>
    </a:band1H>
    <a:band2H>
      <a:tcTxStyle/>
    </a:band2H>
    <a:band1V>
      <a:tcTxStyle/>
      <a:tcStyle>
        <a:fill>
          <a:solidFill>
            <a:srgbClr val="D1D5E5"/>
          </a:solidFill>
        </a:fill>
      </a:tcStyle>
    </a:band1V>
    <a:band2V>
      <a:tcTxStyle/>
    </a:band2V>
    <a:lastCol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39EFD10-B3FE-4F02-B0D9-026B57AFD127}" styleName="Table_1">
    <a:wholeTbl>
      <a:tcTxStyle b="off" i="off">
        <a:font>
          <a:latin typeface="Palatino Linotype"/>
          <a:ea typeface="Palatino Linotype"/>
          <a:cs typeface="Palatino Linotype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BF2"/>
          </a:solidFill>
        </a:fill>
      </a:tcStyle>
    </a:wholeTbl>
    <a:band1H>
      <a:tcTxStyle/>
      <a:tcStyle>
        <a:fill>
          <a:solidFill>
            <a:srgbClr val="D1D5E5"/>
          </a:solidFill>
        </a:fill>
      </a:tcStyle>
    </a:band1H>
    <a:band2H>
      <a:tcTxStyle/>
    </a:band2H>
    <a:band1V>
      <a:tcTxStyle/>
      <a:tcStyle>
        <a:fill>
          <a:solidFill>
            <a:srgbClr val="D1D5E5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9EBF2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9EBF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customschemas.google.com/relationships/presentationmetadata" Target="meta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8"/>
          <p:cNvSpPr txBox="1"/>
          <p:nvPr>
            <p:ph type="ctrTitle"/>
          </p:nvPr>
        </p:nvSpPr>
        <p:spPr>
          <a:xfrm>
            <a:off x="685800" y="609601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rial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" type="subTitle"/>
          </p:nvPr>
        </p:nvSpPr>
        <p:spPr>
          <a:xfrm>
            <a:off x="1371600" y="4953000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lvl="1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48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48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9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9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9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0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0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1"/>
          <p:cNvSpPr txBox="1"/>
          <p:nvPr>
            <p:ph type="title"/>
          </p:nvPr>
        </p:nvSpPr>
        <p:spPr>
          <a:xfrm>
            <a:off x="722313" y="1371600"/>
            <a:ext cx="7772400" cy="250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1"/>
          <p:cNvSpPr txBox="1"/>
          <p:nvPr>
            <p:ph idx="1" type="body"/>
          </p:nvPr>
        </p:nvSpPr>
        <p:spPr>
          <a:xfrm>
            <a:off x="722313" y="4068763"/>
            <a:ext cx="7772400" cy="1131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51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1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1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2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2"/>
          <p:cNvSpPr txBox="1"/>
          <p:nvPr>
            <p:ph idx="1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52"/>
          <p:cNvSpPr txBox="1"/>
          <p:nvPr>
            <p:ph idx="2" type="body"/>
          </p:nvPr>
        </p:nvSpPr>
        <p:spPr>
          <a:xfrm>
            <a:off x="365760" y="1600200"/>
            <a:ext cx="4041648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3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" type="body"/>
          </p:nvPr>
        </p:nvSpPr>
        <p:spPr>
          <a:xfrm>
            <a:off x="457200" y="1600200"/>
            <a:ext cx="4040188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b="0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53"/>
          <p:cNvSpPr txBox="1"/>
          <p:nvPr>
            <p:ph idx="2" type="body"/>
          </p:nvPr>
        </p:nvSpPr>
        <p:spPr>
          <a:xfrm>
            <a:off x="4648200" y="1600200"/>
            <a:ext cx="4041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b="0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53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3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53"/>
          <p:cNvSpPr txBox="1"/>
          <p:nvPr>
            <p:ph idx="3" type="body"/>
          </p:nvPr>
        </p:nvSpPr>
        <p:spPr>
          <a:xfrm>
            <a:off x="457200" y="2212848"/>
            <a:ext cx="4041648" cy="3913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3"/>
          <p:cNvSpPr txBox="1"/>
          <p:nvPr>
            <p:ph idx="4" type="body"/>
          </p:nvPr>
        </p:nvSpPr>
        <p:spPr>
          <a:xfrm>
            <a:off x="4672584" y="2212848"/>
            <a:ext cx="4041648" cy="39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4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5"/>
          <p:cNvSpPr txBox="1"/>
          <p:nvPr>
            <p:ph type="title"/>
          </p:nvPr>
        </p:nvSpPr>
        <p:spPr>
          <a:xfrm>
            <a:off x="5907087" y="266700"/>
            <a:ext cx="3008313" cy="209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5"/>
          <p:cNvSpPr txBox="1"/>
          <p:nvPr>
            <p:ph idx="1" type="body"/>
          </p:nvPr>
        </p:nvSpPr>
        <p:spPr>
          <a:xfrm>
            <a:off x="719137" y="273050"/>
            <a:ext cx="4995863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7F7F7F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7F7F7F"/>
              </a:buClr>
              <a:buSzPts val="2800"/>
              <a:buChar char="o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55"/>
          <p:cNvSpPr txBox="1"/>
          <p:nvPr>
            <p:ph idx="2" type="body"/>
          </p:nvPr>
        </p:nvSpPr>
        <p:spPr>
          <a:xfrm>
            <a:off x="5907087" y="2438400"/>
            <a:ext cx="3008313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55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5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6"/>
          <p:cNvSpPr txBox="1"/>
          <p:nvPr>
            <p:ph type="title"/>
          </p:nvPr>
        </p:nvSpPr>
        <p:spPr>
          <a:xfrm>
            <a:off x="1679576" y="228600"/>
            <a:ext cx="5711824" cy="895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/>
          <p:nvPr>
            <p:ph idx="2" type="pic"/>
          </p:nvPr>
        </p:nvSpPr>
        <p:spPr>
          <a:xfrm>
            <a:off x="1508126" y="1143000"/>
            <a:ext cx="6054724" cy="4541044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ctr" dir="5400000" dist="50800">
              <a:srgbClr val="000000">
                <a:alpha val="24705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Courier New"/>
              <a:buNone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None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None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None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56"/>
          <p:cNvSpPr txBox="1"/>
          <p:nvPr>
            <p:ph idx="1" type="body"/>
          </p:nvPr>
        </p:nvSpPr>
        <p:spPr>
          <a:xfrm>
            <a:off x="1679576" y="5810250"/>
            <a:ext cx="571182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56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6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7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57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7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8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8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58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8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47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.jp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685800" y="609601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br>
              <a:rPr lang="en-US" sz="4800"/>
            </a:br>
            <a:r>
              <a:rPr lang="en-US" sz="4800"/>
              <a:t>17EECC304_Operating System and Embedded System Design</a:t>
            </a:r>
            <a:br>
              <a:rPr lang="en-US" sz="4800"/>
            </a:br>
            <a:r>
              <a:rPr lang="en-US" sz="4800"/>
              <a:t>Chapter-1 Introduction to Operating System</a:t>
            </a:r>
            <a:endParaRPr sz="4800"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1371600" y="4953000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Course Outcome</a:t>
            </a:r>
            <a:endParaRPr sz="4000"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At the end of this chapter the student should be able to: 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Discuss the core structure and functionality of operating system.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Contents </a:t>
            </a:r>
            <a:endParaRPr sz="4000"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Need for OS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What is OS?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Goals of an OS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Types of OS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Operating System Services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System Calls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Structure of OS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System Boot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10" name="Google Shape;110;p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457200" y="0"/>
            <a:ext cx="792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Need for OS</a:t>
            </a:r>
            <a:endParaRPr sz="4000"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Interface between the user and the computer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Managing the input/output devices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Multitasking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Platform for other application software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Development of machine independent programs/applications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18" name="Google Shape;118;p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457200" y="0"/>
            <a:ext cx="8001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What is OS</a:t>
            </a:r>
            <a:endParaRPr sz="4000"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 program that acts as an intermediary between a user of a computer and the computer hardware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more formal definition!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The operating system is the one program running at all times on the computer — usually called the kernel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Operating system is a piece of software which controls all the computer’s resources and provides the base upon which the application programs can be written”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26" name="Google Shape;126;p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342900" y="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So, Where your OS sits  in your System?</a:t>
            </a:r>
            <a:endParaRPr sz="4000"/>
          </a:p>
        </p:txBody>
      </p:sp>
      <p:grpSp>
        <p:nvGrpSpPr>
          <p:cNvPr id="132" name="Google Shape;132;p6"/>
          <p:cNvGrpSpPr/>
          <p:nvPr/>
        </p:nvGrpSpPr>
        <p:grpSpPr>
          <a:xfrm>
            <a:off x="1752600" y="2454557"/>
            <a:ext cx="4800600" cy="3045847"/>
            <a:chOff x="0" y="16157"/>
            <a:chExt cx="4800600" cy="3045847"/>
          </a:xfrm>
        </p:grpSpPr>
        <p:sp>
          <p:nvSpPr>
            <p:cNvPr id="133" name="Google Shape;133;p6"/>
            <p:cNvSpPr/>
            <p:nvPr/>
          </p:nvSpPr>
          <p:spPr>
            <a:xfrm>
              <a:off x="0" y="16157"/>
              <a:ext cx="4800600" cy="724741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6"/>
            <p:cNvSpPr txBox="1"/>
            <p:nvPr/>
          </p:nvSpPr>
          <p:spPr>
            <a:xfrm>
              <a:off x="35379" y="51536"/>
              <a:ext cx="4729842" cy="653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1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0" y="789859"/>
              <a:ext cx="4800600" cy="724741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35379" y="825238"/>
              <a:ext cx="4729842" cy="653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APPLICATIONS</a:t>
              </a:r>
              <a:endParaRPr b="1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0" y="1563561"/>
              <a:ext cx="4800600" cy="724741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 txBox="1"/>
            <p:nvPr/>
          </p:nvSpPr>
          <p:spPr>
            <a:xfrm>
              <a:off x="35379" y="1598940"/>
              <a:ext cx="4729842" cy="653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	         OPERATING SYSTEM			 </a:t>
              </a:r>
              <a:endParaRPr b="1" i="0" sz="17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0" y="2337263"/>
              <a:ext cx="4800600" cy="724741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6"/>
            <p:cNvSpPr txBox="1"/>
            <p:nvPr/>
          </p:nvSpPr>
          <p:spPr>
            <a:xfrm>
              <a:off x="35379" y="2372642"/>
              <a:ext cx="4729842" cy="653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HARDWARE</a:t>
              </a:r>
              <a:endParaRPr b="1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6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42" name="Google Shape;142;p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547687" y="1524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lang="en-US" sz="4000"/>
              <a:t> Abstract view of the components of a computer system.</a:t>
            </a:r>
            <a:endParaRPr b="1" sz="4000"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50" name="Google Shape;150;p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057400"/>
            <a:ext cx="5667375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type="title"/>
          </p:nvPr>
        </p:nvSpPr>
        <p:spPr>
          <a:xfrm>
            <a:off x="457200" y="533400"/>
            <a:ext cx="7620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Goals of an OS</a:t>
            </a:r>
            <a:endParaRPr/>
          </a:p>
        </p:txBody>
      </p:sp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Fundamental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 goals of an operating system</a:t>
            </a:r>
            <a:endParaRPr/>
          </a:p>
          <a:p>
            <a:pPr indent="-285750" lvl="1" marL="74295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Efficient use of Computer Resources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User Convenience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Noninterference in the activities of its users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59" name="Google Shape;159;p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457200" y="0"/>
            <a:ext cx="7620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Efficient Use</a:t>
            </a:r>
            <a:endParaRPr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OS ensures efficient use of memory, CPU, and I/O devices</a:t>
            </a:r>
            <a:endParaRPr/>
          </a:p>
          <a:p>
            <a:pPr indent="-285750" lvl="1" marL="74295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Poor efficiency can result if a program does not use a resource allocated to it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OS itself consumes CPU and memory resources, which constitutes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overhead</a:t>
            </a:r>
            <a:endParaRPr/>
          </a:p>
          <a:p>
            <a:pPr indent="-285750" lvl="1" marL="74295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It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reduces resources for user programs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OS can monitor use of resources to ensure efficiency</a:t>
            </a:r>
            <a:endParaRPr/>
          </a:p>
          <a:p>
            <a:pPr indent="-285750" lvl="1" marL="74295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It would increase the overhead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OS uses policies that ensure efficiency</a:t>
            </a:r>
            <a:endParaRPr/>
          </a:p>
        </p:txBody>
      </p:sp>
      <p:sp>
        <p:nvSpPr>
          <p:cNvPr id="166" name="Google Shape;166;p9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67" name="Google Shape;167;p9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4572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User Convenience</a:t>
            </a:r>
            <a:endParaRPr/>
          </a:p>
        </p:txBody>
      </p:sp>
      <p:sp>
        <p:nvSpPr>
          <p:cNvPr id="173" name="Google Shape;173;p10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74" name="Google Shape;174;p10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5" name="Google Shape;175;p10"/>
          <p:cNvGraphicFramePr/>
          <p:nvPr/>
        </p:nvGraphicFramePr>
        <p:xfrm>
          <a:off x="1524000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{3CF8CBB1-B04D-45E8-9B6C-0B7561C744B2}</a:tableStyleId>
              </a:tblPr>
              <a:tblGrid>
                <a:gridCol w="3352800"/>
                <a:gridCol w="3352800"/>
              </a:tblGrid>
              <a:tr h="5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Facet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Examples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7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Fulfillment of necessity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Ability to execute programs, use the file system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7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Good  service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Speedy response to computational requests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7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User friendly interfaces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Easy to commands. Graphical user interface(GUI)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7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Evolution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Add new features, use new technologies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Noninterference</a:t>
            </a:r>
            <a:endParaRPr/>
          </a:p>
        </p:txBody>
      </p:sp>
      <p:sp>
        <p:nvSpPr>
          <p:cNvPr id="181" name="Google Shape;18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Program execution or operation of OS can be disrupted by actions of other users or other os services</a:t>
            </a:r>
            <a:endParaRPr/>
          </a:p>
          <a:p>
            <a:pPr indent="-285750" lvl="1" marL="74295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OS prevents interference by allocating resources for exclusive use of programs and OS services, and preventing illegal accesses to resources</a:t>
            </a:r>
            <a:endParaRPr/>
          </a:p>
          <a:p>
            <a:pPr indent="-285750" lvl="1" marL="74295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Illegal file access</a:t>
            </a:r>
            <a:endParaRPr/>
          </a:p>
          <a:p>
            <a:pPr indent="-228600" lvl="2" marL="11430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OS knows which user files can be accessed by whom</a:t>
            </a:r>
            <a:endParaRPr/>
          </a:p>
          <a:p>
            <a:pPr indent="-228600" lvl="3" marL="16002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Achieved through authorization</a:t>
            </a:r>
            <a:endParaRPr/>
          </a:p>
        </p:txBody>
      </p:sp>
      <p:sp>
        <p:nvSpPr>
          <p:cNvPr id="182" name="Google Shape;182;p11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83" name="Google Shape;183;p11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Types of Operating System</a:t>
            </a:r>
            <a:endParaRPr sz="4000"/>
          </a:p>
        </p:txBody>
      </p:sp>
      <p:sp>
        <p:nvSpPr>
          <p:cNvPr id="189" name="Google Shape;18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General purpose operating system (Desktops)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latin typeface="Arial"/>
                <a:ea typeface="Arial"/>
                <a:cs typeface="Arial"/>
                <a:sym typeface="Arial"/>
              </a:rPr>
              <a:t>e.g.. Mac OS, Windows, Ubuntu </a:t>
            </a:r>
            <a:endParaRPr/>
          </a:p>
        </p:txBody>
      </p:sp>
      <p:sp>
        <p:nvSpPr>
          <p:cNvPr id="190" name="Google Shape;190;p12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191" name="Google Shape;191;p1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590799"/>
            <a:ext cx="3251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4054" y="2590799"/>
            <a:ext cx="3115732" cy="175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7433" y="4477431"/>
            <a:ext cx="2943840" cy="189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Application Specific  Embedded OS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e.g.. Contiki OS, Windows Mobile/CE, Symbian, Linux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202" name="Google Shape;202;p1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Contiki Os | Cooja | Installation | Tutorial - YouTube" id="203" name="Google Shape;203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638662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y was the Symbian OS discontinued? - Quora" id="205" name="Google Shape;2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586990"/>
            <a:ext cx="1828800" cy="219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1800" y="2638662"/>
            <a:ext cx="16002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572000"/>
            <a:ext cx="287655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</a:rPr>
              <a:t>Mobile OS</a:t>
            </a:r>
            <a:br>
              <a:rPr lang="en-US"/>
            </a:br>
            <a:r>
              <a:rPr lang="en-US"/>
              <a:t>e.g.. Android, iOS, Ubuntu Touch, Windows Touch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215" name="Google Shape;215;p1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Android App Distribution Agreements Do Not Foreclose Competition -  Disruptive Competition Project" id="216" name="Google Shape;216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975" y="2651409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3981" y="2779262"/>
            <a:ext cx="3143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640036"/>
            <a:ext cx="1541163" cy="1916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4575" y="4328737"/>
            <a:ext cx="2120900" cy="158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6" name="Google Shape;226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RTOS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e.g. QNX, VxWorks, RTLinux, Integrity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228" name="Google Shape;228;p1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9" name="Google Shape;2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667000"/>
            <a:ext cx="4790374" cy="82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4182" y="2641253"/>
            <a:ext cx="1981200" cy="1705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810000"/>
            <a:ext cx="25336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9000" y="4038600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" name="Google Shape;238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Servers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e.g.. Redhat, Ubuntu, Windows Server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240" name="Google Shape;240;p1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1" name="Google Shape;2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667000"/>
            <a:ext cx="2133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8254" y="2714530"/>
            <a:ext cx="245745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3906" y="2714530"/>
            <a:ext cx="29337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/>
          <p:nvPr>
            <p:ph type="title"/>
          </p:nvPr>
        </p:nvSpPr>
        <p:spPr>
          <a:xfrm>
            <a:off x="457200" y="0"/>
            <a:ext cx="7848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Operating System Services</a:t>
            </a:r>
            <a:endParaRPr sz="4000"/>
          </a:p>
        </p:txBody>
      </p:sp>
      <p:sp>
        <p:nvSpPr>
          <p:cNvPr id="249" name="Google Shape;249;p17"/>
          <p:cNvSpPr txBox="1"/>
          <p:nvPr>
            <p:ph idx="1" type="body"/>
          </p:nvPr>
        </p:nvSpPr>
        <p:spPr>
          <a:xfrm>
            <a:off x="304800" y="13716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Operating systems provide an environment for execution of programs and services to programs and users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One set of operating-system services provides functions that are helpful to the user: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User interface (UI)</a:t>
            </a:r>
            <a:endParaRPr/>
          </a:p>
          <a:p>
            <a:pPr indent="-285750" lvl="1" marL="74295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Command-Line (CLI), Graphics User Interface (GUI),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Program execution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system must be able to load a program into memory and to run that program, end execution, either normally or abnormally (indicating error)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I/O operations</a:t>
            </a:r>
            <a:endParaRPr/>
          </a:p>
          <a:p>
            <a:pPr indent="-285750" lvl="1" marL="74295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running program may require I/O, which may involve a file or an I/O device</a:t>
            </a:r>
            <a:endParaRPr/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251" name="Google Shape;251;p1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Operating System Services (Cont.)</a:t>
            </a:r>
            <a:endParaRPr sz="4000"/>
          </a:p>
        </p:txBody>
      </p:sp>
      <p:sp>
        <p:nvSpPr>
          <p:cNvPr id="257" name="Google Shape;257;p18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File-system manipulation 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2" marL="74295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Programs need to read and write files and directories, create and delete them, search them, list file Information, permission management.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Communications</a:t>
            </a:r>
            <a:endParaRPr/>
          </a:p>
          <a:p>
            <a:pPr indent="-342900" lvl="2" marL="74295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Processes may exchange information, on the same computer or between computers over a network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Error detection</a:t>
            </a:r>
            <a:endParaRPr/>
          </a:p>
          <a:p>
            <a:pPr indent="-342900" lvl="2" marL="74295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OS needs to be constantly aware of possible errors	</a:t>
            </a:r>
            <a:endParaRPr/>
          </a:p>
          <a:p>
            <a:pPr indent="-342900" lvl="2" marL="74295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May occur in the CPU and memory hardware, in I/O devices, in user program</a:t>
            </a:r>
            <a:endParaRPr/>
          </a:p>
          <a:p>
            <a:pPr indent="-342900" lvl="2" marL="74295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For each type of error, OS should take the appropriate action to ensure correct and consistent computing</a:t>
            </a:r>
            <a:endParaRPr/>
          </a:p>
        </p:txBody>
      </p:sp>
      <p:sp>
        <p:nvSpPr>
          <p:cNvPr id="258" name="Google Shape;258;p18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259" name="Google Shape;259;p1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 txBox="1"/>
          <p:nvPr>
            <p:ph type="title"/>
          </p:nvPr>
        </p:nvSpPr>
        <p:spPr>
          <a:xfrm>
            <a:off x="381000" y="3810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Operating System Services (Cont.)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9"/>
          <p:cNvSpPr txBox="1"/>
          <p:nvPr>
            <p:ph idx="1" type="body"/>
          </p:nvPr>
        </p:nvSpPr>
        <p:spPr>
          <a:xfrm>
            <a:off x="381000" y="12954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Another set of OS functions exists for ensuring the efficient operation of the system itself via resource sharing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Resource allocation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When  multiple users or multiple jobs running concurrently, resources must be allocated to each of them.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Many types of resources -   CPU cycles, main memory, file storage, I/O devices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1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Accounting 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2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To keep track of which users use how much and what kinds 	of computer resources</a:t>
            </a:r>
            <a:endParaRPr/>
          </a:p>
          <a:p>
            <a:pPr indent="-342900" lvl="1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Protection and security 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2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Protection involves ensuring that all access to system resources is controlled</a:t>
            </a:r>
            <a:endParaRPr/>
          </a:p>
          <a:p>
            <a:pPr indent="-342900" lvl="2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Security of the system from outsiders requires user authentication, extends to defending external I/O devices from invalid access attempts</a:t>
            </a:r>
            <a:endParaRPr/>
          </a:p>
          <a:p>
            <a:pPr indent="-1905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9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267" name="Google Shape;267;p19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 txBox="1"/>
          <p:nvPr>
            <p:ph type="title"/>
          </p:nvPr>
        </p:nvSpPr>
        <p:spPr>
          <a:xfrm>
            <a:off x="411956" y="12192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A View of Operating System Services</a:t>
            </a:r>
            <a:endParaRPr sz="4000"/>
          </a:p>
        </p:txBody>
      </p:sp>
      <p:sp>
        <p:nvSpPr>
          <p:cNvPr id="273" name="Google Shape;273;p20"/>
          <p:cNvSpPr txBox="1"/>
          <p:nvPr>
            <p:ph idx="1" type="body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275" name="Google Shape;275;p20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2" id="276" name="Google Shape;2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575" y="2286000"/>
            <a:ext cx="7218363" cy="3808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System Calls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1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Programming interface to the services provided by the OS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Typically written in a high-level language (C or C++)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Mostly accessed by programs via a high-level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Application Programming Interface (API)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rather than direct system call use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Three most common APIs are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Win32 API for Windows,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POSIX API for POSIX-based systems (UNIX, Linux, and Mac OS X),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Java API for the Java virtual machine (JVM)</a:t>
            </a:r>
            <a:endParaRPr/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1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284" name="Google Shape;284;p21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 txBox="1"/>
          <p:nvPr>
            <p:ph type="title"/>
          </p:nvPr>
        </p:nvSpPr>
        <p:spPr>
          <a:xfrm>
            <a:off x="457200" y="3810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Example of System Calls</a:t>
            </a:r>
            <a:endParaRPr sz="4000"/>
          </a:p>
        </p:txBody>
      </p:sp>
      <p:sp>
        <p:nvSpPr>
          <p:cNvPr id="290" name="Google Shape;290;p22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System call sequence to copy the contents of one file to another file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292" name="Google Shape;292;p2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3" name="Google Shape;2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209800"/>
            <a:ext cx="68580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"/>
          <p:cNvSpPr txBox="1"/>
          <p:nvPr>
            <p:ph type="title"/>
          </p:nvPr>
        </p:nvSpPr>
        <p:spPr>
          <a:xfrm>
            <a:off x="457200" y="5334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System Call Implementation</a:t>
            </a:r>
            <a:endParaRPr sz="4000"/>
          </a:p>
        </p:txBody>
      </p:sp>
      <p:sp>
        <p:nvSpPr>
          <p:cNvPr id="299" name="Google Shape;299;p23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Typically, a number associated with each system call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3366FF"/>
              </a:buClr>
              <a:buSzPts val="2000"/>
              <a:buChar char="•"/>
            </a:pPr>
            <a:r>
              <a:rPr b="1" lang="en-US" sz="2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System-call interface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maintains a table indexed according to these numbers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system call interface invokes  the intended system call in OS kernel and returns status of the system call and any return values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caller need know nothing about how the system call is implemented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3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01" name="Google Shape;301;p2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"/>
          <p:cNvSpPr txBox="1"/>
          <p:nvPr>
            <p:ph type="title"/>
          </p:nvPr>
        </p:nvSpPr>
        <p:spPr>
          <a:xfrm>
            <a:off x="420592" y="11430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API – System Call – OS Relationship</a:t>
            </a:r>
            <a:endParaRPr sz="4000"/>
          </a:p>
        </p:txBody>
      </p:sp>
      <p:sp>
        <p:nvSpPr>
          <p:cNvPr id="307" name="Google Shape;30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08" name="Google Shape;308;p24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09" name="Google Shape;309;p2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2" id="310" name="Google Shape;3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755" y="1905000"/>
            <a:ext cx="715327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"/>
          <p:cNvSpPr txBox="1"/>
          <p:nvPr>
            <p:ph type="title"/>
          </p:nvPr>
        </p:nvSpPr>
        <p:spPr>
          <a:xfrm>
            <a:off x="457200" y="4572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Types of System Calls</a:t>
            </a:r>
            <a:endParaRPr sz="4000"/>
          </a:p>
        </p:txBody>
      </p:sp>
      <p:sp>
        <p:nvSpPr>
          <p:cNvPr id="316" name="Google Shape;316;p25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Process control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create process, terminate process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end, abort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load, execute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get process attributes, set process attributes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wait for time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wait event, signal event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allocate and free memory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Dump memory if error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3366FF"/>
              </a:buClr>
              <a:buSzPts val="2000"/>
              <a:buChar char="o"/>
            </a:pPr>
            <a:r>
              <a:rPr b="1" lang="en-US" sz="2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Debugger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for determining </a:t>
            </a:r>
            <a:r>
              <a:rPr b="1" lang="en-US" sz="2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bugs, single step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execution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3366FF"/>
              </a:buClr>
              <a:buSzPts val="2000"/>
              <a:buChar char="o"/>
            </a:pPr>
            <a:r>
              <a:rPr b="1" lang="en-US" sz="2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Locks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for managing access to shared data between processes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5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18" name="Google Shape;318;p2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 txBox="1"/>
          <p:nvPr>
            <p:ph type="title"/>
          </p:nvPr>
        </p:nvSpPr>
        <p:spPr>
          <a:xfrm>
            <a:off x="381000" y="4572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Types of System Calls (Cont.)</a:t>
            </a:r>
            <a:endParaRPr sz="4000"/>
          </a:p>
        </p:txBody>
      </p:sp>
      <p:sp>
        <p:nvSpPr>
          <p:cNvPr id="324" name="Google Shape;324;p26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File management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create file, delete file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open, close file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read, write, reposition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get and set file attributes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Device management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request device, release device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read, write, reposition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get device attributes, set device attributes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logically attach or detach devices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6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26" name="Google Shape;326;p2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>
            <p:ph type="title"/>
          </p:nvPr>
        </p:nvSpPr>
        <p:spPr>
          <a:xfrm>
            <a:off x="381000" y="4572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Types of System Calls (Cont.)</a:t>
            </a:r>
            <a:endParaRPr sz="4000"/>
          </a:p>
        </p:txBody>
      </p:sp>
      <p:sp>
        <p:nvSpPr>
          <p:cNvPr id="332" name="Google Shape;332;p27"/>
          <p:cNvSpPr txBox="1"/>
          <p:nvPr>
            <p:ph idx="1" type="body"/>
          </p:nvPr>
        </p:nvSpPr>
        <p:spPr>
          <a:xfrm>
            <a:off x="457200" y="11430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Information maintenance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rgbClr val="7F7F7F"/>
              </a:buClr>
              <a:buSzPts val="2200"/>
              <a:buChar char="o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get time or date, set time or date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rgbClr val="7F7F7F"/>
              </a:buClr>
              <a:buSzPts val="2200"/>
              <a:buChar char="o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get system data, set system data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rgbClr val="7F7F7F"/>
              </a:buClr>
              <a:buSzPts val="2200"/>
              <a:buChar char="o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get and set process, file, or device attributes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Communications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rgbClr val="7F7F7F"/>
              </a:buClr>
              <a:buSzPts val="2200"/>
              <a:buChar char="o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create, delete communication connection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rgbClr val="7F7F7F"/>
              </a:buClr>
              <a:buSzPts val="2200"/>
              <a:buChar char="o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send, receive messages if </a:t>
            </a:r>
            <a:r>
              <a:rPr b="1" lang="en-US" sz="22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message passing model 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b="1" lang="en-US" sz="22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host name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US" sz="22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process name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1" lang="en-US" sz="22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 client 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1" lang="en-US" sz="22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 server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rgbClr val="3366FF"/>
              </a:buClr>
              <a:buSzPts val="2200"/>
              <a:buChar char="o"/>
            </a:pPr>
            <a:r>
              <a:rPr b="1" lang="en-US" sz="22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Shared-memory model 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create and gain access to memory regions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rgbClr val="7F7F7F"/>
              </a:buClr>
              <a:buSzPts val="2200"/>
              <a:buChar char="o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transfer status information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rgbClr val="7F7F7F"/>
              </a:buClr>
              <a:buSzPts val="2200"/>
              <a:buChar char="o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attach and detach remote devices</a:t>
            </a:r>
            <a:endParaRPr/>
          </a:p>
        </p:txBody>
      </p:sp>
      <p:sp>
        <p:nvSpPr>
          <p:cNvPr id="333" name="Google Shape;333;p27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34" name="Google Shape;334;p2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 txBox="1"/>
          <p:nvPr>
            <p:ph type="title"/>
          </p:nvPr>
        </p:nvSpPr>
        <p:spPr>
          <a:xfrm>
            <a:off x="457200" y="4572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Types of System Calls (Cont.)</a:t>
            </a:r>
            <a:endParaRPr sz="4000"/>
          </a:p>
        </p:txBody>
      </p:sp>
      <p:sp>
        <p:nvSpPr>
          <p:cNvPr id="340" name="Google Shape;340;p28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Protection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Control access to resources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Get and set permissions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Allow and deny user access</a:t>
            </a:r>
            <a:endParaRPr/>
          </a:p>
        </p:txBody>
      </p:sp>
      <p:sp>
        <p:nvSpPr>
          <p:cNvPr id="341" name="Google Shape;341;p28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42" name="Google Shape;342;p2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/>
          <p:nvPr>
            <p:ph type="title"/>
          </p:nvPr>
        </p:nvSpPr>
        <p:spPr>
          <a:xfrm>
            <a:off x="331787" y="4572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Standard C Library Example</a:t>
            </a:r>
            <a:endParaRPr sz="4000"/>
          </a:p>
        </p:txBody>
      </p:sp>
      <p:sp>
        <p:nvSpPr>
          <p:cNvPr id="348" name="Google Shape;348;p29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 program invoking printf() library call, which calls write() system call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9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50" name="Google Shape;350;p29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2-12-01 at 1.12.03 PM.png" id="351" name="Google Shape;3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2057400"/>
            <a:ext cx="4168775" cy="4214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381000" y="3810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Operating System Structure</a:t>
            </a:r>
            <a:endParaRPr sz="4000"/>
          </a:p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General-purpose OS is very large program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Various ways to structure ones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Simple structure – MS-DOS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More complex -- UNIX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Layered – an abstraction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o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Microkernel -Mach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0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59" name="Google Shape;359;p30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 txBox="1"/>
          <p:nvPr>
            <p:ph type="title"/>
          </p:nvPr>
        </p:nvSpPr>
        <p:spPr>
          <a:xfrm>
            <a:off x="446088" y="609600"/>
            <a:ext cx="82296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Simple Structure  -- MS-DOS</a:t>
            </a:r>
            <a:endParaRPr sz="4000"/>
          </a:p>
        </p:txBody>
      </p:sp>
      <p:sp>
        <p:nvSpPr>
          <p:cNvPr id="365" name="Google Shape;365;p31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66" name="Google Shape;366;p31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783704" y="1219200"/>
            <a:ext cx="3917949" cy="492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MS-DOS – written to provide the most functionality in the least space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Not divided into modules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MS-DOS operating system is split into various layers and each of the layers have different functionalities</a:t>
            </a:r>
            <a:endParaRPr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" id="368" name="Google Shape;36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400" y="2330451"/>
            <a:ext cx="3570288" cy="3433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Layered Approach</a:t>
            </a:r>
            <a:endParaRPr sz="4000"/>
          </a:p>
        </p:txBody>
      </p:sp>
      <p:sp>
        <p:nvSpPr>
          <p:cNvPr id="374" name="Google Shape;374;p32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75" name="Google Shape;375;p3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457200" y="1393825"/>
            <a:ext cx="4556125" cy="4778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The operating system is divided into a number of layers (levels), each built on top of lower layers.  The bottom layer (layer 0), is the hardware; the highest (layer N) is the user interface.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With modularity, layers are selected such that each uses functions (operations) and services of only lower-level layers</a:t>
            </a:r>
            <a:endParaRPr/>
          </a:p>
        </p:txBody>
      </p:sp>
      <p:pic>
        <p:nvPicPr>
          <p:cNvPr id="377" name="Google Shape;37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3325" y="1393825"/>
            <a:ext cx="362902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Layered Approach</a:t>
            </a:r>
            <a:endParaRPr sz="4000"/>
          </a:p>
        </p:txBody>
      </p:sp>
      <p:sp>
        <p:nvSpPr>
          <p:cNvPr id="383" name="Google Shape;38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84" name="Google Shape;384;p33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85" name="Google Shape;385;p3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ayered Operating System" id="386" name="Google Shape;3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413" y="2286000"/>
            <a:ext cx="7993062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"/>
          <p:cNvSpPr txBox="1"/>
          <p:nvPr>
            <p:ph type="title"/>
          </p:nvPr>
        </p:nvSpPr>
        <p:spPr>
          <a:xfrm>
            <a:off x="381000" y="6096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Non Simple Structure  -- UNIX</a:t>
            </a:r>
            <a:endParaRPr sz="4000"/>
          </a:p>
        </p:txBody>
      </p:sp>
      <p:sp>
        <p:nvSpPr>
          <p:cNvPr id="392" name="Google Shape;392;p34"/>
          <p:cNvSpPr txBox="1"/>
          <p:nvPr>
            <p:ph idx="1" type="body"/>
          </p:nvPr>
        </p:nvSpPr>
        <p:spPr>
          <a:xfrm>
            <a:off x="457200" y="1295400"/>
            <a:ext cx="82296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Unix is a multiuser, multitasking operating system that was developed by Bell Laboratories in 1969. 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 main components of the Unix operating system structure are the kernel layer, the shell layer and the application layer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4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394" name="Google Shape;394;p3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Traditional UNIX System Structure</a:t>
            </a:r>
            <a:endParaRPr sz="4000"/>
          </a:p>
        </p:txBody>
      </p:sp>
      <p:sp>
        <p:nvSpPr>
          <p:cNvPr id="400" name="Google Shape;400;p35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Beyond simple but not fully layered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5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02" name="Google Shape;402;p3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05000"/>
            <a:ext cx="6923088" cy="42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Non Simple Structure  -- UNIX</a:t>
            </a:r>
            <a:endParaRPr sz="4000"/>
          </a:p>
        </p:txBody>
      </p:sp>
      <p:sp>
        <p:nvSpPr>
          <p:cNvPr id="409" name="Google Shape;409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/>
              <a:t>Kernel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The kernel provides a bridge between the hardware and the user.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/>
              <a:t>Shell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The program between the user and the kernel is known as the shell. It translates the many commands that are typed into the terminal session.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/>
              <a:t>Applications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The applications and utility layer in Unix includes the word processors, graphics programs, database management programs, commands etc.</a:t>
            </a:r>
            <a:endParaRPr sz="2400"/>
          </a:p>
          <a:p>
            <a:pPr indent="-1905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10" name="Google Shape;410;p36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11" name="Google Shape;411;p3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7"/>
          <p:cNvSpPr txBox="1"/>
          <p:nvPr>
            <p:ph type="title"/>
          </p:nvPr>
        </p:nvSpPr>
        <p:spPr>
          <a:xfrm>
            <a:off x="457200" y="0"/>
            <a:ext cx="8001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Monolithic Structure</a:t>
            </a:r>
            <a:endParaRPr sz="4000"/>
          </a:p>
        </p:txBody>
      </p:sp>
      <p:sp>
        <p:nvSpPr>
          <p:cNvPr id="418" name="Google Shape;418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It is the oldest architecture of the operating system.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All the basic services of OS like process management, file management, memory management, exception handling, process communication etc. are all present inside the kernel only.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Linux is a good example of monolithic kernel.</a:t>
            </a:r>
            <a:endParaRPr/>
          </a:p>
          <a:p>
            <a:pPr indent="-1905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19" name="Google Shape;419;p37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20" name="Google Shape;420;p3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/>
          <p:cNvSpPr txBox="1"/>
          <p:nvPr>
            <p:ph type="title"/>
          </p:nvPr>
        </p:nvSpPr>
        <p:spPr>
          <a:xfrm>
            <a:off x="457200" y="228600"/>
            <a:ext cx="7848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Monolithic Structure Contd..</a:t>
            </a:r>
            <a:endParaRPr sz="4000"/>
          </a:p>
        </p:txBody>
      </p:sp>
      <p:sp>
        <p:nvSpPr>
          <p:cNvPr id="426" name="Google Shape;426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u="sng">
                <a:latin typeface="Arial"/>
                <a:ea typeface="Arial"/>
                <a:cs typeface="Arial"/>
                <a:sym typeface="Arial"/>
              </a:rPr>
              <a:t>Advantages of Monolithic Architecture: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Simple and easy to implement structure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Faster execution due to direct access to all the services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u="sng">
                <a:latin typeface="Arial"/>
                <a:ea typeface="Arial"/>
                <a:cs typeface="Arial"/>
                <a:sym typeface="Arial"/>
              </a:rPr>
              <a:t>Disadvantages of Monolithic Architecture: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Addition of new features or removal of obsolete features is very difficult.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Security issues are always there because there is no isolation among various servers’ present in the kernel.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8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28" name="Google Shape;428;p3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"/>
          <p:cNvSpPr txBox="1"/>
          <p:nvPr>
            <p:ph type="title"/>
          </p:nvPr>
        </p:nvSpPr>
        <p:spPr>
          <a:xfrm>
            <a:off x="381000" y="5334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Microkernel System Structure </a:t>
            </a:r>
            <a:endParaRPr sz="4000"/>
          </a:p>
        </p:txBody>
      </p:sp>
      <p:sp>
        <p:nvSpPr>
          <p:cNvPr id="434" name="Google Shape;434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 microkernel contains only the core functionalities of the system. All the other non-essential components are put in the user mode.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just"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Kernel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 is the core part of an operating system which manages system resources. It also acts like a bridge between application and hardware of the computer</a:t>
            </a:r>
            <a:endParaRPr/>
          </a:p>
          <a:p>
            <a:pPr indent="-342900" lvl="0" marL="342900" rtl="0" algn="just"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 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user services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 and 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kernel services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 are implemented in different address space. 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 minimum functionalities included in the microkernel are 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Clr>
                <a:srgbClr val="7F7F7F"/>
              </a:buClr>
              <a:buSzPct val="100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Memory management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Clr>
                <a:srgbClr val="7F7F7F"/>
              </a:buClr>
              <a:buSzPct val="100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Processor scheduling mechanisms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Clr>
                <a:srgbClr val="7F7F7F"/>
              </a:buClr>
              <a:buSzPct val="100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Inter-process communication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9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36" name="Google Shape;436;p39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0"/>
          <p:cNvSpPr txBox="1"/>
          <p:nvPr>
            <p:ph type="title"/>
          </p:nvPr>
        </p:nvSpPr>
        <p:spPr>
          <a:xfrm>
            <a:off x="381000" y="5334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Microkernel System Structure </a:t>
            </a:r>
            <a:endParaRPr sz="4000"/>
          </a:p>
        </p:txBody>
      </p:sp>
      <p:sp>
        <p:nvSpPr>
          <p:cNvPr id="442" name="Google Shape;442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43" name="Google Shape;443;p40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44" name="Google Shape;444;p40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2_14.pdf" id="445" name="Google Shape;44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676400"/>
            <a:ext cx="7427912" cy="3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1" name="Google Shape;451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Advantages of Microkernel –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 architecture of this kernel is small and isolated hence it can function better.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Expansion of the system is easier, it is simply added in the system application without disturbing the kernel.</a:t>
            </a:r>
            <a:endParaRPr/>
          </a:p>
          <a:p>
            <a:pPr indent="-190500" lvl="0" marL="342900" rtl="0" algn="just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1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53" name="Google Shape;453;p41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p41"/>
          <p:cNvSpPr txBox="1"/>
          <p:nvPr/>
        </p:nvSpPr>
        <p:spPr>
          <a:xfrm>
            <a:off x="415119" y="11430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Microkernel System Structure Contd..</a:t>
            </a:r>
            <a:endParaRPr sz="4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9" name="Google Shape;459;p42"/>
          <p:cNvGraphicFramePr/>
          <p:nvPr/>
        </p:nvGraphicFramePr>
        <p:xfrm>
          <a:off x="304800" y="3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{339EFD10-B3FE-4F02-B0D9-026B57AFD127}</a:tableStyleId>
              </a:tblPr>
              <a:tblGrid>
                <a:gridCol w="2794000"/>
                <a:gridCol w="2794000"/>
                <a:gridCol w="2794000"/>
              </a:tblGrid>
              <a:tr h="32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Basis for Comparison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Microkernel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Monolithic Kernel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93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Basic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 microkernel user services and kernel, services are kept in separate address space.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 monolithic kernel, both user services and kernel services are kept in the same address space. 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62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Size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Microkernel are smaller in size.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Monolithic kernel is larger than microkernel.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3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Execution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Slow execution.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Fast execution.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62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Extendible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The microkernel is easily extendible.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The monolithic kernel is hard to extend. 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93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Security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If a service crashes, it does effect on working of microkernel.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If a service crashes, the whole system crashes in monolithic kernel.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62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Code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To write a microkernel, more code is required.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To write a monolithic kernel, less code is required.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153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Example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QNX, Symbian, L4Linux, Singularity, K42, Mac OS X, Integrity, PikeOS, HURD, Minix, and Coyotos.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Linux, BSDs (FreeBSD, OpenBSD, NetBSD), Microsoft Windows (95,98,Me), Solaris, OS-9, AIX, HP-UX, DOS, OpenVMS, XTS-400 etc.</a:t>
                      </a:r>
                      <a:endParaRPr sz="16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  <p:sp>
        <p:nvSpPr>
          <p:cNvPr id="460" name="Google Shape;460;p42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61" name="Google Shape;461;p4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3"/>
          <p:cNvSpPr txBox="1"/>
          <p:nvPr>
            <p:ph type="title"/>
          </p:nvPr>
        </p:nvSpPr>
        <p:spPr>
          <a:xfrm>
            <a:off x="457200" y="0"/>
            <a:ext cx="8077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System Boot</a:t>
            </a:r>
            <a:endParaRPr sz="4000"/>
          </a:p>
        </p:txBody>
      </p:sp>
      <p:sp>
        <p:nvSpPr>
          <p:cNvPr id="467" name="Google Shape;467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When power initialized on system, execution starts at a fixed memory location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Firmware ROM used to hold initial boot code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Operating system must be made available to hardware so hardware can start it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Small piece of code – </a:t>
            </a:r>
            <a:r>
              <a:rPr b="1" lang="en-US" sz="2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bootstrap loader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stored in </a:t>
            </a:r>
            <a:r>
              <a:rPr b="1" lang="en-US" sz="2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ROM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US" sz="2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EEPROM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locates the kernel, loads it into memory, and starts it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Sometimes two-step process where </a:t>
            </a:r>
            <a:r>
              <a:rPr b="1" lang="en-US" sz="2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boot block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at fixed location loaded by ROM code, which loads bootstrap loader from disk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Common bootstrap loader, </a:t>
            </a:r>
            <a:r>
              <a:rPr b="1" lang="en-US" sz="2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GRUB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allows selection of kernel from multiple disks, versions, kernel options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Kernel loads and system is then </a:t>
            </a:r>
            <a:r>
              <a:rPr b="1" lang="en-US" sz="2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running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3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69" name="Google Shape;469;p4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4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Summary </a:t>
            </a:r>
            <a:endParaRPr sz="4000"/>
          </a:p>
        </p:txBody>
      </p:sp>
      <p:sp>
        <p:nvSpPr>
          <p:cNvPr id="475" name="Google Shape;475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OS services programs simultaneously by allocating some of the resources to each program and interleaving their execution on the CPU</a:t>
            </a:r>
            <a:endParaRPr/>
          </a:p>
          <a:p>
            <a:pPr indent="-285750" lvl="1" marL="74295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Requirements to ensure effectiveness of computing:</a:t>
            </a:r>
            <a:endParaRPr/>
          </a:p>
          <a:p>
            <a:pPr indent="-228600" lvl="2" marL="114300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Efficient use</a:t>
            </a:r>
            <a:endParaRPr/>
          </a:p>
          <a:p>
            <a:pPr indent="-228600" lvl="2" marL="114300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User convenience</a:t>
            </a:r>
            <a:endParaRPr/>
          </a:p>
          <a:p>
            <a:pPr indent="-228600" lvl="2" marL="114300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Non-interference</a:t>
            </a:r>
            <a:endParaRPr/>
          </a:p>
          <a:p>
            <a:pPr indent="-285750" lvl="1" marL="74295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Primary functions</a:t>
            </a:r>
            <a:endParaRPr/>
          </a:p>
          <a:p>
            <a:pPr indent="-228600" lvl="2" marL="114300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Management of programs</a:t>
            </a:r>
            <a:endParaRPr/>
          </a:p>
          <a:p>
            <a:pPr indent="-228600" lvl="2" marL="114300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Management of resources</a:t>
            </a:r>
            <a:endParaRPr/>
          </a:p>
          <a:p>
            <a:pPr indent="-228600" lvl="2" marL="114300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Security and protection</a:t>
            </a:r>
            <a:endParaRPr/>
          </a:p>
          <a:p>
            <a:pPr indent="-285750" lvl="1" marL="74295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Different Structures</a:t>
            </a:r>
            <a:endParaRPr/>
          </a:p>
          <a:p>
            <a:pPr indent="-228600" lvl="2" marL="114300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Simple</a:t>
            </a:r>
            <a:endParaRPr/>
          </a:p>
          <a:p>
            <a:pPr indent="-228600" lvl="2" marL="114300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Layered</a:t>
            </a:r>
            <a:endParaRPr/>
          </a:p>
          <a:p>
            <a:pPr indent="-228600" lvl="2" marL="114300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Monolithic</a:t>
            </a:r>
            <a:endParaRPr/>
          </a:p>
          <a:p>
            <a:pPr indent="-228600" lvl="2" marL="1143000" rtl="0" algn="l"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Microkernel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4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77" name="Google Shape;477;p4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5"/>
          <p:cNvSpPr txBox="1"/>
          <p:nvPr>
            <p:ph type="title"/>
          </p:nvPr>
        </p:nvSpPr>
        <p:spPr>
          <a:xfrm>
            <a:off x="533400" y="762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/>
              <a:t>References: </a:t>
            </a:r>
            <a:br>
              <a:rPr lang="en-US" sz="4000"/>
            </a:br>
            <a:endParaRPr sz="4000"/>
          </a:p>
        </p:txBody>
      </p:sp>
      <p:sp>
        <p:nvSpPr>
          <p:cNvPr id="483" name="Google Shape;483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Abraham Silberschatz, Greg Gagne, and Peter Baer Galvin, "Operating System Concepts, Ninth Edition “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Operating Systems, by Dhananjay Dhamdhere</a:t>
            </a:r>
            <a:endParaRPr/>
          </a:p>
        </p:txBody>
      </p:sp>
      <p:sp>
        <p:nvSpPr>
          <p:cNvPr id="484" name="Google Shape;484;p45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85" name="Google Shape;485;p4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6"/>
          <p:cNvSpPr txBox="1"/>
          <p:nvPr>
            <p:ph type="title"/>
          </p:nvPr>
        </p:nvSpPr>
        <p:spPr>
          <a:xfrm>
            <a:off x="533400" y="2895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rPr lang="en-US"/>
              <a:t>Thank you </a:t>
            </a:r>
            <a:endParaRPr/>
          </a:p>
        </p:txBody>
      </p:sp>
      <p:sp>
        <p:nvSpPr>
          <p:cNvPr id="491" name="Google Shape;491;p46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17EECC304_OS&amp;ESD</a:t>
            </a:r>
            <a:endParaRPr/>
          </a:p>
        </p:txBody>
      </p:sp>
      <p:sp>
        <p:nvSpPr>
          <p:cNvPr id="492" name="Google Shape;492;p4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xecutive">
  <a:themeElements>
    <a:clrScheme name="Executive">
      <a:dk1>
        <a:srgbClr val="000000"/>
      </a:dk1>
      <a:lt1>
        <a:srgbClr val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RSH</dc:creator>
</cp:coreProperties>
</file>