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2"/>
  </p:notesMasterIdLst>
  <p:sldIdLst>
    <p:sldId id="256" r:id="rId2"/>
    <p:sldId id="381" r:id="rId3"/>
    <p:sldId id="382" r:id="rId4"/>
    <p:sldId id="371" r:id="rId5"/>
    <p:sldId id="372" r:id="rId6"/>
    <p:sldId id="384" r:id="rId7"/>
    <p:sldId id="383" r:id="rId8"/>
    <p:sldId id="362" r:id="rId9"/>
    <p:sldId id="385" r:id="rId10"/>
    <p:sldId id="337" r:id="rId11"/>
    <p:sldId id="386" r:id="rId12"/>
    <p:sldId id="306" r:id="rId13"/>
    <p:sldId id="307" r:id="rId14"/>
    <p:sldId id="308" r:id="rId15"/>
    <p:sldId id="309" r:id="rId16"/>
    <p:sldId id="310" r:id="rId17"/>
    <p:sldId id="311" r:id="rId18"/>
    <p:sldId id="313" r:id="rId19"/>
    <p:sldId id="314" r:id="rId20"/>
    <p:sldId id="315" r:id="rId21"/>
    <p:sldId id="316" r:id="rId22"/>
    <p:sldId id="317" r:id="rId23"/>
    <p:sldId id="318" r:id="rId24"/>
    <p:sldId id="319" r:id="rId25"/>
    <p:sldId id="338" r:id="rId26"/>
    <p:sldId id="340" r:id="rId27"/>
    <p:sldId id="341" r:id="rId28"/>
    <p:sldId id="342" r:id="rId29"/>
    <p:sldId id="343" r:id="rId30"/>
    <p:sldId id="344" r:id="rId31"/>
    <p:sldId id="258" r:id="rId32"/>
    <p:sldId id="267" r:id="rId33"/>
    <p:sldId id="270" r:id="rId34"/>
    <p:sldId id="271" r:id="rId35"/>
    <p:sldId id="272" r:id="rId36"/>
    <p:sldId id="273" r:id="rId37"/>
    <p:sldId id="373" r:id="rId38"/>
    <p:sldId id="374" r:id="rId39"/>
    <p:sldId id="274" r:id="rId40"/>
    <p:sldId id="387" r:id="rId41"/>
    <p:sldId id="388" r:id="rId42"/>
    <p:sldId id="389" r:id="rId43"/>
    <p:sldId id="390" r:id="rId44"/>
    <p:sldId id="391" r:id="rId45"/>
    <p:sldId id="392" r:id="rId46"/>
    <p:sldId id="393" r:id="rId47"/>
    <p:sldId id="395" r:id="rId48"/>
    <p:sldId id="394" r:id="rId49"/>
    <p:sldId id="278" r:id="rId50"/>
    <p:sldId id="279" r:id="rId51"/>
    <p:sldId id="375" r:id="rId52"/>
    <p:sldId id="280" r:id="rId53"/>
    <p:sldId id="376" r:id="rId54"/>
    <p:sldId id="281" r:id="rId55"/>
    <p:sldId id="282" r:id="rId56"/>
    <p:sldId id="283" r:id="rId57"/>
    <p:sldId id="284" r:id="rId58"/>
    <p:sldId id="286" r:id="rId59"/>
    <p:sldId id="287" r:id="rId60"/>
    <p:sldId id="288" r:id="rId61"/>
    <p:sldId id="290" r:id="rId62"/>
    <p:sldId id="291" r:id="rId63"/>
    <p:sldId id="377" r:id="rId64"/>
    <p:sldId id="292" r:id="rId65"/>
    <p:sldId id="378" r:id="rId66"/>
    <p:sldId id="346" r:id="rId67"/>
    <p:sldId id="347" r:id="rId68"/>
    <p:sldId id="350" r:id="rId69"/>
    <p:sldId id="379" r:id="rId70"/>
    <p:sldId id="380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 autoAdjust="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6497B-A357-41BF-B379-417529622FC0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8F76-6B0C-443B-8ADE-4FC0F35BB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96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2E912-EB84-4EEE-8D6C-05021737BDB9}" type="datetime1">
              <a:rPr lang="en-IN" smtClean="0"/>
              <a:t>21-08-2021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270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0BBC-9D65-4231-B977-AE4FC5CE3F18}" type="datetime1">
              <a:rPr lang="en-IN" smtClean="0"/>
              <a:t>21-08-2021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994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019B2-7019-4B7E-98C4-7B131B53A7E9}" type="datetime1">
              <a:rPr lang="en-IN" smtClean="0"/>
              <a:t>21-08-2021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467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83EDD-285A-4EB3-A03F-C5E5E79EE093}" type="datetime1">
              <a:rPr lang="en-IN" smtClean="0"/>
              <a:t>21-08-2021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784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7FE7-8D9C-4690-88A9-94E2A530E42D}" type="datetime1">
              <a:rPr lang="en-IN" smtClean="0"/>
              <a:t>21-08-2021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35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B2C5-E758-40CA-B6E6-A17C00444526}" type="datetime1">
              <a:rPr lang="en-IN" smtClean="0"/>
              <a:t>21-08-2021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534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4911-1D80-41C3-A1F5-0C061B82F71B}" type="datetime1">
              <a:rPr lang="en-IN" smtClean="0"/>
              <a:t>21-08-2021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283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166A7-0A67-456C-B3C6-36410BEBBC56}" type="datetime1">
              <a:rPr lang="en-IN" smtClean="0"/>
              <a:t>21-08-2021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24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CB18B-3A50-441C-BBB4-B0AA73FBEAFD}" type="datetime1">
              <a:rPr lang="en-IN" smtClean="0"/>
              <a:t>21-08-2021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452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D46BB-5D5F-462D-BED7-003B9A91C226}" type="datetime1">
              <a:rPr lang="en-IN" smtClean="0"/>
              <a:t>21-08-2021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041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A74A-3CAF-47E4-B616-3B5040AC0620}" type="datetime1">
              <a:rPr lang="en-IN" smtClean="0"/>
              <a:t>21-08-2021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725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b="5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316C7-D5A2-428C-84F6-EA6EE5DA8241}" type="datetime1">
              <a:rPr lang="en-IN" smtClean="0"/>
              <a:t>21-08-2021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C14E2-E17C-4B0B-B980-F5F159A5E0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151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Introduction To</a:t>
            </a:r>
            <a:br>
              <a:rPr lang="en-US" b="1" dirty="0" smtClean="0"/>
            </a:br>
            <a:r>
              <a:rPr lang="en-US" b="1" dirty="0" smtClean="0"/>
              <a:t>Real-Time Operating Systems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666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Why Real-Time Operating </a:t>
            </a:r>
            <a:r>
              <a:rPr lang="en-US" dirty="0" smtClean="0"/>
              <a:t>System?</a:t>
            </a:r>
            <a:endParaRPr lang="en-US" dirty="0" smtClean="0"/>
          </a:p>
          <a:p>
            <a:r>
              <a:rPr lang="en-US" dirty="0" smtClean="0"/>
              <a:t>Introduction </a:t>
            </a:r>
            <a:r>
              <a:rPr lang="en-US" dirty="0" smtClean="0"/>
              <a:t>to Real-Time Operating System</a:t>
            </a:r>
          </a:p>
          <a:p>
            <a:r>
              <a:rPr lang="en-US" dirty="0" smtClean="0"/>
              <a:t>Types of </a:t>
            </a:r>
            <a:r>
              <a:rPr lang="en-US" dirty="0"/>
              <a:t>Real-Time Operating </a:t>
            </a:r>
            <a:r>
              <a:rPr lang="en-US" dirty="0" smtClean="0"/>
              <a:t>System</a:t>
            </a:r>
          </a:p>
          <a:p>
            <a:r>
              <a:rPr lang="en-US" dirty="0" smtClean="0"/>
              <a:t>Characteristics of </a:t>
            </a:r>
            <a:r>
              <a:rPr lang="en-US" dirty="0"/>
              <a:t>Real-Time Operating </a:t>
            </a:r>
            <a:r>
              <a:rPr lang="en-US" dirty="0" smtClean="0"/>
              <a:t>System</a:t>
            </a:r>
          </a:p>
          <a:p>
            <a:r>
              <a:rPr lang="en-US" dirty="0" err="1" smtClean="0"/>
              <a:t>Differnces</a:t>
            </a:r>
            <a:r>
              <a:rPr lang="en-US" dirty="0" smtClean="0"/>
              <a:t> B/W RTOS </a:t>
            </a:r>
            <a:r>
              <a:rPr lang="en-US" dirty="0" err="1" smtClean="0"/>
              <a:t>vs</a:t>
            </a:r>
            <a:r>
              <a:rPr lang="en-US" dirty="0" smtClean="0"/>
              <a:t> GPOS</a:t>
            </a:r>
            <a:endParaRPr lang="en-US" dirty="0" smtClean="0"/>
          </a:p>
          <a:p>
            <a:r>
              <a:rPr lang="en-US" dirty="0"/>
              <a:t>Real-Time Operating </a:t>
            </a:r>
            <a:r>
              <a:rPr lang="en-US" dirty="0" smtClean="0"/>
              <a:t>System Structure</a:t>
            </a:r>
          </a:p>
          <a:p>
            <a:r>
              <a:rPr lang="en-US" dirty="0" smtClean="0"/>
              <a:t>Kernel of </a:t>
            </a:r>
            <a:r>
              <a:rPr lang="en-US" dirty="0"/>
              <a:t>Real-Time Operating </a:t>
            </a:r>
            <a:r>
              <a:rPr lang="en-US" dirty="0" smtClean="0"/>
              <a:t>System</a:t>
            </a:r>
          </a:p>
          <a:p>
            <a:r>
              <a:rPr lang="en-US" dirty="0" smtClean="0"/>
              <a:t>Scheduling in </a:t>
            </a:r>
            <a:r>
              <a:rPr lang="en-US" dirty="0"/>
              <a:t>Real-Time Operating System</a:t>
            </a:r>
            <a:endParaRPr lang="en-US" dirty="0" smtClean="0"/>
          </a:p>
          <a:p>
            <a:r>
              <a:rPr lang="en-US" dirty="0" smtClean="0"/>
              <a:t> Kernel Objects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1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Why RTOS?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Concurrency</a:t>
            </a:r>
          </a:p>
          <a:p>
            <a:r>
              <a:rPr lang="en-US" dirty="0" smtClean="0"/>
              <a:t>Pre-emption</a:t>
            </a:r>
          </a:p>
          <a:p>
            <a:r>
              <a:rPr lang="en-US" dirty="0" smtClean="0"/>
              <a:t>Synchronization Tools</a:t>
            </a:r>
          </a:p>
          <a:p>
            <a:r>
              <a:rPr lang="en-US" dirty="0" smtClean="0"/>
              <a:t>Third Party Software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16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Introduction to Real- Time Operating System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A real-time operating system (RTOS) is an operating system with two key features: predictability and determinism</a:t>
            </a:r>
            <a:r>
              <a:rPr lang="en-US" sz="2400" dirty="0" smtClean="0"/>
              <a:t>.</a:t>
            </a:r>
          </a:p>
          <a:p>
            <a:pPr algn="just"/>
            <a:r>
              <a:rPr lang="en-US" sz="2400" dirty="0"/>
              <a:t>In an RTOS, repeated tasks are performed within a tight time </a:t>
            </a:r>
            <a:r>
              <a:rPr lang="en-US" sz="2400" dirty="0" smtClean="0"/>
              <a:t>boundary</a:t>
            </a:r>
          </a:p>
          <a:p>
            <a:pPr algn="just"/>
            <a:r>
              <a:rPr lang="en-US" sz="2400" dirty="0"/>
              <a:t>Predictability and determinism, in this case, go hand in hand: We know how long a task will take, and that it will always produce the same result.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709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Types of RTOS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AutoShape 2" descr="Role of RTOS in Autonomous Vehicles | by Tejasvishiv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833" y="1664273"/>
            <a:ext cx="6954613" cy="3994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465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 smtClean="0"/>
              <a:t>Hard RTOS </a:t>
            </a:r>
          </a:p>
          <a:p>
            <a:r>
              <a:rPr lang="en-US" sz="2400" dirty="0" smtClean="0"/>
              <a:t>The RTOS can meet timing deadlines deterministically. </a:t>
            </a:r>
          </a:p>
          <a:p>
            <a:r>
              <a:rPr lang="en-US" sz="2400" dirty="0" smtClean="0"/>
              <a:t>The pre-emption period for a hard RTOS is usually less than a few microseconds</a:t>
            </a:r>
          </a:p>
          <a:p>
            <a:r>
              <a:rPr lang="en-US" sz="2400" dirty="0" smtClean="0"/>
              <a:t>A Hard RTOS is generally preferable for use cases involving mission critical applications such as those found in robotics and drones. </a:t>
            </a:r>
          </a:p>
          <a:p>
            <a:r>
              <a:rPr lang="en-US" sz="2400" dirty="0"/>
              <a:t>Example: Medical critical care systems, Aircraft systems, etc.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31583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Soft RTOS</a:t>
            </a:r>
          </a:p>
          <a:p>
            <a:r>
              <a:rPr lang="en-US" sz="2400" dirty="0"/>
              <a:t>T</a:t>
            </a:r>
            <a:r>
              <a:rPr lang="en-US" sz="2400" dirty="0" smtClean="0"/>
              <a:t>he </a:t>
            </a:r>
            <a:r>
              <a:rPr lang="en-US" sz="2400" dirty="0"/>
              <a:t>response time of the system is prime but not critical to the operation of the system.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has a deadline specified but the system can accept a short amount of </a:t>
            </a:r>
            <a:r>
              <a:rPr lang="en-US" sz="2400" dirty="0" smtClean="0"/>
              <a:t>delay</a:t>
            </a:r>
          </a:p>
          <a:p>
            <a:r>
              <a:rPr lang="en-US" sz="2400" dirty="0"/>
              <a:t>Example: Online transaction system, Price quotation system, etc.</a:t>
            </a:r>
            <a:endParaRPr lang="en-US" sz="2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732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Firm RTOS</a:t>
            </a:r>
          </a:p>
          <a:p>
            <a:r>
              <a:rPr lang="en-US" sz="2400" dirty="0"/>
              <a:t>The RTOS has certain time constraints, which are not strict and may cause </a:t>
            </a:r>
            <a:r>
              <a:rPr lang="en-US" sz="2400" dirty="0" smtClean="0"/>
              <a:t>undesired </a:t>
            </a:r>
            <a:r>
              <a:rPr lang="en-US" sz="2400" dirty="0"/>
              <a:t>yet acceptable effects</a:t>
            </a:r>
            <a:r>
              <a:rPr lang="en-US" sz="2400" dirty="0" smtClean="0"/>
              <a:t>.</a:t>
            </a:r>
          </a:p>
          <a:p>
            <a:r>
              <a:rPr lang="en-US" sz="2400" i="1" dirty="0"/>
              <a:t>Example</a:t>
            </a:r>
            <a:r>
              <a:rPr lang="en-US" sz="2400" dirty="0"/>
              <a:t>: Multimedia applications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8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Efficiency Curves for RTOS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6" name="AutoShape 2" descr="RTOS (Real Time Operating System) - Types, Kernel, How it Works, Us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598" y="2382593"/>
            <a:ext cx="10521449" cy="2352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4285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259" y="738613"/>
            <a:ext cx="10515600" cy="60923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Key Characteristics of an RTOS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654" y="1448768"/>
            <a:ext cx="10515600" cy="5217593"/>
          </a:xfrm>
        </p:spPr>
        <p:txBody>
          <a:bodyPr/>
          <a:lstStyle/>
          <a:p>
            <a:r>
              <a:rPr lang="en-US" dirty="0" smtClean="0"/>
              <a:t>Reliability,</a:t>
            </a:r>
          </a:p>
          <a:p>
            <a:r>
              <a:rPr lang="en-US" dirty="0" smtClean="0"/>
              <a:t>Predictability,</a:t>
            </a:r>
          </a:p>
          <a:p>
            <a:r>
              <a:rPr lang="en-US" dirty="0" smtClean="0"/>
              <a:t>Performance,</a:t>
            </a:r>
          </a:p>
          <a:p>
            <a:r>
              <a:rPr lang="en-US" dirty="0" smtClean="0"/>
              <a:t>Compactness, and</a:t>
            </a:r>
          </a:p>
          <a:p>
            <a:r>
              <a:rPr lang="en-US" dirty="0" smtClean="0"/>
              <a:t>Scalability.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6" name="AutoShape 2" descr="Types of Reliability - Research Methods Knowledge Bas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3798" y="1476329"/>
            <a:ext cx="2819400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 descr="Why Predictability Is Important for Marketers | ON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0781" y="1294214"/>
            <a:ext cx="2762250" cy="165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 descr="Radial Gauge Scale With Labels Slow, Moderate And Fast. Speed Or Performance  Indicator. Speed Tachometer. Vector Stock Vector - Illustration of good,  excellent: 15643186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073" y="324708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Comaprision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 smtClean="0"/>
              <a:t>GPOS	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A GPOS is</a:t>
            </a:r>
            <a:r>
              <a:rPr lang="en-US" dirty="0"/>
              <a:t> used for systems/applications that are not time critical.  </a:t>
            </a:r>
            <a:r>
              <a:rPr lang="en-US" b="1" dirty="0"/>
              <a:t>Example:-</a:t>
            </a:r>
            <a:r>
              <a:rPr lang="en-US" dirty="0"/>
              <a:t> </a:t>
            </a:r>
            <a:r>
              <a:rPr lang="en-US" dirty="0" smtClean="0"/>
              <a:t>Windows</a:t>
            </a:r>
            <a:r>
              <a:rPr lang="en-US" dirty="0"/>
              <a:t>, Linux, Unix etc</a:t>
            </a:r>
            <a:r>
              <a:rPr lang="en-US" dirty="0" smtClean="0"/>
              <a:t>.</a:t>
            </a:r>
          </a:p>
          <a:p>
            <a:r>
              <a:rPr lang="en-US" dirty="0"/>
              <a:t>GPOS kernel is not </a:t>
            </a:r>
            <a:r>
              <a:rPr lang="en-US" dirty="0" err="1"/>
              <a:t>preemptible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Response is deterministic, </a:t>
            </a:r>
            <a:r>
              <a:rPr lang="en-US" dirty="0" err="1" smtClean="0"/>
              <a:t>i.e</a:t>
            </a:r>
            <a:r>
              <a:rPr lang="en-US" dirty="0" smtClean="0"/>
              <a:t> time bound</a:t>
            </a:r>
          </a:p>
          <a:p>
            <a:r>
              <a:rPr lang="en-US" dirty="0" smtClean="0"/>
              <a:t>GPOS is large in size </a:t>
            </a:r>
          </a:p>
          <a:p>
            <a:r>
              <a:rPr lang="en-US" dirty="0"/>
              <a:t>A GPOS is made for high end, general purpose systems like a personal computer, a work station, a server system etc.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 smtClean="0"/>
              <a:t>RTOS	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An RTOS is</a:t>
            </a:r>
            <a:r>
              <a:rPr lang="en-US" dirty="0"/>
              <a:t> used for time critical systems.</a:t>
            </a:r>
            <a:r>
              <a:rPr lang="en-US" b="1" dirty="0"/>
              <a:t> Example:-</a:t>
            </a:r>
            <a:r>
              <a:rPr lang="en-US" dirty="0"/>
              <a:t> </a:t>
            </a:r>
            <a:r>
              <a:rPr lang="en-US" dirty="0" err="1"/>
              <a:t>VxWorks</a:t>
            </a:r>
            <a:r>
              <a:rPr lang="en-US" dirty="0"/>
              <a:t>, </a:t>
            </a:r>
            <a:r>
              <a:rPr lang="en-US" dirty="0" err="1"/>
              <a:t>uCos</a:t>
            </a:r>
            <a:r>
              <a:rPr lang="en-US" dirty="0"/>
              <a:t>  etc</a:t>
            </a:r>
            <a:r>
              <a:rPr lang="en-US" dirty="0" smtClean="0"/>
              <a:t>.</a:t>
            </a:r>
          </a:p>
          <a:p>
            <a:r>
              <a:rPr lang="en-US" dirty="0"/>
              <a:t>The kernel of an RTOS is </a:t>
            </a:r>
            <a:r>
              <a:rPr lang="en-US" dirty="0" err="1" smtClean="0"/>
              <a:t>preemptible</a:t>
            </a:r>
            <a:endParaRPr lang="en-US" dirty="0" smtClean="0"/>
          </a:p>
          <a:p>
            <a:r>
              <a:rPr lang="en-US" dirty="0" smtClean="0"/>
              <a:t>Response time is in-deterministic </a:t>
            </a:r>
            <a:r>
              <a:rPr lang="en-US" dirty="0" err="1" smtClean="0"/>
              <a:t>i.e</a:t>
            </a:r>
            <a:r>
              <a:rPr lang="en-US" dirty="0" smtClean="0"/>
              <a:t> not guaranteed</a:t>
            </a:r>
          </a:p>
          <a:p>
            <a:r>
              <a:rPr lang="en-US" dirty="0"/>
              <a:t>RTOS is light weight and small in </a:t>
            </a:r>
            <a:r>
              <a:rPr lang="en-US" dirty="0" smtClean="0"/>
              <a:t>size</a:t>
            </a:r>
          </a:p>
          <a:p>
            <a:r>
              <a:rPr lang="en-US" dirty="0"/>
              <a:t>An RTOS is usually designed for a low end, stand alone device like an ATM, Vending machines, Kiosks etc.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4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2374" y="1225523"/>
            <a:ext cx="4899039" cy="5011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Structure of RTOS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12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017" y="969293"/>
            <a:ext cx="10515600" cy="57872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 smtClean="0"/>
              <a:t>Kernel Components:</a:t>
            </a:r>
          </a:p>
          <a:p>
            <a:pPr algn="just"/>
            <a:r>
              <a:rPr lang="en-US" sz="2400" b="1" dirty="0" smtClean="0"/>
              <a:t>Scheduler- </a:t>
            </a:r>
            <a:r>
              <a:rPr lang="en-US" sz="2400" dirty="0" smtClean="0"/>
              <a:t>is contained within each kernel and follows a set of algorithms that determines which task</a:t>
            </a:r>
            <a:r>
              <a:rPr lang="en-US" sz="2400" b="1" dirty="0" smtClean="0"/>
              <a:t> </a:t>
            </a:r>
            <a:r>
              <a:rPr lang="en-US" sz="2400" dirty="0" smtClean="0"/>
              <a:t>executes when. Some common examples of scheduling algorithms include round-robin and preemptive scheduling.</a:t>
            </a:r>
          </a:p>
          <a:p>
            <a:pPr algn="just"/>
            <a:r>
              <a:rPr lang="en-US" sz="2400" b="1" dirty="0" smtClean="0"/>
              <a:t>Objects</a:t>
            </a:r>
            <a:r>
              <a:rPr lang="en-US" sz="2400" dirty="0" smtClean="0"/>
              <a:t>-are special kernel constructs that help developers create applications for real-time embedded systems. Common kernel objects include tasks, semaphores, and message queues.</a:t>
            </a:r>
          </a:p>
          <a:p>
            <a:pPr algn="just"/>
            <a:r>
              <a:rPr lang="en-US" sz="2400" b="1" dirty="0" smtClean="0"/>
              <a:t>Services</a:t>
            </a:r>
            <a:r>
              <a:rPr lang="en-US" sz="2400" dirty="0" smtClean="0"/>
              <a:t>-are operations that the kernel performs on an object or, generally operations such as timing, interrupt handling, and resource management.</a:t>
            </a:r>
            <a:endParaRPr lang="en-US" sz="2400" b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13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3298" y="296584"/>
            <a:ext cx="5937405" cy="530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049311" y="5591332"/>
            <a:ext cx="96086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Common components in an RTOS kernel that including objects, the scheduler, and some services.</a:t>
            </a:r>
            <a:endParaRPr lang="en-US" b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14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230" y="215224"/>
            <a:ext cx="10515600" cy="57925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The Scheduler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09469"/>
            <a:ext cx="10515600" cy="5367494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scheduler is at the heart of every kernel. A scheduler provides the algorithms needed to determine which task executes when.</a:t>
            </a:r>
          </a:p>
          <a:p>
            <a:r>
              <a:rPr lang="en-US" sz="2400" dirty="0" smtClean="0"/>
              <a:t>schedulable entities,</a:t>
            </a:r>
          </a:p>
          <a:p>
            <a:r>
              <a:rPr lang="en-US" sz="2400" dirty="0" smtClean="0"/>
              <a:t>multitasking,</a:t>
            </a:r>
          </a:p>
          <a:p>
            <a:r>
              <a:rPr lang="en-US" sz="2400" dirty="0" smtClean="0"/>
              <a:t>context switching,</a:t>
            </a:r>
          </a:p>
          <a:p>
            <a:r>
              <a:rPr lang="en-US" sz="2400" dirty="0" smtClean="0"/>
              <a:t>dispatcher, and</a:t>
            </a:r>
          </a:p>
          <a:p>
            <a:r>
              <a:rPr lang="en-US" sz="2400" dirty="0" smtClean="0"/>
              <a:t>scheduling algorithms.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15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923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Schedulable Entities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9311"/>
            <a:ext cx="10515600" cy="5127652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A schedulable entity is a kernel object that can compete for execution time on a system, based on a predefined scheduling algorithm. </a:t>
            </a:r>
          </a:p>
          <a:p>
            <a:pPr algn="just"/>
            <a:r>
              <a:rPr lang="en-US" sz="2400" dirty="0" smtClean="0"/>
              <a:t>Tasks and processes are all examples of schedulable entities found in most kernel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16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4167"/>
          </a:xfrm>
        </p:spPr>
        <p:txBody>
          <a:bodyPr/>
          <a:lstStyle/>
          <a:p>
            <a:pPr algn="ctr"/>
            <a:r>
              <a:rPr lang="en-US" b="1" dirty="0" smtClean="0"/>
              <a:t>Multitasking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4243"/>
            <a:ext cx="10515600" cy="502272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Multitasking is the ability of the operating system to handle multiple activities within set deadlines. A real-time kernel might have multiple tasks that it has to schedule to run.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17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64302"/>
          </a:xfrm>
        </p:spPr>
        <p:txBody>
          <a:bodyPr/>
          <a:lstStyle/>
          <a:p>
            <a:pPr algn="ctr"/>
            <a:r>
              <a:rPr lang="en-US" b="1" dirty="0" smtClean="0"/>
              <a:t>The Context Switch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955" y="1134255"/>
            <a:ext cx="4482838" cy="5123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885633" y="6488668"/>
            <a:ext cx="35252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Multitasking using a context switch.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191592" y="1045006"/>
            <a:ext cx="636582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 smtClean="0"/>
              <a:t>Each task has its own context, which is the state of the CPU registers required each time it is scheduled to run.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 smtClean="0"/>
              <a:t>A context switch occurs when the scheduler switches from one task to another</a:t>
            </a:r>
            <a:r>
              <a:rPr lang="en-US" sz="2000" dirty="0"/>
              <a:t>. </a:t>
            </a:r>
            <a:endParaRPr lang="en-US" sz="2000" dirty="0" smtClean="0"/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 smtClean="0"/>
              <a:t>The </a:t>
            </a:r>
            <a:r>
              <a:rPr lang="en-US" sz="2000" dirty="0"/>
              <a:t>time it takes for the scheduler to switch from one task to another is the context switch time</a:t>
            </a:r>
          </a:p>
          <a:p>
            <a:pPr algn="just"/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5191592" y="3049604"/>
            <a:ext cx="6096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 smtClean="0"/>
              <a:t>Every time a new task is created, the kernel also creates and maintains an associated task control block (TCB).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 smtClean="0"/>
              <a:t>TCBs are system data structures that the kernel uses to maintain task-specific information.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18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220" y="245204"/>
            <a:ext cx="10515600" cy="699177"/>
          </a:xfrm>
        </p:spPr>
        <p:txBody>
          <a:bodyPr/>
          <a:lstStyle/>
          <a:p>
            <a:pPr algn="ctr"/>
            <a:r>
              <a:rPr lang="en-US" b="1" dirty="0" smtClean="0"/>
              <a:t>The Dispatcher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9331"/>
            <a:ext cx="10515600" cy="5157632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The dispatcher is the part of the scheduler that performs context switching and changes the flow of execution. </a:t>
            </a:r>
          </a:p>
          <a:p>
            <a:pPr algn="just"/>
            <a:r>
              <a:rPr lang="en-US" sz="2400" dirty="0" smtClean="0"/>
              <a:t>It is the scheduling algorithms of the scheduler that determines which task executes next. </a:t>
            </a:r>
          </a:p>
          <a:p>
            <a:pPr algn="just"/>
            <a:r>
              <a:rPr lang="en-US" sz="2400" dirty="0" smtClean="0"/>
              <a:t>It is the dispatcher that does the actual work of context switching and passing execution control.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19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530" y="352246"/>
            <a:ext cx="10515600" cy="71416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Times New Roman"/>
              </a:rPr>
              <a:t>Scheduling Algorithms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23"/>
            <a:ext cx="10515600" cy="49927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T</a:t>
            </a:r>
            <a:r>
              <a:rPr lang="en-US" sz="2400" dirty="0" smtClean="0"/>
              <a:t>wo common scheduling algorithms</a:t>
            </a:r>
          </a:p>
          <a:p>
            <a:pPr marL="514350" indent="-514350">
              <a:buAutoNum type="arabicPeriod"/>
            </a:pPr>
            <a:r>
              <a:rPr lang="en-US" sz="2400" dirty="0" smtClean="0"/>
              <a:t>Preemptive priority-based scheduling</a:t>
            </a:r>
          </a:p>
          <a:p>
            <a:pPr marL="514350" indent="-514350">
              <a:buAutoNum type="arabicPeriod"/>
            </a:pPr>
            <a:r>
              <a:rPr lang="en-US" sz="2400" dirty="0" smtClean="0"/>
              <a:t>Round-Robin scheduling.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20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684" y="1059656"/>
            <a:ext cx="10515600" cy="56962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Preemptive Priority-Based Scheduling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6998" y="2595928"/>
            <a:ext cx="5920057" cy="2300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6761550" y="3173341"/>
            <a:ext cx="519658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sz="2400" dirty="0" smtClean="0"/>
              <a:t>Real-time kernels generally support 256 priority levels, in which 0 is the highest and 255 the lowest.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2400" dirty="0" smtClean="0"/>
              <a:t>Some kernels appoint the priorities in reverse order, where 255 is the highest and 0 the lowest</a:t>
            </a:r>
            <a:endParaRPr lang="en-US" sz="2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21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563" y="1055435"/>
            <a:ext cx="10515600" cy="749508"/>
          </a:xfrm>
        </p:spPr>
        <p:txBody>
          <a:bodyPr/>
          <a:lstStyle/>
          <a:p>
            <a:pPr algn="ctr"/>
            <a:r>
              <a:rPr lang="en-US" b="1" dirty="0" smtClean="0"/>
              <a:t>Round-Robin Scheduling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0909" y="2151359"/>
            <a:ext cx="5043855" cy="1931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509664" y="4094137"/>
            <a:ext cx="710533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sz="2400" dirty="0" smtClean="0"/>
              <a:t>Round-robin scheduling provides each task an equal share of the CPU execution time.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2400" dirty="0" smtClean="0"/>
              <a:t>Pure round-robin scheduling cannot satisfy real-time system requirements because in real-time systems, tasks perform work of varying degrees of importance.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sz="2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22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9311"/>
            <a:ext cx="10515600" cy="5127652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Tasks are concurrent and independent threads of execution that can compete for CPU execution time.</a:t>
            </a:r>
          </a:p>
          <a:p>
            <a:pPr algn="just"/>
            <a:r>
              <a:rPr lang="en-US" sz="2400" dirty="0" smtClean="0"/>
              <a:t>Semaphores are token-like objects that can be incremented or decremented by tasks for synchronization or mutual exclusion.</a:t>
            </a:r>
          </a:p>
          <a:p>
            <a:pPr algn="just"/>
            <a:r>
              <a:rPr lang="en-US" sz="2400" dirty="0" smtClean="0"/>
              <a:t>Message Queues are buffer-like data structures that can be used for synchronization, mutual exclusion, and data exchange by passing messages between tasks.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23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92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69430"/>
            <a:ext cx="10515600" cy="5307533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Kernels provide services that help developers create applications for real-time embedded systems.</a:t>
            </a:r>
          </a:p>
          <a:p>
            <a:pPr algn="just"/>
            <a:r>
              <a:rPr lang="en-US" sz="2400" dirty="0" smtClean="0"/>
              <a:t> These services comprise sets of API calls that can be used to perform operations on kernel objects or can be used in general to facilitate timer management, interrupt handling, device I/O, and memory management.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24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92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Tasks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4459"/>
            <a:ext cx="10515600" cy="5352504"/>
          </a:xfrm>
        </p:spPr>
        <p:txBody>
          <a:bodyPr/>
          <a:lstStyle/>
          <a:p>
            <a:pPr algn="just"/>
            <a:r>
              <a:rPr lang="en-US" dirty="0" smtClean="0"/>
              <a:t>Most RTOS kernels provide task objects and task management services to facilitate designing concurrency within an application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A </a:t>
            </a:r>
            <a:r>
              <a:rPr lang="en-US" dirty="0"/>
              <a:t>task is an independent thread of execution that can compete with other concurrent tasks for processor execution time. </a:t>
            </a:r>
          </a:p>
          <a:p>
            <a:pPr algn="just"/>
            <a:r>
              <a:rPr lang="en-US" b="1" dirty="0" smtClean="0"/>
              <a:t>A </a:t>
            </a:r>
            <a:r>
              <a:rPr lang="en-US" b="1" dirty="0"/>
              <a:t>task is schedulable. </a:t>
            </a:r>
            <a:r>
              <a:rPr lang="en-US" dirty="0"/>
              <a:t>The task is able to compete for execution time on a system, based on a predefined scheduling algorithm.</a:t>
            </a:r>
          </a:p>
          <a:p>
            <a:pPr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25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8577" y="2109101"/>
            <a:ext cx="3938551" cy="424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4621968" y="1363946"/>
            <a:ext cx="653071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/>
              <a:t>A task is defined by its distinct set of parameters and supporting data structures. Specifically, upon creation, each task has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 smtClean="0"/>
              <a:t>an associated name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 smtClean="0"/>
              <a:t> a unique ID,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 smtClean="0"/>
              <a:t>a priority (if part of a preemptive scheduling plan),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 smtClean="0"/>
              <a:t> a task control block (TCB),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 smtClean="0"/>
              <a:t>a stack, and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 smtClean="0"/>
              <a:t>a task routine.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 smtClean="0"/>
              <a:t>Task Structure </a:t>
            </a:r>
            <a:endParaRPr lang="en-US" sz="4000" b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26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6490"/>
            <a:ext cx="10515600" cy="45933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System tasks are…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04341"/>
            <a:ext cx="10515600" cy="5172622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ü"/>
            </a:pPr>
            <a:r>
              <a:rPr lang="en-US" b="1" dirty="0" smtClean="0"/>
              <a:t>initialization or startup task </a:t>
            </a:r>
            <a:r>
              <a:rPr lang="en-US" dirty="0" smtClean="0"/>
              <a:t>initializes the system and creates and starts system tasks,</a:t>
            </a:r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b="1" dirty="0" smtClean="0"/>
              <a:t>idle task </a:t>
            </a:r>
            <a:r>
              <a:rPr lang="en-US" dirty="0" smtClean="0"/>
              <a:t>uses up processor idle cycles when no other activity is present</a:t>
            </a:r>
            <a:r>
              <a:rPr lang="en-US" b="1" dirty="0" smtClean="0"/>
              <a:t>,</a:t>
            </a:r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b="1" dirty="0" smtClean="0"/>
              <a:t>logging task </a:t>
            </a:r>
            <a:r>
              <a:rPr lang="en-US" dirty="0" smtClean="0"/>
              <a:t>logs system messages</a:t>
            </a:r>
            <a:r>
              <a:rPr lang="en-US" b="1" dirty="0" smtClean="0"/>
              <a:t>,</a:t>
            </a:r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b="1" dirty="0" smtClean="0"/>
              <a:t>exception-</a:t>
            </a:r>
            <a:r>
              <a:rPr lang="en-US" dirty="0" smtClean="0"/>
              <a:t>handling task handles exceptions, and</a:t>
            </a:r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b="1" dirty="0" smtClean="0"/>
              <a:t>debug agent task </a:t>
            </a:r>
            <a:r>
              <a:rPr lang="en-US" dirty="0" smtClean="0"/>
              <a:t>allows debugging with a host debugger.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27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673" y="917018"/>
            <a:ext cx="10515600" cy="45933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Task States and Scheduling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4000" y="2308327"/>
            <a:ext cx="4917001" cy="3498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096000" y="2626213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 smtClean="0"/>
              <a:t>ready </a:t>
            </a:r>
            <a:r>
              <a:rPr lang="en-US" sz="2000" dirty="0" smtClean="0"/>
              <a:t>state-the task is ready to run but cannot because a higher priority task is executing.</a:t>
            </a:r>
          </a:p>
          <a:p>
            <a:endParaRPr lang="en-US" sz="2000" dirty="0" smtClean="0"/>
          </a:p>
          <a:p>
            <a:r>
              <a:rPr lang="en-US" sz="2000" b="1" dirty="0" smtClean="0"/>
              <a:t>blocked </a:t>
            </a:r>
            <a:r>
              <a:rPr lang="en-US" sz="2000" dirty="0" smtClean="0"/>
              <a:t>state-the task has requested a resource that is not available, has requested to wait until some event</a:t>
            </a:r>
          </a:p>
          <a:p>
            <a:r>
              <a:rPr lang="en-US" sz="2000" dirty="0" smtClean="0"/>
              <a:t>occurs, or has delayed itself for some duration.</a:t>
            </a:r>
          </a:p>
          <a:p>
            <a:endParaRPr lang="en-US" sz="2000" dirty="0" smtClean="0"/>
          </a:p>
          <a:p>
            <a:r>
              <a:rPr lang="en-US" sz="2000" b="1" dirty="0" smtClean="0"/>
              <a:t>running </a:t>
            </a:r>
            <a:r>
              <a:rPr lang="en-US" sz="2000" dirty="0" smtClean="0"/>
              <a:t>state-the task is the highest priority task and is running.</a:t>
            </a:r>
            <a:endParaRPr lang="en-US" sz="2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28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428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Running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9292"/>
            <a:ext cx="10515600" cy="5097671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A running task can move to the blocked state in any of the following ways:</a:t>
            </a:r>
          </a:p>
          <a:p>
            <a:pPr lvl="1" algn="just"/>
            <a:r>
              <a:rPr lang="en-US" dirty="0" smtClean="0"/>
              <a:t>by making a call that requests an unavailable resource,</a:t>
            </a:r>
          </a:p>
          <a:p>
            <a:pPr lvl="1" algn="just"/>
            <a:r>
              <a:rPr lang="en-US" dirty="0" smtClean="0"/>
              <a:t>by making a call that requests to wait for an event to occur, and</a:t>
            </a:r>
          </a:p>
          <a:p>
            <a:pPr lvl="1" algn="just"/>
            <a:r>
              <a:rPr lang="en-US" dirty="0" smtClean="0"/>
              <a:t>by making a call to delay the task for some duration.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29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42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Blocked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9331"/>
            <a:ext cx="10515600" cy="5157632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The possibility of blocked states is extremely important in real-time systems because without blocked states, lower priority tasks could not run. </a:t>
            </a:r>
          </a:p>
          <a:p>
            <a:pPr algn="just"/>
            <a:r>
              <a:rPr lang="en-US" sz="2400" dirty="0" smtClean="0"/>
              <a:t>If higher priority tasks are not designed to block, CPU starvation can result.</a:t>
            </a:r>
          </a:p>
          <a:p>
            <a:pPr algn="just"/>
            <a:r>
              <a:rPr lang="en-US" sz="2400" i="1" dirty="0" smtClean="0"/>
              <a:t>CPU starvation occurs when higher priority tasks use all of the CPU execution time and lower priority tasks do not </a:t>
            </a:r>
            <a:r>
              <a:rPr lang="en-US" sz="2400" dirty="0" smtClean="0"/>
              <a:t>get to run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30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/>
              <a:t>Typical Task Operations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creating and deleting tasks,</a:t>
            </a:r>
          </a:p>
          <a:p>
            <a:r>
              <a:rPr lang="en-IN" dirty="0" smtClean="0"/>
              <a:t>controlling </a:t>
            </a:r>
            <a:r>
              <a:rPr lang="en-IN" dirty="0"/>
              <a:t>task scheduling, and</a:t>
            </a:r>
          </a:p>
          <a:p>
            <a:r>
              <a:rPr lang="en-IN" dirty="0" smtClean="0"/>
              <a:t>obtaining </a:t>
            </a:r>
            <a:r>
              <a:rPr lang="en-IN" dirty="0"/>
              <a:t>task information.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166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5230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Semaphores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927" y="1025793"/>
            <a:ext cx="10515600" cy="5249684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A </a:t>
            </a:r>
            <a:r>
              <a:rPr lang="en-IN" sz="2400" i="1" dirty="0"/>
              <a:t>semaphore </a:t>
            </a:r>
            <a:r>
              <a:rPr lang="en-IN" sz="2400" dirty="0"/>
              <a:t>(sometimes called a </a:t>
            </a:r>
            <a:r>
              <a:rPr lang="en-IN" sz="2400" i="1" dirty="0"/>
              <a:t>semaphore token</a:t>
            </a:r>
            <a:r>
              <a:rPr lang="en-IN" sz="2400" dirty="0"/>
              <a:t>) is a kernel object that one or more threads of execution </a:t>
            </a:r>
            <a:r>
              <a:rPr lang="en-IN" sz="2400" dirty="0" smtClean="0"/>
              <a:t>can acquire </a:t>
            </a:r>
            <a:r>
              <a:rPr lang="en-IN" sz="2400" dirty="0"/>
              <a:t>or release for the purposes of synchronization or mutual exclusion.</a:t>
            </a:r>
          </a:p>
          <a:p>
            <a:pPr algn="just"/>
            <a:r>
              <a:rPr lang="en-IN" sz="2400" dirty="0"/>
              <a:t>When a semaphore is first created, the kernel assigns to it an associated semaphore control block (SCB), a </a:t>
            </a:r>
            <a:r>
              <a:rPr lang="en-IN" sz="2400" dirty="0" smtClean="0"/>
              <a:t>unique ID</a:t>
            </a:r>
            <a:r>
              <a:rPr lang="en-IN" sz="2400" dirty="0"/>
              <a:t>, a value (binary or a count), and a task-waiting list, as shown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120" y="3184367"/>
            <a:ext cx="5133139" cy="3101833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32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036416" y="3184367"/>
            <a:ext cx="439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Semaphore Structure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6600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3036" y="1957589"/>
            <a:ext cx="10515600" cy="5893628"/>
          </a:xfrm>
        </p:spPr>
        <p:txBody>
          <a:bodyPr>
            <a:normAutofit/>
          </a:bodyPr>
          <a:lstStyle/>
          <a:p>
            <a:pPr algn="just"/>
            <a:r>
              <a:rPr lang="en-IN" sz="2400" b="1" dirty="0"/>
              <a:t>A </a:t>
            </a:r>
            <a:r>
              <a:rPr lang="en-IN" sz="2400" b="1" i="1" dirty="0"/>
              <a:t>binary semaphore </a:t>
            </a:r>
            <a:r>
              <a:rPr lang="en-IN" sz="2400" dirty="0"/>
              <a:t>can have a value of either 0 or 1. When a binary semaphore s value is 0, the semaphore </a:t>
            </a:r>
            <a:r>
              <a:rPr lang="en-IN" sz="2400" dirty="0" smtClean="0"/>
              <a:t>is considered </a:t>
            </a:r>
            <a:r>
              <a:rPr lang="en-IN" sz="2400" i="1" dirty="0"/>
              <a:t>unavailable </a:t>
            </a:r>
            <a:r>
              <a:rPr lang="en-IN" sz="2400" dirty="0"/>
              <a:t>(or </a:t>
            </a:r>
            <a:r>
              <a:rPr lang="en-IN" sz="2400" i="1" dirty="0"/>
              <a:t>empty); </a:t>
            </a:r>
            <a:r>
              <a:rPr lang="en-IN" sz="2400" dirty="0"/>
              <a:t>when the value is 1, the binary semaphore is considered </a:t>
            </a:r>
            <a:r>
              <a:rPr lang="en-IN" sz="2400" i="1" dirty="0"/>
              <a:t>available </a:t>
            </a:r>
            <a:r>
              <a:rPr lang="en-IN" sz="2400" dirty="0"/>
              <a:t>(or </a:t>
            </a:r>
            <a:r>
              <a:rPr lang="en-IN" sz="2400" i="1" dirty="0"/>
              <a:t>full </a:t>
            </a:r>
            <a:r>
              <a:rPr lang="en-IN" sz="2400" dirty="0"/>
              <a:t>).</a:t>
            </a:r>
          </a:p>
          <a:p>
            <a:pPr algn="just"/>
            <a:r>
              <a:rPr lang="en-IN" sz="2400" dirty="0"/>
              <a:t>Note that when a binary semaphore is first created, it can be initialized to either available or unavailable (1 or </a:t>
            </a:r>
            <a:r>
              <a:rPr lang="en-IN" sz="2400" dirty="0" smtClean="0"/>
              <a:t>0,respectively</a:t>
            </a:r>
            <a:r>
              <a:rPr lang="en-IN" sz="2400" dirty="0"/>
              <a:t>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154" y="3902297"/>
            <a:ext cx="6054599" cy="27441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53036" y="1111531"/>
            <a:ext cx="101743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A kernel can support many different types of semaphores, including binary, counting, and mutual-exclusion (</a:t>
            </a:r>
            <a:r>
              <a:rPr lang="en-IN" sz="2400" dirty="0" err="1"/>
              <a:t>mutex</a:t>
            </a:r>
            <a:r>
              <a:rPr lang="en-IN" sz="2400" dirty="0"/>
              <a:t>) semaphores</a:t>
            </a:r>
            <a:r>
              <a:rPr lang="en-IN" b="0" i="0" u="none" strike="noStrike" baseline="0" dirty="0" smtClean="0">
                <a:latin typeface="Times New Roman" panose="02020603050405020304" pitchFamily="18" charset="0"/>
              </a:rPr>
              <a:t>.</a:t>
            </a:r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06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6338"/>
            <a:ext cx="10515600" cy="60079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Counting Semaphores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186" y="837128"/>
            <a:ext cx="10735614" cy="5525035"/>
          </a:xfrm>
        </p:spPr>
        <p:txBody>
          <a:bodyPr>
            <a:normAutofit/>
          </a:bodyPr>
          <a:lstStyle/>
          <a:p>
            <a:r>
              <a:rPr lang="en-IN" sz="2400" dirty="0"/>
              <a:t>A </a:t>
            </a:r>
            <a:r>
              <a:rPr lang="en-IN" sz="2400" i="1" dirty="0"/>
              <a:t>counting semaphore </a:t>
            </a:r>
            <a:r>
              <a:rPr lang="en-IN" sz="2400" dirty="0"/>
              <a:t>uses a count to allow it to be acquired or released multiple times. </a:t>
            </a:r>
            <a:endParaRPr lang="en-IN" sz="2400" dirty="0" smtClean="0"/>
          </a:p>
          <a:p>
            <a:r>
              <a:rPr lang="en-IN" sz="2400" dirty="0" smtClean="0"/>
              <a:t>When </a:t>
            </a:r>
            <a:r>
              <a:rPr lang="en-IN" sz="2400" dirty="0"/>
              <a:t>creating a </a:t>
            </a:r>
            <a:r>
              <a:rPr lang="en-IN" sz="2400" dirty="0" smtClean="0"/>
              <a:t>counting semaphore</a:t>
            </a:r>
            <a:r>
              <a:rPr lang="en-IN" sz="2400" dirty="0"/>
              <a:t>, assign the semaphore a count that denotes the number of semaphore tokens it has initially. If the </a:t>
            </a:r>
            <a:r>
              <a:rPr lang="en-IN" sz="2400" dirty="0" smtClean="0"/>
              <a:t>initial count </a:t>
            </a:r>
            <a:r>
              <a:rPr lang="en-IN" sz="2400" dirty="0"/>
              <a:t>is 0, the counting semaphore is created in the unavailable state. </a:t>
            </a:r>
            <a:endParaRPr lang="en-IN" sz="2400" dirty="0" smtClean="0"/>
          </a:p>
          <a:p>
            <a:r>
              <a:rPr lang="en-IN" sz="2400" dirty="0" smtClean="0"/>
              <a:t>If </a:t>
            </a:r>
            <a:r>
              <a:rPr lang="en-IN" sz="2400" dirty="0"/>
              <a:t>the count is greater than 0, the semaphore </a:t>
            </a:r>
            <a:r>
              <a:rPr lang="en-IN" sz="2400" dirty="0" smtClean="0"/>
              <a:t>is created </a:t>
            </a:r>
            <a:r>
              <a:rPr lang="en-IN" sz="2400" dirty="0"/>
              <a:t>in the available state, and the number of tokens it has equals its count,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352" y="4451175"/>
            <a:ext cx="5138670" cy="2028977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78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443" y="1073463"/>
            <a:ext cx="10515600" cy="690943"/>
          </a:xfrm>
        </p:spPr>
        <p:txBody>
          <a:bodyPr>
            <a:normAutofit/>
          </a:bodyPr>
          <a:lstStyle/>
          <a:p>
            <a:r>
              <a:rPr lang="en-IN" sz="3600" b="1" dirty="0"/>
              <a:t>Mutual Exclusion (</a:t>
            </a:r>
            <a:r>
              <a:rPr lang="en-IN" sz="3600" b="1" dirty="0" err="1"/>
              <a:t>Mutex</a:t>
            </a:r>
            <a:r>
              <a:rPr lang="en-IN" sz="3600" b="1" dirty="0"/>
              <a:t>) Semaphores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2594" y="1854558"/>
            <a:ext cx="10515600" cy="5120895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A mutual exclusion (</a:t>
            </a:r>
            <a:r>
              <a:rPr lang="en-IN" sz="2400" dirty="0" err="1"/>
              <a:t>mutex</a:t>
            </a:r>
            <a:r>
              <a:rPr lang="en-IN" sz="2400" dirty="0"/>
              <a:t>) semaphore is a special binary semaphore that supports ownership, recursive access</a:t>
            </a:r>
            <a:r>
              <a:rPr lang="en-IN" sz="2400" dirty="0" smtClean="0"/>
              <a:t>, task </a:t>
            </a:r>
            <a:r>
              <a:rPr lang="en-IN" sz="2400" dirty="0"/>
              <a:t>deletion safety, and one or more protocols for avoiding problems inherent to mutual exclusion</a:t>
            </a:r>
            <a:r>
              <a:rPr lang="en-IN" sz="2400" dirty="0" smtClean="0"/>
              <a:t>. </a:t>
            </a:r>
          </a:p>
          <a:p>
            <a:pPr algn="just"/>
            <a:r>
              <a:rPr lang="en-IN" sz="2400" dirty="0" smtClean="0"/>
              <a:t>As </a:t>
            </a:r>
            <a:r>
              <a:rPr lang="en-IN" sz="2400" dirty="0"/>
              <a:t>opposed to the available and unavailable states in binary and counting semaphores, the states of a </a:t>
            </a:r>
            <a:r>
              <a:rPr lang="en-IN" sz="2400" dirty="0" err="1"/>
              <a:t>mutex</a:t>
            </a:r>
            <a:r>
              <a:rPr lang="en-IN" sz="2400" dirty="0"/>
              <a:t> </a:t>
            </a:r>
            <a:r>
              <a:rPr lang="en-IN" sz="2400" dirty="0" smtClean="0"/>
              <a:t>are unlocked </a:t>
            </a:r>
            <a:r>
              <a:rPr lang="en-IN" sz="2400" dirty="0"/>
              <a:t>or locked (0 or 1, respectively</a:t>
            </a:r>
            <a:r>
              <a:rPr lang="en-IN" sz="2400" dirty="0" smtClean="0"/>
              <a:t>).</a:t>
            </a:r>
          </a:p>
          <a:p>
            <a:pPr algn="just"/>
            <a:r>
              <a:rPr lang="en-IN" sz="2400" dirty="0" smtClean="0"/>
              <a:t> </a:t>
            </a:r>
            <a:r>
              <a:rPr lang="en-IN" sz="2400" dirty="0"/>
              <a:t>A </a:t>
            </a:r>
            <a:r>
              <a:rPr lang="en-IN" sz="2400" dirty="0" err="1"/>
              <a:t>mutex</a:t>
            </a:r>
            <a:r>
              <a:rPr lang="en-IN" sz="2400" dirty="0"/>
              <a:t> is initially created in the unlocked state, in which it can </a:t>
            </a:r>
            <a:r>
              <a:rPr lang="en-IN" sz="2400" dirty="0" smtClean="0"/>
              <a:t>be acquired </a:t>
            </a:r>
            <a:r>
              <a:rPr lang="en-IN" sz="2400" dirty="0"/>
              <a:t>by a task. After being acquired, the </a:t>
            </a:r>
            <a:r>
              <a:rPr lang="en-IN" sz="2400" dirty="0" err="1"/>
              <a:t>mutex</a:t>
            </a:r>
            <a:r>
              <a:rPr lang="en-IN" sz="2400" dirty="0"/>
              <a:t> moves to the locked state. Conversely, when the task </a:t>
            </a:r>
            <a:r>
              <a:rPr lang="en-IN" sz="2400" dirty="0" smtClean="0"/>
              <a:t>releases the </a:t>
            </a:r>
            <a:r>
              <a:rPr lang="en-IN" sz="2400" dirty="0" err="1"/>
              <a:t>mutex</a:t>
            </a:r>
            <a:r>
              <a:rPr lang="en-IN" sz="2400" dirty="0"/>
              <a:t>, the </a:t>
            </a:r>
            <a:r>
              <a:rPr lang="en-IN" sz="2400" dirty="0" err="1"/>
              <a:t>mutex</a:t>
            </a:r>
            <a:r>
              <a:rPr lang="en-IN" sz="2400" dirty="0"/>
              <a:t> returns to the unlocked state</a:t>
            </a:r>
            <a:r>
              <a:rPr lang="en-IN" sz="2400" dirty="0" smtClean="0"/>
              <a:t>.</a:t>
            </a:r>
          </a:p>
          <a:p>
            <a:pPr marL="0" indent="0" algn="just">
              <a:buNone/>
            </a:pPr>
            <a:endParaRPr lang="en-IN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117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923" y="2922488"/>
            <a:ext cx="5918750" cy="2304462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36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3116687" y="1107583"/>
            <a:ext cx="5563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 smtClean="0"/>
              <a:t>Mutex</a:t>
            </a:r>
            <a:r>
              <a:rPr lang="en-US" sz="2800" b="1" dirty="0" smtClean="0"/>
              <a:t> State Diagram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8220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37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618185" y="1110277"/>
            <a:ext cx="1123037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IN" sz="2400" b="1" u="none" strike="noStrike" baseline="0" dirty="0" smtClean="0">
                <a:solidFill>
                  <a:srgbClr val="231F20"/>
                </a:solidFill>
              </a:rPr>
              <a:t>Ownership</a:t>
            </a:r>
            <a:r>
              <a:rPr lang="en-IN" sz="2400" b="0" u="none" strike="noStrike" baseline="0" dirty="0" smtClean="0">
                <a:solidFill>
                  <a:srgbClr val="231F20"/>
                </a:solidFill>
              </a:rPr>
              <a:t> </a:t>
            </a:r>
            <a:r>
              <a:rPr lang="en-IN" sz="2400" b="0" u="none" strike="noStrike" baseline="0" dirty="0" smtClean="0">
                <a:solidFill>
                  <a:srgbClr val="000000"/>
                </a:solidFill>
              </a:rPr>
              <a:t>of a </a:t>
            </a:r>
            <a:r>
              <a:rPr lang="en-IN" sz="2400" b="0" u="none" strike="noStrike" baseline="0" dirty="0" err="1" smtClean="0">
                <a:solidFill>
                  <a:srgbClr val="000000"/>
                </a:solidFill>
              </a:rPr>
              <a:t>mutex</a:t>
            </a:r>
            <a:r>
              <a:rPr lang="en-IN" sz="2400" b="0" u="none" strike="noStrike" baseline="0" dirty="0" smtClean="0">
                <a:solidFill>
                  <a:srgbClr val="000000"/>
                </a:solidFill>
              </a:rPr>
              <a:t> is gained when a task first locks the </a:t>
            </a:r>
            <a:r>
              <a:rPr lang="en-IN" sz="2400" b="0" u="none" strike="noStrike" baseline="0" dirty="0" err="1" smtClean="0">
                <a:solidFill>
                  <a:srgbClr val="000000"/>
                </a:solidFill>
              </a:rPr>
              <a:t>mutex</a:t>
            </a:r>
            <a:r>
              <a:rPr lang="en-IN" sz="2400" b="0" u="none" strike="noStrike" baseline="0" dirty="0" smtClean="0">
                <a:solidFill>
                  <a:srgbClr val="000000"/>
                </a:solidFill>
              </a:rPr>
              <a:t> by acquiring it.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sz="2400" b="0" u="none" strike="noStrike" baseline="0" dirty="0" smtClean="0">
                <a:solidFill>
                  <a:srgbClr val="000000"/>
                </a:solidFill>
              </a:rPr>
              <a:t> A task loses ownership of the </a:t>
            </a:r>
            <a:r>
              <a:rPr lang="en-IN" sz="2400" b="0" u="none" strike="noStrike" baseline="0" dirty="0" err="1" smtClean="0">
                <a:solidFill>
                  <a:srgbClr val="000000"/>
                </a:solidFill>
              </a:rPr>
              <a:t>mutex</a:t>
            </a:r>
            <a:r>
              <a:rPr lang="en-IN" sz="2400" b="0" u="none" strike="noStrike" baseline="0" dirty="0" smtClean="0">
                <a:solidFill>
                  <a:srgbClr val="000000"/>
                </a:solidFill>
              </a:rPr>
              <a:t> when it unlocks it by releasing it.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sz="2400" b="0" u="none" strike="noStrike" baseline="0" dirty="0" smtClean="0">
                <a:solidFill>
                  <a:srgbClr val="000000"/>
                </a:solidFill>
              </a:rPr>
              <a:t>When a task owns the </a:t>
            </a:r>
            <a:r>
              <a:rPr lang="en-IN" sz="2400" b="0" u="none" strike="noStrike" baseline="0" dirty="0" err="1" smtClean="0">
                <a:solidFill>
                  <a:srgbClr val="000000"/>
                </a:solidFill>
              </a:rPr>
              <a:t>mutex</a:t>
            </a:r>
            <a:r>
              <a:rPr lang="en-IN" sz="2400" b="0" u="none" strike="noStrike" baseline="0" dirty="0" smtClean="0">
                <a:solidFill>
                  <a:srgbClr val="000000"/>
                </a:solidFill>
              </a:rPr>
              <a:t>, it is not possible for any other task to lock or unlock that </a:t>
            </a:r>
            <a:r>
              <a:rPr lang="en-IN" sz="2400" b="0" u="none" strike="noStrike" baseline="0" dirty="0" err="1" smtClean="0">
                <a:solidFill>
                  <a:srgbClr val="000000"/>
                </a:solidFill>
              </a:rPr>
              <a:t>mutex</a:t>
            </a:r>
            <a:r>
              <a:rPr lang="en-IN" sz="2400" b="0" u="none" strike="noStrike" baseline="0" dirty="0" smtClean="0">
                <a:solidFill>
                  <a:srgbClr val="000000"/>
                </a:solidFill>
              </a:rPr>
              <a:t>.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sz="2400" b="0" u="none" strike="noStrike" baseline="0" dirty="0" smtClean="0">
                <a:solidFill>
                  <a:srgbClr val="000000"/>
                </a:solidFill>
              </a:rPr>
              <a:t>Contrast this concept with the binary semaphore, which can be released by any task, even a task that did not originally acquire the semaphore.</a:t>
            </a:r>
            <a:endParaRPr lang="en-IN" sz="2400" dirty="0"/>
          </a:p>
        </p:txBody>
      </p:sp>
      <p:sp>
        <p:nvSpPr>
          <p:cNvPr id="7" name="Rectangle 6"/>
          <p:cNvSpPr/>
          <p:nvPr/>
        </p:nvSpPr>
        <p:spPr>
          <a:xfrm>
            <a:off x="457199" y="3418601"/>
            <a:ext cx="115523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IN" sz="2400" dirty="0" err="1">
                <a:solidFill>
                  <a:srgbClr val="000000"/>
                </a:solidFill>
              </a:rPr>
              <a:t>Mutex</a:t>
            </a:r>
            <a:r>
              <a:rPr lang="en-IN" sz="2400" dirty="0">
                <a:solidFill>
                  <a:srgbClr val="000000"/>
                </a:solidFill>
              </a:rPr>
              <a:t> implementations also support recursive locking , which allows the task that owns the </a:t>
            </a:r>
            <a:r>
              <a:rPr lang="en-IN" sz="2400" dirty="0" err="1">
                <a:solidFill>
                  <a:srgbClr val="000000"/>
                </a:solidFill>
              </a:rPr>
              <a:t>mutex</a:t>
            </a:r>
            <a:r>
              <a:rPr lang="en-IN" sz="2400" dirty="0">
                <a:solidFill>
                  <a:srgbClr val="000000"/>
                </a:solidFill>
              </a:rPr>
              <a:t> to acquire it multiple times in the locked state.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</a:rPr>
              <a:t>The </a:t>
            </a:r>
            <a:r>
              <a:rPr lang="en-IN" sz="2400" dirty="0" err="1">
                <a:solidFill>
                  <a:srgbClr val="000000"/>
                </a:solidFill>
              </a:rPr>
              <a:t>mutex</a:t>
            </a:r>
            <a:r>
              <a:rPr lang="en-IN" sz="2400" dirty="0">
                <a:solidFill>
                  <a:srgbClr val="000000"/>
                </a:solidFill>
              </a:rPr>
              <a:t> with recursive locking is called a recursive </a:t>
            </a:r>
            <a:r>
              <a:rPr lang="en-IN" sz="2400" dirty="0" err="1">
                <a:solidFill>
                  <a:srgbClr val="000000"/>
                </a:solidFill>
              </a:rPr>
              <a:t>mutex</a:t>
            </a:r>
            <a:r>
              <a:rPr lang="en-IN" sz="2400" dirty="0">
                <a:solidFill>
                  <a:srgbClr val="000000"/>
                </a:solidFill>
              </a:rPr>
              <a:t> 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</a:rPr>
              <a:t>This type of </a:t>
            </a:r>
            <a:r>
              <a:rPr lang="en-IN" sz="2400" dirty="0" err="1">
                <a:solidFill>
                  <a:srgbClr val="000000"/>
                </a:solidFill>
              </a:rPr>
              <a:t>mutex</a:t>
            </a:r>
            <a:r>
              <a:rPr lang="en-IN" sz="2400" dirty="0">
                <a:solidFill>
                  <a:srgbClr val="000000"/>
                </a:solidFill>
              </a:rPr>
              <a:t> is most useful when a task requiring exclusive access to a shared resource calls one or more routines that also require access to the same resource.</a:t>
            </a:r>
          </a:p>
        </p:txBody>
      </p:sp>
    </p:spTree>
    <p:extLst>
      <p:ext uri="{BB962C8B-B14F-4D97-AF65-F5344CB8AC3E}">
        <p14:creationId xmlns:p14="http://schemas.microsoft.com/office/powerpoint/2010/main" val="388788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38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901521" y="1685784"/>
            <a:ext cx="1021723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IN" sz="2400" b="0" i="0" u="none" strike="noStrike" baseline="0" dirty="0" err="1" smtClean="0">
                <a:solidFill>
                  <a:srgbClr val="000000"/>
                </a:solidFill>
              </a:rPr>
              <a:t>Mutex</a:t>
            </a:r>
            <a:r>
              <a:rPr lang="en-IN" sz="2400" b="0" i="0" u="none" strike="noStrike" baseline="0" dirty="0" smtClean="0">
                <a:solidFill>
                  <a:srgbClr val="000000"/>
                </a:solidFill>
              </a:rPr>
              <a:t> implementations also have built-in </a:t>
            </a:r>
            <a:r>
              <a:rPr lang="en-IN" sz="2400" b="1" i="1" u="none" strike="noStrike" baseline="0" dirty="0" smtClean="0">
                <a:solidFill>
                  <a:srgbClr val="231F20"/>
                </a:solidFill>
              </a:rPr>
              <a:t>task deletion </a:t>
            </a:r>
            <a:r>
              <a:rPr lang="en-IN" sz="2400" b="0" i="1" u="none" strike="noStrike" baseline="0" dirty="0" smtClean="0">
                <a:solidFill>
                  <a:srgbClr val="231F20"/>
                </a:solidFill>
              </a:rPr>
              <a:t>safety</a:t>
            </a:r>
            <a:r>
              <a:rPr lang="en-IN" sz="2400" b="0" i="0" u="none" strike="noStrike" baseline="0" dirty="0" smtClean="0">
                <a:solidFill>
                  <a:srgbClr val="000000"/>
                </a:solidFill>
              </a:rPr>
              <a:t>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IN" sz="2400" b="0" i="0" u="none" strike="noStrike" baseline="0" dirty="0" smtClean="0">
                <a:solidFill>
                  <a:srgbClr val="000000"/>
                </a:solidFill>
              </a:rPr>
              <a:t>Premature task deletion is avoided by using </a:t>
            </a:r>
            <a:r>
              <a:rPr lang="en-IN" sz="2400" b="0" i="1" u="none" strike="noStrike" baseline="0" dirty="0" smtClean="0">
                <a:solidFill>
                  <a:srgbClr val="231F20"/>
                </a:solidFill>
              </a:rPr>
              <a:t>task deletion locks </a:t>
            </a:r>
            <a:r>
              <a:rPr lang="en-IN" sz="2400" b="0" i="0" u="none" strike="noStrike" baseline="0" dirty="0" smtClean="0">
                <a:solidFill>
                  <a:srgbClr val="000000"/>
                </a:solidFill>
              </a:rPr>
              <a:t>when a task locks and unlocks a </a:t>
            </a:r>
            <a:r>
              <a:rPr lang="en-IN" sz="2400" b="0" i="0" u="none" strike="noStrike" baseline="0" dirty="0" err="1" smtClean="0">
                <a:solidFill>
                  <a:srgbClr val="000000"/>
                </a:solidFill>
              </a:rPr>
              <a:t>mutex</a:t>
            </a:r>
            <a:r>
              <a:rPr lang="en-IN" sz="2400" b="0" i="0" u="none" strike="noStrike" baseline="0" dirty="0" smtClean="0">
                <a:solidFill>
                  <a:srgbClr val="000000"/>
                </a:solidFill>
              </a:rPr>
              <a:t>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IN" sz="2400" b="0" i="0" u="none" strike="noStrike" baseline="0" dirty="0" smtClean="0">
                <a:solidFill>
                  <a:srgbClr val="000000"/>
                </a:solidFill>
              </a:rPr>
              <a:t>Enabling this capability within a </a:t>
            </a:r>
            <a:r>
              <a:rPr lang="en-IN" sz="2400" b="0" i="0" u="none" strike="noStrike" baseline="0" dirty="0" err="1" smtClean="0">
                <a:solidFill>
                  <a:srgbClr val="000000"/>
                </a:solidFill>
              </a:rPr>
              <a:t>mutex</a:t>
            </a:r>
            <a:r>
              <a:rPr lang="en-IN" sz="2400" b="0" i="0" u="none" strike="noStrike" baseline="0" dirty="0" smtClean="0">
                <a:solidFill>
                  <a:srgbClr val="000000"/>
                </a:solidFill>
              </a:rPr>
              <a:t> ensures that while a task owns the </a:t>
            </a:r>
            <a:r>
              <a:rPr lang="en-IN" sz="2400" b="0" i="0" u="none" strike="noStrike" baseline="0" dirty="0" err="1" smtClean="0">
                <a:solidFill>
                  <a:srgbClr val="000000"/>
                </a:solidFill>
              </a:rPr>
              <a:t>mutex</a:t>
            </a:r>
            <a:r>
              <a:rPr lang="en-IN" sz="2400" b="0" i="0" u="none" strike="noStrike" baseline="0" dirty="0" smtClean="0">
                <a:solidFill>
                  <a:srgbClr val="000000"/>
                </a:solidFill>
              </a:rPr>
              <a:t>, the task cannot be deleted.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97963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685" y="925736"/>
            <a:ext cx="10515600" cy="593226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 smtClean="0"/>
              <a:t>Priority </a:t>
            </a:r>
            <a:r>
              <a:rPr lang="en-IN" sz="2400" dirty="0"/>
              <a:t>inversion commonly happens in poorly designed real-time embedded applications. </a:t>
            </a:r>
            <a:endParaRPr lang="en-IN" sz="2400" dirty="0" smtClean="0"/>
          </a:p>
          <a:p>
            <a:pPr algn="just"/>
            <a:r>
              <a:rPr lang="en-IN" sz="2400" dirty="0" smtClean="0"/>
              <a:t>Priority </a:t>
            </a:r>
            <a:r>
              <a:rPr lang="en-IN" sz="2400" dirty="0"/>
              <a:t>inversion </a:t>
            </a:r>
            <a:r>
              <a:rPr lang="en-IN" sz="2400" dirty="0" smtClean="0"/>
              <a:t>occurs when </a:t>
            </a:r>
            <a:r>
              <a:rPr lang="en-IN" sz="2400" dirty="0"/>
              <a:t>a higher priority task is blocked and is waiting for a resource being used by a lower priority task, which has</a:t>
            </a:r>
          </a:p>
          <a:p>
            <a:pPr marL="0" indent="0" algn="just">
              <a:buNone/>
            </a:pPr>
            <a:r>
              <a:rPr lang="en-IN" sz="2400" dirty="0" smtClean="0"/>
              <a:t>itself </a:t>
            </a:r>
            <a:r>
              <a:rPr lang="en-IN" sz="2400" dirty="0"/>
              <a:t>been </a:t>
            </a:r>
            <a:r>
              <a:rPr lang="en-IN" sz="2400" dirty="0" err="1"/>
              <a:t>preempted</a:t>
            </a:r>
            <a:r>
              <a:rPr lang="en-IN" sz="2400" dirty="0"/>
              <a:t> by an unrelated medium-priority task. In this situation, the higher priority task s priority </a:t>
            </a:r>
            <a:r>
              <a:rPr lang="en-IN" sz="2400" dirty="0" smtClean="0"/>
              <a:t>level has </a:t>
            </a:r>
            <a:r>
              <a:rPr lang="en-IN" sz="2400" dirty="0"/>
              <a:t>effectively been </a:t>
            </a:r>
            <a:r>
              <a:rPr lang="en-IN" sz="2400" dirty="0" smtClean="0"/>
              <a:t>inverted </a:t>
            </a:r>
            <a:r>
              <a:rPr lang="en-IN" sz="2400" dirty="0"/>
              <a:t>to the lower priority task s level</a:t>
            </a:r>
            <a:r>
              <a:rPr lang="en-IN" sz="2400" dirty="0" smtClean="0"/>
              <a:t>.</a:t>
            </a:r>
          </a:p>
          <a:p>
            <a:pPr algn="just"/>
            <a:r>
              <a:rPr lang="en-IN" sz="2400" b="1" dirty="0"/>
              <a:t>priority inheritance protocol </a:t>
            </a:r>
            <a:r>
              <a:rPr lang="en-IN" sz="2400" dirty="0"/>
              <a:t>ensures that the priority level of the lower priority task that has acquired </a:t>
            </a:r>
            <a:r>
              <a:rPr lang="en-IN" sz="2400" dirty="0" smtClean="0"/>
              <a:t>the </a:t>
            </a:r>
            <a:r>
              <a:rPr lang="en-IN" sz="2400" dirty="0" err="1" smtClean="0"/>
              <a:t>mutex</a:t>
            </a:r>
            <a:r>
              <a:rPr lang="en-IN" sz="2400" dirty="0" smtClean="0"/>
              <a:t> </a:t>
            </a:r>
            <a:r>
              <a:rPr lang="en-IN" sz="2400" dirty="0"/>
              <a:t>is raised to that of the higher priority task that has requested the </a:t>
            </a:r>
            <a:r>
              <a:rPr lang="en-IN" sz="2400" dirty="0" err="1"/>
              <a:t>mutex</a:t>
            </a:r>
            <a:r>
              <a:rPr lang="en-IN" sz="2400" dirty="0"/>
              <a:t> when inversion happens. </a:t>
            </a:r>
            <a:r>
              <a:rPr lang="en-IN" sz="2400" dirty="0" smtClean="0"/>
              <a:t>The priority </a:t>
            </a:r>
            <a:r>
              <a:rPr lang="en-IN" sz="2400" dirty="0"/>
              <a:t>of the raised task is lowered to its original value after the task releases the </a:t>
            </a:r>
            <a:r>
              <a:rPr lang="en-IN" sz="2400" dirty="0" err="1"/>
              <a:t>mutex</a:t>
            </a:r>
            <a:r>
              <a:rPr lang="en-IN" sz="2400" dirty="0"/>
              <a:t> that the </a:t>
            </a:r>
            <a:r>
              <a:rPr lang="en-IN" sz="2400" dirty="0" smtClean="0"/>
              <a:t>higher priority </a:t>
            </a:r>
            <a:r>
              <a:rPr lang="en-IN" sz="2400" dirty="0"/>
              <a:t>task </a:t>
            </a:r>
            <a:r>
              <a:rPr lang="en-IN" sz="2400" dirty="0" smtClean="0"/>
              <a:t>requires.</a:t>
            </a:r>
          </a:p>
          <a:p>
            <a:pPr algn="just"/>
            <a:r>
              <a:rPr lang="en-IN" sz="2400" b="1" dirty="0" smtClean="0"/>
              <a:t>ceiling </a:t>
            </a:r>
            <a:r>
              <a:rPr lang="en-IN" sz="2400" b="1" dirty="0"/>
              <a:t>priority protocol </a:t>
            </a:r>
            <a:r>
              <a:rPr lang="en-IN" sz="2400" dirty="0"/>
              <a:t>ensures that the priority level of the task that acquires the </a:t>
            </a:r>
            <a:r>
              <a:rPr lang="en-IN" sz="2400" dirty="0" err="1"/>
              <a:t>mutex</a:t>
            </a:r>
            <a:r>
              <a:rPr lang="en-IN" sz="2400" dirty="0"/>
              <a:t> is automatically </a:t>
            </a:r>
            <a:r>
              <a:rPr lang="en-IN" sz="2400" dirty="0" smtClean="0"/>
              <a:t>set to </a:t>
            </a:r>
            <a:r>
              <a:rPr lang="en-IN" sz="2400" dirty="0"/>
              <a:t>the highest priority of all possible tasks that might request that </a:t>
            </a:r>
            <a:r>
              <a:rPr lang="en-IN" sz="2400" dirty="0" err="1"/>
              <a:t>mutex</a:t>
            </a:r>
            <a:r>
              <a:rPr lang="en-IN" sz="2400" dirty="0"/>
              <a:t> when it is first acquired until it </a:t>
            </a:r>
            <a:r>
              <a:rPr lang="en-IN" sz="2400" dirty="0" smtClean="0"/>
              <a:t>is released</a:t>
            </a:r>
            <a:r>
              <a:rPr lang="en-IN" sz="2400" dirty="0"/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41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Priority Inversion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Priority inversion </a:t>
            </a:r>
            <a:r>
              <a:rPr lang="en-US" dirty="0"/>
              <a:t>is a situation in which a low-priority task executes while a higher priority task waits on it due to resource contentions</a:t>
            </a:r>
            <a:r>
              <a:rPr lang="en-US" dirty="0" smtClean="0"/>
              <a:t>.</a:t>
            </a:r>
          </a:p>
          <a:p>
            <a:r>
              <a:rPr lang="en-US" dirty="0"/>
              <a:t>Priority inversion results from resource synchronization among tasks of differing priorities. </a:t>
            </a:r>
            <a:endParaRPr lang="en-US" dirty="0" smtClean="0"/>
          </a:p>
          <a:p>
            <a:r>
              <a:rPr lang="en-US" dirty="0" smtClean="0"/>
              <a:t>Priority </a:t>
            </a:r>
            <a:r>
              <a:rPr lang="en-US" dirty="0"/>
              <a:t>inversion cannot be avoided, but it can be minimized using resource access control protocols.</a:t>
            </a:r>
            <a:endParaRPr lang="en-US" dirty="0" smtClean="0"/>
          </a:p>
          <a:p>
            <a:r>
              <a:rPr lang="en-US" dirty="0" smtClean="0"/>
              <a:t>Bounded Priority Inversion</a:t>
            </a:r>
          </a:p>
          <a:p>
            <a:r>
              <a:rPr lang="en-US" dirty="0" smtClean="0"/>
              <a:t>Un-Bounded Priority Inversion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90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Bounded Priority Inversion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/>
              <a:t>A higher </a:t>
            </a:r>
            <a:r>
              <a:rPr lang="en-US" sz="2400" dirty="0"/>
              <a:t>priority task shares a resource with a lower priority task. </a:t>
            </a:r>
            <a:endParaRPr lang="en-US" sz="2400" dirty="0" smtClean="0"/>
          </a:p>
          <a:p>
            <a:pPr algn="just"/>
            <a:r>
              <a:rPr lang="en-US" sz="2400" dirty="0" smtClean="0"/>
              <a:t>The </a:t>
            </a:r>
            <a:r>
              <a:rPr lang="en-US" sz="2400" dirty="0"/>
              <a:t>higher priority task must wait when the lower priority task has locked the resource, even though the higher priority task is eligible to run.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41</a:t>
            </a:fld>
            <a:endParaRPr lang="en-IN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7814" y="3158543"/>
            <a:ext cx="5353050" cy="255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039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Un-Bounded Priority Inversion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It is possible for a medium-priority task to preempt the low-priority task for an undetermined amount of time, which would cause the high-priority task to wait indefinitely.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42</a:t>
            </a:fld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2011" y="2984344"/>
            <a:ext cx="7210425" cy="292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9924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 These access control protocols eliminate the unbound priority inversion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13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Priority Inheritance Protocol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4704"/>
            <a:ext cx="10515600" cy="5082259"/>
          </a:xfrm>
        </p:spPr>
        <p:txBody>
          <a:bodyPr>
            <a:normAutofit/>
          </a:bodyPr>
          <a:lstStyle/>
          <a:p>
            <a:r>
              <a:rPr lang="en-US" sz="2400" dirty="0"/>
              <a:t>The Priority Inheritance Protocol is a resource access control protocol that raises the priority of a task, if that task holds a resource being requested by a higher priority task, to the same priority level as the higher priority task. 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44</a:t>
            </a:fld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394" y="3097099"/>
            <a:ext cx="7239000" cy="316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109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Priority Inheritance Protocol rules.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9874557"/>
              </p:ext>
            </p:extLst>
          </p:nvPr>
        </p:nvGraphicFramePr>
        <p:xfrm>
          <a:off x="873075" y="1842795"/>
          <a:ext cx="8309562" cy="2103120"/>
        </p:xfrm>
        <a:graphic>
          <a:graphicData uri="http://schemas.openxmlformats.org/drawingml/2006/table">
            <a:tbl>
              <a:tblPr/>
              <a:tblGrid>
                <a:gridCol w="1045877"/>
                <a:gridCol w="7263685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800000"/>
                          </a:solidFill>
                          <a:effectLst/>
                          <a:latin typeface="Arial"/>
                        </a:rPr>
                        <a:t>Rule #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800000"/>
                          </a:solidFill>
                          <a:effectLst/>
                          <a:latin typeface="Arial"/>
                        </a:rPr>
                        <a:t>Description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latin typeface="Arial"/>
                        </a:rPr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Arial"/>
                        </a:rPr>
                        <a:t>If R is in use, T is blocked.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latin typeface="Arial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Arial"/>
                        </a:rPr>
                        <a:t>If R is free, R is allocated to T.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latin typeface="Arial"/>
                        </a:rPr>
                        <a:t>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Arial"/>
                        </a:rPr>
                        <a:t>When a task of a higher priority requests the same resource, T's execution priority is raised to the requesting task's priority level.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latin typeface="Arial"/>
                        </a:rPr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Arial"/>
                        </a:rPr>
                        <a:t>The task returns to its previous priority when it releases R.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29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Ceiling Priority Protocol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the ceiling priority protocol, the priority of every task is known, as are the resources required by every task. </a:t>
            </a:r>
            <a:endParaRPr lang="en-US" sz="2400" dirty="0" smtClean="0"/>
          </a:p>
          <a:p>
            <a:r>
              <a:rPr lang="en-US" sz="2400" dirty="0" smtClean="0"/>
              <a:t>For </a:t>
            </a:r>
            <a:r>
              <a:rPr lang="en-US" sz="2400" dirty="0"/>
              <a:t>a given resource, the </a:t>
            </a:r>
            <a:r>
              <a:rPr lang="en-US" sz="2400" i="1" dirty="0"/>
              <a:t>priority ceiling </a:t>
            </a:r>
            <a:r>
              <a:rPr lang="en-US" sz="2400" dirty="0"/>
              <a:t>is the highest priority of all possible tasks that might require the resource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For example, if a resource R is required by four tasks (T1 of priority 4, T2 of priority 9, T3 of priority 10, and T4 of priority 8), the priority ceiling of R is 10, which is the highest priority of the four tasks.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39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Ceiling Priority Protocol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47</a:t>
            </a:fld>
            <a:endParaRPr lang="en-I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204" y="2228447"/>
            <a:ext cx="7343775" cy="371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9619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8444854"/>
              </p:ext>
            </p:extLst>
          </p:nvPr>
        </p:nvGraphicFramePr>
        <p:xfrm>
          <a:off x="873076" y="1800939"/>
          <a:ext cx="8721684" cy="2926080"/>
        </p:xfrm>
        <a:graphic>
          <a:graphicData uri="http://schemas.openxmlformats.org/drawingml/2006/table">
            <a:tbl>
              <a:tblPr/>
              <a:tblGrid>
                <a:gridCol w="784951"/>
                <a:gridCol w="7936733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800000"/>
                          </a:solidFill>
                          <a:effectLst/>
                          <a:latin typeface="Arial"/>
                        </a:rPr>
                        <a:t>Rule #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800000"/>
                          </a:solidFill>
                          <a:effectLst/>
                          <a:latin typeface="Arial"/>
                        </a:rPr>
                        <a:t>Description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latin typeface="Arial"/>
                        </a:rPr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latin typeface="Arial"/>
                        </a:rPr>
                        <a:t>If R is in use, T is blocked.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latin typeface="Arial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latin typeface="Arial"/>
                        </a:rPr>
                        <a:t>If R is free, R is allocated to T. T's execution priority is raised to the priority ceiling of R if that is higher. At any given time, T's execution priority equals the highest priority ceiling of all its held resources.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latin typeface="Arial"/>
                        </a:rPr>
                        <a:t>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latin typeface="Arial"/>
                        </a:rPr>
                        <a:t>T's priority is assigned the next-highest priority ceiling of another resource when the resource with the highest priority ceiling is released.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latin typeface="Arial"/>
                        </a:rPr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Arial"/>
                        </a:rPr>
                        <a:t>The task returns to its assigned priority after it has released all resources.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14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591" y="918917"/>
            <a:ext cx="10515600" cy="49776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Typical Semaphore Use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2594" y="1635618"/>
            <a:ext cx="10515600" cy="53527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dirty="0"/>
              <a:t>Semaphores are useful either for synchronizing execution of multiple tasks or for coordinating access to a </a:t>
            </a:r>
            <a:r>
              <a:rPr lang="en-IN" dirty="0" smtClean="0"/>
              <a:t>shared resource</a:t>
            </a:r>
          </a:p>
          <a:p>
            <a:pPr algn="just"/>
            <a:r>
              <a:rPr lang="en-IN" dirty="0"/>
              <a:t>wait-and-signal synchronization</a:t>
            </a:r>
            <a:r>
              <a:rPr lang="en-IN" dirty="0" smtClean="0"/>
              <a:t>,</a:t>
            </a:r>
            <a:endParaRPr lang="en-IN" dirty="0"/>
          </a:p>
          <a:p>
            <a:pPr algn="just"/>
            <a:r>
              <a:rPr lang="en-IN" dirty="0"/>
              <a:t>multiple-task wait-and-signal synchronization</a:t>
            </a:r>
            <a:r>
              <a:rPr lang="en-IN" dirty="0" smtClean="0"/>
              <a:t>,</a:t>
            </a:r>
            <a:endParaRPr lang="en-IN" dirty="0"/>
          </a:p>
          <a:p>
            <a:pPr algn="just"/>
            <a:r>
              <a:rPr lang="en-IN" dirty="0"/>
              <a:t>credit-tracking synchronization</a:t>
            </a:r>
            <a:r>
              <a:rPr lang="en-IN" dirty="0" smtClean="0"/>
              <a:t>,</a:t>
            </a:r>
            <a:endParaRPr lang="en-IN" dirty="0"/>
          </a:p>
          <a:p>
            <a:pPr algn="just"/>
            <a:r>
              <a:rPr lang="en-IN" dirty="0"/>
              <a:t>single shared-resource-access synchronization</a:t>
            </a:r>
            <a:r>
              <a:rPr lang="en-IN" dirty="0" smtClean="0"/>
              <a:t>,</a:t>
            </a:r>
            <a:endParaRPr lang="en-IN" dirty="0"/>
          </a:p>
          <a:p>
            <a:pPr algn="just"/>
            <a:r>
              <a:rPr lang="en-IN" dirty="0"/>
              <a:t>recursive shared-resource-access synchronization, </a:t>
            </a:r>
            <a:r>
              <a:rPr lang="en-IN" dirty="0" smtClean="0"/>
              <a:t>and</a:t>
            </a:r>
            <a:endParaRPr lang="en-IN" dirty="0"/>
          </a:p>
          <a:p>
            <a:pPr algn="just"/>
            <a:r>
              <a:rPr lang="en-IN" dirty="0"/>
              <a:t>multiple shared-resource-access synchronization</a:t>
            </a:r>
            <a:r>
              <a:rPr lang="en-IN" dirty="0" smtClean="0"/>
              <a:t>.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534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11" y="1945054"/>
            <a:ext cx="3154085" cy="6768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2259" y="1457964"/>
            <a:ext cx="45336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0" i="0" u="none" strike="noStrike" baseline="0" dirty="0" smtClean="0">
                <a:latin typeface="Times New Roman" panose="02020603050405020304" pitchFamily="18" charset="0"/>
              </a:rPr>
              <a:t>Figure : </a:t>
            </a:r>
            <a:r>
              <a:rPr lang="en-IN" sz="1400" b="0" i="0" u="none" strike="noStrike" dirty="0" smtClean="0">
                <a:latin typeface="Times New Roman" panose="02020603050405020304" pitchFamily="18" charset="0"/>
              </a:rPr>
              <a:t>Wait-and-signal</a:t>
            </a:r>
            <a:r>
              <a:rPr lang="en-IN" sz="1400" b="0" i="0" u="none" strike="noStrike" baseline="0" dirty="0" smtClean="0">
                <a:latin typeface="Times New Roman" panose="02020603050405020304" pitchFamily="18" charset="0"/>
              </a:rPr>
              <a:t> synchronization between two tasks.</a:t>
            </a:r>
            <a:endParaRPr lang="en-IN" sz="1400" dirty="0"/>
          </a:p>
        </p:txBody>
      </p:sp>
      <p:sp>
        <p:nvSpPr>
          <p:cNvPr id="8" name="Rectangle 7"/>
          <p:cNvSpPr/>
          <p:nvPr/>
        </p:nvSpPr>
        <p:spPr>
          <a:xfrm>
            <a:off x="412411" y="2981428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0" i="0" u="none" strike="noStrike" baseline="0" dirty="0" err="1" smtClean="0">
                <a:latin typeface="Courier"/>
              </a:rPr>
              <a:t>tWaitTask</a:t>
            </a:r>
            <a:r>
              <a:rPr lang="en-IN" b="0" i="0" u="none" strike="noStrike" baseline="0" dirty="0" smtClean="0">
                <a:latin typeface="Courier"/>
              </a:rPr>
              <a:t> ( )</a:t>
            </a:r>
          </a:p>
          <a:p>
            <a:r>
              <a:rPr lang="en-IN" b="0" i="0" u="none" strike="noStrike" baseline="0" dirty="0" smtClean="0">
                <a:latin typeface="Courier"/>
              </a:rPr>
              <a:t>{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Acquire binary semaphore token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dirty="0"/>
              <a:t>}</a:t>
            </a:r>
          </a:p>
          <a:p>
            <a:r>
              <a:rPr lang="en-IN" dirty="0" err="1"/>
              <a:t>tSignalTask</a:t>
            </a:r>
            <a:r>
              <a:rPr lang="en-IN" dirty="0"/>
              <a:t> ( 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:</a:t>
            </a:r>
          </a:p>
          <a:p>
            <a:r>
              <a:rPr lang="en-IN" dirty="0"/>
              <a:t>Release binary semaphore token</a:t>
            </a:r>
          </a:p>
          <a:p>
            <a:r>
              <a:rPr lang="en-IN" dirty="0"/>
              <a:t>:</a:t>
            </a:r>
          </a:p>
          <a:p>
            <a:r>
              <a:rPr lang="en-IN" dirty="0"/>
              <a:t>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28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51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40" y="1635618"/>
            <a:ext cx="4045879" cy="1496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0435" y="1058094"/>
            <a:ext cx="62143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0" i="0" u="none" strike="noStrike" baseline="0" dirty="0" smtClean="0">
                <a:latin typeface="Times New Roman" panose="02020603050405020304" pitchFamily="18" charset="0"/>
              </a:rPr>
              <a:t>Figure : Wait-and-signal synchronization between multiple tasks.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5598017" y="1886518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0" i="0" u="none" strike="noStrike" baseline="0" dirty="0" err="1" smtClean="0">
                <a:latin typeface="Courier"/>
              </a:rPr>
              <a:t>tWaitTask</a:t>
            </a:r>
            <a:r>
              <a:rPr lang="en-IN" b="0" i="0" u="none" strike="noStrike" baseline="0" dirty="0" smtClean="0">
                <a:latin typeface="Courier"/>
              </a:rPr>
              <a:t> ()</a:t>
            </a:r>
          </a:p>
          <a:p>
            <a:r>
              <a:rPr lang="en-IN" b="0" i="0" u="none" strike="noStrike" baseline="0" dirty="0" smtClean="0">
                <a:latin typeface="Courier"/>
              </a:rPr>
              <a:t>{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Do some processing specific to task Acquire binary semaphore token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}</a:t>
            </a:r>
          </a:p>
          <a:p>
            <a:r>
              <a:rPr lang="en-IN" b="0" i="0" u="none" strike="noStrike" baseline="0" dirty="0" err="1" smtClean="0">
                <a:latin typeface="Courier"/>
              </a:rPr>
              <a:t>tSignalTask</a:t>
            </a:r>
            <a:r>
              <a:rPr lang="en-IN" b="0" i="0" u="none" strike="noStrike" baseline="0" dirty="0" smtClean="0">
                <a:latin typeface="Courier"/>
              </a:rPr>
              <a:t> ()</a:t>
            </a:r>
          </a:p>
          <a:p>
            <a:r>
              <a:rPr lang="en-IN" b="0" i="0" u="none" strike="noStrike" baseline="0" dirty="0" smtClean="0">
                <a:latin typeface="Courier"/>
              </a:rPr>
              <a:t>{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Do some processing Flush binary semaphore's task-waiting list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9607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69" y="2648706"/>
            <a:ext cx="4520099" cy="9444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9869" y="1532586"/>
            <a:ext cx="5718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0" i="0" u="none" strike="noStrike" baseline="0" dirty="0" smtClean="0">
                <a:latin typeface="Times New Roman" panose="02020603050405020304" pitchFamily="18" charset="0"/>
              </a:rPr>
              <a:t>Figure : Credit-tracking synchronization between two tasks.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526985" y="2120085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0" i="0" u="none" strike="noStrike" baseline="0" dirty="0" err="1" smtClean="0">
                <a:latin typeface="Courier"/>
              </a:rPr>
              <a:t>tWaitTask</a:t>
            </a:r>
            <a:r>
              <a:rPr lang="en-IN" b="0" i="0" u="none" strike="noStrike" baseline="0" dirty="0" smtClean="0">
                <a:latin typeface="Courier"/>
              </a:rPr>
              <a:t> ()</a:t>
            </a:r>
          </a:p>
          <a:p>
            <a:r>
              <a:rPr lang="en-IN" b="0" i="0" u="none" strike="noStrike" baseline="0" dirty="0" smtClean="0">
                <a:latin typeface="Courier"/>
              </a:rPr>
              <a:t>{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Acquire counting semaphore token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}</a:t>
            </a:r>
          </a:p>
          <a:p>
            <a:r>
              <a:rPr lang="en-IN" b="0" i="0" u="none" strike="noStrike" baseline="0" dirty="0" err="1" smtClean="0">
                <a:latin typeface="Courier"/>
              </a:rPr>
              <a:t>tSignalTask</a:t>
            </a:r>
            <a:r>
              <a:rPr lang="en-IN" b="0" i="0" u="none" strike="noStrike" baseline="0" dirty="0" smtClean="0">
                <a:latin typeface="Courier"/>
              </a:rPr>
              <a:t> ()</a:t>
            </a:r>
          </a:p>
          <a:p>
            <a:r>
              <a:rPr lang="en-IN" b="0" i="0" u="none" strike="noStrike" baseline="0" dirty="0" smtClean="0">
                <a:latin typeface="Courier"/>
              </a:rPr>
              <a:t>{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Release counting semaphore token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}</a:t>
            </a:r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75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53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21" y="1752513"/>
            <a:ext cx="4715195" cy="167761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64501" y="1383181"/>
            <a:ext cx="5333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0" i="0" u="none" strike="noStrike" baseline="0" dirty="0" smtClean="0">
                <a:latin typeface="Times New Roman" panose="02020603050405020304" pitchFamily="18" charset="0"/>
              </a:rPr>
              <a:t>Figure : Single shared-resource-access synchronization.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5510383" y="1752513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0" i="0" u="none" strike="noStrike" baseline="0" dirty="0" err="1" smtClean="0">
                <a:latin typeface="Courier"/>
              </a:rPr>
              <a:t>tAccessTask</a:t>
            </a:r>
            <a:r>
              <a:rPr lang="en-IN" b="0" i="0" u="none" strike="noStrike" baseline="0" dirty="0" smtClean="0">
                <a:latin typeface="Courier"/>
              </a:rPr>
              <a:t> ()</a:t>
            </a:r>
          </a:p>
          <a:p>
            <a:r>
              <a:rPr lang="en-IN" b="0" i="0" u="none" strike="noStrike" baseline="0" dirty="0" smtClean="0">
                <a:latin typeface="Courier"/>
              </a:rPr>
              <a:t>{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Acquire binary semaphore token</a:t>
            </a:r>
          </a:p>
          <a:p>
            <a:r>
              <a:rPr lang="en-IN" b="0" i="0" u="none" strike="noStrike" baseline="0" dirty="0" smtClean="0">
                <a:latin typeface="Courier"/>
              </a:rPr>
              <a:t>Read or write to shared resource</a:t>
            </a:r>
          </a:p>
          <a:p>
            <a:r>
              <a:rPr lang="en-IN" b="0" i="0" u="none" strike="noStrike" baseline="0" dirty="0" smtClean="0">
                <a:latin typeface="Courier"/>
              </a:rPr>
              <a:t>Release binary semaphore token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2616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32" y="1131003"/>
            <a:ext cx="4225798" cy="14796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4737" y="2857798"/>
            <a:ext cx="5724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0" i="0" u="none" strike="noStrike" baseline="0" dirty="0" smtClean="0">
                <a:latin typeface="Times New Roman" panose="02020603050405020304" pitchFamily="18" charset="0"/>
              </a:rPr>
              <a:t>Figure : Recursive shared- resource-access synchronization.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418576" y="391190"/>
            <a:ext cx="783464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0" i="0" u="none" strike="noStrike" baseline="0" dirty="0" err="1" smtClean="0">
                <a:latin typeface="Courier"/>
              </a:rPr>
              <a:t>tAccessTask</a:t>
            </a:r>
            <a:r>
              <a:rPr lang="en-IN" sz="1400" b="0" i="0" u="none" strike="noStrike" baseline="0" dirty="0" smtClean="0">
                <a:latin typeface="Courier"/>
              </a:rPr>
              <a:t> ()</a:t>
            </a:r>
          </a:p>
          <a:p>
            <a:r>
              <a:rPr lang="en-IN" sz="1400" b="0" i="0" u="none" strike="noStrike" baseline="0" dirty="0" smtClean="0">
                <a:latin typeface="Courier"/>
              </a:rPr>
              <a:t>{</a:t>
            </a:r>
          </a:p>
          <a:p>
            <a:r>
              <a:rPr lang="en-IN" sz="1400" b="0" i="0" u="none" strike="noStrike" baseline="0" dirty="0" smtClean="0">
                <a:latin typeface="Courier"/>
              </a:rPr>
              <a:t>:</a:t>
            </a:r>
          </a:p>
          <a:p>
            <a:r>
              <a:rPr lang="en-IN" sz="1400" b="0" i="0" u="none" strike="noStrike" baseline="0" dirty="0" smtClean="0">
                <a:latin typeface="Courier"/>
              </a:rPr>
              <a:t>Acquire </a:t>
            </a:r>
            <a:r>
              <a:rPr lang="en-IN" sz="1400" b="0" i="0" u="none" strike="noStrike" baseline="0" dirty="0" err="1" smtClean="0">
                <a:latin typeface="Courier"/>
              </a:rPr>
              <a:t>mutex</a:t>
            </a:r>
            <a:endParaRPr lang="en-IN" sz="1400" b="0" i="0" u="none" strike="noStrike" baseline="0" dirty="0" smtClean="0">
              <a:latin typeface="Courier"/>
            </a:endParaRPr>
          </a:p>
          <a:p>
            <a:r>
              <a:rPr lang="en-IN" sz="1400" b="0" i="0" u="none" strike="noStrike" baseline="0" dirty="0" smtClean="0">
                <a:latin typeface="Courier"/>
              </a:rPr>
              <a:t>Access shared resource</a:t>
            </a:r>
          </a:p>
          <a:p>
            <a:r>
              <a:rPr lang="en-IN" sz="1400" b="0" i="0" u="none" strike="noStrike" baseline="0" dirty="0" smtClean="0">
                <a:latin typeface="Courier"/>
              </a:rPr>
              <a:t>Call Routine A</a:t>
            </a:r>
          </a:p>
          <a:p>
            <a:r>
              <a:rPr lang="en-IN" sz="1400" b="0" i="0" u="none" strike="noStrike" baseline="0" dirty="0" smtClean="0">
                <a:latin typeface="Courier"/>
              </a:rPr>
              <a:t>Release </a:t>
            </a:r>
            <a:r>
              <a:rPr lang="en-IN" sz="1400" b="0" i="0" u="none" strike="noStrike" baseline="0" dirty="0" err="1" smtClean="0">
                <a:latin typeface="Courier"/>
              </a:rPr>
              <a:t>mutex</a:t>
            </a:r>
            <a:endParaRPr lang="en-IN" sz="1400" b="0" i="0" u="none" strike="noStrike" baseline="0" dirty="0" smtClean="0">
              <a:latin typeface="Courier"/>
            </a:endParaRPr>
          </a:p>
          <a:p>
            <a:r>
              <a:rPr lang="en-IN" sz="1400" b="0" i="0" u="none" strike="noStrike" baseline="0" dirty="0" smtClean="0">
                <a:latin typeface="Courier"/>
              </a:rPr>
              <a:t>:</a:t>
            </a:r>
          </a:p>
          <a:p>
            <a:r>
              <a:rPr lang="en-IN" sz="1400" b="0" i="0" u="none" strike="noStrike" baseline="0" dirty="0" smtClean="0">
                <a:latin typeface="Courier"/>
              </a:rPr>
              <a:t>}</a:t>
            </a:r>
          </a:p>
          <a:p>
            <a:r>
              <a:rPr lang="en-IN" sz="1400" b="0" i="0" u="none" strike="noStrike" baseline="0" dirty="0" smtClean="0">
                <a:latin typeface="Courier"/>
              </a:rPr>
              <a:t>Routine A ()</a:t>
            </a:r>
          </a:p>
          <a:p>
            <a:r>
              <a:rPr lang="en-IN" sz="1400" b="0" i="0" u="none" strike="noStrike" baseline="0" dirty="0" smtClean="0">
                <a:latin typeface="Courier"/>
              </a:rPr>
              <a:t>{</a:t>
            </a:r>
          </a:p>
          <a:p>
            <a:r>
              <a:rPr lang="en-IN" sz="1400" b="0" i="0" u="none" strike="noStrike" baseline="0" dirty="0" smtClean="0">
                <a:latin typeface="Courier"/>
              </a:rPr>
              <a:t>:</a:t>
            </a:r>
          </a:p>
          <a:p>
            <a:r>
              <a:rPr lang="en-IN" sz="1400" b="0" i="0" u="none" strike="noStrike" baseline="0" dirty="0" smtClean="0">
                <a:latin typeface="Courier"/>
              </a:rPr>
              <a:t>Acquire </a:t>
            </a:r>
            <a:r>
              <a:rPr lang="en-IN" sz="1400" b="0" i="0" u="none" strike="noStrike" baseline="0" dirty="0" err="1" smtClean="0">
                <a:latin typeface="Courier"/>
              </a:rPr>
              <a:t>mutex</a:t>
            </a:r>
            <a:endParaRPr lang="en-IN" sz="1400" b="0" i="0" u="none" strike="noStrike" baseline="0" dirty="0" smtClean="0">
              <a:latin typeface="Courier"/>
            </a:endParaRPr>
          </a:p>
          <a:p>
            <a:r>
              <a:rPr lang="en-IN" sz="1400" b="0" i="0" u="none" strike="noStrike" baseline="0" dirty="0" smtClean="0">
                <a:latin typeface="Courier"/>
              </a:rPr>
              <a:t>Access shared resource</a:t>
            </a:r>
          </a:p>
          <a:p>
            <a:r>
              <a:rPr lang="en-IN" sz="1400" b="0" i="0" u="none" strike="noStrike" baseline="0" dirty="0" smtClean="0">
                <a:latin typeface="Courier"/>
              </a:rPr>
              <a:t>Call Routine B</a:t>
            </a:r>
          </a:p>
          <a:p>
            <a:r>
              <a:rPr lang="en-IN" sz="1400" b="0" i="0" u="none" strike="noStrike" baseline="0" dirty="0" smtClean="0">
                <a:latin typeface="Courier"/>
              </a:rPr>
              <a:t>Release </a:t>
            </a:r>
            <a:r>
              <a:rPr lang="en-IN" sz="1400" b="0" i="0" u="none" strike="noStrike" baseline="0" dirty="0" err="1" smtClean="0">
                <a:latin typeface="Courier"/>
              </a:rPr>
              <a:t>mutex</a:t>
            </a:r>
            <a:endParaRPr lang="en-IN" sz="1400" b="0" i="0" u="none" strike="noStrike" baseline="0" dirty="0" smtClean="0">
              <a:latin typeface="Courier"/>
            </a:endParaRPr>
          </a:p>
          <a:p>
            <a:r>
              <a:rPr lang="en-IN" sz="1400" b="0" i="0" u="none" strike="noStrike" baseline="0" dirty="0" smtClean="0">
                <a:latin typeface="Courier"/>
              </a:rPr>
              <a:t>:</a:t>
            </a:r>
          </a:p>
          <a:p>
            <a:r>
              <a:rPr lang="en-IN" sz="1400" b="0" i="0" u="none" strike="noStrike" baseline="0" dirty="0" smtClean="0">
                <a:latin typeface="Courier"/>
              </a:rPr>
              <a:t>}</a:t>
            </a:r>
          </a:p>
          <a:p>
            <a:r>
              <a:rPr lang="en-IN" sz="1400" b="0" i="0" u="none" strike="noStrike" baseline="0" dirty="0" smtClean="0">
                <a:latin typeface="Courier"/>
              </a:rPr>
              <a:t>Routine B ()</a:t>
            </a:r>
          </a:p>
          <a:p>
            <a:r>
              <a:rPr lang="en-IN" sz="1400" b="0" i="0" u="none" strike="noStrike" baseline="0" dirty="0" smtClean="0">
                <a:latin typeface="Courier"/>
              </a:rPr>
              <a:t>{</a:t>
            </a:r>
          </a:p>
          <a:p>
            <a:r>
              <a:rPr lang="en-IN" sz="1400" b="0" i="0" u="none" strike="noStrike" baseline="0" dirty="0" smtClean="0">
                <a:latin typeface="Courier"/>
              </a:rPr>
              <a:t>:</a:t>
            </a:r>
          </a:p>
          <a:p>
            <a:r>
              <a:rPr lang="en-IN" sz="1400" b="0" i="0" u="none" strike="noStrike" baseline="0" dirty="0" smtClean="0">
                <a:latin typeface="Courier"/>
              </a:rPr>
              <a:t>Acquire </a:t>
            </a:r>
            <a:r>
              <a:rPr lang="en-IN" sz="1400" b="0" i="0" u="none" strike="noStrike" baseline="0" dirty="0" err="1" smtClean="0">
                <a:latin typeface="Courier"/>
              </a:rPr>
              <a:t>mutex</a:t>
            </a:r>
            <a:endParaRPr lang="en-IN" sz="1400" b="0" i="0" u="none" strike="noStrike" baseline="0" dirty="0" smtClean="0">
              <a:latin typeface="Courier"/>
            </a:endParaRPr>
          </a:p>
          <a:p>
            <a:r>
              <a:rPr lang="en-IN" sz="1400" b="0" i="0" u="none" strike="noStrike" baseline="0" dirty="0" smtClean="0">
                <a:latin typeface="Courier"/>
              </a:rPr>
              <a:t>Access shared resource</a:t>
            </a:r>
          </a:p>
          <a:p>
            <a:r>
              <a:rPr lang="en-IN" sz="1400" b="0" i="0" u="none" strike="noStrike" baseline="0" dirty="0" smtClean="0">
                <a:latin typeface="Courier"/>
              </a:rPr>
              <a:t>Release </a:t>
            </a:r>
            <a:r>
              <a:rPr lang="en-IN" sz="1400" b="0" i="0" u="none" strike="noStrike" baseline="0" dirty="0" err="1" smtClean="0">
                <a:latin typeface="Courier"/>
              </a:rPr>
              <a:t>mutex</a:t>
            </a:r>
            <a:endParaRPr lang="en-IN" sz="1400" b="0" i="0" u="none" strike="noStrike" baseline="0" dirty="0" smtClean="0">
              <a:latin typeface="Courier"/>
            </a:endParaRPr>
          </a:p>
          <a:p>
            <a:r>
              <a:rPr lang="en-IN" sz="1400" b="0" i="0" u="none" strike="noStrike" baseline="0" dirty="0" smtClean="0">
                <a:latin typeface="Courier"/>
              </a:rPr>
              <a:t>:</a:t>
            </a:r>
          </a:p>
          <a:p>
            <a:r>
              <a:rPr lang="en-IN" sz="1400" b="0" i="0" u="none" strike="noStrike" baseline="0" dirty="0" smtClean="0">
                <a:latin typeface="Courier"/>
              </a:rPr>
              <a:t>}</a:t>
            </a:r>
            <a:endParaRPr lang="en-IN" sz="1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84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96" y="1561334"/>
            <a:ext cx="4251556" cy="20528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71205" y="1054696"/>
            <a:ext cx="4493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0" i="0" u="none" strike="noStrike" baseline="0" dirty="0" smtClean="0">
                <a:latin typeface="Times New Roman" panose="02020603050405020304" pitchFamily="18" charset="0"/>
              </a:rPr>
              <a:t>Single shared-resource-access synchronization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562377" y="4068220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0" i="0" u="none" strike="noStrike" baseline="0" dirty="0" err="1" smtClean="0">
                <a:latin typeface="Courier"/>
              </a:rPr>
              <a:t>tAccessTask</a:t>
            </a:r>
            <a:r>
              <a:rPr lang="en-IN" b="0" i="0" u="none" strike="noStrike" baseline="0" dirty="0" smtClean="0">
                <a:latin typeface="Courier"/>
              </a:rPr>
              <a:t> ()</a:t>
            </a:r>
          </a:p>
          <a:p>
            <a:r>
              <a:rPr lang="en-IN" b="0" i="0" u="none" strike="noStrike" baseline="0" dirty="0" smtClean="0">
                <a:latin typeface="Courier"/>
              </a:rPr>
              <a:t>{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Acquire a counting semaphore token</a:t>
            </a:r>
          </a:p>
          <a:p>
            <a:r>
              <a:rPr lang="en-IN" b="0" i="0" u="none" strike="noStrike" baseline="0" dirty="0" smtClean="0">
                <a:latin typeface="Courier"/>
              </a:rPr>
              <a:t>Read or Write to shared resource</a:t>
            </a:r>
          </a:p>
          <a:p>
            <a:r>
              <a:rPr lang="en-IN" b="0" i="0" u="none" strike="noStrike" baseline="0" dirty="0" smtClean="0">
                <a:latin typeface="Courier"/>
              </a:rPr>
              <a:t>Release a counting semaphore token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}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383628" y="3316421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0" i="0" u="none" strike="noStrike" baseline="0" dirty="0" err="1" smtClean="0">
                <a:solidFill>
                  <a:srgbClr val="000000"/>
                </a:solidFill>
                <a:latin typeface="Courier"/>
              </a:rPr>
              <a:t>tAccessTask</a:t>
            </a:r>
            <a:r>
              <a:rPr lang="en-IN" b="0" i="0" u="none" strike="noStrike" baseline="0" dirty="0" smtClean="0">
                <a:solidFill>
                  <a:srgbClr val="000000"/>
                </a:solidFill>
                <a:latin typeface="Courier"/>
              </a:rPr>
              <a:t> ()</a:t>
            </a:r>
          </a:p>
          <a:p>
            <a:r>
              <a:rPr lang="en-IN" b="0" i="0" u="none" strike="noStrike" baseline="0" dirty="0" smtClean="0">
                <a:solidFill>
                  <a:srgbClr val="000000"/>
                </a:solidFill>
                <a:latin typeface="Courier"/>
              </a:rPr>
              <a:t>{</a:t>
            </a:r>
          </a:p>
          <a:p>
            <a:r>
              <a:rPr lang="en-IN" b="0" i="0" u="none" strike="noStrike" baseline="0" dirty="0" smtClean="0">
                <a:solidFill>
                  <a:srgbClr val="231F20"/>
                </a:solidFill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solidFill>
                  <a:srgbClr val="000000"/>
                </a:solidFill>
                <a:latin typeface="Courier"/>
              </a:rPr>
              <a:t>Acquire first </a:t>
            </a:r>
            <a:r>
              <a:rPr lang="en-IN" b="0" i="0" u="none" strike="noStrike" baseline="0" dirty="0" err="1" smtClean="0">
                <a:solidFill>
                  <a:srgbClr val="000000"/>
                </a:solidFill>
                <a:latin typeface="Courier"/>
              </a:rPr>
              <a:t>mutex</a:t>
            </a:r>
            <a:r>
              <a:rPr lang="en-IN" b="0" i="0" u="none" strike="noStrike" baseline="0" dirty="0" smtClean="0">
                <a:solidFill>
                  <a:srgbClr val="000000"/>
                </a:solidFill>
                <a:latin typeface="Courier"/>
              </a:rPr>
              <a:t> in non-blocking way</a:t>
            </a:r>
          </a:p>
          <a:p>
            <a:r>
              <a:rPr lang="en-IN" b="0" i="0" u="none" strike="noStrike" baseline="0" dirty="0" smtClean="0">
                <a:solidFill>
                  <a:srgbClr val="000000"/>
                </a:solidFill>
                <a:latin typeface="Courier"/>
              </a:rPr>
              <a:t>If not successful then acquire 2nd </a:t>
            </a:r>
            <a:r>
              <a:rPr lang="en-IN" b="0" i="0" u="none" strike="noStrike" baseline="0" dirty="0" err="1" smtClean="0">
                <a:solidFill>
                  <a:srgbClr val="000000"/>
                </a:solidFill>
                <a:latin typeface="Courier"/>
              </a:rPr>
              <a:t>mutex</a:t>
            </a:r>
            <a:r>
              <a:rPr lang="en-IN" b="0" i="0" u="none" strike="noStrike" baseline="0" dirty="0" smtClean="0">
                <a:solidFill>
                  <a:srgbClr val="000000"/>
                </a:solidFill>
                <a:latin typeface="Courier"/>
              </a:rPr>
              <a:t> in a blocking way</a:t>
            </a:r>
          </a:p>
          <a:p>
            <a:r>
              <a:rPr lang="en-IN" b="0" i="0" u="none" strike="noStrike" baseline="0" dirty="0" smtClean="0">
                <a:solidFill>
                  <a:srgbClr val="000000"/>
                </a:solidFill>
                <a:latin typeface="Courier"/>
              </a:rPr>
              <a:t>Read or Write to shared resource</a:t>
            </a:r>
          </a:p>
          <a:p>
            <a:r>
              <a:rPr lang="en-IN" b="0" i="0" u="none" strike="noStrike" baseline="0" dirty="0" smtClean="0">
                <a:solidFill>
                  <a:srgbClr val="000000"/>
                </a:solidFill>
                <a:latin typeface="Courier"/>
              </a:rPr>
              <a:t>Release the acquired </a:t>
            </a:r>
            <a:r>
              <a:rPr lang="en-IN" b="0" i="0" u="none" strike="noStrike" baseline="0" dirty="0" err="1" smtClean="0">
                <a:solidFill>
                  <a:srgbClr val="000000"/>
                </a:solidFill>
                <a:latin typeface="Courier"/>
              </a:rPr>
              <a:t>mutex</a:t>
            </a:r>
            <a:endParaRPr lang="en-IN" b="0" i="0" u="none" strike="noStrike" baseline="0" dirty="0" smtClean="0">
              <a:solidFill>
                <a:srgbClr val="000000"/>
              </a:solidFill>
              <a:latin typeface="Courier"/>
            </a:endParaRPr>
          </a:p>
          <a:p>
            <a:r>
              <a:rPr lang="en-IN" b="0" i="0" u="none" strike="noStrike" baseline="0" dirty="0" smtClean="0">
                <a:solidFill>
                  <a:srgbClr val="231F20"/>
                </a:solidFill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solidFill>
                  <a:srgbClr val="000000"/>
                </a:solidFill>
                <a:latin typeface="Courier"/>
              </a:rPr>
              <a:t>}</a:t>
            </a:r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06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351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Message Queues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8642"/>
            <a:ext cx="10515600" cy="5288321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A message queue is a buffer-like object through which tasks and ISRs send and receive messages to </a:t>
            </a:r>
            <a:r>
              <a:rPr lang="en-IN" sz="2400" dirty="0" smtClean="0"/>
              <a:t>communicate and synchronize </a:t>
            </a:r>
            <a:r>
              <a:rPr lang="en-IN" sz="2400" dirty="0"/>
              <a:t>with data. A message queue is like a pipeline</a:t>
            </a:r>
            <a:r>
              <a:rPr lang="en-IN" sz="2400" dirty="0" smtClean="0"/>
              <a:t>.</a:t>
            </a:r>
          </a:p>
          <a:p>
            <a:pPr algn="just"/>
            <a:r>
              <a:rPr lang="en-IN" sz="2400" dirty="0" smtClean="0"/>
              <a:t> </a:t>
            </a:r>
            <a:r>
              <a:rPr lang="en-IN" sz="2400" dirty="0"/>
              <a:t>It temporarily holds messages from a sender until </a:t>
            </a:r>
            <a:r>
              <a:rPr lang="en-IN" sz="2400" dirty="0" smtClean="0"/>
              <a:t>the intended </a:t>
            </a:r>
            <a:r>
              <a:rPr lang="en-IN" sz="2400" dirty="0"/>
              <a:t>receiver is ready to read them. </a:t>
            </a:r>
            <a:endParaRPr lang="en-IN" sz="2400" dirty="0" smtClean="0"/>
          </a:p>
          <a:p>
            <a:pPr algn="just"/>
            <a:r>
              <a:rPr lang="en-IN" sz="2400" dirty="0" smtClean="0"/>
              <a:t>This </a:t>
            </a:r>
            <a:r>
              <a:rPr lang="en-IN" sz="2400" dirty="0"/>
              <a:t>temporary buffering decouples a sending and receiving task; that is, </a:t>
            </a:r>
            <a:r>
              <a:rPr lang="en-IN" sz="2400" dirty="0" smtClean="0"/>
              <a:t>it frees </a:t>
            </a:r>
            <a:r>
              <a:rPr lang="en-IN" sz="2400" dirty="0"/>
              <a:t>the tasks from having to send and receive messages simultaneously.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234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253" y="670408"/>
            <a:ext cx="4689437" cy="29926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82073" y="3799235"/>
            <a:ext cx="103717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0" i="0" u="none" strike="noStrike" baseline="0" dirty="0" smtClean="0">
                <a:latin typeface="Times New Roman" panose="02020603050405020304" pitchFamily="18" charset="0"/>
              </a:rPr>
              <a:t>A message queue, its associated parameters, and supporting data structures</a:t>
            </a:r>
            <a:endParaRPr lang="en-IN" sz="2400" dirty="0"/>
          </a:p>
        </p:txBody>
      </p:sp>
      <p:sp>
        <p:nvSpPr>
          <p:cNvPr id="6" name="Rectangle 5"/>
          <p:cNvSpPr/>
          <p:nvPr/>
        </p:nvSpPr>
        <p:spPr>
          <a:xfrm>
            <a:off x="382073" y="4107012"/>
            <a:ext cx="1119603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0" i="0" u="none" strike="noStrike" baseline="0" dirty="0" smtClean="0">
                <a:latin typeface="Times New Roman" panose="02020603050405020304" pitchFamily="18" charset="0"/>
              </a:rPr>
              <a:t>When a message queue is first created, it is assigned an associated queue control block (QCB), a message queue name, a unique ID, memory buffers, a queue length, a maximum message length, and one</a:t>
            </a:r>
          </a:p>
          <a:p>
            <a:r>
              <a:rPr lang="en-IN" sz="2400" b="0" i="0" u="none" strike="noStrike" baseline="0" dirty="0" smtClean="0">
                <a:latin typeface="Times New Roman" panose="02020603050405020304" pitchFamily="18" charset="0"/>
              </a:rPr>
              <a:t>or more task-waiting lists</a:t>
            </a:r>
            <a:endParaRPr lang="en-IN" sz="2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11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42" y="3472948"/>
            <a:ext cx="5384897" cy="243287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24125" y="2792536"/>
            <a:ext cx="38331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0" i="0" u="none" strike="noStrike" baseline="0" dirty="0" smtClean="0">
                <a:latin typeface="Times New Roman" panose="02020603050405020304" pitchFamily="18" charset="0"/>
              </a:rPr>
              <a:t>The state diagram for a message queue.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061" y="3754456"/>
            <a:ext cx="3942463" cy="215136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72011" y="29106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0" i="0" u="none" strike="noStrike" baseline="0" dirty="0" smtClean="0">
                <a:latin typeface="Times New Roman" panose="02020603050405020304" pitchFamily="18" charset="0"/>
              </a:rPr>
              <a:t>Message copying and memory use for sending and receiving messages.</a:t>
            </a:r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1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803" y="378004"/>
            <a:ext cx="10515600" cy="31745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Message Queue Storage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50006"/>
            <a:ext cx="10515600" cy="532695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400" b="1" dirty="0" smtClean="0"/>
              <a:t>System </a:t>
            </a:r>
            <a:r>
              <a:rPr lang="en-IN" sz="2400" b="1" dirty="0"/>
              <a:t>Pools</a:t>
            </a:r>
          </a:p>
          <a:p>
            <a:pPr algn="just"/>
            <a:r>
              <a:rPr lang="en-IN" sz="2400" dirty="0"/>
              <a:t>Using a system pool can be advantageous if it is certain that all message queues will never be filled to capacity at </a:t>
            </a:r>
            <a:r>
              <a:rPr lang="en-IN" sz="2400" dirty="0" smtClean="0"/>
              <a:t>the same </a:t>
            </a:r>
            <a:r>
              <a:rPr lang="en-IN" sz="2400" dirty="0"/>
              <a:t>time. </a:t>
            </a:r>
            <a:endParaRPr lang="en-IN" sz="2400" dirty="0" smtClean="0"/>
          </a:p>
          <a:p>
            <a:pPr algn="just"/>
            <a:r>
              <a:rPr lang="en-IN" sz="2400" dirty="0" smtClean="0"/>
              <a:t>The </a:t>
            </a:r>
            <a:r>
              <a:rPr lang="en-IN" sz="2400" dirty="0"/>
              <a:t>advantage occurs because system pools typically save on memory use. The downside is that </a:t>
            </a:r>
            <a:r>
              <a:rPr lang="en-IN" sz="2400" dirty="0" smtClean="0"/>
              <a:t>a message </a:t>
            </a:r>
            <a:r>
              <a:rPr lang="en-IN" sz="2400" dirty="0"/>
              <a:t>queue with large messages can easily use most of the pooled memory, not leaving enough memory for </a:t>
            </a:r>
            <a:r>
              <a:rPr lang="en-IN" sz="2400" dirty="0" smtClean="0"/>
              <a:t>other message </a:t>
            </a:r>
            <a:r>
              <a:rPr lang="en-IN" sz="2400" dirty="0"/>
              <a:t>queues. Indications that this problem is occurring include a message queue that is not full that starts </a:t>
            </a:r>
            <a:r>
              <a:rPr lang="en-IN" sz="2400" dirty="0" smtClean="0"/>
              <a:t>rejecting messages </a:t>
            </a:r>
            <a:r>
              <a:rPr lang="en-IN" sz="2400" dirty="0"/>
              <a:t>sent to it or a full message queue that continues to accept more </a:t>
            </a:r>
            <a:r>
              <a:rPr lang="en-IN" sz="2400" dirty="0" smtClean="0"/>
              <a:t>messages.</a:t>
            </a:r>
          </a:p>
          <a:p>
            <a:pPr marL="0" indent="0" algn="just">
              <a:buNone/>
            </a:pPr>
            <a:r>
              <a:rPr lang="en-IN" sz="2400" b="1" dirty="0" smtClean="0"/>
              <a:t>Private </a:t>
            </a:r>
            <a:r>
              <a:rPr lang="en-IN" sz="2400" b="1" dirty="0"/>
              <a:t>Buffers</a:t>
            </a:r>
          </a:p>
          <a:p>
            <a:pPr algn="just"/>
            <a:r>
              <a:rPr lang="en-IN" sz="2400" dirty="0"/>
              <a:t>Using private buffers, on the other hand, requires enough reserved memory area for the full capacity of </a:t>
            </a:r>
            <a:r>
              <a:rPr lang="en-IN" sz="2400" dirty="0" smtClean="0"/>
              <a:t>every message </a:t>
            </a:r>
            <a:r>
              <a:rPr lang="en-IN" sz="2400" dirty="0"/>
              <a:t>queue that will be created. </a:t>
            </a:r>
            <a:endParaRPr lang="en-IN" sz="2400" dirty="0" smtClean="0"/>
          </a:p>
          <a:p>
            <a:pPr algn="just"/>
            <a:r>
              <a:rPr lang="en-IN" sz="2400" dirty="0" smtClean="0"/>
              <a:t>This </a:t>
            </a:r>
            <a:r>
              <a:rPr lang="en-IN" sz="2400" dirty="0"/>
              <a:t>approach clearly uses up more memory; however, it also ensures </a:t>
            </a:r>
            <a:r>
              <a:rPr lang="en-IN" sz="2400" dirty="0" smtClean="0"/>
              <a:t>that messages </a:t>
            </a:r>
            <a:r>
              <a:rPr lang="en-IN" sz="2400" dirty="0"/>
              <a:t>do not get overwritten and that room is available for all messages, resulting in better reliability than the </a:t>
            </a:r>
            <a:r>
              <a:rPr lang="en-IN" sz="2400" dirty="0" smtClean="0"/>
              <a:t>pool approach</a:t>
            </a:r>
            <a:r>
              <a:rPr lang="en-IN" sz="2400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3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93159"/>
            <a:ext cx="10515600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Typical Message Queue Operations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957" y="1685589"/>
            <a:ext cx="10515600" cy="5172411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Typical message queue operations include the following</a:t>
            </a:r>
            <a:r>
              <a:rPr lang="en-IN" sz="2400" dirty="0" smtClean="0"/>
              <a:t>:</a:t>
            </a:r>
            <a:endParaRPr lang="en-IN" sz="2400" dirty="0"/>
          </a:p>
          <a:p>
            <a:pPr algn="just"/>
            <a:r>
              <a:rPr lang="en-IN" sz="2400" dirty="0"/>
              <a:t>creating and deleting message queues</a:t>
            </a:r>
            <a:r>
              <a:rPr lang="en-IN" sz="2400" dirty="0" smtClean="0"/>
              <a:t>,</a:t>
            </a:r>
            <a:endParaRPr lang="en-IN" sz="2400" dirty="0"/>
          </a:p>
          <a:p>
            <a:pPr algn="just"/>
            <a:r>
              <a:rPr lang="en-IN" sz="2400" dirty="0"/>
              <a:t>sending and receiving messages, </a:t>
            </a:r>
            <a:r>
              <a:rPr lang="en-IN" sz="2400" dirty="0" smtClean="0"/>
              <a:t>and</a:t>
            </a:r>
            <a:endParaRPr lang="en-IN" sz="2400" dirty="0"/>
          </a:p>
          <a:p>
            <a:pPr algn="just"/>
            <a:r>
              <a:rPr lang="en-IN" sz="2400" dirty="0"/>
              <a:t>obtaining message queue information.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66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864" y="944675"/>
            <a:ext cx="10515600" cy="52351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Typical Message Queue Use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867" y="1569679"/>
            <a:ext cx="10515600" cy="5288321"/>
          </a:xfrm>
        </p:spPr>
        <p:txBody>
          <a:bodyPr/>
          <a:lstStyle/>
          <a:p>
            <a:r>
              <a:rPr lang="en-IN" dirty="0"/>
              <a:t>non-interlocked, one-way data communication,</a:t>
            </a:r>
          </a:p>
          <a:p>
            <a:r>
              <a:rPr lang="en-IN" dirty="0" smtClean="0"/>
              <a:t>interlocked</a:t>
            </a:r>
            <a:r>
              <a:rPr lang="en-IN" dirty="0"/>
              <a:t>, one-way data communication</a:t>
            </a:r>
            <a:r>
              <a:rPr lang="en-IN" dirty="0" smtClean="0"/>
              <a:t>,</a:t>
            </a:r>
            <a:endParaRPr lang="en-IN" dirty="0"/>
          </a:p>
          <a:p>
            <a:r>
              <a:rPr lang="en-IN" dirty="0"/>
              <a:t>interlocked, two-way data communication, </a:t>
            </a:r>
            <a:r>
              <a:rPr lang="en-IN" dirty="0" smtClean="0"/>
              <a:t>and</a:t>
            </a:r>
            <a:endParaRPr lang="en-IN" dirty="0"/>
          </a:p>
          <a:p>
            <a:r>
              <a:rPr lang="en-IN" dirty="0"/>
              <a:t>broadcast communication.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973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94" y="2029565"/>
            <a:ext cx="4869741" cy="52253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5296" y="1273866"/>
            <a:ext cx="5327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0" i="0" u="none" strike="noStrike" baseline="0" dirty="0" smtClean="0">
                <a:latin typeface="Times New Roman" panose="02020603050405020304" pitchFamily="18" charset="0"/>
              </a:rPr>
              <a:t>Figure : Non-interlocked, one-way data communication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94952" y="286706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0" i="0" u="none" strike="noStrike" baseline="0" dirty="0" err="1" smtClean="0">
                <a:latin typeface="Courier"/>
              </a:rPr>
              <a:t>tSourceTask</a:t>
            </a:r>
            <a:r>
              <a:rPr lang="en-IN" b="0" i="0" u="none" strike="noStrike" baseline="0" dirty="0" smtClean="0">
                <a:latin typeface="Courier"/>
              </a:rPr>
              <a:t> ()</a:t>
            </a:r>
          </a:p>
          <a:p>
            <a:r>
              <a:rPr lang="en-IN" b="0" i="0" u="none" strike="noStrike" baseline="0" dirty="0" smtClean="0">
                <a:latin typeface="Courier"/>
              </a:rPr>
              <a:t>{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da-DK" b="0" i="0" u="none" strike="noStrike" baseline="0" dirty="0" smtClean="0">
                <a:latin typeface="Courier"/>
              </a:rPr>
              <a:t>Send message to message queue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}</a:t>
            </a:r>
          </a:p>
          <a:p>
            <a:r>
              <a:rPr lang="en-IN" b="0" i="0" u="none" strike="noStrike" baseline="0" dirty="0" err="1" smtClean="0">
                <a:latin typeface="Courier"/>
              </a:rPr>
              <a:t>tSinkTask</a:t>
            </a:r>
            <a:r>
              <a:rPr lang="en-IN" b="0" i="0" u="none" strike="noStrike" baseline="0" dirty="0" smtClean="0">
                <a:latin typeface="Courier"/>
              </a:rPr>
              <a:t> ()</a:t>
            </a:r>
          </a:p>
          <a:p>
            <a:r>
              <a:rPr lang="en-IN" b="0" i="0" u="none" strike="noStrike" baseline="0" dirty="0" smtClean="0">
                <a:latin typeface="Courier"/>
              </a:rPr>
              <a:t>{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Receive message from message queue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}</a:t>
            </a:r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737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63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329" y="838872"/>
            <a:ext cx="3839432" cy="11166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0907" y="2208946"/>
            <a:ext cx="48654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0" i="0" u="none" strike="noStrike" baseline="0" dirty="0" smtClean="0">
                <a:latin typeface="Times New Roman" panose="02020603050405020304" pitchFamily="18" charset="0"/>
              </a:rPr>
              <a:t>Figure : Interlocked, one-way data communication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6096000" y="2208946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0" i="0" u="none" strike="noStrike" baseline="0" dirty="0" err="1" smtClean="0">
                <a:latin typeface="Courier"/>
              </a:rPr>
              <a:t>tSourceTask</a:t>
            </a:r>
            <a:r>
              <a:rPr lang="en-IN" b="0" i="0" u="none" strike="noStrike" baseline="0" dirty="0" smtClean="0">
                <a:latin typeface="Courier"/>
              </a:rPr>
              <a:t> ()</a:t>
            </a:r>
          </a:p>
          <a:p>
            <a:r>
              <a:rPr lang="en-IN" b="0" i="0" u="none" strike="noStrike" baseline="0" dirty="0" smtClean="0">
                <a:latin typeface="Courier"/>
              </a:rPr>
              <a:t>{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da-DK" b="0" i="0" u="none" strike="noStrike" baseline="0" dirty="0" smtClean="0">
                <a:latin typeface="Courier"/>
              </a:rPr>
              <a:t>Send message to message queue</a:t>
            </a:r>
          </a:p>
          <a:p>
            <a:r>
              <a:rPr lang="en-IN" b="0" i="0" u="none" strike="noStrike" baseline="0" dirty="0" smtClean="0">
                <a:latin typeface="Courier"/>
              </a:rPr>
              <a:t>Acquire binary semaphore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}</a:t>
            </a:r>
          </a:p>
          <a:p>
            <a:r>
              <a:rPr lang="en-IN" b="0" i="0" u="none" strike="noStrike" baseline="0" dirty="0" err="1" smtClean="0">
                <a:latin typeface="Courier"/>
              </a:rPr>
              <a:t>tSinkTask</a:t>
            </a:r>
            <a:r>
              <a:rPr lang="en-IN" b="0" i="0" u="none" strike="noStrike" baseline="0" dirty="0" smtClean="0">
                <a:latin typeface="Courier"/>
              </a:rPr>
              <a:t> ()</a:t>
            </a:r>
          </a:p>
          <a:p>
            <a:r>
              <a:rPr lang="en-IN" b="0" i="0" u="none" strike="noStrike" baseline="0" dirty="0" smtClean="0">
                <a:latin typeface="Courier"/>
              </a:rPr>
              <a:t>{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Receive message from message queue</a:t>
            </a:r>
          </a:p>
          <a:p>
            <a:r>
              <a:rPr lang="en-IN" b="0" i="0" u="none" strike="noStrike" baseline="0" dirty="0" smtClean="0">
                <a:latin typeface="Courier"/>
              </a:rPr>
              <a:t>Give binary semaphore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911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66" y="994166"/>
            <a:ext cx="4489968" cy="1152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6822" y="2146342"/>
            <a:ext cx="4878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0" i="0" u="none" strike="noStrike" baseline="0" dirty="0" smtClean="0">
                <a:latin typeface="Times New Roman" panose="02020603050405020304" pitchFamily="18" charset="0"/>
              </a:rPr>
              <a:t>Figure : Interlocked, two-way data communication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420709" y="2621019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0" i="0" u="none" strike="noStrike" baseline="0" dirty="0" err="1" smtClean="0">
                <a:latin typeface="Courier"/>
              </a:rPr>
              <a:t>tClientTask</a:t>
            </a:r>
            <a:r>
              <a:rPr lang="en-IN" b="0" i="0" u="none" strike="noStrike" baseline="0" dirty="0" smtClean="0">
                <a:latin typeface="Courier"/>
              </a:rPr>
              <a:t> ()</a:t>
            </a:r>
          </a:p>
          <a:p>
            <a:r>
              <a:rPr lang="en-IN" b="0" i="0" u="none" strike="noStrike" baseline="0" dirty="0" smtClean="0">
                <a:latin typeface="Courier"/>
              </a:rPr>
              <a:t>{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Send a message to the requests queue</a:t>
            </a:r>
          </a:p>
          <a:p>
            <a:r>
              <a:rPr lang="en-IN" b="0" i="0" u="none" strike="noStrike" baseline="0" dirty="0" smtClean="0">
                <a:latin typeface="Courier"/>
              </a:rPr>
              <a:t>Wait for message from the server queue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}</a:t>
            </a:r>
          </a:p>
          <a:p>
            <a:r>
              <a:rPr lang="en-IN" b="0" i="0" u="none" strike="noStrike" baseline="0" dirty="0" err="1" smtClean="0">
                <a:latin typeface="Courier"/>
              </a:rPr>
              <a:t>tServerTask</a:t>
            </a:r>
            <a:r>
              <a:rPr lang="en-IN" b="0" i="0" u="none" strike="noStrike" baseline="0" dirty="0" smtClean="0">
                <a:latin typeface="Courier"/>
              </a:rPr>
              <a:t> ()</a:t>
            </a:r>
          </a:p>
          <a:p>
            <a:r>
              <a:rPr lang="en-IN" b="0" i="0" u="none" strike="noStrike" baseline="0" dirty="0" smtClean="0">
                <a:latin typeface="Courier"/>
              </a:rPr>
              <a:t>{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Receive a message from the requests queue</a:t>
            </a:r>
          </a:p>
          <a:p>
            <a:r>
              <a:rPr lang="en-IN" b="0" i="0" u="none" strike="noStrike" baseline="0" dirty="0" smtClean="0">
                <a:latin typeface="Courier"/>
              </a:rPr>
              <a:t>Send a message to the client queue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}</a:t>
            </a:r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47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65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78" y="1093899"/>
            <a:ext cx="4353060" cy="146272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27278" y="2556626"/>
            <a:ext cx="3230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0" i="0" u="none" strike="noStrike" baseline="0" dirty="0" smtClean="0">
                <a:latin typeface="Times New Roman" panose="02020603050405020304" pitchFamily="18" charset="0"/>
              </a:rPr>
              <a:t>Figure : Broadcasting messages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5709633" y="1839115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0" i="0" u="none" strike="noStrike" baseline="0" dirty="0" err="1" smtClean="0">
                <a:latin typeface="Courier"/>
              </a:rPr>
              <a:t>tBroadcastTask</a:t>
            </a:r>
            <a:r>
              <a:rPr lang="en-IN" b="0" i="0" u="none" strike="noStrike" baseline="0" dirty="0" smtClean="0">
                <a:latin typeface="Courier"/>
              </a:rPr>
              <a:t> ()</a:t>
            </a:r>
          </a:p>
          <a:p>
            <a:r>
              <a:rPr lang="en-IN" b="0" i="0" u="none" strike="noStrike" baseline="0" dirty="0" smtClean="0">
                <a:latin typeface="Courier"/>
              </a:rPr>
              <a:t>{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Send broadcast message to queue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}</a:t>
            </a:r>
          </a:p>
          <a:p>
            <a:r>
              <a:rPr lang="en-IN" b="0" i="0" u="none" strike="noStrike" baseline="0" dirty="0" smtClean="0">
                <a:latin typeface="Courier"/>
              </a:rPr>
              <a:t>Note: similar code for </a:t>
            </a:r>
            <a:r>
              <a:rPr lang="en-IN" b="0" i="0" u="none" strike="noStrike" baseline="0" dirty="0" err="1" smtClean="0">
                <a:latin typeface="Courier"/>
              </a:rPr>
              <a:t>tSignalTasks</a:t>
            </a:r>
            <a:r>
              <a:rPr lang="en-IN" b="0" i="0" u="none" strike="noStrike" baseline="0" dirty="0" smtClean="0">
                <a:latin typeface="Courier"/>
              </a:rPr>
              <a:t> 1, 2, and 3.</a:t>
            </a:r>
          </a:p>
          <a:p>
            <a:r>
              <a:rPr lang="en-IN" b="0" i="0" u="none" strike="noStrike" baseline="0" dirty="0" err="1" smtClean="0">
                <a:latin typeface="Courier"/>
              </a:rPr>
              <a:t>tSignalTask</a:t>
            </a:r>
            <a:r>
              <a:rPr lang="en-IN" b="0" i="0" u="none" strike="noStrike" baseline="0" dirty="0" smtClean="0">
                <a:latin typeface="Courier"/>
              </a:rPr>
              <a:t> ()</a:t>
            </a:r>
          </a:p>
          <a:p>
            <a:r>
              <a:rPr lang="en-IN" b="0" i="0" u="none" strike="noStrike" baseline="0" dirty="0" smtClean="0">
                <a:latin typeface="Courier"/>
              </a:rPr>
              <a:t>{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Receive message on queue</a:t>
            </a:r>
          </a:p>
          <a:p>
            <a:r>
              <a:rPr lang="en-IN" b="0" i="0" u="none" strike="noStrike" baseline="0" dirty="0" smtClean="0">
                <a:latin typeface="Courier"/>
              </a:rPr>
              <a:t>:</a:t>
            </a:r>
          </a:p>
          <a:p>
            <a:r>
              <a:rPr lang="en-IN" b="0" i="0" u="none" strike="noStrike" baseline="0" dirty="0" smtClean="0">
                <a:latin typeface="Courier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0286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210" y="290175"/>
            <a:ext cx="10515600" cy="41436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Event Registers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09730" y="944302"/>
            <a:ext cx="1114768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i="1" dirty="0" smtClean="0"/>
              <a:t>Event register, is an object belonging to a task and consists of a group of binary event flags used to track </a:t>
            </a:r>
            <a:r>
              <a:rPr lang="en-US" sz="2000" dirty="0" smtClean="0"/>
              <a:t>the occurrence of specific events.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/>
              <a:t>An event register can be 8-, 16-, or 32-bits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/>
              <a:t> Each bit in the event register is treated like a binary flag (also called an event flag) and can be either set or cleared.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409730" y="2540433"/>
            <a:ext cx="1095281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/>
              <a:t>Through the event register, a task can check for the presence of particular events that can control its execution.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/>
              <a:t>An external source, such as another task or an ISR, can set bits in the event register to inform the task that a particular event has occurred.</a:t>
            </a: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81666" y="3612631"/>
            <a:ext cx="5366478" cy="3043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66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079" y="796194"/>
            <a:ext cx="10515600" cy="764499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Event Register Control Blocks</a:t>
            </a:r>
            <a:endParaRPr lang="en-US" sz="4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1643" y="1665089"/>
            <a:ext cx="2847016" cy="4485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5063227" y="3708709"/>
            <a:ext cx="6096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4125391" y="1665089"/>
            <a:ext cx="750507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 smtClean="0"/>
              <a:t>The </a:t>
            </a:r>
            <a:r>
              <a:rPr lang="en-US" sz="2000" dirty="0"/>
              <a:t>task specifies the set of events it wishes to receive. This set of events is maintained in the wanted events register.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/>
              <a:t>Similarly, arrived events are kept in the received events register. The task indicates a timeout to specify how long it wishes to wait for the arrival of certain events.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/>
              <a:t>The kernel wakes up the task when this timeout has elapsed if no specified events have arrived at the task.</a:t>
            </a:r>
          </a:p>
          <a:p>
            <a:pPr algn="just"/>
            <a:endParaRPr lang="en-US" sz="2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67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168" y="877889"/>
            <a:ext cx="10515600" cy="666841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Typical Uses of Event Registers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442" y="1503997"/>
            <a:ext cx="10515600" cy="535400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Event registers are typically used for unidirectional activity  synchronization. </a:t>
            </a:r>
          </a:p>
          <a:p>
            <a:r>
              <a:rPr lang="en-US" sz="2400" dirty="0" smtClean="0"/>
              <a:t>It is unidirectional because the issuer of the receive operation determines when activity synchronization should take place. </a:t>
            </a:r>
          </a:p>
          <a:p>
            <a:r>
              <a:rPr lang="en-US" sz="2400" dirty="0" smtClean="0"/>
              <a:t>Pending events in the event register do not change the execution state of the receiving task.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7914" y="3774980"/>
            <a:ext cx="6092068" cy="1897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68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Qing </a:t>
            </a:r>
            <a:r>
              <a:rPr lang="en-US"/>
              <a:t>Li with Caroline Yao, Real-Time Concepts for Embedded Systems, 1E, Published, 2011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903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Thank you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OSESD_17EECC304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14E2-E17C-4B0B-B980-F5F159A5E05A}" type="slidenum">
              <a:rPr lang="en-IN" smtClean="0"/>
              <a:pPr/>
              <a:t>70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049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3528</Words>
  <Application>Microsoft Office PowerPoint</Application>
  <PresentationFormat>Custom</PresentationFormat>
  <Paragraphs>551</Paragraphs>
  <Slides>70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Office Theme</vt:lpstr>
      <vt:lpstr>Introduction To Real-Time Operating Systems</vt:lpstr>
      <vt:lpstr>Content </vt:lpstr>
      <vt:lpstr>Why RTOS?</vt:lpstr>
      <vt:lpstr>Introduction to Real- Time Operating System</vt:lpstr>
      <vt:lpstr>Types of RTOS</vt:lpstr>
      <vt:lpstr>PowerPoint Presentation</vt:lpstr>
      <vt:lpstr>PowerPoint Presentation</vt:lpstr>
      <vt:lpstr>PowerPoint Presentation</vt:lpstr>
      <vt:lpstr>Time Efficiency Curves for RTOS</vt:lpstr>
      <vt:lpstr>Key Characteristics of an RTOS</vt:lpstr>
      <vt:lpstr>Comaprision </vt:lpstr>
      <vt:lpstr>Structure of RTOS</vt:lpstr>
      <vt:lpstr>PowerPoint Presentation</vt:lpstr>
      <vt:lpstr>PowerPoint Presentation</vt:lpstr>
      <vt:lpstr>The Scheduler</vt:lpstr>
      <vt:lpstr>Schedulable Entities</vt:lpstr>
      <vt:lpstr>Multitasking</vt:lpstr>
      <vt:lpstr>The Context Switch</vt:lpstr>
      <vt:lpstr>The Dispatcher</vt:lpstr>
      <vt:lpstr>Scheduling Algorithms</vt:lpstr>
      <vt:lpstr>Preemptive Priority-Based Scheduling</vt:lpstr>
      <vt:lpstr>Round-Robin Scheduling</vt:lpstr>
      <vt:lpstr>Objects</vt:lpstr>
      <vt:lpstr>Services</vt:lpstr>
      <vt:lpstr>Tasks</vt:lpstr>
      <vt:lpstr>Task Structure </vt:lpstr>
      <vt:lpstr>System tasks are…</vt:lpstr>
      <vt:lpstr>Task States and Scheduling</vt:lpstr>
      <vt:lpstr>Running State</vt:lpstr>
      <vt:lpstr>Blocked State</vt:lpstr>
      <vt:lpstr>Typical Task Operations</vt:lpstr>
      <vt:lpstr>Semaphores</vt:lpstr>
      <vt:lpstr>PowerPoint Presentation</vt:lpstr>
      <vt:lpstr>Counting Semaphores</vt:lpstr>
      <vt:lpstr>Mutual Exclusion (Mutex) Semaphores</vt:lpstr>
      <vt:lpstr>PowerPoint Presentation</vt:lpstr>
      <vt:lpstr>PowerPoint Presentation</vt:lpstr>
      <vt:lpstr>PowerPoint Presentation</vt:lpstr>
      <vt:lpstr>PowerPoint Presentation</vt:lpstr>
      <vt:lpstr>Priority Inversion</vt:lpstr>
      <vt:lpstr>Bounded Priority Inversion</vt:lpstr>
      <vt:lpstr>Un-Bounded Priority Inversion</vt:lpstr>
      <vt:lpstr>PowerPoint Presentation</vt:lpstr>
      <vt:lpstr>Priority Inheritance Protocol </vt:lpstr>
      <vt:lpstr>Priority Inheritance Protocol rules. </vt:lpstr>
      <vt:lpstr>Ceiling Priority Protocol </vt:lpstr>
      <vt:lpstr>Ceiling Priority Protocol </vt:lpstr>
      <vt:lpstr>PowerPoint Presentation</vt:lpstr>
      <vt:lpstr>Typical Semaphore Use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Message Queues</vt:lpstr>
      <vt:lpstr>PowerPoint Presentation</vt:lpstr>
      <vt:lpstr>PowerPoint Presentation</vt:lpstr>
      <vt:lpstr>Message Queue Storage</vt:lpstr>
      <vt:lpstr>Typical Message Queue Operations</vt:lpstr>
      <vt:lpstr>Typical Message Queue Use</vt:lpstr>
      <vt:lpstr>PowerPoint Presentation</vt:lpstr>
      <vt:lpstr>PowerPoint Presentation</vt:lpstr>
      <vt:lpstr>PowerPoint Presentation</vt:lpstr>
      <vt:lpstr>PowerPoint Presentation</vt:lpstr>
      <vt:lpstr>Event Registers</vt:lpstr>
      <vt:lpstr>Event Register Control Blocks</vt:lpstr>
      <vt:lpstr>Typical Uses of Event Registers</vt:lpstr>
      <vt:lpstr>References </vt:lpstr>
      <vt:lpstr>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You</dc:creator>
  <cp:lastModifiedBy>Acer</cp:lastModifiedBy>
  <cp:revision>231</cp:revision>
  <dcterms:created xsi:type="dcterms:W3CDTF">2015-08-26T06:02:44Z</dcterms:created>
  <dcterms:modified xsi:type="dcterms:W3CDTF">2021-08-21T09:27:59Z</dcterms:modified>
</cp:coreProperties>
</file>