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  <p:sldId id="301" r:id="rId4"/>
    <p:sldId id="302" r:id="rId5"/>
    <p:sldId id="303" r:id="rId6"/>
    <p:sldId id="304" r:id="rId7"/>
    <p:sldId id="327" r:id="rId8"/>
    <p:sldId id="328" r:id="rId9"/>
    <p:sldId id="329" r:id="rId10"/>
    <p:sldId id="305" r:id="rId11"/>
    <p:sldId id="306" r:id="rId12"/>
    <p:sldId id="307" r:id="rId13"/>
    <p:sldId id="308" r:id="rId14"/>
    <p:sldId id="309" r:id="rId15"/>
    <p:sldId id="310" r:id="rId16"/>
    <p:sldId id="326" r:id="rId17"/>
    <p:sldId id="311" r:id="rId18"/>
    <p:sldId id="312" r:id="rId19"/>
    <p:sldId id="313" r:id="rId20"/>
    <p:sldId id="325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261" r:id="rId33"/>
    <p:sldId id="260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1" r:id="rId43"/>
    <p:sldId id="270" r:id="rId44"/>
    <p:sldId id="272" r:id="rId45"/>
    <p:sldId id="273" r:id="rId46"/>
    <p:sldId id="274" r:id="rId47"/>
    <p:sldId id="275" r:id="rId48"/>
    <p:sldId id="276" r:id="rId49"/>
    <p:sldId id="277" r:id="rId50"/>
    <p:sldId id="278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5400" dirty="0" smtClean="0"/>
              <a:t> </a:t>
            </a:r>
            <a:r>
              <a:rPr lang="en-US" sz="5400" dirty="0" smtClean="0"/>
              <a:t>Introduction To Embedded System </a:t>
            </a:r>
            <a:endParaRPr lang="en-US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</a:rPr>
              <a:t>Embedded System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sz="2400" dirty="0" smtClean="0"/>
              <a:t>An embedded system is an electronic/electro-mechanical system designed to perform a specific function and is a combination of both hardware and firmware (software)</a:t>
            </a:r>
          </a:p>
          <a:p>
            <a:pPr algn="just" eaLnBrk="1" hangingPunct="1">
              <a:defRPr/>
            </a:pPr>
            <a:r>
              <a:rPr lang="en-US" sz="2400" dirty="0" smtClean="0"/>
              <a:t>An embedded system is some combination of computer hardware and software, either fixed in capability or programmable, that is specifically designed for a particular function.</a:t>
            </a:r>
          </a:p>
          <a:p>
            <a:pPr algn="just" eaLnBrk="1" hangingPunct="1">
              <a:defRPr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 idx="4294967295"/>
          </p:nvPr>
        </p:nvSpPr>
        <p:spPr>
          <a:xfrm>
            <a:off x="533400" y="533400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 sz="3600" dirty="0" smtClean="0">
                <a:solidFill>
                  <a:srgbClr val="FF0000"/>
                </a:solidFill>
              </a:rPr>
              <a:t>Embedded </a:t>
            </a:r>
            <a:r>
              <a:rPr lang="en-US" sz="3600" dirty="0">
                <a:solidFill>
                  <a:srgbClr val="FF0000"/>
                </a:solidFill>
              </a:rPr>
              <a:t>System</a:t>
            </a:r>
            <a:endParaRPr lang="en-US" sz="36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85800" y="1905000"/>
            <a:ext cx="7239000" cy="31242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defRPr/>
            </a:pPr>
            <a:r>
              <a:rPr lang="en-US" sz="2400" dirty="0" smtClean="0"/>
              <a:t>To perform a specific function</a:t>
            </a:r>
          </a:p>
          <a:p>
            <a:pPr marL="0" indent="0" algn="just" eaLnBrk="1" hangingPunct="1">
              <a:lnSpc>
                <a:spcPct val="90000"/>
              </a:lnSpc>
              <a:defRPr/>
            </a:pPr>
            <a:r>
              <a:rPr lang="en-US" sz="2400" dirty="0" smtClean="0"/>
              <a:t>Combination of both h/w and s/w</a:t>
            </a:r>
          </a:p>
          <a:p>
            <a:pPr marL="0" indent="0" algn="just" eaLnBrk="1" hangingPunct="1">
              <a:lnSpc>
                <a:spcPct val="90000"/>
              </a:lnSpc>
              <a:defRPr/>
            </a:pPr>
            <a:r>
              <a:rPr lang="en-US" sz="2400" dirty="0" smtClean="0"/>
              <a:t>May or may not contain an O.S</a:t>
            </a:r>
          </a:p>
          <a:p>
            <a:pPr marL="0" indent="0" algn="just" eaLnBrk="1" hangingPunct="1">
              <a:lnSpc>
                <a:spcPct val="90000"/>
              </a:lnSpc>
              <a:defRPr/>
            </a:pPr>
            <a:r>
              <a:rPr lang="en-US" sz="2400" dirty="0" smtClean="0"/>
              <a:t>The firmware of the embedded system is pre-programmed and it is non alterable by the end user</a:t>
            </a:r>
          </a:p>
          <a:p>
            <a:pPr marL="0" indent="0" algn="just" eaLnBrk="1" hangingPunct="1">
              <a:lnSpc>
                <a:spcPct val="90000"/>
              </a:lnSpc>
              <a:defRPr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</a:rPr>
              <a:t>Classification of ES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en-US" sz="2400" dirty="0" smtClean="0"/>
              <a:t>1. Based on generation</a:t>
            </a:r>
          </a:p>
          <a:p>
            <a:pPr marL="0" indent="0" eaLnBrk="1" hangingPunct="1">
              <a:buNone/>
              <a:defRPr/>
            </a:pPr>
            <a:r>
              <a:rPr lang="en-US" sz="2400" dirty="0" smtClean="0"/>
              <a:t>2. </a:t>
            </a:r>
            <a:r>
              <a:rPr lang="en-US" sz="2400" dirty="0" smtClean="0"/>
              <a:t>Based on Complexity </a:t>
            </a:r>
            <a:endParaRPr lang="en-US" sz="2400" dirty="0" smtClean="0"/>
          </a:p>
          <a:p>
            <a:pPr marL="0" indent="0" eaLnBrk="1" hangingPunct="1">
              <a:buNone/>
              <a:defRPr/>
            </a:pPr>
            <a:r>
              <a:rPr lang="en-US" sz="2400" dirty="0" smtClean="0"/>
              <a:t>3. Based on deterministic behavior</a:t>
            </a:r>
          </a:p>
          <a:p>
            <a:pPr marL="0" indent="0" eaLnBrk="1" hangingPunct="1">
              <a:buNone/>
              <a:defRPr/>
            </a:pPr>
            <a:r>
              <a:rPr lang="en-US" sz="2400" dirty="0" smtClean="0"/>
              <a:t>4. Based on </a:t>
            </a:r>
            <a:r>
              <a:rPr lang="en-US" sz="2400" dirty="0" smtClean="0"/>
              <a:t>triggering</a:t>
            </a:r>
          </a:p>
          <a:p>
            <a:pPr marL="0" indent="0">
              <a:buNone/>
              <a:defRPr/>
            </a:pPr>
            <a:r>
              <a:rPr lang="en-US" sz="2400" dirty="0" smtClean="0"/>
              <a:t>5.Based on </a:t>
            </a:r>
            <a:r>
              <a:rPr lang="en-US" sz="2400" dirty="0"/>
              <a:t>performance and functional requirements</a:t>
            </a:r>
          </a:p>
          <a:p>
            <a:pPr marL="0" indent="0" eaLnBrk="1" hangingPunct="1">
              <a:buNone/>
              <a:defRPr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Classification Based On Generation</a:t>
            </a:r>
            <a:endParaRPr lang="en-US" sz="24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990600"/>
            <a:ext cx="8458200" cy="5638800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sz="3000" dirty="0" smtClean="0"/>
              <a:t>First generation :  8 bit µp like 8085- simple h/w – f/w in assembly code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3000" dirty="0" smtClean="0"/>
              <a:t>     ex: Digital telephone keypads, Stepper motor control units etc...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3000" dirty="0" smtClean="0"/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3000" dirty="0" smtClean="0"/>
              <a:t>Second generation : 16 bit µp and 8/16 bit µc – instruction set much more complex &amp; powerful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3000" dirty="0" smtClean="0"/>
              <a:t>    Some may contain OS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3000" dirty="0" smtClean="0"/>
              <a:t>    ex: Data acquisition systems, SCADA system(</a:t>
            </a:r>
            <a:r>
              <a:rPr lang="en-US" sz="2400" b="1" dirty="0" smtClean="0"/>
              <a:t>supervisory control and data acquisition </a:t>
            </a:r>
            <a:r>
              <a:rPr lang="en-US" sz="2400" dirty="0" smtClean="0"/>
              <a:t> is a type of </a:t>
            </a:r>
            <a:r>
              <a:rPr lang="en-US" sz="2400" dirty="0" smtClean="0"/>
              <a:t>industrial control system(ICS</a:t>
            </a:r>
            <a:r>
              <a:rPr lang="en-US" sz="2400" dirty="0" smtClean="0"/>
              <a:t>). Industrial control systems are </a:t>
            </a:r>
            <a:r>
              <a:rPr lang="en-US" sz="2400" dirty="0" smtClean="0"/>
              <a:t>computer-controlled </a:t>
            </a:r>
            <a:r>
              <a:rPr lang="en-US" sz="2400" dirty="0" smtClean="0"/>
              <a:t>systems that monitor and control industrial processes that exist in the physical world.)</a:t>
            </a:r>
            <a:r>
              <a:rPr lang="en-US" sz="3000" dirty="0" smtClean="0"/>
              <a:t> etc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3000" dirty="0" smtClean="0"/>
              <a:t>    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3000" dirty="0" smtClean="0"/>
              <a:t>Third generation : 32 bit µp and 16 bit µc – DSP and ASIC came to picture – pipelining evolved , may be embedded real time and general purpose OS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3000" dirty="0" smtClean="0"/>
              <a:t>     ex: Robotics, media, industrial process control, networking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3000" dirty="0" smtClean="0"/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3000" dirty="0" smtClean="0"/>
              <a:t>Fourth generation :  advent of SOC  multi core  processors- making use of high performance RTES,   ex: smart phone devices, mobile internet devices etc...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3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dirty="0" smtClean="0">
                <a:solidFill>
                  <a:srgbClr val="FF0000"/>
                </a:solidFill>
              </a:rPr>
              <a:t>2. </a:t>
            </a:r>
            <a:r>
              <a:rPr lang="en-US" sz="3600" dirty="0" smtClean="0">
                <a:solidFill>
                  <a:srgbClr val="FF0000"/>
                </a:solidFill>
              </a:rPr>
              <a:t>Classification Based On Complexity</a:t>
            </a:r>
            <a:endParaRPr lang="en-US" sz="3600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143000"/>
            <a:ext cx="8229600" cy="57150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en-US" sz="3000" dirty="0" smtClean="0"/>
              <a:t>Small scale embedded system: Ex; electronic toy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900" dirty="0" smtClean="0"/>
              <a:t>Simple(built around low </a:t>
            </a:r>
            <a:r>
              <a:rPr lang="en-US" sz="1900" dirty="0" smtClean="0"/>
              <a:t>performance </a:t>
            </a:r>
            <a:r>
              <a:rPr lang="en-US" sz="1900" dirty="0" smtClean="0"/>
              <a:t>&amp; low cost with 8/16 bit up/uc)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900" dirty="0" smtClean="0"/>
              <a:t>Not time critical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900" dirty="0" smtClean="0"/>
              <a:t>Low performance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900" dirty="0" smtClean="0"/>
              <a:t>Low cost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900" dirty="0" smtClean="0"/>
              <a:t>May or may not contain o.s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3000" dirty="0" smtClean="0"/>
              <a:t>medium scale embedded system: ( 16/32 bit)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 smtClean="0"/>
              <a:t>Slight complex in h/w and s/w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 smtClean="0"/>
              <a:t>Medium performance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 smtClean="0"/>
              <a:t>Low cost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 smtClean="0"/>
              <a:t>Usually contain an embedded o.s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dirty="0" smtClean="0"/>
              <a:t>Large scale embedded system </a:t>
            </a:r>
            <a:r>
              <a:rPr lang="en-US" sz="2000" dirty="0" smtClean="0"/>
              <a:t>: (32/64 bit)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 smtClean="0"/>
              <a:t>Highly complex h/w and s/w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 smtClean="0"/>
              <a:t>Demanding high performance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 smtClean="0"/>
              <a:t>May contain multi-core processors and co processors, reconfigurable soc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 smtClean="0"/>
              <a:t>Usually contain RTOS for task scheduling and prioritization management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900" dirty="0" smtClean="0"/>
              <a:t>Ex. Decoding/encoding media, cryptographic etc....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3. Based on </a:t>
            </a:r>
            <a:r>
              <a:rPr lang="en-US" dirty="0" smtClean="0">
                <a:solidFill>
                  <a:srgbClr val="FF0000"/>
                </a:solidFill>
              </a:rPr>
              <a:t>Deterministic Behavior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smtClean="0"/>
              <a:t>1.</a:t>
            </a:r>
            <a:r>
              <a:rPr lang="en-US" sz="2400" b="1" dirty="0" smtClean="0"/>
              <a:t>Hard </a:t>
            </a:r>
            <a:r>
              <a:rPr lang="en-US" sz="2400" b="1" dirty="0"/>
              <a:t>Real time </a:t>
            </a:r>
            <a:r>
              <a:rPr lang="en-US" sz="2400" b="1" dirty="0" smtClean="0"/>
              <a:t>system</a:t>
            </a:r>
          </a:p>
          <a:p>
            <a:pPr algn="just"/>
            <a:r>
              <a:rPr lang="en-US" sz="2400" dirty="0"/>
              <a:t>A real-time operating system should strictly adhere to the timing constraints for a task</a:t>
            </a:r>
            <a:endParaRPr lang="en-US" sz="2400" b="1" dirty="0" smtClean="0"/>
          </a:p>
          <a:p>
            <a:pPr algn="just"/>
            <a:r>
              <a:rPr lang="en-US" sz="2400" dirty="0"/>
              <a:t>The airbag control system and antilock braking system of vehicles are typical examples for hard real-time systems</a:t>
            </a:r>
            <a:endParaRPr lang="en-US" sz="2400" b="1" dirty="0"/>
          </a:p>
          <a:p>
            <a:pPr marL="0" indent="0" algn="just" fontAlgn="base">
              <a:buNone/>
            </a:pPr>
            <a:r>
              <a:rPr lang="en-US" sz="2400" b="1" dirty="0" smtClean="0"/>
              <a:t>2.Soft </a:t>
            </a:r>
            <a:r>
              <a:rPr lang="en-US" sz="2400" b="1" dirty="0"/>
              <a:t>Real time </a:t>
            </a:r>
            <a:r>
              <a:rPr lang="en-US" sz="2400" b="1" dirty="0" smtClean="0"/>
              <a:t>system</a:t>
            </a:r>
          </a:p>
          <a:p>
            <a:pPr algn="just" fontAlgn="base"/>
            <a:r>
              <a:rPr lang="en-US" sz="2400" dirty="0"/>
              <a:t>Missing deadlines for tasks are acceptable for soft real-time systems, but the frequency of deadline missing should be within the compliance </a:t>
            </a:r>
            <a:r>
              <a:rPr lang="en-US" sz="2400" dirty="0" smtClean="0"/>
              <a:t>limit</a:t>
            </a:r>
          </a:p>
          <a:p>
            <a:pPr algn="just" fontAlgn="base"/>
            <a:r>
              <a:rPr lang="en-US" sz="2400" dirty="0"/>
              <a:t>ATM is a typical example of a soft real-time system</a:t>
            </a:r>
            <a:endParaRPr lang="en-US" sz="2400" b="1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8335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4.</a:t>
            </a:r>
            <a:r>
              <a:rPr lang="en-US" b="1" dirty="0">
                <a:solidFill>
                  <a:srgbClr val="FF0000"/>
                </a:solidFill>
              </a:rPr>
              <a:t> Based on triggering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sz="2400" dirty="0"/>
              <a:t>The embedded systems are classified into two types based on the triggering of the systems</a:t>
            </a:r>
            <a:r>
              <a:rPr lang="en-US" sz="2400" dirty="0" smtClean="0"/>
              <a:t>:</a:t>
            </a:r>
          </a:p>
          <a:p>
            <a:pPr lvl="1" algn="just" fontAlgn="base"/>
            <a:r>
              <a:rPr lang="en-US" sz="2000" dirty="0" smtClean="0"/>
              <a:t> </a:t>
            </a:r>
            <a:r>
              <a:rPr lang="en-US" sz="2000" dirty="0"/>
              <a:t>time-triggered and event-triggered</a:t>
            </a:r>
            <a:r>
              <a:rPr lang="en-US" sz="2000" dirty="0" smtClean="0"/>
              <a:t>.</a:t>
            </a:r>
          </a:p>
          <a:p>
            <a:pPr algn="just" fontAlgn="base"/>
            <a:r>
              <a:rPr lang="en-US" sz="2400" dirty="0" smtClean="0"/>
              <a:t>The system </a:t>
            </a:r>
            <a:r>
              <a:rPr lang="en-US" sz="2400" dirty="0"/>
              <a:t>is triggered based on some activity like change in temperature or change in pressure, such system is said to be an event triggered embedded system</a:t>
            </a:r>
            <a:r>
              <a:rPr lang="en-US" sz="2400" dirty="0" smtClean="0"/>
              <a:t>.</a:t>
            </a:r>
          </a:p>
          <a:p>
            <a:pPr marL="342900" lvl="1" indent="-342900" algn="just" fontAlgn="base">
              <a:buFont typeface="Arial" pitchFamily="34" charset="0"/>
              <a:buChar char="•"/>
            </a:pPr>
            <a:r>
              <a:rPr lang="en-US" sz="2400" dirty="0"/>
              <a:t>If a system is activated or triggered based on the pre-defined task or preset time, then such system is said to be the time-triggered embedded system.</a:t>
            </a:r>
          </a:p>
          <a:p>
            <a:pPr algn="just" fontAlgn="base"/>
            <a:endParaRPr lang="en-US" sz="2400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645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5.Based on performance and functional requirements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b="1" dirty="0"/>
              <a:t>Standalone Embedded Systems</a:t>
            </a:r>
          </a:p>
          <a:p>
            <a:pPr algn="just"/>
            <a:r>
              <a:rPr lang="en-US" sz="2800" b="1" dirty="0"/>
              <a:t>Real Time Embedded Systems</a:t>
            </a:r>
          </a:p>
          <a:p>
            <a:pPr algn="just"/>
            <a:r>
              <a:rPr lang="en-US" sz="2800" b="1" dirty="0"/>
              <a:t>Networked Embedded Systems</a:t>
            </a:r>
          </a:p>
          <a:p>
            <a:pPr algn="just"/>
            <a:r>
              <a:rPr lang="en-US" sz="2800" b="1" dirty="0"/>
              <a:t>Mobile Embedded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13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</a:rPr>
              <a:t>Major Application Areas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smtClean="0"/>
              <a:t>Consumer electronics-camcorders, cameras etc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smtClean="0"/>
              <a:t>House hold appliances-television,dvd, washing m/c , oven....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smtClean="0"/>
              <a:t>Security systems-alarms, cameras, fire alarms....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smtClean="0"/>
              <a:t>Automotive industry-antilock breaking s/m, engine control, ignition s/ms, automatic navigation...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smtClean="0"/>
              <a:t>Telecom-cellular telephones, switches, handset...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smtClean="0"/>
              <a:t>Computer networking systems-printers, scanners, fax etc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smtClean="0"/>
              <a:t>Healthcare-EEG,ECG, scanner...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smtClean="0"/>
              <a:t>Measurement and instrumentation-DMM, CRO,s, logic analyzer 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smtClean="0"/>
              <a:t>Banking &amp; retail- ATM, currency counter...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 smtClean="0"/>
              <a:t>Card readers-Barcode, smart card readers....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 smtClean="0">
                <a:solidFill>
                  <a:srgbClr val="FF0000"/>
                </a:solidFill>
              </a:rPr>
              <a:t>PURPOSE OF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 smtClean="0"/>
              <a:t>	Each embedded system is designed to serve the purpose of any one or a combination of the following tasks: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/>
              <a:t>Data collection/storage/representation-data could be text, voice, image, video, electrical signals...(ADC/DAC)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/>
              <a:t>Data communication-wireless n/w router, satellite, wired medium..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/>
              <a:t>Data processing-speech coding, synthesis, audio video codec etc, digital hearing aid, medical applications.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/>
              <a:t>Monitoring –medical domain-EEG,ECG, CRO, DMM, logic anylyzer.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/>
              <a:t>Control- contains both sensors &amp; actuators...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/>
              <a:t>Application specific user interface- buttons, switches, keypads, lights, bells, displays, mobile phones....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00" smtClean="0"/>
              <a:t>ELEMENTS OF AN EMBEDDED SYSTEM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/>
          </a:p>
        </p:txBody>
      </p:sp>
      <p:sp>
        <p:nvSpPr>
          <p:cNvPr id="4" name="Rectangle 3"/>
          <p:cNvSpPr/>
          <p:nvPr/>
        </p:nvSpPr>
        <p:spPr>
          <a:xfrm>
            <a:off x="3886200" y="1905000"/>
            <a:ext cx="1295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3505200"/>
            <a:ext cx="1219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System core</a:t>
            </a:r>
          </a:p>
        </p:txBody>
      </p:sp>
      <p:sp>
        <p:nvSpPr>
          <p:cNvPr id="6" name="Oval 5"/>
          <p:cNvSpPr/>
          <p:nvPr/>
        </p:nvSpPr>
        <p:spPr>
          <a:xfrm>
            <a:off x="762000" y="3581400"/>
            <a:ext cx="24384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I/O  PORTS (SENSORS)</a:t>
            </a:r>
          </a:p>
        </p:txBody>
      </p:sp>
      <p:sp>
        <p:nvSpPr>
          <p:cNvPr id="7" name="Oval 6"/>
          <p:cNvSpPr/>
          <p:nvPr/>
        </p:nvSpPr>
        <p:spPr>
          <a:xfrm>
            <a:off x="6172200" y="3429000"/>
            <a:ext cx="20574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O/P PORTS  (ACTUATORS)</a:t>
            </a:r>
          </a:p>
        </p:txBody>
      </p:sp>
      <p:sp>
        <p:nvSpPr>
          <p:cNvPr id="8" name="Oval 7"/>
          <p:cNvSpPr/>
          <p:nvPr/>
        </p:nvSpPr>
        <p:spPr>
          <a:xfrm>
            <a:off x="3733800" y="5029200"/>
            <a:ext cx="1752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Other supporting  IC s and subsystems</a:t>
            </a:r>
          </a:p>
        </p:txBody>
      </p:sp>
      <p:sp>
        <p:nvSpPr>
          <p:cNvPr id="9" name="Right Arrow 8"/>
          <p:cNvSpPr/>
          <p:nvPr/>
        </p:nvSpPr>
        <p:spPr>
          <a:xfrm flipV="1">
            <a:off x="3200400" y="3886200"/>
            <a:ext cx="685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5105400" y="3886200"/>
            <a:ext cx="1066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Up-Down Arrow 14"/>
          <p:cNvSpPr/>
          <p:nvPr/>
        </p:nvSpPr>
        <p:spPr>
          <a:xfrm>
            <a:off x="4267200" y="2819400"/>
            <a:ext cx="381000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Up-Down Arrow 16"/>
          <p:cNvSpPr/>
          <p:nvPr/>
        </p:nvSpPr>
        <p:spPr>
          <a:xfrm>
            <a:off x="4343400" y="4419600"/>
            <a:ext cx="381000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248400" y="1905000"/>
            <a:ext cx="1676400" cy="76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communication interface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rot="10800000" flipV="1">
            <a:off x="5105400" y="2667000"/>
            <a:ext cx="1143000" cy="838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CORE OF THE EMBEDDED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 smtClean="0"/>
              <a:t>The core of the embedded system falls in to any one of the following categories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 smtClean="0"/>
              <a:t>	1. general purpose and domain specific processors ( µp, µC, DSP 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 smtClean="0"/>
              <a:t>  	2. ASIC(Application specific IC)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 smtClean="0"/>
              <a:t>	3. </a:t>
            </a:r>
            <a:r>
              <a:rPr lang="en-US" sz="2400" dirty="0" smtClean="0"/>
              <a:t>Programmable logic </a:t>
            </a:r>
            <a:r>
              <a:rPr lang="en-US" sz="2400" dirty="0" smtClean="0"/>
              <a:t>devices (PLD)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 smtClean="0"/>
              <a:t>	4. </a:t>
            </a:r>
            <a:r>
              <a:rPr lang="en-US" sz="2400" dirty="0" smtClean="0"/>
              <a:t>Commercial off-the-shelf </a:t>
            </a:r>
            <a:r>
              <a:rPr lang="en-US" sz="2400" dirty="0" smtClean="0"/>
              <a:t>components (COTS)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GPP  vs.  ASIP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sz="2400" dirty="0" smtClean="0"/>
              <a:t>General purpose processor : 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 smtClean="0"/>
              <a:t>Designed for general computational tasks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 smtClean="0"/>
              <a:t>E.g.. Processor in the laptop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 smtClean="0"/>
              <a:t>High volume production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 smtClean="0"/>
              <a:t>Unit cost for a chip is low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400" dirty="0" smtClean="0"/>
              <a:t>ASIP </a:t>
            </a:r>
            <a:r>
              <a:rPr lang="en-US" sz="2400" dirty="0" smtClean="0"/>
              <a:t>instruction set and architecture optimized  to specific application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sz="2400" dirty="0" smtClean="0"/>
              <a:t>ASIP arises when the GPP are unable to meet the application needs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</a:rPr>
              <a:t>Characteristics of an embedded system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Unlike general purpose computing system, embedded system posses certain specific characteristics and these are unique.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FF0000"/>
                </a:solidFill>
              </a:rPr>
              <a:t>Application and domain specific</a:t>
            </a:r>
            <a:r>
              <a:rPr lang="en-US" dirty="0" smtClean="0"/>
              <a:t>: embedded systems are developed to do the intended functions only</a:t>
            </a:r>
          </a:p>
          <a:p>
            <a:pPr>
              <a:defRPr/>
            </a:pPr>
            <a:r>
              <a:rPr lang="en-US" dirty="0" smtClean="0"/>
              <a:t>They can not be used for any purpose</a:t>
            </a:r>
          </a:p>
          <a:p>
            <a:pPr>
              <a:defRPr/>
            </a:pPr>
            <a:r>
              <a:rPr lang="en-US" dirty="0" smtClean="0"/>
              <a:t>You can not replace an embedded control unit developed for a particular domain say telecom with another control unit designed to </a:t>
            </a:r>
            <a:r>
              <a:rPr lang="en-US" dirty="0" err="1" smtClean="0"/>
              <a:t>sey</a:t>
            </a:r>
            <a:r>
              <a:rPr lang="en-US" dirty="0" smtClean="0"/>
              <a:t> another domain like consumer electronics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Reactive and real time</a:t>
            </a:r>
            <a:r>
              <a:rPr lang="en-US" dirty="0"/>
              <a:t>: emb.sys. are  in constant interaction to the  real world </a:t>
            </a:r>
          </a:p>
          <a:p>
            <a:pPr>
              <a:defRPr/>
            </a:pPr>
            <a:r>
              <a:rPr lang="en-US" dirty="0"/>
              <a:t>Any changes happening  in the real world (event)are captured by the sensors or i/p devices</a:t>
            </a:r>
          </a:p>
          <a:p>
            <a:pPr>
              <a:defRPr/>
            </a:pPr>
            <a:r>
              <a:rPr lang="en-US" dirty="0"/>
              <a:t>The event may be periodic or unpredicted one(should not miss)</a:t>
            </a:r>
          </a:p>
          <a:p>
            <a:pPr>
              <a:defRPr/>
            </a:pPr>
            <a:r>
              <a:rPr lang="en-US" dirty="0"/>
              <a:t>So emb.sys.  are generally reactive</a:t>
            </a:r>
          </a:p>
          <a:p>
            <a:pPr>
              <a:defRPr/>
            </a:pPr>
            <a:r>
              <a:rPr lang="en-US" dirty="0"/>
              <a:t>Timing behavior or the system should be deterministic</a:t>
            </a:r>
          </a:p>
          <a:p>
            <a:pPr>
              <a:defRPr/>
            </a:pPr>
            <a:r>
              <a:rPr lang="en-US" dirty="0"/>
              <a:t>Should not miss deadlines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54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534400" cy="65532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FFFF00"/>
                </a:solidFill>
              </a:rPr>
              <a:t>Operates in harsh environment</a:t>
            </a:r>
            <a:r>
              <a:rPr lang="en-US" dirty="0" smtClean="0"/>
              <a:t>: the environment in which the emb.sys. deployed may be a dusty one or high temperature zone</a:t>
            </a:r>
          </a:p>
          <a:p>
            <a:pPr>
              <a:defRPr/>
            </a:pPr>
            <a:r>
              <a:rPr lang="en-US" dirty="0" smtClean="0"/>
              <a:t>System placed in such areas should be capable to with stand all operating conditions</a:t>
            </a:r>
          </a:p>
          <a:p>
            <a:pPr>
              <a:defRPr/>
            </a:pPr>
            <a:r>
              <a:rPr lang="en-US" dirty="0" smtClean="0"/>
              <a:t>Distributed: emb.sys. may be a part of larger system</a:t>
            </a:r>
          </a:p>
          <a:p>
            <a:pPr>
              <a:defRPr/>
            </a:pPr>
            <a:r>
              <a:rPr lang="en-US" dirty="0" smtClean="0"/>
              <a:t>Automatic vending m/c contains card reader, vending unit etc.</a:t>
            </a:r>
          </a:p>
          <a:p>
            <a:pPr>
              <a:defRPr/>
            </a:pPr>
            <a:r>
              <a:rPr lang="en-US" dirty="0" smtClean="0"/>
              <a:t>They are independent but work together to achieve a common goal</a:t>
            </a:r>
          </a:p>
          <a:p>
            <a:pPr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FFFF00"/>
                </a:solidFill>
              </a:rPr>
              <a:t>Small size and weight</a:t>
            </a:r>
            <a:r>
              <a:rPr lang="en-US" dirty="0" smtClean="0">
                <a:solidFill>
                  <a:srgbClr val="FFFF00"/>
                </a:solidFill>
              </a:rPr>
              <a:t>: </a:t>
            </a:r>
            <a:r>
              <a:rPr lang="en-US" dirty="0" smtClean="0"/>
              <a:t>size, weight, shape  etc will be one of the deciding factors to choose  a product</a:t>
            </a:r>
          </a:p>
          <a:p>
            <a:pPr>
              <a:defRPr/>
            </a:pPr>
            <a:r>
              <a:rPr lang="en-US" dirty="0" smtClean="0"/>
              <a:t>Most applications demands small sized and low weight products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FFFF00"/>
                </a:solidFill>
              </a:rPr>
              <a:t>Power concerns</a:t>
            </a:r>
            <a:r>
              <a:rPr lang="en-US" dirty="0" smtClean="0"/>
              <a:t>: designed in such a way as to minimize the heat dissipation</a:t>
            </a:r>
          </a:p>
          <a:p>
            <a:pPr>
              <a:defRPr/>
            </a:pPr>
            <a:r>
              <a:rPr lang="en-US" dirty="0" smtClean="0"/>
              <a:t>May require cooling fan which occupies additional space</a:t>
            </a:r>
          </a:p>
          <a:p>
            <a:pPr>
              <a:defRPr/>
            </a:pPr>
            <a:r>
              <a:rPr lang="en-US" dirty="0" smtClean="0"/>
              <a:t>Even it’s a critical constraint  battery operated systems, more the power consumption the less  the battery life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</a:rPr>
              <a:t>Quality attributes of 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QA are the non-functional requirements that need to be documented properly in any system design.</a:t>
            </a:r>
          </a:p>
          <a:p>
            <a:pPr>
              <a:defRPr/>
            </a:pPr>
            <a:r>
              <a:rPr lang="en-US" dirty="0" smtClean="0"/>
              <a:t>If the quality attributes are more concrete and measurable it will give a positive impact on the end product</a:t>
            </a:r>
          </a:p>
          <a:p>
            <a:pPr>
              <a:defRPr/>
            </a:pPr>
            <a:r>
              <a:rPr lang="en-US" dirty="0" smtClean="0"/>
              <a:t>Operational QA</a:t>
            </a:r>
          </a:p>
          <a:p>
            <a:pPr>
              <a:defRPr/>
            </a:pPr>
            <a:r>
              <a:rPr lang="en-US" dirty="0" smtClean="0"/>
              <a:t>Non-operational QA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 smtClean="0"/>
              <a:t>Operational quality attributes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8991600" cy="56388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000" dirty="0" smtClean="0"/>
              <a:t>Attributes related to </a:t>
            </a:r>
            <a:r>
              <a:rPr lang="en-US" sz="2000" dirty="0" err="1" smtClean="0"/>
              <a:t>e.s</a:t>
            </a:r>
            <a:r>
              <a:rPr lang="en-US" sz="2000" dirty="0" smtClean="0"/>
              <a:t> when it is in the operational mode or online mode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FFFF00"/>
                </a:solidFill>
              </a:rPr>
              <a:t>Response</a:t>
            </a:r>
            <a:r>
              <a:rPr lang="en-US" sz="2000" dirty="0" smtClean="0">
                <a:solidFill>
                  <a:srgbClr val="FFFF00"/>
                </a:solidFill>
              </a:rPr>
              <a:t>: </a:t>
            </a:r>
            <a:r>
              <a:rPr lang="en-US" sz="2000" dirty="0" smtClean="0"/>
              <a:t>quickness of the system</a:t>
            </a:r>
          </a:p>
          <a:p>
            <a:pPr>
              <a:defRPr/>
            </a:pPr>
            <a:r>
              <a:rPr lang="en-US" sz="2000" dirty="0" smtClean="0"/>
              <a:t>How fast the system is tracking the changes in input variables</a:t>
            </a:r>
          </a:p>
          <a:p>
            <a:pPr>
              <a:defRPr/>
            </a:pPr>
            <a:r>
              <a:rPr lang="en-US" sz="2000" dirty="0" smtClean="0"/>
              <a:t>In flight control application any response delay in the system will create potential damages to the safety of the flight </a:t>
            </a:r>
          </a:p>
          <a:p>
            <a:pPr>
              <a:defRPr/>
            </a:pPr>
            <a:r>
              <a:rPr lang="en-US" sz="2000" dirty="0" smtClean="0"/>
              <a:t>Response time for a toy is not time critical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FFFF00"/>
                </a:solidFill>
              </a:rPr>
              <a:t>Throughpu</a:t>
            </a:r>
            <a:r>
              <a:rPr lang="en-US" sz="2000" dirty="0" smtClean="0">
                <a:solidFill>
                  <a:srgbClr val="FFFF00"/>
                </a:solidFill>
              </a:rPr>
              <a:t>t: </a:t>
            </a:r>
            <a:r>
              <a:rPr lang="en-US" sz="2000" dirty="0" smtClean="0"/>
              <a:t>efficiency of the system</a:t>
            </a:r>
          </a:p>
          <a:p>
            <a:pPr>
              <a:defRPr/>
            </a:pPr>
            <a:r>
              <a:rPr lang="en-US" sz="2000" dirty="0" smtClean="0"/>
              <a:t>Rate of production or operation of a defined process</a:t>
            </a:r>
          </a:p>
          <a:p>
            <a:pPr>
              <a:defRPr/>
            </a:pPr>
            <a:r>
              <a:rPr lang="en-US" sz="2000" dirty="0" smtClean="0"/>
              <a:t>Rates can be expressed in terms of units of products ,  batched produced, or any other meaningful measurements.</a:t>
            </a:r>
          </a:p>
          <a:p>
            <a:pPr>
              <a:defRPr/>
            </a:pPr>
            <a:r>
              <a:rPr lang="en-US" sz="2000" dirty="0" smtClean="0"/>
              <a:t>Generally measured in terms of benchmark (reference point)</a:t>
            </a:r>
          </a:p>
          <a:p>
            <a:pPr>
              <a:defRPr/>
            </a:pPr>
            <a:endParaRPr lang="en-US" sz="2000" dirty="0" smtClean="0"/>
          </a:p>
          <a:p>
            <a:pPr>
              <a:defRPr/>
            </a:pP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dirty="0">
                <a:solidFill>
                  <a:srgbClr val="FFFF00"/>
                </a:solidFill>
              </a:rPr>
              <a:t>Reliability: </a:t>
            </a:r>
            <a:r>
              <a:rPr lang="en-US" dirty="0"/>
              <a:t>how much % you can rely upon the proper functioning of sys. Mean time between failure  MTBF  (</a:t>
            </a:r>
            <a:r>
              <a:rPr lang="en-US" dirty="0" err="1"/>
              <a:t>frq</a:t>
            </a:r>
            <a:r>
              <a:rPr lang="en-US" dirty="0"/>
              <a:t> of failure in </a:t>
            </a:r>
            <a:r>
              <a:rPr lang="en-US" dirty="0" err="1"/>
              <a:t>hr</a:t>
            </a:r>
            <a:r>
              <a:rPr lang="en-US" dirty="0"/>
              <a:t>/</a:t>
            </a:r>
            <a:r>
              <a:rPr lang="en-US" dirty="0" err="1"/>
              <a:t>wk</a:t>
            </a:r>
            <a:r>
              <a:rPr lang="en-US" dirty="0"/>
              <a:t>/</a:t>
            </a:r>
            <a:r>
              <a:rPr lang="en-US" dirty="0" err="1"/>
              <a:t>mon</a:t>
            </a:r>
            <a:r>
              <a:rPr lang="en-US" dirty="0"/>
              <a:t>) &amp; mean time to repair MTTR ( how long the system is allowed to be out of order following a failure ) are the terms used in defining the system reliability</a:t>
            </a:r>
          </a:p>
          <a:p>
            <a:pPr>
              <a:defRPr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76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FFFF00"/>
                </a:solidFill>
              </a:rPr>
              <a:t>Maintainability: </a:t>
            </a:r>
            <a:r>
              <a:rPr lang="en-US" dirty="0" smtClean="0"/>
              <a:t>deals with the support and maintenance to the end user in the case of technical issues and failures or on the basis of a routine checkup</a:t>
            </a:r>
          </a:p>
          <a:p>
            <a:pPr>
              <a:defRPr/>
            </a:pPr>
            <a:r>
              <a:rPr lang="en-US" dirty="0" smtClean="0"/>
              <a:t>As reliability increases maintainability reduced </a:t>
            </a:r>
          </a:p>
          <a:p>
            <a:pPr>
              <a:defRPr/>
            </a:pPr>
            <a:r>
              <a:rPr lang="en-US" dirty="0" smtClean="0"/>
              <a:t>Two types (preventive or corrective maintenance)</a:t>
            </a:r>
          </a:p>
          <a:p>
            <a:pPr>
              <a:defRPr/>
            </a:pPr>
            <a:r>
              <a:rPr lang="en-US" dirty="0" smtClean="0"/>
              <a:t>User should replace the cartridge after n number of printouts (scheduled / periodic /preventive)</a:t>
            </a:r>
          </a:p>
          <a:p>
            <a:pPr>
              <a:defRPr/>
            </a:pPr>
            <a:r>
              <a:rPr lang="en-US" dirty="0" smtClean="0"/>
              <a:t>If paper feeding part of the printer fails required immediate repairs (maintenance to unexpected failure/ corrective)</a:t>
            </a:r>
          </a:p>
          <a:p>
            <a:pPr>
              <a:defRPr/>
            </a:pPr>
            <a:r>
              <a:rPr lang="en-US" dirty="0" smtClean="0"/>
              <a:t>Ideal value for availability is expressed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 smtClean="0"/>
              <a:t>	A = MTBF / (MTBF + MTTR)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3600" b="1" dirty="0" smtClean="0">
                <a:solidFill>
                  <a:srgbClr val="FFFF00"/>
                </a:solidFill>
              </a:rPr>
              <a:t>Securit</a:t>
            </a:r>
            <a:r>
              <a:rPr lang="en-US" sz="3600" dirty="0" smtClean="0">
                <a:solidFill>
                  <a:srgbClr val="FFFF00"/>
                </a:solidFill>
              </a:rPr>
              <a:t>y : </a:t>
            </a:r>
            <a:r>
              <a:rPr lang="en-US" sz="3600" dirty="0" smtClean="0"/>
              <a:t>confidentiality( from unauthorized disclosure), integrity ( from unauthorized modification) , availability ( from unauthorized users)</a:t>
            </a:r>
          </a:p>
          <a:p>
            <a:pPr>
              <a:buFont typeface="Wingdings" pitchFamily="2" charset="2"/>
              <a:buNone/>
              <a:defRPr/>
            </a:pPr>
            <a:endParaRPr lang="en-US" sz="3600" dirty="0" smtClean="0"/>
          </a:p>
          <a:p>
            <a:pPr>
              <a:buFont typeface="Wingdings" pitchFamily="2" charset="2"/>
              <a:buNone/>
              <a:defRPr/>
            </a:pPr>
            <a:r>
              <a:rPr lang="en-US" sz="3600" b="1" dirty="0" smtClean="0">
                <a:solidFill>
                  <a:srgbClr val="FFFF00"/>
                </a:solidFill>
              </a:rPr>
              <a:t>Safety</a:t>
            </a:r>
            <a:r>
              <a:rPr lang="en-US" sz="3600" dirty="0" smtClean="0">
                <a:solidFill>
                  <a:srgbClr val="FFFF00"/>
                </a:solidFill>
              </a:rPr>
              <a:t>: </a:t>
            </a:r>
            <a:r>
              <a:rPr lang="en-US" sz="3600" dirty="0" smtClean="0"/>
              <a:t>deals with the possible damages that can happen to the operators or public</a:t>
            </a:r>
          </a:p>
          <a:p>
            <a:pPr>
              <a:defRPr/>
            </a:pPr>
            <a:r>
              <a:rPr lang="en-US" sz="3600" dirty="0" err="1" smtClean="0"/>
              <a:t>Eg</a:t>
            </a:r>
            <a:r>
              <a:rPr lang="en-US" sz="3600" dirty="0" smtClean="0"/>
              <a:t>. Due to breakdown or emission of radioactive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Non operational quality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510540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dirty="0" smtClean="0"/>
              <a:t>Attributes that  needs to addressed for the product not on the basis of operational aspects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FFFF00"/>
                </a:solidFill>
              </a:rPr>
              <a:t>Testability: &amp; debug ability</a:t>
            </a:r>
            <a:r>
              <a:rPr lang="en-US" dirty="0" smtClean="0">
                <a:solidFill>
                  <a:srgbClr val="FFFF00"/>
                </a:solidFill>
              </a:rPr>
              <a:t>: </a:t>
            </a:r>
            <a:r>
              <a:rPr lang="en-US" dirty="0" smtClean="0"/>
              <a:t>how easily one can test her design and by which mean she can test it.</a:t>
            </a:r>
          </a:p>
          <a:p>
            <a:pPr>
              <a:defRPr/>
            </a:pPr>
            <a:r>
              <a:rPr lang="en-US" dirty="0" smtClean="0"/>
              <a:t>h/w testing( peripherals and total h/w function) and firmware testing </a:t>
            </a:r>
          </a:p>
          <a:p>
            <a:pPr>
              <a:defRPr/>
            </a:pPr>
            <a:r>
              <a:rPr lang="en-US" dirty="0" smtClean="0"/>
              <a:t>Debugging the product as such for figuring out the probable sources that create unexpected behavior in the system</a:t>
            </a:r>
          </a:p>
          <a:p>
            <a:pPr>
              <a:defRPr/>
            </a:pPr>
            <a:r>
              <a:rPr lang="en-US" dirty="0" smtClean="0"/>
              <a:t>h/w level debugging ( issues created by h/w problems) and firmware debugging  ( errors that appear as a result of flaws in the firmware)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b="1" dirty="0" err="1" smtClean="0">
                <a:solidFill>
                  <a:srgbClr val="FFFF00"/>
                </a:solidFill>
              </a:rPr>
              <a:t>Evolvability</a:t>
            </a:r>
            <a:r>
              <a:rPr lang="en-US" dirty="0" smtClean="0">
                <a:solidFill>
                  <a:srgbClr val="FFFF00"/>
                </a:solidFill>
              </a:rPr>
              <a:t>: </a:t>
            </a:r>
            <a:r>
              <a:rPr lang="en-US" dirty="0" smtClean="0"/>
              <a:t>related to biology.  </a:t>
            </a:r>
          </a:p>
          <a:p>
            <a:pPr>
              <a:defRPr/>
            </a:pPr>
            <a:r>
              <a:rPr lang="en-US" dirty="0" smtClean="0"/>
              <a:t>Ease with which the embedded product can be modified to take advantage of new f/w or h/w technologies 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FFFF00"/>
                </a:solidFill>
              </a:rPr>
              <a:t>Portability :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smtClean="0"/>
              <a:t>measure of system independence</a:t>
            </a:r>
          </a:p>
          <a:p>
            <a:pPr>
              <a:defRPr/>
            </a:pPr>
            <a:r>
              <a:rPr lang="en-US" dirty="0" smtClean="0"/>
              <a:t>If the product is capable of functioning as such in various environments processors/controllers/</a:t>
            </a:r>
            <a:r>
              <a:rPr lang="en-US" dirty="0" err="1" smtClean="0"/>
              <a:t>os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Product can be ported to a new platform</a:t>
            </a:r>
          </a:p>
          <a:p>
            <a:pPr>
              <a:defRPr/>
            </a:pPr>
            <a:r>
              <a:rPr lang="en-US" dirty="0" smtClean="0"/>
              <a:t>Should be flexible and portable</a:t>
            </a:r>
          </a:p>
          <a:p>
            <a:pPr>
              <a:defRPr/>
            </a:pPr>
            <a:r>
              <a:rPr lang="en-US" dirty="0" smtClean="0"/>
              <a:t>Assembly language portability is poor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96400" cy="8382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Time to prototype and market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FFFF00"/>
                </a:solidFill>
              </a:rPr>
              <a:t>Time to market</a:t>
            </a:r>
            <a:r>
              <a:rPr lang="en-US" dirty="0" smtClean="0">
                <a:solidFill>
                  <a:srgbClr val="FFFF00"/>
                </a:solidFill>
              </a:rPr>
              <a:t>: </a:t>
            </a:r>
            <a:r>
              <a:rPr lang="en-US" dirty="0" smtClean="0"/>
              <a:t>time elapsed between the conceptualization  of a product and time at which the product is ready for selling</a:t>
            </a:r>
          </a:p>
          <a:p>
            <a:pPr>
              <a:defRPr/>
            </a:pPr>
            <a:r>
              <a:rPr lang="en-US" dirty="0" smtClean="0"/>
              <a:t>It’s a critical factor because embedded technology is one where rapid technology change is happening</a:t>
            </a:r>
          </a:p>
          <a:p>
            <a:pPr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FFFF00"/>
                </a:solidFill>
              </a:rPr>
              <a:t>Time to prototype</a:t>
            </a:r>
            <a:r>
              <a:rPr lang="en-US" dirty="0" smtClean="0">
                <a:solidFill>
                  <a:srgbClr val="FFFF00"/>
                </a:solidFill>
              </a:rPr>
              <a:t>: </a:t>
            </a:r>
            <a:r>
              <a:rPr lang="en-US" dirty="0" smtClean="0"/>
              <a:t>its an informal kind of rapid product development in which the important features of the product under consideration are developed</a:t>
            </a:r>
          </a:p>
          <a:p>
            <a:pPr>
              <a:defRPr/>
            </a:pPr>
            <a:r>
              <a:rPr lang="en-US" dirty="0" smtClean="0"/>
              <a:t>If prototype is developed faster, the actual development time can be brought down significantly.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62940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rgbClr val="FFFF00"/>
                </a:solidFill>
              </a:rPr>
              <a:t>Per unit cost and revenue </a:t>
            </a:r>
            <a:r>
              <a:rPr lang="en-US" dirty="0" smtClean="0">
                <a:solidFill>
                  <a:srgbClr val="FFFF00"/>
                </a:solidFill>
              </a:rPr>
              <a:t>: </a:t>
            </a:r>
            <a:r>
              <a:rPr lang="en-US" dirty="0" smtClean="0"/>
              <a:t>cost will be closely monitored by both end users</a:t>
            </a:r>
          </a:p>
          <a:p>
            <a:pPr>
              <a:defRPr/>
            </a:pPr>
            <a:r>
              <a:rPr lang="en-US" dirty="0" smtClean="0"/>
              <a:t>Proper market study should be carried out before deciding per unit cost</a:t>
            </a:r>
          </a:p>
          <a:p>
            <a:pPr>
              <a:defRPr/>
            </a:pPr>
            <a:r>
              <a:rPr lang="en-US" dirty="0" smtClean="0"/>
              <a:t>During design and development only investment no returns</a:t>
            </a:r>
          </a:p>
          <a:p>
            <a:pPr>
              <a:defRPr/>
            </a:pPr>
            <a:r>
              <a:rPr lang="en-US" dirty="0" smtClean="0"/>
              <a:t>Once the  product is ready to sell and its introduced to the market – product introduction stage</a:t>
            </a:r>
          </a:p>
          <a:p>
            <a:pPr>
              <a:defRPr/>
            </a:pPr>
            <a:r>
              <a:rPr lang="en-US" dirty="0" smtClean="0"/>
              <a:t>In growth phase product grabs high market share</a:t>
            </a:r>
          </a:p>
          <a:p>
            <a:pPr>
              <a:defRPr/>
            </a:pPr>
            <a:r>
              <a:rPr lang="en-US" dirty="0" smtClean="0"/>
              <a:t>During maturity phase  the growth and sales will be steady and revenue reaches at its peak</a:t>
            </a:r>
          </a:p>
          <a:p>
            <a:pPr>
              <a:defRPr/>
            </a:pPr>
            <a:r>
              <a:rPr lang="en-US" dirty="0" smtClean="0"/>
              <a:t>Product retirement/decline  phase starts with the drop in sales volume, market share and revenue</a:t>
            </a:r>
          </a:p>
          <a:p>
            <a:pPr>
              <a:defRPr/>
            </a:pPr>
            <a:r>
              <a:rPr lang="en-US" dirty="0" smtClean="0"/>
              <a:t>At some point of decline stage the manufacturer announces discontinuing of the product</a:t>
            </a:r>
          </a:p>
          <a:p>
            <a:pPr>
              <a:defRPr/>
            </a:pPr>
            <a:r>
              <a:rPr lang="en-US" dirty="0" smtClean="0"/>
              <a:t>Unit cost is very high during the introductory stage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Classification and Development</a:t>
            </a:r>
            <a:br>
              <a:rPr lang="en-IN" dirty="0" smtClean="0"/>
            </a:br>
            <a:r>
              <a:rPr lang="en-IN" dirty="0" smtClean="0"/>
              <a:t>Skills Requirements for the</a:t>
            </a:r>
            <a:br>
              <a:rPr lang="en-IN" dirty="0" smtClean="0"/>
            </a:br>
            <a:r>
              <a:rPr lang="en-IN" dirty="0" smtClean="0"/>
              <a:t>Embedded Systems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of 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Small Scale Embedded Systems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IN" b="1" dirty="0" smtClean="0"/>
              <a:t>Medium Scale Embedded Systems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IN" b="1" dirty="0" smtClean="0"/>
              <a:t>Sophisticated Embedded Systems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Skills for 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Skills for Small Scale System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IN" dirty="0" smtClean="0"/>
              <a:t>Full understanding of a microcontroller with a basic knowledge of computer architecture, digital electronic design, software engineering, data communication, control engineering, motors and actuators, sensors and measurements, </a:t>
            </a:r>
            <a:r>
              <a:rPr lang="en-IN" dirty="0" err="1" smtClean="0"/>
              <a:t>analog</a:t>
            </a:r>
            <a:r>
              <a:rPr lang="en-IN" dirty="0" smtClean="0"/>
              <a:t> electronic design and IC design and manufacture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Cont………..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40000" lnSpcReduction="20000"/>
          </a:bodyPr>
          <a:lstStyle/>
          <a:p>
            <a:r>
              <a:rPr lang="en-IN" b="1" dirty="0" smtClean="0"/>
              <a:t>Median Scale Embedded Systems</a:t>
            </a:r>
          </a:p>
          <a:p>
            <a:pPr>
              <a:buNone/>
            </a:pPr>
            <a:endParaRPr lang="en-IN" b="1" dirty="0" smtClean="0"/>
          </a:p>
          <a:p>
            <a:pPr>
              <a:buFont typeface="Wingdings" pitchFamily="2" charset="2"/>
              <a:buChar char="v"/>
            </a:pPr>
            <a:r>
              <a:rPr lang="en-US" b="1" dirty="0" smtClean="0"/>
              <a:t>	</a:t>
            </a:r>
            <a:r>
              <a:rPr lang="en-IN" sz="4300" dirty="0" smtClean="0"/>
              <a:t>'C'/C++/Java programming and RTOS programming and  program </a:t>
            </a:r>
            <a:r>
              <a:rPr lang="en-IN" sz="4300" dirty="0" err="1" smtClean="0"/>
              <a:t>modeling</a:t>
            </a:r>
            <a:r>
              <a:rPr lang="en-IN" sz="4300" dirty="0" smtClean="0"/>
              <a:t> skills</a:t>
            </a:r>
          </a:p>
          <a:p>
            <a:pPr>
              <a:buFont typeface="Wingdings" pitchFamily="2" charset="2"/>
              <a:buChar char="v"/>
            </a:pPr>
            <a:endParaRPr lang="en-IN" sz="4300" dirty="0" smtClean="0"/>
          </a:p>
          <a:p>
            <a:pPr>
              <a:buFont typeface="Wingdings" pitchFamily="2" charset="2"/>
              <a:buChar char="v"/>
            </a:pPr>
            <a:r>
              <a:rPr lang="en-IN" sz="4300" dirty="0" smtClean="0"/>
              <a:t>	Programming the Tasks or threads and their scheduling by  RTOS.</a:t>
            </a:r>
          </a:p>
          <a:p>
            <a:pPr>
              <a:buFont typeface="Wingdings" pitchFamily="2" charset="2"/>
              <a:buChar char="v"/>
            </a:pPr>
            <a:endParaRPr lang="en-IN" sz="4300" dirty="0" smtClean="0"/>
          </a:p>
          <a:p>
            <a:pPr>
              <a:buFont typeface="Wingdings" pitchFamily="2" charset="2"/>
              <a:buChar char="v"/>
            </a:pPr>
            <a:r>
              <a:rPr lang="en-IN" sz="4300" dirty="0" smtClean="0"/>
              <a:t>	 Programming priorities and Cooperative and preemptive scheduling.</a:t>
            </a:r>
          </a:p>
          <a:p>
            <a:pPr>
              <a:buFont typeface="Wingdings" pitchFamily="2" charset="2"/>
              <a:buChar char="v"/>
            </a:pPr>
            <a:endParaRPr lang="en-IN" sz="4300" dirty="0" smtClean="0"/>
          </a:p>
          <a:p>
            <a:pPr>
              <a:buFont typeface="Wingdings" pitchFamily="2" charset="2"/>
              <a:buChar char="v"/>
            </a:pPr>
            <a:r>
              <a:rPr lang="en-US" sz="4300" dirty="0" smtClean="0"/>
              <a:t>	</a:t>
            </a:r>
            <a:r>
              <a:rPr lang="en-IN" sz="4300" dirty="0" smtClean="0"/>
              <a:t>Use of Inter processor communication functions.</a:t>
            </a:r>
          </a:p>
          <a:p>
            <a:pPr>
              <a:buFont typeface="Wingdings" pitchFamily="2" charset="2"/>
              <a:buChar char="v"/>
            </a:pPr>
            <a:endParaRPr lang="en-IN" sz="4300" dirty="0" smtClean="0"/>
          </a:p>
          <a:p>
            <a:pPr>
              <a:buFont typeface="Wingdings" pitchFamily="2" charset="2"/>
              <a:buChar char="v"/>
            </a:pPr>
            <a:r>
              <a:rPr lang="en-IN" sz="4300" dirty="0" smtClean="0"/>
              <a:t>	 Use of shared data, and programming the critical sections and  re-entrant 	functions.</a:t>
            </a:r>
          </a:p>
          <a:p>
            <a:pPr>
              <a:buFont typeface="Wingdings" pitchFamily="2" charset="2"/>
              <a:buChar char="v"/>
            </a:pPr>
            <a:endParaRPr lang="en-IN" sz="4300" dirty="0" smtClean="0"/>
          </a:p>
          <a:p>
            <a:pPr>
              <a:buFont typeface="Wingdings" pitchFamily="2" charset="2"/>
              <a:buChar char="v"/>
            </a:pPr>
            <a:r>
              <a:rPr lang="en-IN" sz="4300" dirty="0" smtClean="0"/>
              <a:t>	Use of semaphores, mailboxes, queues, sockets and pipes.</a:t>
            </a:r>
          </a:p>
          <a:p>
            <a:pPr>
              <a:buFont typeface="Wingdings" pitchFamily="2" charset="2"/>
              <a:buChar char="v"/>
            </a:pPr>
            <a:endParaRPr lang="en-IN" sz="4300" dirty="0" smtClean="0"/>
          </a:p>
          <a:p>
            <a:pPr>
              <a:buFont typeface="Wingdings" pitchFamily="2" charset="2"/>
              <a:buChar char="v"/>
            </a:pPr>
            <a:r>
              <a:rPr lang="en-IN" sz="4300" dirty="0" smtClean="0"/>
              <a:t>	Handling of interrupt-latencies and meeting task deadlines.</a:t>
            </a:r>
          </a:p>
          <a:p>
            <a:pPr>
              <a:buFont typeface="Wingdings" pitchFamily="2" charset="2"/>
              <a:buChar char="v"/>
            </a:pPr>
            <a:endParaRPr lang="en-IN" sz="4300" dirty="0" smtClean="0"/>
          </a:p>
          <a:p>
            <a:pPr>
              <a:buFont typeface="Wingdings" pitchFamily="2" charset="2"/>
              <a:buChar char="v"/>
            </a:pPr>
            <a:r>
              <a:rPr lang="en-IN" sz="4300" dirty="0" smtClean="0"/>
              <a:t>	Use of various RTOS functions.</a:t>
            </a:r>
          </a:p>
          <a:p>
            <a:pPr>
              <a:buFont typeface="Wingdings" pitchFamily="2" charset="2"/>
              <a:buChar char="v"/>
            </a:pPr>
            <a:endParaRPr lang="en-IN" sz="4300" dirty="0" smtClean="0"/>
          </a:p>
          <a:p>
            <a:pPr>
              <a:buFont typeface="Wingdings" pitchFamily="2" charset="2"/>
              <a:buChar char="v"/>
            </a:pPr>
            <a:r>
              <a:rPr lang="en-IN" sz="4300" dirty="0" smtClean="0"/>
              <a:t>	 Use of physical and virtual device drivers.</a:t>
            </a:r>
            <a:endParaRPr lang="en-IN" sz="4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Cont……………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 smtClean="0"/>
              <a:t>Sophisticated Scale Embedded Systems</a:t>
            </a:r>
          </a:p>
          <a:p>
            <a:pPr>
              <a:buNone/>
            </a:pPr>
            <a:r>
              <a:rPr lang="en-US" b="1" dirty="0" smtClean="0"/>
              <a:t>	</a:t>
            </a:r>
          </a:p>
          <a:p>
            <a:pPr>
              <a:buFont typeface="Wingdings" pitchFamily="2" charset="2"/>
              <a:buChar char="v"/>
            </a:pPr>
            <a:r>
              <a:rPr lang="en-US" b="1" dirty="0" smtClean="0"/>
              <a:t>	</a:t>
            </a:r>
            <a:r>
              <a:rPr lang="en-IN" dirty="0" smtClean="0"/>
              <a:t>Team is needed to co-design and solve the high level complexities of the hardware and software design.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	</a:t>
            </a:r>
            <a:r>
              <a:rPr lang="en-IN" dirty="0" smtClean="0"/>
              <a:t>An embedded system hardware engineer should have full skills in hardware units and basic knowledge of 'C'/C++ and Java, RTOS and other programming tools.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	</a:t>
            </a:r>
            <a:r>
              <a:rPr lang="en-IN" dirty="0" smtClean="0"/>
              <a:t>Software engineer should have basic	knowledge in hardware and a through knowledge of 'C', RTOS</a:t>
            </a:r>
          </a:p>
          <a:p>
            <a:pPr>
              <a:buNone/>
            </a:pPr>
            <a:r>
              <a:rPr lang="en-IN" dirty="0" smtClean="0"/>
              <a:t>	and other programming tools. A final	optimum design solution is then obtained by system integration.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Case Study:</a:t>
            </a:r>
            <a:r>
              <a:rPr lang="en-IN" dirty="0" smtClean="0"/>
              <a:t>AUTOMATIC CHOCOLATE VENDING MACHINE (AVCM)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ACVM Specifications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Alphanumeric keypad on the top of</a:t>
            </a:r>
          </a:p>
          <a:p>
            <a:pPr>
              <a:buNone/>
            </a:pPr>
            <a:r>
              <a:rPr lang="en-IN" dirty="0" smtClean="0"/>
              <a:t>	the machine.</a:t>
            </a:r>
          </a:p>
          <a:p>
            <a:r>
              <a:rPr lang="en-IN" dirty="0" smtClean="0"/>
              <a:t> A child interaction with it when</a:t>
            </a:r>
          </a:p>
          <a:p>
            <a:pPr>
              <a:buNone/>
            </a:pPr>
            <a:r>
              <a:rPr lang="en-IN" dirty="0" smtClean="0"/>
              <a:t>	buying a chocolate.</a:t>
            </a:r>
          </a:p>
          <a:p>
            <a:r>
              <a:rPr lang="en-IN" dirty="0" smtClean="0"/>
              <a:t> Owner commands and interaction</a:t>
            </a:r>
          </a:p>
          <a:p>
            <a:pPr>
              <a:buNone/>
            </a:pPr>
            <a:r>
              <a:rPr lang="en-IN" dirty="0" smtClean="0"/>
              <a:t>	with the machine.</a:t>
            </a:r>
            <a:endParaRPr lang="en-I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Cont……….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Three line LCD display unit on the</a:t>
            </a:r>
          </a:p>
          <a:p>
            <a:pPr>
              <a:buNone/>
            </a:pPr>
            <a:r>
              <a:rPr lang="en-IN" dirty="0" smtClean="0"/>
              <a:t>	top of the machine.</a:t>
            </a:r>
          </a:p>
          <a:p>
            <a:r>
              <a:rPr lang="en-IN" dirty="0" smtClean="0"/>
              <a:t> Displays menus, entered text,</a:t>
            </a:r>
          </a:p>
          <a:p>
            <a:pPr>
              <a:buNone/>
            </a:pPr>
            <a:r>
              <a:rPr lang="en-IN" dirty="0" smtClean="0"/>
              <a:t>	pictograms, and welcome, thank and</a:t>
            </a:r>
          </a:p>
          <a:p>
            <a:pPr>
              <a:buNone/>
            </a:pPr>
            <a:r>
              <a:rPr lang="en-IN" dirty="0" smtClean="0"/>
              <a:t>	other messages, and time and date.</a:t>
            </a:r>
          </a:p>
          <a:p>
            <a:r>
              <a:rPr lang="en-IN" dirty="0" smtClean="0"/>
              <a:t> Child as well as the ACVM owner</a:t>
            </a:r>
          </a:p>
          <a:p>
            <a:r>
              <a:rPr lang="en-IN" dirty="0" smtClean="0"/>
              <a:t>GUIs with the machine using keypad</a:t>
            </a:r>
          </a:p>
          <a:p>
            <a:pPr>
              <a:buNone/>
            </a:pPr>
            <a:r>
              <a:rPr lang="en-IN" dirty="0" smtClean="0"/>
              <a:t>	and display.</a:t>
            </a:r>
            <a:endParaRPr lang="en-I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Coin insertion and delivery slots, and</a:t>
            </a:r>
            <a:br>
              <a:rPr lang="en-IN" dirty="0" smtClean="0"/>
            </a:br>
            <a:r>
              <a:rPr lang="en-IN" dirty="0" smtClean="0"/>
              <a:t>Internet port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Coin insertion slot so that the child</a:t>
            </a:r>
          </a:p>
          <a:p>
            <a:pPr>
              <a:buNone/>
            </a:pPr>
            <a:r>
              <a:rPr lang="en-IN" dirty="0" smtClean="0"/>
              <a:t>	can insert the coins to buy a chocolate</a:t>
            </a:r>
          </a:p>
          <a:p>
            <a:r>
              <a:rPr lang="en-IN" dirty="0" smtClean="0"/>
              <a:t> Delivery slot to collect the chocolate,</a:t>
            </a:r>
          </a:p>
          <a:p>
            <a:pPr>
              <a:buNone/>
            </a:pPr>
            <a:r>
              <a:rPr lang="en-IN" dirty="0" smtClean="0"/>
              <a:t>	and coins if refunded</a:t>
            </a:r>
          </a:p>
          <a:p>
            <a:r>
              <a:rPr lang="en-IN" dirty="0" smtClean="0"/>
              <a:t> Internet connection port so that owner can interact with ACVM from remote</a:t>
            </a:r>
            <a:endParaRPr lang="en-I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Basic system in ACVM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447800"/>
            <a:ext cx="8000999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Reprogram of the codes and relocation</a:t>
            </a:r>
            <a:br>
              <a:rPr lang="en-IN" dirty="0" smtClean="0"/>
            </a:br>
            <a:r>
              <a:rPr lang="en-IN" dirty="0" smtClean="0"/>
              <a:t>of the codes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system ROM or flash or EPROM whenever the following happens: </a:t>
            </a:r>
          </a:p>
          <a:p>
            <a:pPr>
              <a:buNone/>
            </a:pPr>
            <a:r>
              <a:rPr lang="en-IN" dirty="0" smtClean="0"/>
              <a:t> 	(</a:t>
            </a:r>
            <a:r>
              <a:rPr lang="en-IN" dirty="0" err="1" smtClean="0"/>
              <a:t>i</a:t>
            </a:r>
            <a:r>
              <a:rPr lang="en-IN" dirty="0" smtClean="0"/>
              <a:t>) the price of chocolate increases,</a:t>
            </a:r>
          </a:p>
          <a:p>
            <a:pPr>
              <a:buNone/>
            </a:pPr>
            <a:r>
              <a:rPr lang="en-IN" dirty="0" smtClean="0"/>
              <a:t>	 (ii) the message lines or menus or advertisement graphics needs to be changed or </a:t>
            </a:r>
          </a:p>
          <a:p>
            <a:pPr>
              <a:buNone/>
            </a:pPr>
            <a:r>
              <a:rPr lang="en-IN" dirty="0" smtClean="0"/>
              <a:t>	(iii) machine features change.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Class diagram for ACVM Part-1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752600"/>
            <a:ext cx="7619999" cy="4038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Class diagram for ACVM Part-2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40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Block diagram of ACVM hardware</a:t>
            </a:r>
            <a:br>
              <a:rPr lang="en-IN" dirty="0" smtClean="0"/>
            </a:br>
            <a:r>
              <a:rPr lang="en-IN" dirty="0" smtClean="0"/>
              <a:t>including Microcontroller</a:t>
            </a:r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752600"/>
            <a:ext cx="7543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Software architecture (ISRs and Tasks) for ACVM</a:t>
            </a:r>
            <a:endParaRPr lang="en-IN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80772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Case Study: Digital Camera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Specifications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Camera records the pictures using a </a:t>
            </a:r>
            <a:r>
              <a:rPr lang="en-IN" dirty="0" err="1" smtClean="0"/>
              <a:t>chargecoupled</a:t>
            </a:r>
            <a:r>
              <a:rPr lang="en-IN" dirty="0" smtClean="0"/>
              <a:t> devices (CCD) array.</a:t>
            </a:r>
          </a:p>
          <a:p>
            <a:r>
              <a:rPr lang="en-IN" dirty="0" smtClean="0"/>
              <a:t> The array consisting of large number of horizontal rows and vertical columns of</a:t>
            </a:r>
          </a:p>
          <a:p>
            <a:pPr>
              <a:buNone/>
            </a:pPr>
            <a:r>
              <a:rPr lang="en-IN" dirty="0" smtClean="0"/>
              <a:t>	CCD cells for the picture</a:t>
            </a:r>
          </a:p>
          <a:p>
            <a:r>
              <a:rPr lang="en-IN" dirty="0" smtClean="0"/>
              <a:t> In each row of cells, a number of CCD cell</a:t>
            </a:r>
          </a:p>
          <a:p>
            <a:pPr>
              <a:buNone/>
            </a:pPr>
            <a:r>
              <a:rPr lang="en-IN" dirty="0" smtClean="0"/>
              <a:t>	unexposed to the picture but used for off-set</a:t>
            </a:r>
          </a:p>
          <a:p>
            <a:pPr>
              <a:buNone/>
            </a:pPr>
            <a:r>
              <a:rPr lang="en-IN" dirty="0" smtClean="0"/>
              <a:t>	corrections in the each-row output from the</a:t>
            </a:r>
          </a:p>
          <a:p>
            <a:pPr>
              <a:buNone/>
            </a:pPr>
            <a:r>
              <a:rPr lang="en-IN" dirty="0" smtClean="0"/>
              <a:t>	picture cells.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Camera Picture resolution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2592 × 1944 pixels, there are 2592 ×</a:t>
            </a:r>
          </a:p>
          <a:p>
            <a:pPr>
              <a:buNone/>
            </a:pPr>
            <a:r>
              <a:rPr lang="en-IN" dirty="0" smtClean="0"/>
              <a:t>	1944 = 5038848 set of cells.</a:t>
            </a:r>
          </a:p>
          <a:p>
            <a:r>
              <a:rPr lang="en-IN" dirty="0" smtClean="0"/>
              <a:t> Each set of pixel has three cells, for the</a:t>
            </a:r>
          </a:p>
          <a:p>
            <a:pPr>
              <a:buNone/>
            </a:pPr>
            <a:r>
              <a:rPr lang="en-IN" dirty="0" smtClean="0"/>
              <a:t>	red, green and blue components in a pixel.</a:t>
            </a:r>
          </a:p>
          <a:p>
            <a:r>
              <a:rPr lang="en-IN" dirty="0" smtClean="0"/>
              <a:t> Each cell gets exposed to a picture</a:t>
            </a:r>
          </a:p>
          <a:p>
            <a:pPr>
              <a:buNone/>
            </a:pPr>
            <a:r>
              <a:rPr lang="en-IN" dirty="0" smtClean="0"/>
              <a:t>	when shutter of camera opens on a user</a:t>
            </a:r>
          </a:p>
          <a:p>
            <a:pPr>
              <a:buNone/>
            </a:pPr>
            <a:r>
              <a:rPr lang="en-IN" dirty="0" smtClean="0"/>
              <a:t>	command.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Controllers, LCD display, Switches and</a:t>
            </a:r>
            <a:br>
              <a:rPr lang="en-IN" b="1" dirty="0" smtClean="0"/>
            </a:br>
            <a:r>
              <a:rPr lang="en-IN" b="1" dirty="0" smtClean="0"/>
              <a:t>buttons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A set of controllers─ to control shutter, flash, auto focus and eye-ball image control.</a:t>
            </a:r>
          </a:p>
          <a:p>
            <a:r>
              <a:rPr lang="en-IN" dirty="0" smtClean="0"/>
              <a:t> LCD display for graphics and GUI</a:t>
            </a:r>
          </a:p>
          <a:p>
            <a:r>
              <a:rPr lang="en-IN" dirty="0" smtClean="0"/>
              <a:t> Switches and buttons for inputs at camera.</a:t>
            </a:r>
          </a:p>
          <a:p>
            <a:r>
              <a:rPr lang="en-IN" dirty="0" smtClean="0"/>
              <a:t> User gives commands for switching on the</a:t>
            </a:r>
          </a:p>
          <a:p>
            <a:pPr>
              <a:buNone/>
            </a:pPr>
            <a:r>
              <a:rPr lang="en-IN" dirty="0" smtClean="0"/>
              <a:t>	camera, flash, shutter, adjust brightness,</a:t>
            </a:r>
          </a:p>
          <a:p>
            <a:pPr>
              <a:buNone/>
            </a:pPr>
            <a:r>
              <a:rPr lang="en-IN" dirty="0" smtClean="0"/>
              <a:t>	contrast, </a:t>
            </a:r>
            <a:r>
              <a:rPr lang="en-IN" dirty="0" err="1" smtClean="0"/>
              <a:t>color</a:t>
            </a:r>
            <a:r>
              <a:rPr lang="en-IN" dirty="0" smtClean="0"/>
              <a:t>, save and transfer.</a:t>
            </a:r>
          </a:p>
          <a:p>
            <a:r>
              <a:rPr lang="en-IN" dirty="0" smtClean="0"/>
              <a:t> When a button for opening the shutter is</a:t>
            </a:r>
          </a:p>
          <a:p>
            <a:pPr>
              <a:buNone/>
            </a:pPr>
            <a:r>
              <a:rPr lang="en-IN" dirty="0" smtClean="0"/>
              <a:t>	pressed, a flash lamp glows and a self-timer</a:t>
            </a:r>
          </a:p>
          <a:p>
            <a:pPr>
              <a:buNone/>
            </a:pPr>
            <a:r>
              <a:rPr lang="en-IN" dirty="0" smtClean="0"/>
              <a:t>	circuit switches off the lamp automatically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Picture transfer Ports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JPEG file for a picture can be copied or</a:t>
            </a:r>
          </a:p>
          <a:p>
            <a:pPr>
              <a:buNone/>
            </a:pPr>
            <a:r>
              <a:rPr lang="en-IN" dirty="0" smtClean="0"/>
              <a:t>	transferred to a memory stick using a</a:t>
            </a:r>
          </a:p>
          <a:p>
            <a:pPr>
              <a:buNone/>
            </a:pPr>
            <a:r>
              <a:rPr lang="en-IN" dirty="0" smtClean="0"/>
              <a:t>	controller</a:t>
            </a:r>
          </a:p>
          <a:p>
            <a:r>
              <a:rPr lang="en-IN" dirty="0" smtClean="0"/>
              <a:t> Sony memory stick Micro (M2) size</a:t>
            </a:r>
          </a:p>
          <a:p>
            <a:pPr>
              <a:buNone/>
            </a:pPr>
            <a:r>
              <a:rPr lang="en-IN" dirty="0" smtClean="0"/>
              <a:t>	15×12.5×1.2 mm, flash memory of 2 GB</a:t>
            </a:r>
          </a:p>
          <a:p>
            <a:pPr>
              <a:buNone/>
            </a:pPr>
            <a:r>
              <a:rPr lang="en-IN" dirty="0" smtClean="0"/>
              <a:t>	and 160 Mbps data transfer rate.</a:t>
            </a:r>
          </a:p>
          <a:p>
            <a:r>
              <a:rPr lang="en-IN" dirty="0" smtClean="0"/>
              <a:t> A picture jpg can be copied to a computer</a:t>
            </a:r>
          </a:p>
          <a:p>
            <a:pPr>
              <a:buNone/>
            </a:pPr>
            <a:r>
              <a:rPr lang="en-IN" dirty="0" smtClean="0"/>
              <a:t>	connected through USB port controller.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Class diagram</a:t>
            </a:r>
            <a:endParaRPr lang="en-IN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734344"/>
            <a:ext cx="7696200" cy="4742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Digital camera hardware architecture</a:t>
            </a:r>
            <a:endParaRPr lang="en-IN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524000"/>
            <a:ext cx="7467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Software architecture upper layers</a:t>
            </a:r>
            <a:endParaRPr lang="en-IN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1" y="1524000"/>
            <a:ext cx="7467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Software architecture lower layers</a:t>
            </a:r>
            <a:endParaRPr lang="en-IN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33487" y="1828800"/>
            <a:ext cx="667702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1970</Words>
  <Application>Microsoft Office PowerPoint</Application>
  <PresentationFormat>On-screen Show (4:3)</PresentationFormat>
  <Paragraphs>294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 Introduction To Embedded System </vt:lpstr>
      <vt:lpstr>Embedded System</vt:lpstr>
      <vt:lpstr>Embedded System</vt:lpstr>
      <vt:lpstr>Classification of ES</vt:lpstr>
      <vt:lpstr>1. Classification Based On Generation</vt:lpstr>
      <vt:lpstr>2. Classification Based On Complexity</vt:lpstr>
      <vt:lpstr>3. Based on Deterministic Behavior </vt:lpstr>
      <vt:lpstr>4. Based on triggering </vt:lpstr>
      <vt:lpstr>5.Based on performance and functional requirements </vt:lpstr>
      <vt:lpstr>Major Application Areas</vt:lpstr>
      <vt:lpstr>PURPOSE OF EMBEDDED SYSTEMS</vt:lpstr>
      <vt:lpstr>ELEMENTS OF AN EMBEDDED SYSTEM</vt:lpstr>
      <vt:lpstr>CORE OF THE EMBEDDED SYSTEM</vt:lpstr>
      <vt:lpstr>GPP  vs.  ASIP</vt:lpstr>
      <vt:lpstr>Characteristics of an embedded system</vt:lpstr>
      <vt:lpstr>PowerPoint Presentation</vt:lpstr>
      <vt:lpstr>PowerPoint Presentation</vt:lpstr>
      <vt:lpstr>Quality attributes of ES</vt:lpstr>
      <vt:lpstr>Operational quality attributes</vt:lpstr>
      <vt:lpstr>PowerPoint Presentation</vt:lpstr>
      <vt:lpstr>PowerPoint Presentation</vt:lpstr>
      <vt:lpstr>PowerPoint Presentation</vt:lpstr>
      <vt:lpstr>Non operational quality attributes</vt:lpstr>
      <vt:lpstr>PowerPoint Presentation</vt:lpstr>
      <vt:lpstr>Time to prototype and market</vt:lpstr>
      <vt:lpstr>PowerPoint Presentation</vt:lpstr>
      <vt:lpstr>Classification and Development Skills Requirements for the Embedded Systems</vt:lpstr>
      <vt:lpstr>Classification of ES</vt:lpstr>
      <vt:lpstr>Skills for ES</vt:lpstr>
      <vt:lpstr>Cont………..</vt:lpstr>
      <vt:lpstr>Cont……………</vt:lpstr>
      <vt:lpstr>Case Study:AUTOMATIC CHOCOLATE VENDING MACHINE (AVCM) </vt:lpstr>
      <vt:lpstr>ACVM Specifications</vt:lpstr>
      <vt:lpstr>Cont……….</vt:lpstr>
      <vt:lpstr>Coin insertion and delivery slots, and Internet port</vt:lpstr>
      <vt:lpstr>Basic system in ACVM</vt:lpstr>
      <vt:lpstr>Reprogram of the codes and relocation of the codes</vt:lpstr>
      <vt:lpstr>Class diagram for ACVM Part-1</vt:lpstr>
      <vt:lpstr>Class diagram for ACVM Part-2</vt:lpstr>
      <vt:lpstr>Block diagram of ACVM hardware including Microcontroller</vt:lpstr>
      <vt:lpstr>Software architecture (ISRs and Tasks) for ACVM</vt:lpstr>
      <vt:lpstr>Case Study: Digital Camera</vt:lpstr>
      <vt:lpstr>Specifications</vt:lpstr>
      <vt:lpstr>Camera Picture resolution</vt:lpstr>
      <vt:lpstr>Controllers, LCD display, Switches and buttons</vt:lpstr>
      <vt:lpstr>Picture transfer Ports</vt:lpstr>
      <vt:lpstr>Class diagram</vt:lpstr>
      <vt:lpstr>Digital camera hardware architecture</vt:lpstr>
      <vt:lpstr>Software architecture upper layers</vt:lpstr>
      <vt:lpstr>Software architecture lower layers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creator>ADMIN</dc:creator>
  <cp:lastModifiedBy>Acer</cp:lastModifiedBy>
  <cp:revision>41</cp:revision>
  <dcterms:created xsi:type="dcterms:W3CDTF">2006-08-16T00:00:00Z</dcterms:created>
  <dcterms:modified xsi:type="dcterms:W3CDTF">2021-08-04T02:32:12Z</dcterms:modified>
</cp:coreProperties>
</file>