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DECCA"/>
          </a:solidFill>
        </a:fill>
      </a:tcStyle>
    </a:wholeTbl>
    <a:band2H>
      <a:tcTxStyle/>
      <a:tcStyle>
        <a:tcBdr/>
        <a:fill>
          <a:solidFill>
            <a:srgbClr val="EFF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194" y="2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3" name="Shape 3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5519355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1pPr>
    <a:lvl2pPr indent="2286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2pPr>
    <a:lvl3pPr indent="4572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3pPr>
    <a:lvl4pPr indent="6858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4pPr>
    <a:lvl5pPr indent="9144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5pPr>
    <a:lvl6pPr indent="11430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6pPr>
    <a:lvl7pPr indent="13716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7pPr>
    <a:lvl8pPr indent="16002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8pPr>
    <a:lvl9pPr indent="1828800" latinLnBrk="0">
      <a:spcBef>
        <a:spcPts val="400"/>
      </a:spcBef>
      <a:defRPr sz="1200">
        <a:latin typeface="+mj-lt"/>
        <a:ea typeface="+mj-ea"/>
        <a:cs typeface="+mj-cs"/>
        <a:sym typeface="Times New Roman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"/>
          <p:cNvGrpSpPr/>
          <p:nvPr/>
        </p:nvGrpSpPr>
        <p:grpSpPr>
          <a:xfrm>
            <a:off x="198437" y="2960687"/>
            <a:ext cx="8610601" cy="201613"/>
            <a:chOff x="0" y="0"/>
            <a:chExt cx="8610600" cy="201612"/>
          </a:xfrm>
        </p:grpSpPr>
        <p:sp>
          <p:nvSpPr>
            <p:cNvPr id="22" name="Rectangle"/>
            <p:cNvSpPr/>
            <p:nvPr/>
          </p:nvSpPr>
          <p:spPr>
            <a:xfrm>
              <a:off x="0" y="0"/>
              <a:ext cx="2870200" cy="201613"/>
            </a:xfrm>
            <a:prstGeom prst="rect">
              <a:avLst/>
            </a:prstGeom>
            <a:solidFill>
              <a:srgbClr val="3366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3" name="Rectangle"/>
            <p:cNvSpPr/>
            <p:nvPr/>
          </p:nvSpPr>
          <p:spPr>
            <a:xfrm>
              <a:off x="2870200" y="0"/>
              <a:ext cx="2870200" cy="201613"/>
            </a:xfrm>
            <a:prstGeom prst="rect">
              <a:avLst/>
            </a:prstGeom>
            <a:solidFill>
              <a:srgbClr val="99CC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4" name="Rectangle"/>
            <p:cNvSpPr/>
            <p:nvPr/>
          </p:nvSpPr>
          <p:spPr>
            <a:xfrm>
              <a:off x="5740400" y="0"/>
              <a:ext cx="2870200" cy="201613"/>
            </a:xfrm>
            <a:prstGeom prst="rect">
              <a:avLst/>
            </a:prstGeom>
            <a:solidFill>
              <a:srgbClr val="33669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2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</p:spPr>
        <p:txBody>
          <a:bodyPr anchor="ctr"/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/>
          <a:lstStyle/>
          <a:p>
            <a:fld id="{77C2C395-6A6F-4B32-B4B6-F031542057DA}" type="datetime1">
              <a:rPr lang="en-US" smtClean="0"/>
              <a:t>8/10/2021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17EECC304_OS&amp;ESD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007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 b="5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-1"/>
            <a:ext cx="228600" cy="2286002"/>
          </a:xfrm>
          <a:prstGeom prst="rect">
            <a:avLst/>
          </a:prstGeom>
          <a:solidFill>
            <a:srgbClr val="336699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457200">
              <a:defRPr sz="2400">
                <a:latin typeface="+mj-lt"/>
                <a:ea typeface="+mj-ea"/>
                <a:cs typeface="+mj-cs"/>
                <a:sym typeface="Times New Roman"/>
              </a:defRPr>
            </a:pPr>
            <a:endParaRPr/>
          </a:p>
        </p:txBody>
      </p:sp>
      <p:sp>
        <p:nvSpPr>
          <p:cNvPr id="3" name="Line"/>
          <p:cNvSpPr/>
          <p:nvPr/>
        </p:nvSpPr>
        <p:spPr>
          <a:xfrm>
            <a:off x="457200" y="860425"/>
            <a:ext cx="8077201" cy="0"/>
          </a:xfrm>
          <a:prstGeom prst="line">
            <a:avLst/>
          </a:prstGeom>
          <a:ln w="19050">
            <a:solidFill>
              <a:srgbClr val="336699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" name="Rectangle"/>
          <p:cNvSpPr/>
          <p:nvPr/>
        </p:nvSpPr>
        <p:spPr>
          <a:xfrm>
            <a:off x="0" y="2285999"/>
            <a:ext cx="228600" cy="2286002"/>
          </a:xfrm>
          <a:prstGeom prst="rect">
            <a:avLst/>
          </a:prstGeom>
          <a:solidFill>
            <a:srgbClr val="99CC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457200">
              <a:defRPr sz="2400">
                <a:latin typeface="+mj-lt"/>
                <a:ea typeface="+mj-ea"/>
                <a:cs typeface="+mj-cs"/>
                <a:sym typeface="Times New Roman"/>
              </a:defRPr>
            </a:pPr>
            <a:endParaRPr/>
          </a:p>
        </p:txBody>
      </p:sp>
      <p:sp>
        <p:nvSpPr>
          <p:cNvPr id="5" name="Rectangle"/>
          <p:cNvSpPr/>
          <p:nvPr/>
        </p:nvSpPr>
        <p:spPr>
          <a:xfrm>
            <a:off x="0" y="4571999"/>
            <a:ext cx="228600" cy="2286002"/>
          </a:xfrm>
          <a:prstGeom prst="rect">
            <a:avLst/>
          </a:prstGeom>
          <a:solidFill>
            <a:srgbClr val="336699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457200">
              <a:defRPr sz="2400">
                <a:latin typeface="+mj-lt"/>
                <a:ea typeface="+mj-ea"/>
                <a:cs typeface="+mj-cs"/>
                <a:sym typeface="Times New Roman"/>
              </a:defRPr>
            </a:pPr>
            <a:endParaRPr/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256087" y="6613525"/>
            <a:ext cx="394802" cy="37084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" name="Title Text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/>
          <a:lstStyle/>
          <a:p>
            <a:r>
              <a:t>Title Text</a:t>
            </a:r>
          </a:p>
        </p:txBody>
      </p:sp>
      <p:sp>
        <p:nvSpPr>
          <p:cNvPr id="8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med"/>
  <p:hf hdr="0" dt="0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6699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6699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6699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6699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6699"/>
          </a:solidFill>
          <a:uFillTx/>
          <a:latin typeface="Arial"/>
          <a:ea typeface="Arial"/>
          <a:cs typeface="Arial"/>
          <a:sym typeface="Arial"/>
        </a:defRPr>
      </a:lvl5pPr>
      <a:lvl6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6699"/>
          </a:solidFill>
          <a:uFillTx/>
          <a:latin typeface="Arial"/>
          <a:ea typeface="Arial"/>
          <a:cs typeface="Arial"/>
          <a:sym typeface="Arial"/>
        </a:defRPr>
      </a:lvl6pPr>
      <a:lvl7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6699"/>
          </a:solidFill>
          <a:uFillTx/>
          <a:latin typeface="Arial"/>
          <a:ea typeface="Arial"/>
          <a:cs typeface="Arial"/>
          <a:sym typeface="Arial"/>
        </a:defRPr>
      </a:lvl7pPr>
      <a:lvl8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6699"/>
          </a:solidFill>
          <a:uFillTx/>
          <a:latin typeface="Arial"/>
          <a:ea typeface="Arial"/>
          <a:cs typeface="Arial"/>
          <a:sym typeface="Arial"/>
        </a:defRPr>
      </a:lvl8pPr>
      <a:lvl9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solidFill>
            <a:srgbClr val="006699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993300"/>
        </a:buClr>
        <a:buSzPct val="9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1pPr>
      <a:lvl2pPr marL="742950" marR="0" indent="-28575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993300"/>
        </a:buClr>
        <a:buSzPct val="80000"/>
        <a:buFontTx/>
        <a:buChar char=""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2pPr>
      <a:lvl3pPr marL="1085850" marR="0" indent="-2286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993300"/>
        </a:buClr>
        <a:buSzPct val="75000"/>
        <a:buFontTx/>
        <a:buChar char=""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3pPr>
      <a:lvl4pPr marL="1428750" marR="0" indent="-2286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993300"/>
        </a:buClr>
        <a:buSzPct val="75000"/>
        <a:buFontTx/>
        <a:buChar char="–"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4pPr>
      <a:lvl5pPr marL="1771650" marR="0" indent="-2286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993300"/>
        </a:buClr>
        <a:buSzPct val="75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5pPr>
      <a:lvl6pPr marL="2228850" marR="0" indent="-2286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993300"/>
        </a:buClr>
        <a:buSzPct val="75000"/>
        <a:buFont typeface="Monotype Sorts"/>
        <a:buChar char=""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6pPr>
      <a:lvl7pPr marL="2686050" marR="0" indent="-2286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993300"/>
        </a:buClr>
        <a:buSzPct val="75000"/>
        <a:buFont typeface="Monotype Sorts"/>
        <a:buChar char=""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7pPr>
      <a:lvl8pPr marL="3143250" marR="0" indent="-2286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993300"/>
        </a:buClr>
        <a:buSzPct val="75000"/>
        <a:buFont typeface="Monotype Sorts"/>
        <a:buChar char=""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8pPr>
      <a:lvl9pPr marL="3600450" marR="0" indent="-2286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993300"/>
        </a:buClr>
        <a:buSzPct val="75000"/>
        <a:buFont typeface="Monotype Sorts"/>
        <a:buChar char=""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hapter 6:  CPU Scheduling"/>
          <p:cNvSpPr txBox="1">
            <a:spLocks noGrp="1"/>
          </p:cNvSpPr>
          <p:nvPr>
            <p:ph type="title" idx="4294967295"/>
          </p:nvPr>
        </p:nvSpPr>
        <p:spPr>
          <a:xfrm>
            <a:off x="685800" y="782637"/>
            <a:ext cx="7772400" cy="212725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300"/>
            </a:lvl1pPr>
          </a:lstStyle>
          <a:p>
            <a:r>
              <a:rPr dirty="0"/>
              <a:t>Chapter </a:t>
            </a:r>
            <a:r>
              <a:rPr lang="en-US" dirty="0" smtClean="0"/>
              <a:t>2</a:t>
            </a:r>
            <a:r>
              <a:rPr dirty="0" smtClean="0"/>
              <a:t>:  </a:t>
            </a:r>
            <a:r>
              <a:rPr dirty="0"/>
              <a:t>CPU Scheduling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392539" y="6613525"/>
            <a:ext cx="174772" cy="2438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 defTabSz="457200">
              <a:spcBef>
                <a:spcPts val="600"/>
              </a:spcBef>
              <a:defRPr sz="1000" b="1">
                <a:solidFill>
                  <a:srgbClr val="006699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fld id="{86CB4B4D-7CA3-9044-876B-883B54F8677D}" type="slidenum">
              <a:t>2</a:t>
            </a:fld>
            <a:endParaRPr/>
          </a:p>
        </p:txBody>
      </p:sp>
      <p:sp>
        <p:nvSpPr>
          <p:cNvPr id="38" name="Chapter 6:  CPU Scheduling"/>
          <p:cNvSpPr txBox="1">
            <a:spLocks noGrp="1"/>
          </p:cNvSpPr>
          <p:nvPr>
            <p:ph type="title" idx="4294967295"/>
          </p:nvPr>
        </p:nvSpPr>
        <p:spPr>
          <a:xfrm>
            <a:off x="914400" y="176212"/>
            <a:ext cx="7772400" cy="5762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Chapter 6:  CPU Scheduling</a:t>
            </a:r>
          </a:p>
        </p:txBody>
      </p:sp>
      <p:sp>
        <p:nvSpPr>
          <p:cNvPr id="39" name="Basic Concepts…"/>
          <p:cNvSpPr txBox="1">
            <a:spLocks noGrp="1"/>
          </p:cNvSpPr>
          <p:nvPr>
            <p:ph type="body" idx="4294967295"/>
          </p:nvPr>
        </p:nvSpPr>
        <p:spPr>
          <a:xfrm>
            <a:off x="857250" y="1195387"/>
            <a:ext cx="7335838" cy="37734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"/>
            </a:pPr>
            <a:r>
              <a:t>Basic Concepts</a:t>
            </a:r>
          </a:p>
          <a:p>
            <a:pPr>
              <a:buChar char=""/>
            </a:pPr>
            <a:r>
              <a:t>Scheduling Criteria </a:t>
            </a:r>
          </a:p>
          <a:p>
            <a:pPr>
              <a:buChar char=""/>
            </a:pPr>
            <a:r>
              <a:t>Scheduling Algorithms</a:t>
            </a:r>
          </a:p>
          <a:p>
            <a:pPr>
              <a:buChar char=""/>
            </a:pPr>
            <a:r>
              <a:t>Thread Scheduling</a:t>
            </a:r>
          </a:p>
          <a:p>
            <a:pPr>
              <a:buChar char=""/>
            </a:pPr>
            <a:r>
              <a:t>Multiple-Processor Scheduling</a:t>
            </a:r>
          </a:p>
          <a:p>
            <a:pPr>
              <a:buChar char=""/>
            </a:pPr>
            <a:r>
              <a:t>Real-Time CPU Scheduling</a:t>
            </a:r>
          </a:p>
          <a:p>
            <a:pPr>
              <a:buChar char=""/>
            </a:pPr>
            <a:r>
              <a:t>Operating Systems Examples</a:t>
            </a:r>
          </a:p>
          <a:p>
            <a:pPr>
              <a:buChar char=""/>
            </a:pPr>
            <a:r>
              <a:t>Algorithm Evaluation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392539" y="6613525"/>
            <a:ext cx="174772" cy="2438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 defTabSz="457200">
              <a:spcBef>
                <a:spcPts val="600"/>
              </a:spcBef>
              <a:defRPr sz="1000" b="1">
                <a:solidFill>
                  <a:srgbClr val="006699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fld id="{86CB4B4D-7CA3-9044-876B-883B54F8677D}" type="slidenum">
              <a:t>3</a:t>
            </a:fld>
            <a:endParaRPr/>
          </a:p>
        </p:txBody>
      </p:sp>
      <p:sp>
        <p:nvSpPr>
          <p:cNvPr id="42" name="Objectives"/>
          <p:cNvSpPr txBox="1">
            <a:spLocks noGrp="1"/>
          </p:cNvSpPr>
          <p:nvPr>
            <p:ph type="title" idx="4294967295"/>
          </p:nvPr>
        </p:nvSpPr>
        <p:spPr>
          <a:xfrm>
            <a:off x="457200" y="176212"/>
            <a:ext cx="8229600" cy="5762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Objectives</a:t>
            </a:r>
          </a:p>
        </p:txBody>
      </p:sp>
      <p:sp>
        <p:nvSpPr>
          <p:cNvPr id="43" name="To introduce CPU scheduling, which is the basis for multiprogrammed operating systems…"/>
          <p:cNvSpPr txBox="1">
            <a:spLocks noGrp="1"/>
          </p:cNvSpPr>
          <p:nvPr>
            <p:ph type="body" idx="4294967295"/>
          </p:nvPr>
        </p:nvSpPr>
        <p:spPr>
          <a:xfrm>
            <a:off x="946150" y="1233487"/>
            <a:ext cx="7283450" cy="4530726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"/>
            </a:pPr>
            <a:r>
              <a:t>To introduce CPU scheduling, which is the basis for multiprogrammed operating systems</a:t>
            </a:r>
          </a:p>
          <a:p>
            <a:pPr>
              <a:buChar char=""/>
            </a:pPr>
            <a:r>
              <a:t>To describe various CPU-scheduling algorithms</a:t>
            </a:r>
          </a:p>
          <a:p>
            <a:pPr>
              <a:buChar char=""/>
            </a:pPr>
            <a:r>
              <a:t>To discuss evaluation criteria for selecting a CPU-scheduling algorithm for a particular system</a:t>
            </a:r>
          </a:p>
          <a:p>
            <a:pPr>
              <a:buChar char=""/>
            </a:pPr>
            <a:r>
              <a:t>To examine the scheduling algorithms of several operating systems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392539" y="6613525"/>
            <a:ext cx="174772" cy="2438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 defTabSz="457200">
              <a:spcBef>
                <a:spcPts val="600"/>
              </a:spcBef>
              <a:defRPr sz="1000" b="1">
                <a:solidFill>
                  <a:srgbClr val="006699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fld id="{86CB4B4D-7CA3-9044-876B-883B54F8677D}" type="slidenum">
              <a:t>4</a:t>
            </a:fld>
            <a:endParaRPr/>
          </a:p>
        </p:txBody>
      </p:sp>
      <p:sp>
        <p:nvSpPr>
          <p:cNvPr id="46" name="Basic Concepts"/>
          <p:cNvSpPr txBox="1">
            <a:spLocks noGrp="1"/>
          </p:cNvSpPr>
          <p:nvPr>
            <p:ph type="title" idx="4294967295"/>
          </p:nvPr>
        </p:nvSpPr>
        <p:spPr>
          <a:xfrm>
            <a:off x="457200" y="204787"/>
            <a:ext cx="8229600" cy="5762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Basic Concepts</a:t>
            </a:r>
          </a:p>
        </p:txBody>
      </p:sp>
      <p:sp>
        <p:nvSpPr>
          <p:cNvPr id="47" name="Maximum CPU utilization obtained with multiprogramming…"/>
          <p:cNvSpPr txBox="1">
            <a:spLocks noGrp="1"/>
          </p:cNvSpPr>
          <p:nvPr>
            <p:ph type="body" sz="half" idx="4294967295"/>
          </p:nvPr>
        </p:nvSpPr>
        <p:spPr>
          <a:xfrm>
            <a:off x="841375" y="1274762"/>
            <a:ext cx="3978275" cy="5057776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"/>
            </a:pPr>
            <a:r>
              <a:t>Maximum CPU utilization obtained with multiprogramming</a:t>
            </a:r>
          </a:p>
          <a:p>
            <a:pPr>
              <a:buChar char=""/>
            </a:pPr>
            <a:r>
              <a:t>CPU–I/O Burst Cycle – Process execution consists of a </a:t>
            </a:r>
            <a:r>
              <a:rPr b="1">
                <a:solidFill>
                  <a:srgbClr val="3366FF"/>
                </a:solidFill>
              </a:rPr>
              <a:t>cycle</a:t>
            </a:r>
            <a:r>
              <a:t> of CPU execution and I/O wait</a:t>
            </a:r>
          </a:p>
          <a:p>
            <a:pPr>
              <a:buChar char=""/>
              <a:defRPr b="1">
                <a:solidFill>
                  <a:srgbClr val="3366FF"/>
                </a:solidFill>
              </a:defRPr>
            </a:pPr>
            <a:r>
              <a:t>CPU burst </a:t>
            </a:r>
            <a:r>
              <a:rPr b="0">
                <a:solidFill>
                  <a:srgbClr val="000000"/>
                </a:solidFill>
              </a:rPr>
              <a:t>followed by </a:t>
            </a:r>
            <a:r>
              <a:t>I/O burst</a:t>
            </a:r>
          </a:p>
          <a:p>
            <a:pPr>
              <a:buChar char=""/>
            </a:pPr>
            <a:r>
              <a:t>CPU burst distribution is of main concern</a:t>
            </a:r>
          </a:p>
        </p:txBody>
      </p:sp>
      <p:pic>
        <p:nvPicPr>
          <p:cNvPr id="48" name="6_01.pdf" descr="6_01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381625" y="1143000"/>
            <a:ext cx="2360613" cy="49625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392539" y="6613525"/>
            <a:ext cx="174772" cy="2438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 defTabSz="457200">
              <a:spcBef>
                <a:spcPts val="600"/>
              </a:spcBef>
              <a:defRPr sz="1000" b="1">
                <a:solidFill>
                  <a:srgbClr val="006699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fld id="{86CB4B4D-7CA3-9044-876B-883B54F8677D}" type="slidenum">
              <a:t>5</a:t>
            </a:fld>
            <a:endParaRPr/>
          </a:p>
        </p:txBody>
      </p:sp>
      <p:sp>
        <p:nvSpPr>
          <p:cNvPr id="55" name="CPU Scheduler"/>
          <p:cNvSpPr txBox="1">
            <a:spLocks noGrp="1"/>
          </p:cNvSpPr>
          <p:nvPr>
            <p:ph type="title" idx="4294967295"/>
          </p:nvPr>
        </p:nvSpPr>
        <p:spPr>
          <a:xfrm>
            <a:off x="838200" y="201612"/>
            <a:ext cx="7848600" cy="5762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CPU Scheduler</a:t>
            </a:r>
          </a:p>
        </p:txBody>
      </p:sp>
      <p:sp>
        <p:nvSpPr>
          <p:cNvPr id="56" name="Short-term scheduler selects from among the processes in ready queue, and allocates the CPU to one of them…"/>
          <p:cNvSpPr txBox="1">
            <a:spLocks noGrp="1"/>
          </p:cNvSpPr>
          <p:nvPr>
            <p:ph type="body" idx="4294967295"/>
          </p:nvPr>
        </p:nvSpPr>
        <p:spPr>
          <a:xfrm>
            <a:off x="933450" y="1169987"/>
            <a:ext cx="7067550" cy="478631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1312" indent="-341312">
              <a:buChar char=""/>
              <a:defRPr b="1">
                <a:solidFill>
                  <a:srgbClr val="3366FF"/>
                </a:solidFill>
              </a:defRPr>
            </a:pPr>
            <a:r>
              <a:t>Short-term scheduler </a:t>
            </a:r>
            <a:r>
              <a:rPr b="0">
                <a:solidFill>
                  <a:srgbClr val="000000"/>
                </a:solidFill>
              </a:rPr>
              <a:t>selects from among the processes in ready queue, and allocates the CPU to one of them</a:t>
            </a:r>
          </a:p>
          <a:p>
            <a:pPr marL="741362" lvl="1" indent="-284162">
              <a:spcBef>
                <a:spcPts val="0"/>
              </a:spcBef>
              <a:buClr>
                <a:srgbClr val="CC6600"/>
              </a:buClr>
            </a:pPr>
            <a:r>
              <a:t>Queue may be ordered in various ways</a:t>
            </a:r>
          </a:p>
          <a:p>
            <a:pPr marL="341312" indent="-341312">
              <a:buChar char=""/>
            </a:pPr>
            <a:r>
              <a:t>CPU scheduling decisions may take place when a process:</a:t>
            </a:r>
          </a:p>
          <a:p>
            <a:pPr marL="284162" lvl="1" indent="173037">
              <a:spcBef>
                <a:spcPts val="0"/>
              </a:spcBef>
              <a:buSzTx/>
              <a:buFont typeface="Monotype Sorts"/>
              <a:buNone/>
              <a:defRPr>
                <a:solidFill>
                  <a:srgbClr val="CC6600"/>
                </a:solidFill>
              </a:defRPr>
            </a:pPr>
            <a:r>
              <a:t>1.	</a:t>
            </a:r>
            <a:r>
              <a:rPr>
                <a:solidFill>
                  <a:srgbClr val="000000"/>
                </a:solidFill>
              </a:rPr>
              <a:t>Switches from running to waiting state</a:t>
            </a:r>
          </a:p>
          <a:p>
            <a:pPr marL="284162" lvl="1" indent="173037">
              <a:spcBef>
                <a:spcPts val="0"/>
              </a:spcBef>
              <a:buSzTx/>
              <a:buFont typeface="Monotype Sorts"/>
              <a:buNone/>
              <a:defRPr>
                <a:solidFill>
                  <a:srgbClr val="CC6600"/>
                </a:solidFill>
              </a:defRPr>
            </a:pPr>
            <a:r>
              <a:t>2.</a:t>
            </a:r>
            <a:r>
              <a:rPr>
                <a:solidFill>
                  <a:srgbClr val="000000"/>
                </a:solidFill>
              </a:rPr>
              <a:t>	Switches from running to ready state</a:t>
            </a:r>
          </a:p>
          <a:p>
            <a:pPr marL="284162" lvl="1" indent="173037">
              <a:spcBef>
                <a:spcPts val="0"/>
              </a:spcBef>
              <a:buSzTx/>
              <a:buFont typeface="Monotype Sorts"/>
              <a:buNone/>
              <a:defRPr>
                <a:solidFill>
                  <a:srgbClr val="CC6600"/>
                </a:solidFill>
              </a:defRPr>
            </a:pPr>
            <a:r>
              <a:t>3.</a:t>
            </a:r>
            <a:r>
              <a:rPr>
                <a:solidFill>
                  <a:srgbClr val="000000"/>
                </a:solidFill>
              </a:rPr>
              <a:t>	Switches from waiting to ready</a:t>
            </a:r>
          </a:p>
          <a:p>
            <a:pPr marL="741362" lvl="1" indent="-284162">
              <a:spcBef>
                <a:spcPts val="0"/>
              </a:spcBef>
              <a:buClr>
                <a:srgbClr val="CC6600"/>
              </a:buClr>
              <a:buAutoNum type="arabicPeriod" startAt="4"/>
            </a:pPr>
            <a:r>
              <a:t>Terminates</a:t>
            </a:r>
          </a:p>
          <a:p>
            <a:pPr marL="341312" indent="-341312">
              <a:buChar char=""/>
            </a:pPr>
            <a:r>
              <a:t>Scheduling under 1 and 4 is </a:t>
            </a:r>
            <a:r>
              <a:rPr b="1">
                <a:solidFill>
                  <a:srgbClr val="3366FF"/>
                </a:solidFill>
              </a:rPr>
              <a:t>nonpreemptive</a:t>
            </a:r>
          </a:p>
          <a:p>
            <a:pPr marL="341312" indent="-341312">
              <a:buChar char=""/>
            </a:pPr>
            <a:r>
              <a:t>All other scheduling is </a:t>
            </a:r>
            <a:r>
              <a:rPr b="1">
                <a:solidFill>
                  <a:srgbClr val="3366FF"/>
                </a:solidFill>
              </a:rPr>
              <a:t>preemptive</a:t>
            </a:r>
          </a:p>
          <a:p>
            <a:pPr marL="741362" lvl="1" indent="-284162">
              <a:spcBef>
                <a:spcPts val="0"/>
              </a:spcBef>
              <a:buClr>
                <a:srgbClr val="CC6600"/>
              </a:buClr>
            </a:pPr>
            <a:r>
              <a:t>Consider access to shared data</a:t>
            </a:r>
          </a:p>
          <a:p>
            <a:pPr marL="741362" lvl="1" indent="-284162">
              <a:spcBef>
                <a:spcPts val="0"/>
              </a:spcBef>
              <a:buClr>
                <a:srgbClr val="CC6600"/>
              </a:buClr>
            </a:pPr>
            <a:r>
              <a:t>Consider preemption while in kernel mode</a:t>
            </a:r>
          </a:p>
          <a:p>
            <a:pPr marL="741362" lvl="1" indent="-284162">
              <a:spcBef>
                <a:spcPts val="0"/>
              </a:spcBef>
              <a:buClr>
                <a:srgbClr val="CC6600"/>
              </a:buClr>
            </a:pPr>
            <a:r>
              <a:t>Consider interrupts occurring during crucial OS activities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392539" y="6613525"/>
            <a:ext cx="174772" cy="2438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 defTabSz="457200">
              <a:spcBef>
                <a:spcPts val="600"/>
              </a:spcBef>
              <a:defRPr sz="1000" b="1">
                <a:solidFill>
                  <a:srgbClr val="006699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fld id="{86CB4B4D-7CA3-9044-876B-883B54F8677D}" type="slidenum">
              <a:t>6</a:t>
            </a:fld>
            <a:endParaRPr/>
          </a:p>
        </p:txBody>
      </p:sp>
      <p:sp>
        <p:nvSpPr>
          <p:cNvPr id="59" name="Dispatcher"/>
          <p:cNvSpPr txBox="1">
            <a:spLocks noGrp="1"/>
          </p:cNvSpPr>
          <p:nvPr>
            <p:ph type="title" idx="4294967295"/>
          </p:nvPr>
        </p:nvSpPr>
        <p:spPr>
          <a:xfrm>
            <a:off x="457200" y="133350"/>
            <a:ext cx="8229600" cy="5762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Dispatcher</a:t>
            </a:r>
          </a:p>
        </p:txBody>
      </p:sp>
      <p:sp>
        <p:nvSpPr>
          <p:cNvPr id="60" name="Dispatcher module gives control of the CPU to the process selected by the short-term scheduler; this involves:…"/>
          <p:cNvSpPr txBox="1">
            <a:spLocks noGrp="1"/>
          </p:cNvSpPr>
          <p:nvPr>
            <p:ph type="body" idx="4294967295"/>
          </p:nvPr>
        </p:nvSpPr>
        <p:spPr>
          <a:xfrm>
            <a:off x="866775" y="1177924"/>
            <a:ext cx="6724650" cy="4483102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"/>
            </a:pPr>
            <a:r>
              <a:t>Dispatcher module gives control of the CPU to the process selected by the short-term scheduler; this involves: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switching context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switching to user mode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jumping to the proper location in the user program to restart that program</a:t>
            </a:r>
          </a:p>
          <a:p>
            <a:pPr>
              <a:buChar char=""/>
              <a:defRPr b="1">
                <a:solidFill>
                  <a:srgbClr val="3366FF"/>
                </a:solidFill>
              </a:defRPr>
            </a:pPr>
            <a:r>
              <a:t>Dispatch latency </a:t>
            </a:r>
            <a:r>
              <a:rPr b="0">
                <a:solidFill>
                  <a:srgbClr val="000000"/>
                </a:solidFill>
              </a:rPr>
              <a:t>– time it takes for the dispatcher to stop one process and start another running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392539" y="6613525"/>
            <a:ext cx="174772" cy="2438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 defTabSz="457200">
              <a:spcBef>
                <a:spcPts val="600"/>
              </a:spcBef>
              <a:defRPr sz="1000" b="1">
                <a:solidFill>
                  <a:srgbClr val="006699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fld id="{86CB4B4D-7CA3-9044-876B-883B54F8677D}" type="slidenum">
              <a:t>7</a:t>
            </a:fld>
            <a:endParaRPr/>
          </a:p>
        </p:txBody>
      </p:sp>
      <p:sp>
        <p:nvSpPr>
          <p:cNvPr id="63" name="Scheduling Criteria"/>
          <p:cNvSpPr txBox="1">
            <a:spLocks noGrp="1"/>
          </p:cNvSpPr>
          <p:nvPr>
            <p:ph type="title" idx="4294967295"/>
          </p:nvPr>
        </p:nvSpPr>
        <p:spPr>
          <a:xfrm>
            <a:off x="990600" y="214312"/>
            <a:ext cx="7696200" cy="5762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Scheduling Criteria</a:t>
            </a:r>
          </a:p>
        </p:txBody>
      </p:sp>
      <p:sp>
        <p:nvSpPr>
          <p:cNvPr id="64" name="CPU utilization – keep the CPU as busy as possible…"/>
          <p:cNvSpPr txBox="1">
            <a:spLocks noGrp="1"/>
          </p:cNvSpPr>
          <p:nvPr>
            <p:ph type="body" idx="4294967295"/>
          </p:nvPr>
        </p:nvSpPr>
        <p:spPr>
          <a:xfrm>
            <a:off x="933450" y="1246187"/>
            <a:ext cx="7156450" cy="495935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"/>
              <a:defRPr b="1"/>
            </a:pPr>
            <a:r>
              <a:t>CPU utilization </a:t>
            </a:r>
            <a:r>
              <a:rPr b="0"/>
              <a:t>– keep the CPU as busy as possible</a:t>
            </a:r>
          </a:p>
          <a:p>
            <a:pPr>
              <a:buChar char=""/>
              <a:defRPr b="1"/>
            </a:pPr>
            <a:r>
              <a:t>Throughput</a:t>
            </a:r>
            <a:r>
              <a:rPr b="0"/>
              <a:t> – # of processes that complete their execution per time unit</a:t>
            </a:r>
          </a:p>
          <a:p>
            <a:pPr>
              <a:buChar char=""/>
              <a:defRPr b="1"/>
            </a:pPr>
            <a:r>
              <a:t>Turnaround time </a:t>
            </a:r>
            <a:r>
              <a:rPr b="0"/>
              <a:t>– amount of time to execute a particular process</a:t>
            </a:r>
          </a:p>
          <a:p>
            <a:pPr>
              <a:buChar char=""/>
              <a:defRPr b="1"/>
            </a:pPr>
            <a:r>
              <a:t>Waiting time </a:t>
            </a:r>
            <a:r>
              <a:rPr b="0"/>
              <a:t>– amount of time a process has been waiting in the ready queue</a:t>
            </a:r>
          </a:p>
          <a:p>
            <a:pPr>
              <a:buChar char=""/>
              <a:defRPr b="1"/>
            </a:pPr>
            <a:r>
              <a:t>Response time </a:t>
            </a:r>
            <a:r>
              <a:rPr b="0"/>
              <a:t>– amount of time it takes from when a request was submitted until the first response is produced, not output  (for time-sharing environment)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392539" y="6613525"/>
            <a:ext cx="174772" cy="2438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 defTabSz="457200">
              <a:spcBef>
                <a:spcPts val="600"/>
              </a:spcBef>
              <a:defRPr sz="1000" b="1">
                <a:solidFill>
                  <a:srgbClr val="006699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fld id="{86CB4B4D-7CA3-9044-876B-883B54F8677D}" type="slidenum">
              <a:t>8</a:t>
            </a:fld>
            <a:endParaRPr/>
          </a:p>
        </p:txBody>
      </p:sp>
      <p:sp>
        <p:nvSpPr>
          <p:cNvPr id="67" name="Scheduling Algorithm Optimization Criteria"/>
          <p:cNvSpPr txBox="1">
            <a:spLocks noGrp="1"/>
          </p:cNvSpPr>
          <p:nvPr>
            <p:ph type="title" idx="4294967295"/>
          </p:nvPr>
        </p:nvSpPr>
        <p:spPr>
          <a:xfrm>
            <a:off x="1554162" y="138112"/>
            <a:ext cx="7513638" cy="5762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t>Scheduling Algorithm Optimization Criteria</a:t>
            </a:r>
          </a:p>
        </p:txBody>
      </p:sp>
      <p:sp>
        <p:nvSpPr>
          <p:cNvPr id="68" name="Max CPU utilization…"/>
          <p:cNvSpPr txBox="1">
            <a:spLocks noGrp="1"/>
          </p:cNvSpPr>
          <p:nvPr>
            <p:ph type="body" idx="4294967295"/>
          </p:nvPr>
        </p:nvSpPr>
        <p:spPr>
          <a:xfrm>
            <a:off x="852487" y="1174749"/>
            <a:ext cx="6115051" cy="4483102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"/>
            </a:pPr>
            <a:r>
              <a:t>Max CPU utilization</a:t>
            </a:r>
          </a:p>
          <a:p>
            <a:pPr>
              <a:buChar char=""/>
            </a:pPr>
            <a:r>
              <a:t>Max throughput</a:t>
            </a:r>
          </a:p>
          <a:p>
            <a:pPr>
              <a:buChar char=""/>
            </a:pPr>
            <a:r>
              <a:t>Min turnaround time </a:t>
            </a:r>
          </a:p>
          <a:p>
            <a:pPr>
              <a:buChar char=""/>
            </a:pPr>
            <a:r>
              <a:t>Min waiting time </a:t>
            </a:r>
          </a:p>
          <a:p>
            <a:pPr>
              <a:buChar char=""/>
            </a:pPr>
            <a:r>
              <a:t>Min response time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357223" y="6613525"/>
            <a:ext cx="245404" cy="2438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 defTabSz="457200">
              <a:spcBef>
                <a:spcPts val="600"/>
              </a:spcBef>
              <a:defRPr sz="1000" b="1">
                <a:solidFill>
                  <a:srgbClr val="006699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fld id="{86CB4B4D-7CA3-9044-876B-883B54F8677D}" type="slidenum">
              <a:t>9</a:t>
            </a:fld>
            <a:endParaRPr/>
          </a:p>
        </p:txBody>
      </p:sp>
      <p:sp>
        <p:nvSpPr>
          <p:cNvPr id="71" name="First- Come, First-Served (FCFS) Scheduling"/>
          <p:cNvSpPr txBox="1">
            <a:spLocks noGrp="1"/>
          </p:cNvSpPr>
          <p:nvPr>
            <p:ph type="title" idx="4294967295"/>
          </p:nvPr>
        </p:nvSpPr>
        <p:spPr>
          <a:xfrm>
            <a:off x="1150937" y="268287"/>
            <a:ext cx="7997826" cy="45720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t>First- Come, First-Served (FCFS) Scheduling</a:t>
            </a:r>
          </a:p>
        </p:txBody>
      </p:sp>
      <p:sp>
        <p:nvSpPr>
          <p:cNvPr id="72" name="Process Burst Time…"/>
          <p:cNvSpPr txBox="1">
            <a:spLocks noGrp="1"/>
          </p:cNvSpPr>
          <p:nvPr>
            <p:ph type="body" idx="4294967295"/>
          </p:nvPr>
        </p:nvSpPr>
        <p:spPr>
          <a:xfrm>
            <a:off x="833437" y="1250950"/>
            <a:ext cx="7566026" cy="41148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5754" indent="-325754" defTabSz="868680">
              <a:lnSpc>
                <a:spcPct val="90000"/>
              </a:lnSpc>
              <a:buSzTx/>
              <a:buFont typeface="Monotype Sorts"/>
              <a:buNone/>
              <a:tabLst>
                <a:tab pos="2870200" algn="r"/>
                <a:tab pos="4381500" algn="r"/>
              </a:tabLst>
              <a:defRPr sz="1520"/>
            </a:pPr>
            <a:r>
              <a:t>		</a:t>
            </a:r>
            <a:r>
              <a:rPr sz="1710" u="sng"/>
              <a:t>Process</a:t>
            </a:r>
            <a:r>
              <a:rPr sz="1710"/>
              <a:t>	</a:t>
            </a:r>
            <a:r>
              <a:rPr sz="1710" u="sng"/>
              <a:t>Burst Time	</a:t>
            </a:r>
            <a:endParaRPr u="sng"/>
          </a:p>
          <a:p>
            <a:pPr marL="325754" indent="-325754" defTabSz="868680">
              <a:lnSpc>
                <a:spcPct val="90000"/>
              </a:lnSpc>
              <a:buSzTx/>
              <a:buFont typeface="Monotype Sorts"/>
              <a:buNone/>
              <a:tabLst>
                <a:tab pos="2870200" algn="r"/>
                <a:tab pos="4381500" algn="r"/>
              </a:tabLst>
              <a:defRPr sz="1710"/>
            </a:pPr>
            <a:r>
              <a:t>		 </a:t>
            </a:r>
            <a:r>
              <a:rPr i="1"/>
              <a:t>P</a:t>
            </a:r>
            <a:r>
              <a:rPr i="1" baseline="-25999"/>
              <a:t>1</a:t>
            </a:r>
            <a:r>
              <a:t>	24</a:t>
            </a:r>
          </a:p>
          <a:p>
            <a:pPr marL="325754" indent="-325754" defTabSz="868680">
              <a:lnSpc>
                <a:spcPct val="90000"/>
              </a:lnSpc>
              <a:buSzTx/>
              <a:buFont typeface="Monotype Sorts"/>
              <a:buNone/>
              <a:tabLst>
                <a:tab pos="2870200" algn="r"/>
                <a:tab pos="4381500" algn="r"/>
              </a:tabLst>
              <a:defRPr sz="1710"/>
            </a:pPr>
            <a:r>
              <a:t>		 </a:t>
            </a:r>
            <a:r>
              <a:rPr i="1"/>
              <a:t>P</a:t>
            </a:r>
            <a:r>
              <a:rPr i="1" baseline="-25999"/>
              <a:t>2</a:t>
            </a:r>
            <a:r>
              <a:t> 	3</a:t>
            </a:r>
          </a:p>
          <a:p>
            <a:pPr marL="325754" indent="-325754" defTabSz="868680">
              <a:lnSpc>
                <a:spcPct val="90000"/>
              </a:lnSpc>
              <a:buSzTx/>
              <a:buFont typeface="Monotype Sorts"/>
              <a:buNone/>
              <a:tabLst>
                <a:tab pos="2870200" algn="r"/>
                <a:tab pos="4381500" algn="r"/>
              </a:tabLst>
              <a:defRPr sz="1710"/>
            </a:pPr>
            <a:r>
              <a:t>		 </a:t>
            </a:r>
            <a:r>
              <a:rPr i="1"/>
              <a:t>P</a:t>
            </a:r>
            <a:r>
              <a:rPr i="1" baseline="-25999"/>
              <a:t>3	 </a:t>
            </a:r>
            <a:r>
              <a:t>3</a:t>
            </a:r>
            <a:r>
              <a:rPr i="1" baseline="-25999"/>
              <a:t> </a:t>
            </a:r>
          </a:p>
          <a:p>
            <a:pPr marL="325754" indent="-325754" defTabSz="868680">
              <a:lnSpc>
                <a:spcPct val="90000"/>
              </a:lnSpc>
              <a:buChar char=""/>
              <a:tabLst>
                <a:tab pos="2870200" algn="r"/>
                <a:tab pos="4381500" algn="r"/>
              </a:tabLst>
              <a:defRPr sz="1710"/>
            </a:pPr>
            <a:r>
              <a:t>Suppose that the processes arrive in the order: </a:t>
            </a:r>
            <a:r>
              <a:rPr i="1"/>
              <a:t>P</a:t>
            </a:r>
            <a:r>
              <a:rPr i="1" baseline="-25999"/>
              <a:t>1</a:t>
            </a:r>
            <a:r>
              <a:t> , </a:t>
            </a:r>
            <a:r>
              <a:rPr i="1"/>
              <a:t>P</a:t>
            </a:r>
            <a:r>
              <a:rPr i="1" baseline="-25999"/>
              <a:t>2</a:t>
            </a:r>
            <a:r>
              <a:t> , </a:t>
            </a:r>
            <a:r>
              <a:rPr i="1"/>
              <a:t>P</a:t>
            </a:r>
            <a:r>
              <a:rPr i="1" baseline="-25999"/>
              <a:t>3  </a:t>
            </a:r>
            <a:br>
              <a:rPr i="1" baseline="-25999"/>
            </a:br>
            <a:r>
              <a:t>The Gantt Chart for the schedule is:</a:t>
            </a:r>
            <a:br/>
            <a:r>
              <a:t/>
            </a:r>
            <a:br/>
            <a:r>
              <a:t/>
            </a:r>
            <a:br/>
            <a:r>
              <a:t/>
            </a:r>
            <a:br/>
            <a:r>
              <a:t/>
            </a:r>
            <a:br/>
            <a:endParaRPr sz="1520"/>
          </a:p>
          <a:p>
            <a:pPr marL="325754" indent="-325754" defTabSz="868680">
              <a:lnSpc>
                <a:spcPct val="90000"/>
              </a:lnSpc>
              <a:buSzTx/>
              <a:buFont typeface="Monotype Sorts"/>
              <a:buNone/>
              <a:tabLst>
                <a:tab pos="2870200" algn="r"/>
                <a:tab pos="4381500" algn="r"/>
              </a:tabLst>
              <a:defRPr sz="1520"/>
            </a:pPr>
            <a:endParaRPr sz="1520"/>
          </a:p>
          <a:p>
            <a:pPr marL="325754" indent="-325754" defTabSz="868680">
              <a:lnSpc>
                <a:spcPct val="90000"/>
              </a:lnSpc>
              <a:buChar char=""/>
              <a:tabLst>
                <a:tab pos="2870200" algn="r"/>
                <a:tab pos="4381500" algn="r"/>
              </a:tabLst>
              <a:defRPr sz="1710"/>
            </a:pPr>
            <a:r>
              <a:t>Waiting time for </a:t>
            </a:r>
            <a:r>
              <a:rPr i="1"/>
              <a:t>P</a:t>
            </a:r>
            <a:r>
              <a:rPr i="1" baseline="-25999"/>
              <a:t>1</a:t>
            </a:r>
            <a:r>
              <a:t>  = 0; </a:t>
            </a:r>
            <a:r>
              <a:rPr i="1"/>
              <a:t>P</a:t>
            </a:r>
            <a:r>
              <a:rPr i="1" baseline="-25999"/>
              <a:t>2</a:t>
            </a:r>
            <a:r>
              <a:t>  = 24; </a:t>
            </a:r>
            <a:r>
              <a:rPr i="1"/>
              <a:t>P</a:t>
            </a:r>
            <a:r>
              <a:rPr i="1" baseline="-25999"/>
              <a:t>3 </a:t>
            </a:r>
            <a:r>
              <a:t>= 27</a:t>
            </a:r>
          </a:p>
          <a:p>
            <a:pPr marL="325754" indent="-325754" defTabSz="868680">
              <a:lnSpc>
                <a:spcPct val="90000"/>
              </a:lnSpc>
              <a:buChar char=""/>
              <a:tabLst>
                <a:tab pos="2870200" algn="r"/>
                <a:tab pos="4381500" algn="r"/>
              </a:tabLst>
              <a:defRPr sz="1710"/>
            </a:pPr>
            <a:r>
              <a:t>Average waiting time:  (0 + 24 + 27)/3 = 17</a:t>
            </a:r>
          </a:p>
        </p:txBody>
      </p:sp>
      <p:pic>
        <p:nvPicPr>
          <p:cNvPr id="73" name="image.tif" descr="image.ti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71575" y="3479800"/>
            <a:ext cx="6954838" cy="8016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360696" y="6613525"/>
            <a:ext cx="238458" cy="2438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 defTabSz="457200">
              <a:spcBef>
                <a:spcPts val="600"/>
              </a:spcBef>
              <a:defRPr sz="1000" b="1">
                <a:solidFill>
                  <a:srgbClr val="006699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fld id="{86CB4B4D-7CA3-9044-876B-883B54F8677D}" type="slidenum">
              <a:t>10</a:t>
            </a:fld>
            <a:endParaRPr/>
          </a:p>
        </p:txBody>
      </p:sp>
      <p:sp>
        <p:nvSpPr>
          <p:cNvPr id="76" name="FCFS Scheduling (Cont.)"/>
          <p:cNvSpPr txBox="1">
            <a:spLocks noGrp="1"/>
          </p:cNvSpPr>
          <p:nvPr>
            <p:ph type="title" idx="4294967295"/>
          </p:nvPr>
        </p:nvSpPr>
        <p:spPr>
          <a:xfrm>
            <a:off x="982662" y="277812"/>
            <a:ext cx="7704138" cy="5762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FCFS Scheduling (Cont.)</a:t>
            </a:r>
          </a:p>
        </p:txBody>
      </p:sp>
      <p:sp>
        <p:nvSpPr>
          <p:cNvPr id="77" name="Suppose that the processes arrive in the order:…"/>
          <p:cNvSpPr txBox="1">
            <a:spLocks noGrp="1"/>
          </p:cNvSpPr>
          <p:nvPr>
            <p:ph type="body" idx="4294967295"/>
          </p:nvPr>
        </p:nvSpPr>
        <p:spPr>
          <a:xfrm>
            <a:off x="908050" y="1233487"/>
            <a:ext cx="7651750" cy="4530726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SzTx/>
              <a:buFont typeface="Monotype Sorts"/>
              <a:buNone/>
              <a:tabLst>
                <a:tab pos="3644900" algn="r"/>
              </a:tabLst>
            </a:pPr>
            <a:r>
              <a:t>Suppose that the processes arrive in the order:</a:t>
            </a:r>
          </a:p>
          <a:p>
            <a:pPr>
              <a:buSzTx/>
              <a:buFont typeface="Monotype Sorts"/>
              <a:buNone/>
              <a:tabLst>
                <a:tab pos="3644900" algn="r"/>
              </a:tabLst>
            </a:pPr>
            <a:r>
              <a:t>		 </a:t>
            </a:r>
            <a:r>
              <a:rPr i="1"/>
              <a:t>P</a:t>
            </a:r>
            <a:r>
              <a:rPr i="1" baseline="-25000"/>
              <a:t>2</a:t>
            </a:r>
            <a:r>
              <a:t> , </a:t>
            </a:r>
            <a:r>
              <a:rPr i="1"/>
              <a:t>P</a:t>
            </a:r>
            <a:r>
              <a:rPr i="1" baseline="-25000"/>
              <a:t>3</a:t>
            </a:r>
            <a:r>
              <a:t> , </a:t>
            </a:r>
            <a:r>
              <a:rPr i="1"/>
              <a:t>P</a:t>
            </a:r>
            <a:r>
              <a:rPr i="1" baseline="-25000"/>
              <a:t>1</a:t>
            </a:r>
            <a:r>
              <a:t> </a:t>
            </a:r>
          </a:p>
          <a:p>
            <a:pPr>
              <a:buChar char=""/>
              <a:tabLst>
                <a:tab pos="3644900" algn="r"/>
              </a:tabLst>
            </a:pPr>
            <a:r>
              <a:t>The Gantt chart for the schedule is:</a:t>
            </a:r>
            <a:br/>
            <a:endParaRPr/>
          </a:p>
          <a:p>
            <a:pPr>
              <a:buChar char=""/>
              <a:tabLst>
                <a:tab pos="3644900" algn="r"/>
              </a:tabLst>
            </a:pPr>
            <a:endParaRPr/>
          </a:p>
          <a:p>
            <a:pPr>
              <a:buChar char=""/>
              <a:tabLst>
                <a:tab pos="3644900" algn="r"/>
              </a:tabLst>
            </a:pPr>
            <a:endParaRPr/>
          </a:p>
          <a:p>
            <a:pPr>
              <a:buSzTx/>
              <a:buFont typeface="Monotype Sorts"/>
              <a:buNone/>
              <a:tabLst>
                <a:tab pos="3644900" algn="r"/>
              </a:tabLst>
            </a:pPr>
            <a:endParaRPr/>
          </a:p>
          <a:p>
            <a:pPr>
              <a:buChar char=""/>
              <a:tabLst>
                <a:tab pos="3644900" algn="r"/>
              </a:tabLst>
            </a:pPr>
            <a:r>
              <a:t>Waiting time for </a:t>
            </a:r>
            <a:r>
              <a:rPr i="1"/>
              <a:t>P</a:t>
            </a:r>
            <a:r>
              <a:rPr i="1" baseline="-25000"/>
              <a:t>1 </a:t>
            </a:r>
            <a:r>
              <a:rPr i="1"/>
              <a:t>=</a:t>
            </a:r>
            <a:r>
              <a:t> 6</a:t>
            </a:r>
            <a:r>
              <a:rPr i="1"/>
              <a:t>;</a:t>
            </a:r>
            <a:r>
              <a:rPr i="1" baseline="-25000"/>
              <a:t> </a:t>
            </a:r>
            <a:r>
              <a:rPr i="1"/>
              <a:t>P</a:t>
            </a:r>
            <a:r>
              <a:rPr i="1" baseline="-25000"/>
              <a:t>2</a:t>
            </a:r>
            <a:r>
              <a:t> = 0</a:t>
            </a:r>
            <a:r>
              <a:rPr i="1" baseline="-25000"/>
              <a:t>; </a:t>
            </a:r>
            <a:r>
              <a:rPr i="1"/>
              <a:t>P</a:t>
            </a:r>
            <a:r>
              <a:rPr i="1" baseline="-25000"/>
              <a:t>3 </a:t>
            </a:r>
            <a:r>
              <a:rPr i="1"/>
              <a:t>= </a:t>
            </a:r>
            <a:r>
              <a:t>3</a:t>
            </a:r>
            <a:endParaRPr i="1"/>
          </a:p>
          <a:p>
            <a:pPr>
              <a:buChar char=""/>
              <a:tabLst>
                <a:tab pos="3644900" algn="r"/>
              </a:tabLst>
            </a:pPr>
            <a:r>
              <a:t>Average waiting time:   (6 + 0 + 3)/3 = 3</a:t>
            </a:r>
          </a:p>
          <a:p>
            <a:pPr>
              <a:buChar char=""/>
              <a:tabLst>
                <a:tab pos="3644900" algn="r"/>
              </a:tabLst>
            </a:pPr>
            <a:r>
              <a:t>Much better than previous case</a:t>
            </a:r>
          </a:p>
          <a:p>
            <a:pPr>
              <a:buChar char=""/>
              <a:tabLst>
                <a:tab pos="3644900" algn="r"/>
              </a:tabLst>
              <a:defRPr b="1">
                <a:solidFill>
                  <a:srgbClr val="3366FF"/>
                </a:solidFill>
              </a:defRPr>
            </a:pPr>
            <a:r>
              <a:t>Convoy effect </a:t>
            </a:r>
            <a:r>
              <a:rPr b="0">
                <a:solidFill>
                  <a:srgbClr val="000000"/>
                </a:solidFill>
              </a:rPr>
              <a:t>- short process behind long process</a:t>
            </a:r>
          </a:p>
          <a:p>
            <a:pPr lvl="1">
              <a:spcBef>
                <a:spcPts val="0"/>
              </a:spcBef>
              <a:buClr>
                <a:srgbClr val="CC6600"/>
              </a:buClr>
              <a:tabLst>
                <a:tab pos="3644900" algn="r"/>
              </a:tabLst>
            </a:pPr>
            <a:r>
              <a:t>Consider one CPU-bound and many I/O-bound processes</a:t>
            </a:r>
          </a:p>
        </p:txBody>
      </p:sp>
      <p:pic>
        <p:nvPicPr>
          <p:cNvPr id="78" name="image.tif" descr="image.ti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0000" y="2632075"/>
            <a:ext cx="7123113" cy="8048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357223" y="6613525"/>
            <a:ext cx="245404" cy="2438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 defTabSz="457200">
              <a:spcBef>
                <a:spcPts val="600"/>
              </a:spcBef>
              <a:defRPr sz="1000" b="1">
                <a:solidFill>
                  <a:srgbClr val="006699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fld id="{86CB4B4D-7CA3-9044-876B-883B54F8677D}" type="slidenum">
              <a:t>11</a:t>
            </a:fld>
            <a:endParaRPr/>
          </a:p>
        </p:txBody>
      </p:sp>
      <p:sp>
        <p:nvSpPr>
          <p:cNvPr id="81" name="Shortest-Job-First (SJF) Scheduling"/>
          <p:cNvSpPr txBox="1">
            <a:spLocks noGrp="1"/>
          </p:cNvSpPr>
          <p:nvPr>
            <p:ph type="title" idx="4294967295"/>
          </p:nvPr>
        </p:nvSpPr>
        <p:spPr>
          <a:xfrm>
            <a:off x="1058862" y="188912"/>
            <a:ext cx="7704138" cy="5762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Shortest-Job-First (SJF) Scheduling</a:t>
            </a:r>
          </a:p>
        </p:txBody>
      </p:sp>
      <p:sp>
        <p:nvSpPr>
          <p:cNvPr id="82" name="Associate with each process the length of its next CPU burst…"/>
          <p:cNvSpPr txBox="1">
            <a:spLocks noGrp="1"/>
          </p:cNvSpPr>
          <p:nvPr>
            <p:ph type="body" idx="4294967295"/>
          </p:nvPr>
        </p:nvSpPr>
        <p:spPr>
          <a:xfrm>
            <a:off x="908050" y="1233487"/>
            <a:ext cx="7143750" cy="4530726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"/>
            </a:pPr>
            <a:r>
              <a:t>Associate with each process the length of its next CPU burst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 Use these lengths to schedule the process with the shortest time</a:t>
            </a:r>
          </a:p>
          <a:p>
            <a:pPr>
              <a:buChar char=""/>
            </a:pPr>
            <a:r>
              <a:t>SJF is optimal – gives minimum average waiting time for a given set of processes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The difficulty is knowing the length of the next CPU request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Could ask the user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357223" y="6613525"/>
            <a:ext cx="245404" cy="2438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 defTabSz="457200">
              <a:spcBef>
                <a:spcPts val="600"/>
              </a:spcBef>
              <a:defRPr sz="1000" b="1">
                <a:solidFill>
                  <a:srgbClr val="006699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fld id="{86CB4B4D-7CA3-9044-876B-883B54F8677D}" type="slidenum">
              <a:t>12</a:t>
            </a:fld>
            <a:endParaRPr/>
          </a:p>
        </p:txBody>
      </p:sp>
      <p:sp>
        <p:nvSpPr>
          <p:cNvPr id="85" name="Example of SJF"/>
          <p:cNvSpPr txBox="1">
            <a:spLocks noGrp="1"/>
          </p:cNvSpPr>
          <p:nvPr>
            <p:ph type="title" idx="4294967295"/>
          </p:nvPr>
        </p:nvSpPr>
        <p:spPr>
          <a:xfrm>
            <a:off x="457200" y="201612"/>
            <a:ext cx="8229600" cy="5762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Example of SJF</a:t>
            </a:r>
          </a:p>
        </p:txBody>
      </p:sp>
      <p:sp>
        <p:nvSpPr>
          <p:cNvPr id="86" name="ProcessArriva l Time Burst Time…"/>
          <p:cNvSpPr txBox="1">
            <a:spLocks noGrp="1"/>
          </p:cNvSpPr>
          <p:nvPr>
            <p:ph type="body" idx="4294967295"/>
          </p:nvPr>
        </p:nvSpPr>
        <p:spPr>
          <a:xfrm>
            <a:off x="806450" y="1233487"/>
            <a:ext cx="8229600" cy="453072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32613" indent="-332613" defTabSz="886968">
              <a:buSzTx/>
              <a:buFont typeface="Monotype Sorts"/>
              <a:buNone/>
              <a:tabLst>
                <a:tab pos="1549400" algn="r"/>
                <a:tab pos="3149600" algn="r"/>
                <a:tab pos="4965700" algn="r"/>
              </a:tabLst>
              <a:defRPr sz="1746"/>
            </a:pPr>
            <a:r>
              <a:t>	      	                </a:t>
            </a:r>
            <a:r>
              <a:rPr u="sng"/>
              <a:t>Process</a:t>
            </a:r>
            <a:r>
              <a:rPr u="sng">
                <a:solidFill>
                  <a:srgbClr val="FFFFFF"/>
                </a:solidFill>
              </a:rPr>
              <a:t>Arriva	l Time</a:t>
            </a:r>
            <a:r>
              <a:t>	</a:t>
            </a:r>
            <a:r>
              <a:rPr u="sng"/>
              <a:t>Burst Time</a:t>
            </a:r>
          </a:p>
          <a:p>
            <a:pPr marL="332613" indent="-332613" defTabSz="886968">
              <a:buSzTx/>
              <a:buFont typeface="Monotype Sorts"/>
              <a:buNone/>
              <a:tabLst>
                <a:tab pos="1549400" algn="r"/>
                <a:tab pos="3149600" algn="r"/>
                <a:tab pos="4965700" algn="r"/>
              </a:tabLst>
              <a:defRPr sz="1746"/>
            </a:pPr>
            <a:r>
              <a:t>		             </a:t>
            </a:r>
            <a:r>
              <a:rPr i="1"/>
              <a:t>P</a:t>
            </a:r>
            <a:r>
              <a:rPr i="1" baseline="-25587"/>
              <a:t>1</a:t>
            </a:r>
            <a:r>
              <a:t>	</a:t>
            </a:r>
            <a:r>
              <a:rPr>
                <a:solidFill>
                  <a:srgbClr val="FFFFFF"/>
                </a:solidFill>
              </a:rPr>
              <a:t>0.0</a:t>
            </a:r>
            <a:r>
              <a:t>	6</a:t>
            </a:r>
          </a:p>
          <a:p>
            <a:pPr marL="332613" indent="-332613" defTabSz="886968">
              <a:buSzTx/>
              <a:buFont typeface="Monotype Sorts"/>
              <a:buNone/>
              <a:tabLst>
                <a:tab pos="1549400" algn="r"/>
                <a:tab pos="3149600" algn="r"/>
                <a:tab pos="4965700" algn="r"/>
              </a:tabLst>
              <a:defRPr sz="1746"/>
            </a:pPr>
            <a:r>
              <a:t>		            </a:t>
            </a:r>
            <a:r>
              <a:rPr i="1"/>
              <a:t>P</a:t>
            </a:r>
            <a:r>
              <a:rPr i="1" baseline="-25587"/>
              <a:t>2 	</a:t>
            </a:r>
            <a:r>
              <a:rPr>
                <a:solidFill>
                  <a:srgbClr val="FFFFFF"/>
                </a:solidFill>
              </a:rPr>
              <a:t>2.0</a:t>
            </a:r>
            <a:r>
              <a:t>	8</a:t>
            </a:r>
          </a:p>
          <a:p>
            <a:pPr marL="332613" indent="-332613" defTabSz="886968">
              <a:buSzTx/>
              <a:buFont typeface="Monotype Sorts"/>
              <a:buNone/>
              <a:tabLst>
                <a:tab pos="1549400" algn="r"/>
                <a:tab pos="3149600" algn="r"/>
                <a:tab pos="4965700" algn="r"/>
              </a:tabLst>
              <a:defRPr sz="1746"/>
            </a:pPr>
            <a:r>
              <a:t>		            </a:t>
            </a:r>
            <a:r>
              <a:rPr i="1"/>
              <a:t>P</a:t>
            </a:r>
            <a:r>
              <a:rPr i="1" baseline="-25587"/>
              <a:t>3</a:t>
            </a:r>
            <a:r>
              <a:t>	</a:t>
            </a:r>
            <a:r>
              <a:rPr>
                <a:solidFill>
                  <a:srgbClr val="FFFFFF"/>
                </a:solidFill>
              </a:rPr>
              <a:t>4.0</a:t>
            </a:r>
            <a:r>
              <a:t>	7</a:t>
            </a:r>
          </a:p>
          <a:p>
            <a:pPr marL="332613" indent="-332613" defTabSz="886968">
              <a:buSzTx/>
              <a:buFont typeface="Monotype Sorts"/>
              <a:buNone/>
              <a:tabLst>
                <a:tab pos="1549400" algn="r"/>
                <a:tab pos="3149600" algn="r"/>
                <a:tab pos="4965700" algn="r"/>
              </a:tabLst>
              <a:defRPr sz="1746"/>
            </a:pPr>
            <a:r>
              <a:t>		            </a:t>
            </a:r>
            <a:r>
              <a:rPr i="1"/>
              <a:t>P</a:t>
            </a:r>
            <a:r>
              <a:rPr i="1" baseline="-25587"/>
              <a:t>4</a:t>
            </a:r>
            <a:r>
              <a:t>	</a:t>
            </a:r>
            <a:r>
              <a:rPr>
                <a:solidFill>
                  <a:srgbClr val="FFFFFF"/>
                </a:solidFill>
              </a:rPr>
              <a:t>5.0</a:t>
            </a:r>
            <a:r>
              <a:t>	3</a:t>
            </a:r>
          </a:p>
          <a:p>
            <a:pPr marL="332613" indent="-332613" defTabSz="886968">
              <a:buSzTx/>
              <a:buFont typeface="Monotype Sorts"/>
              <a:buNone/>
              <a:tabLst>
                <a:tab pos="1549400" algn="r"/>
                <a:tab pos="3149600" algn="r"/>
                <a:tab pos="4965700" algn="r"/>
              </a:tabLst>
              <a:defRPr sz="1746"/>
            </a:pPr>
            <a:endParaRPr/>
          </a:p>
          <a:p>
            <a:pPr marL="332613" indent="-332613" defTabSz="886968">
              <a:buChar char=""/>
              <a:tabLst>
                <a:tab pos="1549400" algn="r"/>
                <a:tab pos="3149600" algn="r"/>
                <a:tab pos="4965700" algn="r"/>
              </a:tabLst>
              <a:defRPr sz="1746"/>
            </a:pPr>
            <a:r>
              <a:t>SJF scheduling chart</a:t>
            </a:r>
          </a:p>
          <a:p>
            <a:pPr marL="332613" indent="-332613" defTabSz="886968">
              <a:buChar char=""/>
              <a:tabLst>
                <a:tab pos="1549400" algn="r"/>
                <a:tab pos="3149600" algn="r"/>
                <a:tab pos="4965700" algn="r"/>
              </a:tabLst>
              <a:defRPr sz="1746"/>
            </a:pPr>
            <a:endParaRPr/>
          </a:p>
          <a:p>
            <a:pPr marL="332613" indent="-332613" defTabSz="886968">
              <a:buChar char=""/>
              <a:tabLst>
                <a:tab pos="1549400" algn="r"/>
                <a:tab pos="3149600" algn="r"/>
                <a:tab pos="4965700" algn="r"/>
              </a:tabLst>
              <a:defRPr sz="1746"/>
            </a:pPr>
            <a:endParaRPr/>
          </a:p>
          <a:p>
            <a:pPr marL="332613" indent="-332613" defTabSz="886968">
              <a:buChar char=""/>
              <a:tabLst>
                <a:tab pos="1549400" algn="r"/>
                <a:tab pos="3149600" algn="r"/>
                <a:tab pos="4965700" algn="r"/>
              </a:tabLst>
              <a:defRPr sz="1746"/>
            </a:pPr>
            <a:endParaRPr/>
          </a:p>
          <a:p>
            <a:pPr marL="332613" indent="-332613" defTabSz="886968">
              <a:buSzTx/>
              <a:buFont typeface="Monotype Sorts"/>
              <a:buNone/>
              <a:tabLst>
                <a:tab pos="1549400" algn="r"/>
                <a:tab pos="3149600" algn="r"/>
                <a:tab pos="4965700" algn="r"/>
              </a:tabLst>
              <a:defRPr sz="1746"/>
            </a:pPr>
            <a:endParaRPr/>
          </a:p>
          <a:p>
            <a:pPr marL="332613" indent="-332613" defTabSz="886968">
              <a:buChar char=""/>
              <a:tabLst>
                <a:tab pos="1549400" algn="r"/>
                <a:tab pos="3149600" algn="r"/>
                <a:tab pos="4965700" algn="r"/>
              </a:tabLst>
              <a:defRPr sz="1746"/>
            </a:pPr>
            <a:r>
              <a:t>Average waiting time = (3 + 16 + 9 + 0) / 4 = 7</a:t>
            </a:r>
          </a:p>
        </p:txBody>
      </p:sp>
      <p:pic>
        <p:nvPicPr>
          <p:cNvPr id="87" name="image.tif" descr="image.ti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87462" y="4076700"/>
            <a:ext cx="6796088" cy="8953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357223" y="6613525"/>
            <a:ext cx="245404" cy="2438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 defTabSz="457200">
              <a:spcBef>
                <a:spcPts val="600"/>
              </a:spcBef>
              <a:defRPr sz="1000" b="1">
                <a:solidFill>
                  <a:srgbClr val="006699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fld id="{86CB4B4D-7CA3-9044-876B-883B54F8677D}" type="slidenum">
              <a:t>13</a:t>
            </a:fld>
            <a:endParaRPr/>
          </a:p>
        </p:txBody>
      </p:sp>
      <p:sp>
        <p:nvSpPr>
          <p:cNvPr id="104" name="Example of Shortest-remaining-time-first"/>
          <p:cNvSpPr txBox="1">
            <a:spLocks noGrp="1"/>
          </p:cNvSpPr>
          <p:nvPr>
            <p:ph type="title" idx="4294967295"/>
          </p:nvPr>
        </p:nvSpPr>
        <p:spPr>
          <a:xfrm>
            <a:off x="1092200" y="277812"/>
            <a:ext cx="7594600" cy="5762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t>Example of Shortest-remaining-time-first</a:t>
            </a:r>
          </a:p>
        </p:txBody>
      </p:sp>
      <p:sp>
        <p:nvSpPr>
          <p:cNvPr id="105" name="Now we add the concepts of varying arrival times and preemption to the analysis…"/>
          <p:cNvSpPr txBox="1">
            <a:spLocks noGrp="1"/>
          </p:cNvSpPr>
          <p:nvPr>
            <p:ph type="body" idx="4294967295"/>
          </p:nvPr>
        </p:nvSpPr>
        <p:spPr>
          <a:xfrm>
            <a:off x="1073150" y="1233487"/>
            <a:ext cx="7600950" cy="453072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32613" indent="-332613" defTabSz="886968">
              <a:buChar char=""/>
              <a:tabLst>
                <a:tab pos="1549400" algn="r"/>
                <a:tab pos="3149600" algn="r"/>
                <a:tab pos="4965700" algn="r"/>
              </a:tabLst>
              <a:defRPr sz="1746"/>
            </a:pPr>
            <a:r>
              <a:t>Now we add the concepts of varying arrival times and preemption to the analysis</a:t>
            </a:r>
          </a:p>
          <a:p>
            <a:pPr marL="332613" indent="-332613" defTabSz="886968">
              <a:buSzTx/>
              <a:buFont typeface="Monotype Sorts"/>
              <a:buNone/>
              <a:tabLst>
                <a:tab pos="1549400" algn="r"/>
                <a:tab pos="3149600" algn="r"/>
                <a:tab pos="4965700" algn="r"/>
              </a:tabLst>
              <a:defRPr sz="1746"/>
            </a:pPr>
            <a:r>
              <a:t>		         </a:t>
            </a:r>
            <a:r>
              <a:rPr u="sng"/>
              <a:t>Process</a:t>
            </a:r>
            <a:r>
              <a:rPr u="sng">
                <a:solidFill>
                  <a:srgbClr val="FFFFFF"/>
                </a:solidFill>
              </a:rPr>
              <a:t>A	arri </a:t>
            </a:r>
            <a:r>
              <a:rPr i="1" u="sng"/>
              <a:t>Arrival </a:t>
            </a:r>
            <a:r>
              <a:rPr u="sng"/>
              <a:t>Time</a:t>
            </a:r>
            <a:r>
              <a:rPr u="sng">
                <a:solidFill>
                  <a:srgbClr val="FFFFFF"/>
                </a:solidFill>
              </a:rPr>
              <a:t>T</a:t>
            </a:r>
            <a:r>
              <a:t>	</a:t>
            </a:r>
            <a:r>
              <a:rPr u="sng"/>
              <a:t>Burst Time</a:t>
            </a:r>
          </a:p>
          <a:p>
            <a:pPr marL="332613" indent="-332613" defTabSz="886968">
              <a:buSzTx/>
              <a:buFont typeface="Monotype Sorts"/>
              <a:buNone/>
              <a:tabLst>
                <a:tab pos="1549400" algn="r"/>
                <a:tab pos="3149600" algn="r"/>
                <a:tab pos="4965700" algn="r"/>
              </a:tabLst>
              <a:defRPr sz="1746"/>
            </a:pPr>
            <a:r>
              <a:t>		 </a:t>
            </a:r>
            <a:r>
              <a:rPr i="1"/>
              <a:t>P</a:t>
            </a:r>
            <a:r>
              <a:rPr i="1" baseline="-25587"/>
              <a:t>1</a:t>
            </a:r>
            <a:r>
              <a:t>	0	8</a:t>
            </a:r>
          </a:p>
          <a:p>
            <a:pPr marL="332613" indent="-332613" defTabSz="886968">
              <a:buSzTx/>
              <a:buFont typeface="Monotype Sorts"/>
              <a:buNone/>
              <a:tabLst>
                <a:tab pos="1549400" algn="r"/>
                <a:tab pos="3149600" algn="r"/>
                <a:tab pos="4965700" algn="r"/>
              </a:tabLst>
              <a:defRPr sz="1746"/>
            </a:pPr>
            <a:r>
              <a:t>		 </a:t>
            </a:r>
            <a:r>
              <a:rPr i="1"/>
              <a:t>P</a:t>
            </a:r>
            <a:r>
              <a:rPr i="1" baseline="-25587"/>
              <a:t>2 	</a:t>
            </a:r>
            <a:r>
              <a:t>1	4</a:t>
            </a:r>
          </a:p>
          <a:p>
            <a:pPr marL="332613" indent="-332613" defTabSz="886968">
              <a:buSzTx/>
              <a:buFont typeface="Monotype Sorts"/>
              <a:buNone/>
              <a:tabLst>
                <a:tab pos="1549400" algn="r"/>
                <a:tab pos="3149600" algn="r"/>
                <a:tab pos="4965700" algn="r"/>
              </a:tabLst>
              <a:defRPr sz="1746"/>
            </a:pPr>
            <a:r>
              <a:t>		 </a:t>
            </a:r>
            <a:r>
              <a:rPr i="1"/>
              <a:t>P</a:t>
            </a:r>
            <a:r>
              <a:rPr i="1" baseline="-25587"/>
              <a:t>3</a:t>
            </a:r>
            <a:r>
              <a:t>	2	9</a:t>
            </a:r>
          </a:p>
          <a:p>
            <a:pPr marL="332613" indent="-332613" defTabSz="886968">
              <a:buSzTx/>
              <a:buFont typeface="Monotype Sorts"/>
              <a:buNone/>
              <a:tabLst>
                <a:tab pos="1549400" algn="r"/>
                <a:tab pos="3149600" algn="r"/>
                <a:tab pos="4965700" algn="r"/>
              </a:tabLst>
              <a:defRPr sz="1746"/>
            </a:pPr>
            <a:r>
              <a:t>		 </a:t>
            </a:r>
            <a:r>
              <a:rPr i="1"/>
              <a:t>P</a:t>
            </a:r>
            <a:r>
              <a:rPr i="1" baseline="-25587"/>
              <a:t>4</a:t>
            </a:r>
            <a:r>
              <a:t>	3	5</a:t>
            </a:r>
          </a:p>
          <a:p>
            <a:pPr marL="332613" indent="-332613" defTabSz="886968">
              <a:buChar char=""/>
              <a:tabLst>
                <a:tab pos="1549400" algn="r"/>
                <a:tab pos="3149600" algn="r"/>
                <a:tab pos="4965700" algn="r"/>
              </a:tabLst>
              <a:defRPr sz="1746" i="1"/>
            </a:pPr>
            <a:r>
              <a:t>Preemptive </a:t>
            </a:r>
            <a:r>
              <a:rPr i="0"/>
              <a:t>SJF Gantt Chart</a:t>
            </a:r>
          </a:p>
          <a:p>
            <a:pPr marL="332613" indent="-332613" defTabSz="886968">
              <a:buChar char=""/>
              <a:tabLst>
                <a:tab pos="1549400" algn="r"/>
                <a:tab pos="3149600" algn="r"/>
                <a:tab pos="4965700" algn="r"/>
              </a:tabLst>
              <a:defRPr sz="1746"/>
            </a:pPr>
            <a:endParaRPr i="0"/>
          </a:p>
          <a:p>
            <a:pPr marL="332613" indent="-332613" defTabSz="886968">
              <a:buChar char=""/>
              <a:tabLst>
                <a:tab pos="1549400" algn="r"/>
                <a:tab pos="3149600" algn="r"/>
                <a:tab pos="4965700" algn="r"/>
              </a:tabLst>
              <a:defRPr sz="1746"/>
            </a:pPr>
            <a:endParaRPr i="0"/>
          </a:p>
          <a:p>
            <a:pPr marL="332613" indent="-332613" defTabSz="886968">
              <a:buSzTx/>
              <a:buFont typeface="Monotype Sorts"/>
              <a:buNone/>
              <a:tabLst>
                <a:tab pos="1549400" algn="r"/>
                <a:tab pos="3149600" algn="r"/>
                <a:tab pos="4965700" algn="r"/>
              </a:tabLst>
              <a:defRPr sz="1746"/>
            </a:pPr>
            <a:endParaRPr i="0"/>
          </a:p>
          <a:p>
            <a:pPr marL="332613" indent="-332613" defTabSz="886968">
              <a:buChar char=""/>
              <a:tabLst>
                <a:tab pos="1549400" algn="r"/>
                <a:tab pos="3149600" algn="r"/>
                <a:tab pos="4965700" algn="r"/>
              </a:tabLst>
              <a:defRPr sz="1746"/>
            </a:pPr>
            <a:r>
              <a:t>Average waiting time = [(10-1)+(1-1)+(17-2)+5-3)]/4 = 26/4 = 6.5 msec</a:t>
            </a:r>
          </a:p>
        </p:txBody>
      </p:sp>
      <p:pic>
        <p:nvPicPr>
          <p:cNvPr id="106" name="image.tif" descr="image.ti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46212" y="4284662"/>
            <a:ext cx="6535738" cy="8001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357223" y="6613525"/>
            <a:ext cx="245404" cy="2438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 defTabSz="457200">
              <a:spcBef>
                <a:spcPts val="600"/>
              </a:spcBef>
              <a:defRPr sz="1000" b="1">
                <a:solidFill>
                  <a:srgbClr val="006699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fld id="{86CB4B4D-7CA3-9044-876B-883B54F8677D}" type="slidenum">
              <a:t>14</a:t>
            </a:fld>
            <a:endParaRPr/>
          </a:p>
        </p:txBody>
      </p:sp>
      <p:sp>
        <p:nvSpPr>
          <p:cNvPr id="109" name="Priority Scheduling"/>
          <p:cNvSpPr txBox="1">
            <a:spLocks noGrp="1"/>
          </p:cNvSpPr>
          <p:nvPr>
            <p:ph type="title" idx="4294967295"/>
          </p:nvPr>
        </p:nvSpPr>
        <p:spPr>
          <a:xfrm>
            <a:off x="963612" y="201612"/>
            <a:ext cx="7723188" cy="5762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Priority Scheduling</a:t>
            </a:r>
          </a:p>
        </p:txBody>
      </p:sp>
      <p:sp>
        <p:nvSpPr>
          <p:cNvPr id="110" name="A priority number (integer) is associated with each process…"/>
          <p:cNvSpPr txBox="1">
            <a:spLocks noGrp="1"/>
          </p:cNvSpPr>
          <p:nvPr>
            <p:ph type="body" idx="4294967295"/>
          </p:nvPr>
        </p:nvSpPr>
        <p:spPr>
          <a:xfrm>
            <a:off x="882650" y="1233487"/>
            <a:ext cx="7423150" cy="4530726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"/>
            </a:pPr>
            <a:r>
              <a:t>A priority number (integer) is associated with each process</a:t>
            </a:r>
          </a:p>
          <a:p>
            <a:pPr>
              <a:buChar char=""/>
              <a:defRPr sz="800"/>
            </a:pPr>
            <a:endParaRPr/>
          </a:p>
          <a:p>
            <a:pPr>
              <a:buChar char=""/>
            </a:pPr>
            <a:r>
              <a:t>The CPU is allocated to the process with the highest priority (smallest integer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º </a:t>
            </a:r>
            <a:r>
              <a:t>highest priority)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Preemptive</a:t>
            </a:r>
          </a:p>
          <a:p>
            <a:pPr lvl="1">
              <a:spcBef>
                <a:spcPts val="0"/>
              </a:spcBef>
              <a:buClr>
                <a:srgbClr val="CC6600"/>
              </a:buClr>
            </a:pPr>
            <a:r>
              <a:t>Nonpreemptive</a:t>
            </a:r>
          </a:p>
          <a:p>
            <a:pPr lvl="1">
              <a:spcBef>
                <a:spcPts val="0"/>
              </a:spcBef>
              <a:buClr>
                <a:srgbClr val="CC6600"/>
              </a:buClr>
              <a:defRPr sz="800"/>
            </a:pPr>
            <a:endParaRPr/>
          </a:p>
          <a:p>
            <a:pPr>
              <a:buChar char=""/>
            </a:pPr>
            <a:r>
              <a:t>SJF is priority scheduling where priority is the inverse of predicted next CPU burst time</a:t>
            </a:r>
          </a:p>
          <a:p>
            <a:pPr>
              <a:buChar char=""/>
              <a:defRPr sz="800"/>
            </a:pPr>
            <a:endParaRPr/>
          </a:p>
          <a:p>
            <a:pPr>
              <a:buChar char=""/>
            </a:pPr>
            <a:r>
              <a:t>Problem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º </a:t>
            </a:r>
            <a:r>
              <a:rPr b="1">
                <a:solidFill>
                  <a:srgbClr val="3366FF"/>
                </a:solidFill>
              </a:rPr>
              <a:t>Starvation</a:t>
            </a:r>
            <a:r>
              <a:rPr b="1"/>
              <a:t> </a:t>
            </a:r>
            <a:r>
              <a:t>– low priority processes may never execute</a:t>
            </a:r>
          </a:p>
          <a:p>
            <a:pPr>
              <a:buChar char=""/>
              <a:defRPr sz="800"/>
            </a:pPr>
            <a:endParaRPr/>
          </a:p>
          <a:p>
            <a:pPr>
              <a:buChar char=""/>
            </a:pPr>
            <a:r>
              <a:t>Solution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º </a:t>
            </a:r>
            <a:r>
              <a:rPr b="1">
                <a:solidFill>
                  <a:srgbClr val="3366FF"/>
                </a:solidFill>
              </a:rPr>
              <a:t>Aging</a:t>
            </a:r>
            <a:r>
              <a:rPr b="1"/>
              <a:t> </a:t>
            </a:r>
            <a:r>
              <a:t>– as time progresses increase the priority of the process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357223" y="6613525"/>
            <a:ext cx="245404" cy="2438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 defTabSz="457200">
              <a:spcBef>
                <a:spcPts val="600"/>
              </a:spcBef>
              <a:defRPr sz="1000" b="1">
                <a:solidFill>
                  <a:srgbClr val="006699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fld id="{86CB4B4D-7CA3-9044-876B-883B54F8677D}" type="slidenum">
              <a:t>15</a:t>
            </a:fld>
            <a:endParaRPr/>
          </a:p>
        </p:txBody>
      </p:sp>
      <p:sp>
        <p:nvSpPr>
          <p:cNvPr id="113" name="Example of Priority Scheduling"/>
          <p:cNvSpPr txBox="1">
            <a:spLocks noGrp="1"/>
          </p:cNvSpPr>
          <p:nvPr>
            <p:ph type="title" idx="4294967295"/>
          </p:nvPr>
        </p:nvSpPr>
        <p:spPr>
          <a:xfrm>
            <a:off x="1406525" y="201612"/>
            <a:ext cx="7280275" cy="5762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Example of Priority Scheduling</a:t>
            </a:r>
          </a:p>
        </p:txBody>
      </p:sp>
      <p:sp>
        <p:nvSpPr>
          <p:cNvPr id="114" name="ProcessA arri Burst TimeT Priority…"/>
          <p:cNvSpPr txBox="1">
            <a:spLocks noGrp="1"/>
          </p:cNvSpPr>
          <p:nvPr>
            <p:ph type="body" idx="4294967295"/>
          </p:nvPr>
        </p:nvSpPr>
        <p:spPr>
          <a:xfrm>
            <a:off x="806450" y="1233487"/>
            <a:ext cx="8337550" cy="488791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32613" indent="-332613" defTabSz="886968">
              <a:buSzTx/>
              <a:buFont typeface="Monotype Sorts"/>
              <a:buNone/>
              <a:tabLst>
                <a:tab pos="1549400" algn="r"/>
                <a:tab pos="3149600" algn="r"/>
                <a:tab pos="4965700" algn="r"/>
              </a:tabLst>
              <a:defRPr sz="1746"/>
            </a:pPr>
            <a:r>
              <a:t>		         </a:t>
            </a:r>
            <a:r>
              <a:rPr u="sng"/>
              <a:t>Process</a:t>
            </a:r>
            <a:r>
              <a:rPr u="sng">
                <a:solidFill>
                  <a:srgbClr val="FFFFFF"/>
                </a:solidFill>
              </a:rPr>
              <a:t>A	arri </a:t>
            </a:r>
            <a:r>
              <a:rPr u="sng"/>
              <a:t>Burst Time</a:t>
            </a:r>
            <a:r>
              <a:rPr u="sng">
                <a:solidFill>
                  <a:srgbClr val="FFFFFF"/>
                </a:solidFill>
              </a:rPr>
              <a:t>T</a:t>
            </a:r>
            <a:r>
              <a:t>	</a:t>
            </a:r>
            <a:r>
              <a:rPr u="sng"/>
              <a:t>Priority</a:t>
            </a:r>
          </a:p>
          <a:p>
            <a:pPr marL="332613" indent="-332613" defTabSz="886968">
              <a:buSzTx/>
              <a:buFont typeface="Monotype Sorts"/>
              <a:buNone/>
              <a:tabLst>
                <a:tab pos="1549400" algn="r"/>
                <a:tab pos="3149600" algn="r"/>
                <a:tab pos="4965700" algn="r"/>
              </a:tabLst>
              <a:defRPr sz="1746"/>
            </a:pPr>
            <a:r>
              <a:t>		 </a:t>
            </a:r>
            <a:r>
              <a:rPr i="1"/>
              <a:t>P</a:t>
            </a:r>
            <a:r>
              <a:rPr i="1" baseline="-25587"/>
              <a:t>1</a:t>
            </a:r>
            <a:r>
              <a:t>	10	3</a:t>
            </a:r>
          </a:p>
          <a:p>
            <a:pPr marL="332613" indent="-332613" defTabSz="886968">
              <a:buSzTx/>
              <a:buFont typeface="Monotype Sorts"/>
              <a:buNone/>
              <a:tabLst>
                <a:tab pos="1549400" algn="r"/>
                <a:tab pos="3149600" algn="r"/>
                <a:tab pos="4965700" algn="r"/>
              </a:tabLst>
              <a:defRPr sz="1746"/>
            </a:pPr>
            <a:r>
              <a:t>		 </a:t>
            </a:r>
            <a:r>
              <a:rPr i="1"/>
              <a:t>P</a:t>
            </a:r>
            <a:r>
              <a:rPr i="1" baseline="-25587"/>
              <a:t>2 	</a:t>
            </a:r>
            <a:r>
              <a:t>1	1</a:t>
            </a:r>
          </a:p>
          <a:p>
            <a:pPr marL="332613" indent="-332613" defTabSz="886968">
              <a:buSzTx/>
              <a:buFont typeface="Monotype Sorts"/>
              <a:buNone/>
              <a:tabLst>
                <a:tab pos="1549400" algn="r"/>
                <a:tab pos="3149600" algn="r"/>
                <a:tab pos="4965700" algn="r"/>
              </a:tabLst>
              <a:defRPr sz="1746"/>
            </a:pPr>
            <a:r>
              <a:t>		 </a:t>
            </a:r>
            <a:r>
              <a:rPr i="1"/>
              <a:t>P</a:t>
            </a:r>
            <a:r>
              <a:rPr i="1" baseline="-25587"/>
              <a:t>3</a:t>
            </a:r>
            <a:r>
              <a:t>	2	4</a:t>
            </a:r>
          </a:p>
          <a:p>
            <a:pPr marL="332613" indent="-332613" defTabSz="886968">
              <a:buSzTx/>
              <a:buFont typeface="Monotype Sorts"/>
              <a:buNone/>
              <a:tabLst>
                <a:tab pos="1549400" algn="r"/>
                <a:tab pos="3149600" algn="r"/>
                <a:tab pos="4965700" algn="r"/>
              </a:tabLst>
              <a:defRPr sz="1746"/>
            </a:pPr>
            <a:r>
              <a:t>		 </a:t>
            </a:r>
            <a:r>
              <a:rPr i="1"/>
              <a:t>P</a:t>
            </a:r>
            <a:r>
              <a:rPr i="1" baseline="-25587"/>
              <a:t>4</a:t>
            </a:r>
            <a:r>
              <a:t>	1	5</a:t>
            </a:r>
          </a:p>
          <a:p>
            <a:pPr marL="332613" indent="-332613" defTabSz="886968">
              <a:buSzTx/>
              <a:buFont typeface="Monotype Sorts"/>
              <a:buNone/>
              <a:tabLst>
                <a:tab pos="1549400" algn="r"/>
                <a:tab pos="3149600" algn="r"/>
                <a:tab pos="4965700" algn="r"/>
              </a:tabLst>
              <a:defRPr sz="1746"/>
            </a:pPr>
            <a:r>
              <a:t>		</a:t>
            </a:r>
            <a:r>
              <a:rPr i="1"/>
              <a:t>P</a:t>
            </a:r>
            <a:r>
              <a:rPr i="1" baseline="-25587"/>
              <a:t>5	</a:t>
            </a:r>
            <a:r>
              <a:t>5	2</a:t>
            </a:r>
          </a:p>
          <a:p>
            <a:pPr marL="332613" indent="-332613" defTabSz="886968">
              <a:buSzTx/>
              <a:buFont typeface="Monotype Sorts"/>
              <a:buNone/>
              <a:tabLst>
                <a:tab pos="1549400" algn="r"/>
                <a:tab pos="3149600" algn="r"/>
                <a:tab pos="4965700" algn="r"/>
              </a:tabLst>
              <a:defRPr sz="1746" baseline="-25587"/>
            </a:pPr>
            <a:endParaRPr/>
          </a:p>
          <a:p>
            <a:pPr marL="332613" indent="-332613" defTabSz="886968">
              <a:buChar char=""/>
              <a:tabLst>
                <a:tab pos="1549400" algn="r"/>
                <a:tab pos="3149600" algn="r"/>
                <a:tab pos="4965700" algn="r"/>
              </a:tabLst>
              <a:defRPr sz="1746"/>
            </a:pPr>
            <a:r>
              <a:t>Priority scheduling Gantt Chart</a:t>
            </a:r>
          </a:p>
          <a:p>
            <a:pPr marL="332613" indent="-332613" defTabSz="886968">
              <a:buChar char=""/>
              <a:tabLst>
                <a:tab pos="1549400" algn="r"/>
                <a:tab pos="3149600" algn="r"/>
                <a:tab pos="4965700" algn="r"/>
              </a:tabLst>
              <a:defRPr sz="1746"/>
            </a:pPr>
            <a:endParaRPr/>
          </a:p>
          <a:p>
            <a:pPr marL="332613" indent="-332613" defTabSz="886968">
              <a:buChar char=""/>
              <a:tabLst>
                <a:tab pos="1549400" algn="r"/>
                <a:tab pos="3149600" algn="r"/>
                <a:tab pos="4965700" algn="r"/>
              </a:tabLst>
              <a:defRPr sz="1746"/>
            </a:pPr>
            <a:endParaRPr/>
          </a:p>
          <a:p>
            <a:pPr marL="332613" indent="-332613" defTabSz="886968">
              <a:buChar char=""/>
              <a:tabLst>
                <a:tab pos="1549400" algn="r"/>
                <a:tab pos="3149600" algn="r"/>
                <a:tab pos="4965700" algn="r"/>
              </a:tabLst>
              <a:defRPr sz="1746"/>
            </a:pPr>
            <a:endParaRPr/>
          </a:p>
          <a:p>
            <a:pPr marL="332613" indent="-332613" defTabSz="886968">
              <a:buSzTx/>
              <a:buFont typeface="Monotype Sorts"/>
              <a:buNone/>
              <a:tabLst>
                <a:tab pos="1549400" algn="r"/>
                <a:tab pos="3149600" algn="r"/>
                <a:tab pos="4965700" algn="r"/>
              </a:tabLst>
              <a:defRPr sz="1746"/>
            </a:pPr>
            <a:endParaRPr/>
          </a:p>
          <a:p>
            <a:pPr marL="332613" indent="-332613" defTabSz="886968">
              <a:buChar char=""/>
              <a:tabLst>
                <a:tab pos="1549400" algn="r"/>
                <a:tab pos="3149600" algn="r"/>
                <a:tab pos="4965700" algn="r"/>
              </a:tabLst>
              <a:defRPr sz="1746"/>
            </a:pPr>
            <a:r>
              <a:t>Average waiting time = 8.2 msec</a:t>
            </a:r>
          </a:p>
        </p:txBody>
      </p:sp>
      <p:pic>
        <p:nvPicPr>
          <p:cNvPr id="115" name="C:\Users\as668\Desktop\in-5_6.jpg" descr="C:\Users\as668\Desktop\in-5_6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49375" y="4318000"/>
            <a:ext cx="6318250" cy="8445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357223" y="6613525"/>
            <a:ext cx="245404" cy="2438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 defTabSz="457200">
              <a:spcBef>
                <a:spcPts val="600"/>
              </a:spcBef>
              <a:defRPr sz="1000" b="1">
                <a:solidFill>
                  <a:srgbClr val="006699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fld id="{86CB4B4D-7CA3-9044-876B-883B54F8677D}" type="slidenum">
              <a:t>16</a:t>
            </a:fld>
            <a:endParaRPr/>
          </a:p>
        </p:txBody>
      </p:sp>
      <p:sp>
        <p:nvSpPr>
          <p:cNvPr id="118" name="Round Robin (RR)"/>
          <p:cNvSpPr txBox="1">
            <a:spLocks noGrp="1"/>
          </p:cNvSpPr>
          <p:nvPr>
            <p:ph type="title" idx="4294967295"/>
          </p:nvPr>
        </p:nvSpPr>
        <p:spPr>
          <a:xfrm>
            <a:off x="457200" y="176212"/>
            <a:ext cx="8229600" cy="576263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Round Robin (RR)</a:t>
            </a:r>
          </a:p>
        </p:txBody>
      </p:sp>
      <p:sp>
        <p:nvSpPr>
          <p:cNvPr id="119" name="Each process gets a small unit of CPU time (time quantum q), usually 10-100 milliseconds.  After this time has elapsed, the process is preempted and added to the end of the ready queue.…"/>
          <p:cNvSpPr txBox="1">
            <a:spLocks noGrp="1"/>
          </p:cNvSpPr>
          <p:nvPr>
            <p:ph type="body" idx="4294967295"/>
          </p:nvPr>
        </p:nvSpPr>
        <p:spPr>
          <a:xfrm>
            <a:off x="889000" y="1231899"/>
            <a:ext cx="7150100" cy="4483102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"/>
            </a:pPr>
            <a:r>
              <a:t>Each process gets a small unit of CPU time (</a:t>
            </a:r>
            <a:r>
              <a:rPr b="1">
                <a:solidFill>
                  <a:srgbClr val="3366FF"/>
                </a:solidFill>
              </a:rPr>
              <a:t>time</a:t>
            </a:r>
            <a:r>
              <a:rPr b="1"/>
              <a:t> </a:t>
            </a:r>
            <a:r>
              <a:rPr b="1">
                <a:solidFill>
                  <a:srgbClr val="3366FF"/>
                </a:solidFill>
              </a:rPr>
              <a:t>quantum</a:t>
            </a:r>
            <a:r>
              <a:rPr b="1"/>
              <a:t> </a:t>
            </a:r>
            <a:r>
              <a:rPr i="1"/>
              <a:t>q</a:t>
            </a:r>
            <a:r>
              <a:t>), usually 10-100 milliseconds.  After this time has elapsed, the process is preempted and added to the end of the ready queue.</a:t>
            </a:r>
          </a:p>
          <a:p>
            <a:pPr>
              <a:buChar char=""/>
            </a:pPr>
            <a:r>
              <a:t>If there are </a:t>
            </a:r>
            <a:r>
              <a:rPr i="1"/>
              <a:t>n</a:t>
            </a:r>
            <a:r>
              <a:t> processes in the ready queue and the time quantum is </a:t>
            </a:r>
            <a:r>
              <a:rPr i="1"/>
              <a:t>q</a:t>
            </a:r>
            <a:r>
              <a:t>, then each process gets 1/</a:t>
            </a:r>
            <a:r>
              <a:rPr i="1"/>
              <a:t>n</a:t>
            </a:r>
            <a:r>
              <a:t> of the CPU time in chunks of at most </a:t>
            </a:r>
            <a:r>
              <a:rPr i="1"/>
              <a:t>q</a:t>
            </a:r>
            <a:r>
              <a:t> time units at once.  No process waits more than (</a:t>
            </a:r>
            <a:r>
              <a:rPr i="1"/>
              <a:t>n</a:t>
            </a:r>
            <a:r>
              <a:t>-1)</a:t>
            </a:r>
            <a:r>
              <a:rPr i="1"/>
              <a:t>q </a:t>
            </a:r>
            <a:r>
              <a:t>time units.</a:t>
            </a:r>
          </a:p>
          <a:p>
            <a:pPr>
              <a:buChar char=""/>
            </a:pPr>
            <a:r>
              <a:t>Timer interrupts every quantum to schedule next process</a:t>
            </a:r>
          </a:p>
          <a:p>
            <a:pPr>
              <a:buChar char=""/>
            </a:pPr>
            <a:r>
              <a:t>Performance</a:t>
            </a:r>
          </a:p>
          <a:p>
            <a:pPr lvl="1">
              <a:spcBef>
                <a:spcPts val="0"/>
              </a:spcBef>
              <a:buClr>
                <a:srgbClr val="CC6600"/>
              </a:buClr>
              <a:defRPr i="1"/>
            </a:pPr>
            <a:r>
              <a:t>q</a:t>
            </a:r>
            <a:r>
              <a:rPr i="0"/>
              <a:t> large </a:t>
            </a:r>
            <a:r>
              <a:rPr i="0">
                <a:latin typeface="Symbol"/>
                <a:ea typeface="Symbol"/>
                <a:cs typeface="Symbol"/>
                <a:sym typeface="Symbol"/>
              </a:rPr>
              <a:t>Þ </a:t>
            </a:r>
            <a:r>
              <a:rPr i="0"/>
              <a:t>FIFO</a:t>
            </a:r>
          </a:p>
          <a:p>
            <a:pPr lvl="1">
              <a:spcBef>
                <a:spcPts val="0"/>
              </a:spcBef>
              <a:buClr>
                <a:srgbClr val="CC6600"/>
              </a:buClr>
              <a:defRPr i="1"/>
            </a:pPr>
            <a:r>
              <a:t>q </a:t>
            </a:r>
            <a:r>
              <a:rPr i="0"/>
              <a:t>small </a:t>
            </a:r>
            <a:r>
              <a:rPr i="0">
                <a:latin typeface="Symbol"/>
                <a:ea typeface="Symbol"/>
                <a:cs typeface="Symbol"/>
                <a:sym typeface="Symbol"/>
              </a:rPr>
              <a:t>Þ </a:t>
            </a:r>
            <a:r>
              <a:t>q </a:t>
            </a:r>
            <a:r>
              <a:rPr i="0"/>
              <a:t>must be large with respect to context switch, otherwise overhead is too high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357223" y="6613525"/>
            <a:ext cx="245404" cy="2438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 defTabSz="457200">
              <a:spcBef>
                <a:spcPts val="600"/>
              </a:spcBef>
              <a:defRPr sz="1000" b="1">
                <a:solidFill>
                  <a:srgbClr val="006699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fld id="{86CB4B4D-7CA3-9044-876B-883B54F8677D}" type="slidenum">
              <a:t>17</a:t>
            </a:fld>
            <a:endParaRPr/>
          </a:p>
        </p:txBody>
      </p:sp>
      <p:sp>
        <p:nvSpPr>
          <p:cNvPr id="122" name="Example of RR with Time Quantum = 4"/>
          <p:cNvSpPr txBox="1">
            <a:spLocks noGrp="1"/>
          </p:cNvSpPr>
          <p:nvPr>
            <p:ph type="title" idx="4294967295"/>
          </p:nvPr>
        </p:nvSpPr>
        <p:spPr>
          <a:xfrm>
            <a:off x="1358900" y="139700"/>
            <a:ext cx="7750175" cy="6477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Example of RR with Time Quantum = 4</a:t>
            </a:r>
          </a:p>
        </p:txBody>
      </p:sp>
      <p:sp>
        <p:nvSpPr>
          <p:cNvPr id="123" name="Process Burst Time…"/>
          <p:cNvSpPr txBox="1">
            <a:spLocks noGrp="1"/>
          </p:cNvSpPr>
          <p:nvPr>
            <p:ph type="body" idx="4294967295"/>
          </p:nvPr>
        </p:nvSpPr>
        <p:spPr>
          <a:xfrm>
            <a:off x="954087" y="1193799"/>
            <a:ext cx="7351713" cy="4483102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SzTx/>
              <a:buFont typeface="Monotype Sorts"/>
              <a:buNone/>
              <a:tabLst>
                <a:tab pos="2209800" algn="r"/>
                <a:tab pos="3987800" algn="r"/>
              </a:tabLst>
            </a:pPr>
            <a:r>
              <a:t>		</a:t>
            </a:r>
            <a:r>
              <a:rPr u="sng"/>
              <a:t>Process</a:t>
            </a:r>
            <a:r>
              <a:t>	</a:t>
            </a:r>
            <a:r>
              <a:rPr u="sng"/>
              <a:t>Burst Time</a:t>
            </a:r>
          </a:p>
          <a:p>
            <a:pPr>
              <a:lnSpc>
                <a:spcPct val="90000"/>
              </a:lnSpc>
              <a:buSzTx/>
              <a:buFont typeface="Monotype Sorts"/>
              <a:buNone/>
              <a:tabLst>
                <a:tab pos="2209800" algn="r"/>
                <a:tab pos="3987800" algn="r"/>
              </a:tabLst>
              <a:defRPr i="1"/>
            </a:pPr>
            <a:r>
              <a:t>		P</a:t>
            </a:r>
            <a:r>
              <a:rPr baseline="-25000"/>
              <a:t>1	</a:t>
            </a:r>
            <a:r>
              <a:rPr i="0"/>
              <a:t>24</a:t>
            </a:r>
          </a:p>
          <a:p>
            <a:pPr>
              <a:lnSpc>
                <a:spcPct val="90000"/>
              </a:lnSpc>
              <a:buSzTx/>
              <a:buFont typeface="Monotype Sorts"/>
              <a:buNone/>
              <a:tabLst>
                <a:tab pos="2209800" algn="r"/>
                <a:tab pos="3987800" algn="r"/>
              </a:tabLst>
            </a:pPr>
            <a:r>
              <a:t>		 </a:t>
            </a:r>
            <a:r>
              <a:rPr i="1"/>
              <a:t>P</a:t>
            </a:r>
            <a:r>
              <a:rPr i="1" baseline="-25000"/>
              <a:t>2	 </a:t>
            </a:r>
            <a:r>
              <a:t>3</a:t>
            </a:r>
          </a:p>
          <a:p>
            <a:pPr>
              <a:lnSpc>
                <a:spcPct val="90000"/>
              </a:lnSpc>
              <a:buSzTx/>
              <a:buFont typeface="Monotype Sorts"/>
              <a:buNone/>
              <a:tabLst>
                <a:tab pos="2209800" algn="r"/>
                <a:tab pos="3987800" algn="r"/>
              </a:tabLst>
            </a:pPr>
            <a:r>
              <a:t>		 </a:t>
            </a:r>
            <a:r>
              <a:rPr i="1"/>
              <a:t>P</a:t>
            </a:r>
            <a:r>
              <a:rPr i="1" baseline="-25000"/>
              <a:t>3	</a:t>
            </a:r>
            <a:r>
              <a:t>3	</a:t>
            </a:r>
          </a:p>
          <a:p>
            <a:pPr>
              <a:lnSpc>
                <a:spcPct val="90000"/>
              </a:lnSpc>
              <a:buChar char=""/>
              <a:tabLst>
                <a:tab pos="2209800" algn="r"/>
                <a:tab pos="3987800" algn="r"/>
              </a:tabLst>
            </a:pPr>
            <a:r>
              <a:t>The Gantt chart is: </a:t>
            </a:r>
            <a:br/>
            <a:r>
              <a:t/>
            </a:r>
            <a:br/>
            <a:r>
              <a:t/>
            </a:r>
            <a:br/>
            <a:r>
              <a:t/>
            </a:r>
            <a:br/>
            <a:r>
              <a:t/>
            </a:r>
            <a:br/>
            <a:r>
              <a:t/>
            </a:r>
            <a:br/>
            <a:endParaRPr/>
          </a:p>
          <a:p>
            <a:pPr>
              <a:lnSpc>
                <a:spcPct val="90000"/>
              </a:lnSpc>
              <a:buChar char=""/>
              <a:tabLst>
                <a:tab pos="2209800" algn="r"/>
                <a:tab pos="3987800" algn="r"/>
              </a:tabLst>
            </a:pPr>
            <a:r>
              <a:t>Typically, higher average turnaround than SJF, but better </a:t>
            </a:r>
            <a:r>
              <a:rPr b="1" i="1"/>
              <a:t>response</a:t>
            </a:r>
          </a:p>
          <a:p>
            <a:pPr>
              <a:lnSpc>
                <a:spcPct val="90000"/>
              </a:lnSpc>
              <a:buChar char=""/>
              <a:tabLst>
                <a:tab pos="2209800" algn="r"/>
                <a:tab pos="3987800" algn="r"/>
              </a:tabLst>
            </a:pPr>
            <a:r>
              <a:t>q should be large compared to context switch time</a:t>
            </a:r>
          </a:p>
          <a:p>
            <a:pPr>
              <a:lnSpc>
                <a:spcPct val="90000"/>
              </a:lnSpc>
              <a:buChar char=""/>
              <a:tabLst>
                <a:tab pos="2209800" algn="r"/>
                <a:tab pos="3987800" algn="r"/>
              </a:tabLst>
            </a:pPr>
            <a:r>
              <a:t>q usually 10ms to 100ms, context switch &lt; 10 usec</a:t>
            </a:r>
          </a:p>
        </p:txBody>
      </p:sp>
      <p:pic>
        <p:nvPicPr>
          <p:cNvPr id="124" name="image.tif" descr="image.ti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98587" y="3227387"/>
            <a:ext cx="6770688" cy="7889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357223" y="6613525"/>
            <a:ext cx="245404" cy="2438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algn="ctr" defTabSz="457200">
              <a:spcBef>
                <a:spcPts val="600"/>
              </a:spcBef>
              <a:defRPr sz="1000" b="1">
                <a:solidFill>
                  <a:srgbClr val="006699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fld id="{86CB4B4D-7CA3-9044-876B-883B54F8677D}" type="slidenum">
              <a:t>18</a:t>
            </a:fld>
            <a:endParaRPr/>
          </a:p>
        </p:txBody>
      </p:sp>
      <p:sp>
        <p:nvSpPr>
          <p:cNvPr id="127" name="Time Quantum and Context Switch Time"/>
          <p:cNvSpPr txBox="1">
            <a:spLocks noGrp="1"/>
          </p:cNvSpPr>
          <p:nvPr>
            <p:ph type="title" idx="4294967295"/>
          </p:nvPr>
        </p:nvSpPr>
        <p:spPr>
          <a:xfrm>
            <a:off x="1063625" y="182562"/>
            <a:ext cx="7829550" cy="5254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t>Time Quantum and Context Switch Time</a:t>
            </a:r>
          </a:p>
        </p:txBody>
      </p:sp>
      <p:pic>
        <p:nvPicPr>
          <p:cNvPr id="128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1600" y="1449387"/>
            <a:ext cx="6527800" cy="29035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33400" y="762000"/>
            <a:ext cx="7772400" cy="990600"/>
          </a:xfrm>
        </p:spPr>
        <p:txBody>
          <a:bodyPr/>
          <a:lstStyle/>
          <a:p>
            <a:r>
              <a:rPr lang="en-US" sz="4000" dirty="0"/>
              <a:t>References: 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sz="2000" dirty="0" smtClean="0">
                <a:latin typeface="+mn-lt"/>
              </a:rPr>
              <a:t>Abraham </a:t>
            </a:r>
            <a:r>
              <a:rPr lang="en-US" sz="2000" dirty="0">
                <a:latin typeface="+mn-lt"/>
              </a:rPr>
              <a:t>Silberschatz, Greg Gagne, and Peter Baer Galvin, "Operating System Concepts, Ninth Edition </a:t>
            </a:r>
            <a:r>
              <a:rPr lang="en-US" sz="2000" dirty="0" smtClean="0">
                <a:latin typeface="+mn-lt"/>
              </a:rPr>
              <a:t>“</a:t>
            </a:r>
          </a:p>
          <a:p>
            <a:r>
              <a:rPr lang="en-US" sz="2000" dirty="0">
                <a:latin typeface="+mn-lt"/>
              </a:rPr>
              <a:t>Operating Systems, by </a:t>
            </a:r>
            <a:r>
              <a:rPr lang="en-US" sz="2000" dirty="0" smtClean="0">
                <a:latin typeface="+mn-lt"/>
              </a:rPr>
              <a:t>Dhananjay </a:t>
            </a:r>
            <a:r>
              <a:rPr lang="en-US" sz="2000" dirty="0">
                <a:latin typeface="+mn-lt"/>
              </a:rPr>
              <a:t>Dhamdhere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17EECC304_OS&amp;ESD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6719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895600"/>
            <a:ext cx="8229600" cy="1143000"/>
          </a:xfrm>
        </p:spPr>
        <p:txBody>
          <a:bodyPr/>
          <a:lstStyle/>
          <a:p>
            <a:r>
              <a:rPr lang="en-US" dirty="0"/>
              <a:t>Thank you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17EECC304_OS&amp;ESD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890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s-8">
  <a:themeElements>
    <a:clrScheme name="os-8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9CC00"/>
      </a:accent1>
      <a:accent2>
        <a:srgbClr val="CCCC6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s-8">
      <a:majorFont>
        <a:latin typeface="Times New Roman"/>
        <a:ea typeface="Times New Roman"/>
        <a:cs typeface="Times New Roman"/>
      </a:majorFont>
      <a:minorFont>
        <a:latin typeface="Helvetica"/>
        <a:ea typeface="Helvetica"/>
        <a:cs typeface="Helvetica"/>
      </a:minorFont>
    </a:fontScheme>
    <a:fmtScheme name="os-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s-8">
  <a:themeElements>
    <a:clrScheme name="os-8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9CC00"/>
      </a:accent1>
      <a:accent2>
        <a:srgbClr val="CCCC6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s-8">
      <a:majorFont>
        <a:latin typeface="Times New Roman"/>
        <a:ea typeface="Times New Roman"/>
        <a:cs typeface="Times New Roman"/>
      </a:majorFont>
      <a:minorFont>
        <a:latin typeface="Helvetica"/>
        <a:ea typeface="Helvetica"/>
        <a:cs typeface="Helvetica"/>
      </a:minorFont>
    </a:fontScheme>
    <a:fmtScheme name="os-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649</Words>
  <Application>Microsoft Office PowerPoint</Application>
  <PresentationFormat>On-screen Show (4:3)</PresentationFormat>
  <Paragraphs>172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os-8</vt:lpstr>
      <vt:lpstr>Chapter 2:  CPU Scheduling</vt:lpstr>
      <vt:lpstr>Chapter 6:  CPU Scheduling</vt:lpstr>
      <vt:lpstr>Objectives</vt:lpstr>
      <vt:lpstr>Basic Concepts</vt:lpstr>
      <vt:lpstr>CPU Scheduler</vt:lpstr>
      <vt:lpstr>Dispatcher</vt:lpstr>
      <vt:lpstr>Scheduling Criteria</vt:lpstr>
      <vt:lpstr>Scheduling Algorithm Optimization Criteria</vt:lpstr>
      <vt:lpstr>First- Come, First-Served (FCFS) Scheduling</vt:lpstr>
      <vt:lpstr>FCFS Scheduling (Cont.)</vt:lpstr>
      <vt:lpstr>Shortest-Job-First (SJF) Scheduling</vt:lpstr>
      <vt:lpstr>Example of SJF</vt:lpstr>
      <vt:lpstr>Example of Shortest-remaining-time-first</vt:lpstr>
      <vt:lpstr>Priority Scheduling</vt:lpstr>
      <vt:lpstr>Example of Priority Scheduling</vt:lpstr>
      <vt:lpstr>Round Robin (RR)</vt:lpstr>
      <vt:lpstr>Example of RR with Time Quantum = 4</vt:lpstr>
      <vt:lpstr>Time Quantum and Context Switch Time</vt:lpstr>
      <vt:lpstr>References:  </vt:lpstr>
      <vt:lpstr>Thank you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6:  CPU Scheduling</dc:title>
  <dc:creator>supriyavinayak</dc:creator>
  <cp:lastModifiedBy>Acer</cp:lastModifiedBy>
  <cp:revision>5</cp:revision>
  <dcterms:modified xsi:type="dcterms:W3CDTF">2021-08-10T09:52:48Z</dcterms:modified>
</cp:coreProperties>
</file>