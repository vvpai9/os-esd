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1" r:id="rId2"/>
    <p:sldId id="256" r:id="rId3"/>
    <p:sldId id="262" r:id="rId4"/>
    <p:sldId id="257" r:id="rId5"/>
    <p:sldId id="258" r:id="rId6"/>
    <p:sldId id="259" r:id="rId7"/>
    <p:sldId id="260" r:id="rId8"/>
    <p:sldId id="263" r:id="rId9"/>
    <p:sldId id="264" r:id="rId10"/>
    <p:sldId id="271" r:id="rId11"/>
    <p:sldId id="265" r:id="rId12"/>
    <p:sldId id="266" r:id="rId13"/>
    <p:sldId id="272" r:id="rId14"/>
    <p:sldId id="274" r:id="rId15"/>
    <p:sldId id="273" r:id="rId16"/>
    <p:sldId id="275" r:id="rId17"/>
    <p:sldId id="267" r:id="rId18"/>
    <p:sldId id="268" r:id="rId19"/>
    <p:sldId id="269" r:id="rId20"/>
    <p:sldId id="270"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57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12/5/2022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12/5/2022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12/5/2022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12/5/2022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0"/>
            <a:ext cx="8229600" cy="1143000"/>
          </a:xfrm>
        </p:spPr>
        <p:txBody>
          <a:bodyPr>
            <a:normAutofit fontScale="90000"/>
          </a:bodyPr>
          <a:lstStyle/>
          <a:p>
            <a:r>
              <a:rPr lang="en-US" dirty="0" smtClean="0"/>
              <a:t>Advanced Microcontroller Bus Architecture</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rtlCol="0">
            <a:normAutofit fontScale="90000"/>
          </a:bodyPr>
          <a:lstStyle/>
          <a:p>
            <a:pPr eaLnBrk="1" fontAlgn="auto" hangingPunct="1">
              <a:spcAft>
                <a:spcPts val="0"/>
              </a:spcAft>
              <a:defRPr/>
            </a:pPr>
            <a:r>
              <a:rPr lang="en-US" sz="2800" b="1" dirty="0" smtClean="0"/>
              <a:t>Objectives of the AMBA specification</a:t>
            </a:r>
            <a:br>
              <a:rPr lang="en-US" sz="2800" b="1" dirty="0" smtClean="0"/>
            </a:br>
            <a:endParaRPr lang="en-US" sz="2800" dirty="0"/>
          </a:p>
        </p:txBody>
      </p:sp>
      <p:sp>
        <p:nvSpPr>
          <p:cNvPr id="3" name="Content Placeholder 2"/>
          <p:cNvSpPr>
            <a:spLocks noGrp="1"/>
          </p:cNvSpPr>
          <p:nvPr>
            <p:ph idx="1"/>
          </p:nvPr>
        </p:nvSpPr>
        <p:spPr>
          <a:xfrm>
            <a:off x="457200" y="990600"/>
            <a:ext cx="8229600" cy="5486400"/>
          </a:xfrm>
        </p:spPr>
        <p:txBody>
          <a:bodyPr rtlCol="0">
            <a:normAutofit fontScale="62500" lnSpcReduction="20000"/>
          </a:bodyPr>
          <a:lstStyle/>
          <a:p>
            <a:pPr eaLnBrk="1" fontAlgn="auto" hangingPunct="1">
              <a:spcAft>
                <a:spcPts val="0"/>
              </a:spcAft>
              <a:buFont typeface="Arial" pitchFamily="34" charset="0"/>
              <a:buNone/>
              <a:defRPr/>
            </a:pPr>
            <a:r>
              <a:rPr lang="en-US" dirty="0" smtClean="0">
                <a:latin typeface="Times New Roman" pitchFamily="18" charset="0"/>
                <a:cs typeface="Times New Roman" pitchFamily="18" charset="0"/>
              </a:rPr>
              <a:t>The AMBA specification has been derived to satisfy four key requirements:</a:t>
            </a:r>
          </a:p>
          <a:p>
            <a:pPr eaLnBrk="1" fontAlgn="auto" hangingPunct="1">
              <a:spcAft>
                <a:spcPts val="0"/>
              </a:spcAft>
              <a:buFont typeface="Arial" pitchFamily="34" charset="0"/>
              <a:buNone/>
              <a:defRPr/>
            </a:pPr>
            <a:endParaRPr lang="en-US" dirty="0" smtClean="0">
              <a:latin typeface="Times New Roman" pitchFamily="18" charset="0"/>
              <a:cs typeface="Times New Roman" pitchFamily="18" charset="0"/>
            </a:endParaRPr>
          </a:p>
          <a:p>
            <a:pPr eaLnBrk="1" fontAlgn="auto" hangingPunct="1">
              <a:spcAft>
                <a:spcPts val="0"/>
              </a:spcAft>
              <a:buFont typeface="Arial" pitchFamily="34" charset="0"/>
              <a:buNone/>
              <a:defRPr/>
            </a:pPr>
            <a:r>
              <a:rPr lang="en-US" dirty="0" smtClean="0">
                <a:latin typeface="Times New Roman" pitchFamily="18" charset="0"/>
                <a:cs typeface="Times New Roman" pitchFamily="18" charset="0"/>
              </a:rPr>
              <a:t>•    To facilitate the </a:t>
            </a:r>
            <a:r>
              <a:rPr lang="en-US" i="1" dirty="0" smtClean="0">
                <a:latin typeface="Times New Roman" pitchFamily="18" charset="0"/>
                <a:cs typeface="Times New Roman" pitchFamily="18" charset="0"/>
              </a:rPr>
              <a:t>right-first-time development of embedded microcontroller</a:t>
            </a:r>
          </a:p>
          <a:p>
            <a:pPr eaLnBrk="1" fontAlgn="auto" hangingPunct="1">
              <a:spcAft>
                <a:spcPts val="0"/>
              </a:spcAft>
              <a:buFont typeface="Arial" pitchFamily="34" charset="0"/>
              <a:buNone/>
              <a:defRPr/>
            </a:pPr>
            <a:r>
              <a:rPr lang="en-US" dirty="0" smtClean="0">
                <a:latin typeface="Times New Roman" pitchFamily="18" charset="0"/>
                <a:cs typeface="Times New Roman" pitchFamily="18" charset="0"/>
              </a:rPr>
              <a:t>      products with one or more CPUs or signal processors</a:t>
            </a:r>
          </a:p>
          <a:p>
            <a:pPr eaLnBrk="1" fontAlgn="auto" hangingPunct="1">
              <a:spcAft>
                <a:spcPts val="0"/>
              </a:spcAft>
              <a:buFont typeface="Arial" pitchFamily="34" charset="0"/>
              <a:buNone/>
              <a:defRPr/>
            </a:pPr>
            <a:endParaRPr lang="en-US" dirty="0" smtClean="0">
              <a:latin typeface="Times New Roman" pitchFamily="18" charset="0"/>
              <a:cs typeface="Times New Roman" pitchFamily="18" charset="0"/>
            </a:endParaRPr>
          </a:p>
          <a:p>
            <a:pPr eaLnBrk="1" fontAlgn="auto" hangingPunct="1">
              <a:spcAft>
                <a:spcPts val="0"/>
              </a:spcAft>
              <a:buFont typeface="Arial" pitchFamily="34" charset="0"/>
              <a:buNone/>
              <a:defRPr/>
            </a:pPr>
            <a:r>
              <a:rPr lang="en-US" dirty="0" smtClean="0">
                <a:latin typeface="Times New Roman" pitchFamily="18" charset="0"/>
                <a:cs typeface="Times New Roman" pitchFamily="18" charset="0"/>
              </a:rPr>
              <a:t>•    To be </a:t>
            </a:r>
            <a:r>
              <a:rPr lang="en-US" i="1" dirty="0" smtClean="0">
                <a:latin typeface="Times New Roman" pitchFamily="18" charset="0"/>
                <a:cs typeface="Times New Roman" pitchFamily="18" charset="0"/>
              </a:rPr>
              <a:t>technology-independent and ensure that highly reusable peripheral and </a:t>
            </a:r>
            <a:r>
              <a:rPr lang="en-US" dirty="0" smtClean="0">
                <a:latin typeface="Times New Roman" pitchFamily="18" charset="0"/>
                <a:cs typeface="Times New Roman" pitchFamily="18" charset="0"/>
              </a:rPr>
              <a:t>system macrocells can be migrated across a diverse range of IC processes and be appropriate for full-custom, standard cell and gate array technologies</a:t>
            </a:r>
          </a:p>
          <a:p>
            <a:pPr eaLnBrk="1" fontAlgn="auto" hangingPunct="1">
              <a:spcAft>
                <a:spcPts val="0"/>
              </a:spcAft>
              <a:buFont typeface="Arial" pitchFamily="34" charset="0"/>
              <a:buNone/>
              <a:defRPr/>
            </a:pPr>
            <a:endParaRPr lang="en-US" dirty="0" smtClean="0">
              <a:latin typeface="Times New Roman" pitchFamily="18" charset="0"/>
              <a:cs typeface="Times New Roman" pitchFamily="18" charset="0"/>
            </a:endParaRPr>
          </a:p>
          <a:p>
            <a:pPr eaLnBrk="1" fontAlgn="auto" hangingPunct="1">
              <a:spcAft>
                <a:spcPts val="0"/>
              </a:spcAft>
              <a:buFont typeface="Arial" pitchFamily="34" charset="0"/>
              <a:buNone/>
              <a:defRPr/>
            </a:pPr>
            <a:r>
              <a:rPr lang="en-US" dirty="0" smtClean="0">
                <a:latin typeface="Times New Roman" pitchFamily="18" charset="0"/>
                <a:cs typeface="Times New Roman" pitchFamily="18" charset="0"/>
              </a:rPr>
              <a:t>•    To encourage </a:t>
            </a:r>
            <a:r>
              <a:rPr lang="en-US" i="1" dirty="0" smtClean="0">
                <a:latin typeface="Times New Roman" pitchFamily="18" charset="0"/>
                <a:cs typeface="Times New Roman" pitchFamily="18" charset="0"/>
              </a:rPr>
              <a:t>modular system design to improve processor independence,</a:t>
            </a:r>
          </a:p>
          <a:p>
            <a:pPr eaLnBrk="1" fontAlgn="auto" hangingPunct="1">
              <a:spcAft>
                <a:spcPts val="0"/>
              </a:spcAft>
              <a:buFont typeface="Arial" pitchFamily="34" charset="0"/>
              <a:buNone/>
              <a:defRPr/>
            </a:pPr>
            <a:r>
              <a:rPr lang="en-US" dirty="0" smtClean="0">
                <a:latin typeface="Times New Roman" pitchFamily="18" charset="0"/>
                <a:cs typeface="Times New Roman" pitchFamily="18" charset="0"/>
              </a:rPr>
              <a:t>       providing a development road-map for advanced cached CPU cores and the development of peripheral libraries</a:t>
            </a:r>
          </a:p>
          <a:p>
            <a:pPr eaLnBrk="1" fontAlgn="auto" hangingPunct="1">
              <a:spcAft>
                <a:spcPts val="0"/>
              </a:spcAft>
              <a:buFont typeface="Arial" pitchFamily="34" charset="0"/>
              <a:buNone/>
              <a:defRPr/>
            </a:pPr>
            <a:endParaRPr lang="en-US" dirty="0" smtClean="0">
              <a:latin typeface="Times New Roman" pitchFamily="18" charset="0"/>
              <a:cs typeface="Times New Roman" pitchFamily="18" charset="0"/>
            </a:endParaRPr>
          </a:p>
          <a:p>
            <a:pPr eaLnBrk="1" fontAlgn="auto" hangingPunct="1">
              <a:spcAft>
                <a:spcPts val="0"/>
              </a:spcAft>
              <a:buFont typeface="Arial" pitchFamily="34" charset="0"/>
              <a:buNone/>
              <a:defRPr/>
            </a:pPr>
            <a:r>
              <a:rPr lang="en-US" dirty="0" smtClean="0">
                <a:latin typeface="Times New Roman" pitchFamily="18" charset="0"/>
                <a:cs typeface="Times New Roman" pitchFamily="18" charset="0"/>
              </a:rPr>
              <a:t>•    To minimize the silicon infrastructure required to support efficient on-chip and off-chip communication for both operation and manufacturing test.</a:t>
            </a:r>
          </a:p>
          <a:p>
            <a:pPr eaLnBrk="1" fontAlgn="auto" hangingPunct="1">
              <a:spcAft>
                <a:spcPts val="0"/>
              </a:spcAft>
              <a:buFont typeface="Arial" pitchFamily="34" charset="0"/>
              <a:buNone/>
              <a:defRPr/>
            </a:pPr>
            <a:endParaRPr lang="en-US" dirty="0" smtClean="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None/>
              <a:defRPr/>
            </a:pPr>
            <a:r>
              <a:rPr lang="en-US" sz="2600" dirty="0" smtClean="0">
                <a:latin typeface="Times New Roman" pitchFamily="18" charset="0"/>
                <a:cs typeface="Times New Roman" pitchFamily="18" charset="0"/>
              </a:rPr>
              <a:t>AMBA has been proven in and is being designed into:</a:t>
            </a:r>
          </a:p>
          <a:p>
            <a:pPr>
              <a:buNone/>
              <a:defRPr/>
            </a:pPr>
            <a:r>
              <a:rPr lang="en-US" sz="2600" dirty="0" smtClean="0">
                <a:latin typeface="Times New Roman" pitchFamily="18" charset="0"/>
                <a:cs typeface="Times New Roman" pitchFamily="18" charset="0"/>
              </a:rPr>
              <a:t>• PDA microcontrollers, with a high number of integrated peripherals but also with very low power consumption</a:t>
            </a:r>
          </a:p>
          <a:p>
            <a:pPr>
              <a:buNone/>
              <a:defRPr/>
            </a:pPr>
            <a:r>
              <a:rPr lang="en-US" sz="2600" dirty="0" smtClean="0">
                <a:latin typeface="Times New Roman" pitchFamily="18" charset="0"/>
                <a:cs typeface="Times New Roman" pitchFamily="18" charset="0"/>
              </a:rPr>
              <a:t>• multi-media microcontrollers with floating-point co-processors, on-chip video controller and high memory bandwidth</a:t>
            </a:r>
          </a:p>
          <a:p>
            <a:pPr>
              <a:buNone/>
              <a:defRPr/>
            </a:pPr>
            <a:r>
              <a:rPr lang="en-US" sz="2600" dirty="0" smtClean="0">
                <a:latin typeface="Times New Roman" pitchFamily="18" charset="0"/>
                <a:cs typeface="Times New Roman" pitchFamily="18" charset="0"/>
              </a:rPr>
              <a:t>• complex peripheral ASICs for consumer products</a:t>
            </a:r>
          </a:p>
          <a:p>
            <a:pPr>
              <a:buNone/>
              <a:defRPr/>
            </a:pPr>
            <a:r>
              <a:rPr lang="en-US" sz="2600" dirty="0" smtClean="0">
                <a:latin typeface="Times New Roman" pitchFamily="18" charset="0"/>
                <a:cs typeface="Times New Roman" pitchFamily="18" charset="0"/>
              </a:rPr>
              <a:t>• Digital mobile communication devices integrating control and signal-processing functions</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457200" y="274638"/>
            <a:ext cx="8229600" cy="792162"/>
          </a:xfrm>
        </p:spPr>
        <p:txBody>
          <a:bodyPr/>
          <a:lstStyle/>
          <a:p>
            <a:pPr eaLnBrk="1" hangingPunct="1"/>
            <a:r>
              <a:rPr lang="en-US" sz="2800" b="1" dirty="0" smtClean="0"/>
              <a:t>A typical AMBA-based microcontroller</a:t>
            </a:r>
            <a:endParaRPr lang="en-US" sz="2800" dirty="0" smtClean="0"/>
          </a:p>
        </p:txBody>
      </p:sp>
      <p:pic>
        <p:nvPicPr>
          <p:cNvPr id="11267" name="Picture 2"/>
          <p:cNvPicPr>
            <a:picLocks noGrp="1" noChangeAspect="1" noChangeArrowheads="1"/>
          </p:cNvPicPr>
          <p:nvPr>
            <p:ph idx="1"/>
          </p:nvPr>
        </p:nvPicPr>
        <p:blipFill>
          <a:blip r:embed="rId2"/>
          <a:srcRect/>
          <a:stretch>
            <a:fillRect/>
          </a:stretch>
        </p:blipFill>
        <p:spPr>
          <a:xfrm>
            <a:off x="2365375" y="1752600"/>
            <a:ext cx="6778625" cy="4800600"/>
          </a:xfrm>
        </p:spPr>
      </p:pic>
      <p:sp>
        <p:nvSpPr>
          <p:cNvPr id="11268" name="Rectangle 4"/>
          <p:cNvSpPr>
            <a:spLocks noChangeArrowheads="1"/>
          </p:cNvSpPr>
          <p:nvPr/>
        </p:nvSpPr>
        <p:spPr bwMode="auto">
          <a:xfrm>
            <a:off x="228600" y="1600200"/>
            <a:ext cx="2133600" cy="3970318"/>
          </a:xfrm>
          <a:prstGeom prst="rect">
            <a:avLst/>
          </a:prstGeom>
          <a:noFill/>
          <a:ln w="9525">
            <a:noFill/>
            <a:miter lim="800000"/>
            <a:headEnd/>
            <a:tailEnd/>
          </a:ln>
        </p:spPr>
        <p:txBody>
          <a:bodyPr wrap="square">
            <a:spAutoFit/>
          </a:bodyPr>
          <a:lstStyle/>
          <a:p>
            <a:r>
              <a:rPr lang="en-US" dirty="0">
                <a:latin typeface="Times New Roman" pitchFamily="18" charset="0"/>
                <a:cs typeface="Times New Roman" pitchFamily="18" charset="0"/>
              </a:rPr>
              <a:t>In order to achieve the above, the architecture has the key features of:</a:t>
            </a:r>
          </a:p>
          <a:p>
            <a:r>
              <a:rPr lang="en-US" dirty="0">
                <a:latin typeface="Times New Roman" pitchFamily="18" charset="0"/>
                <a:cs typeface="Times New Roman" pitchFamily="18" charset="0"/>
              </a:rPr>
              <a:t>• highly modularity</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 multi-master support</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 low-power emphasis</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 innovative test   methodology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457200" y="274638"/>
            <a:ext cx="8229600" cy="639762"/>
          </a:xfrm>
        </p:spPr>
        <p:txBody>
          <a:bodyPr/>
          <a:lstStyle/>
          <a:p>
            <a:pPr eaLnBrk="1" hangingPunct="1"/>
            <a:r>
              <a:rPr lang="en-US" sz="2800" smtClean="0"/>
              <a:t>The Advanced Microcontroller Bus Architecture (AMBA)</a:t>
            </a:r>
          </a:p>
        </p:txBody>
      </p:sp>
      <p:pic>
        <p:nvPicPr>
          <p:cNvPr id="12291" name="Picture 2"/>
          <p:cNvPicPr>
            <a:picLocks noGrp="1" noChangeAspect="1" noChangeArrowheads="1"/>
          </p:cNvPicPr>
          <p:nvPr>
            <p:ph idx="1"/>
          </p:nvPr>
        </p:nvPicPr>
        <p:blipFill>
          <a:blip r:embed="rId2"/>
          <a:srcRect/>
          <a:stretch>
            <a:fillRect/>
          </a:stretch>
        </p:blipFill>
        <p:spPr>
          <a:xfrm>
            <a:off x="1743075" y="1600200"/>
            <a:ext cx="5524500" cy="4419600"/>
          </a:xfr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457200" y="0"/>
            <a:ext cx="8229600" cy="487362"/>
          </a:xfrm>
        </p:spPr>
        <p:txBody>
          <a:bodyPr>
            <a:normAutofit fontScale="90000"/>
          </a:bodyPr>
          <a:lstStyle/>
          <a:p>
            <a:pPr eaLnBrk="1" hangingPunct="1"/>
            <a:r>
              <a:rPr lang="en-US" sz="2800" dirty="0" smtClean="0"/>
              <a:t>Bus Transfer steps</a:t>
            </a:r>
          </a:p>
        </p:txBody>
      </p:sp>
      <p:sp>
        <p:nvSpPr>
          <p:cNvPr id="3" name="Content Placeholder 2"/>
          <p:cNvSpPr>
            <a:spLocks noGrp="1"/>
          </p:cNvSpPr>
          <p:nvPr>
            <p:ph idx="1"/>
          </p:nvPr>
        </p:nvSpPr>
        <p:spPr>
          <a:xfrm>
            <a:off x="457200" y="533400"/>
            <a:ext cx="8229600" cy="6096000"/>
          </a:xfrm>
        </p:spPr>
        <p:txBody>
          <a:bodyPr rtlCol="0">
            <a:noAutofit/>
          </a:bodyPr>
          <a:lstStyle/>
          <a:p>
            <a:pPr marL="514350" indent="-514350" eaLnBrk="1" fontAlgn="auto" hangingPunct="1">
              <a:spcAft>
                <a:spcPts val="0"/>
              </a:spcAft>
              <a:buNone/>
              <a:defRPr/>
            </a:pPr>
            <a:r>
              <a:rPr lang="en-US" sz="1600" dirty="0" smtClean="0">
                <a:latin typeface="Times New Roman" pitchFamily="18" charset="0"/>
                <a:cs typeface="Times New Roman" pitchFamily="18" charset="0"/>
              </a:rPr>
              <a:t>The bus clock, </a:t>
            </a:r>
            <a:r>
              <a:rPr lang="en-US" sz="1600" i="1" dirty="0" smtClean="0">
                <a:latin typeface="Times New Roman" pitchFamily="18" charset="0"/>
                <a:cs typeface="Times New Roman" pitchFamily="18" charset="0"/>
              </a:rPr>
              <a:t>BCLK. This will usually be the same as mclk, the ARM processor</a:t>
            </a:r>
          </a:p>
          <a:p>
            <a:pPr marL="514350" indent="-514350" eaLnBrk="1" fontAlgn="auto" hangingPunct="1">
              <a:spcAft>
                <a:spcPts val="0"/>
              </a:spcAft>
              <a:buNone/>
              <a:defRPr/>
            </a:pPr>
            <a:r>
              <a:rPr lang="en-US" sz="1600" dirty="0" smtClean="0">
                <a:latin typeface="Times New Roman" pitchFamily="18" charset="0"/>
                <a:cs typeface="Times New Roman" pitchFamily="18" charset="0"/>
              </a:rPr>
              <a:t>clock.</a:t>
            </a:r>
          </a:p>
          <a:p>
            <a:pPr marL="514350" indent="-514350" algn="just" eaLnBrk="1" fontAlgn="auto" hangingPunct="1">
              <a:lnSpc>
                <a:spcPct val="120000"/>
              </a:lnSpc>
              <a:spcAft>
                <a:spcPts val="0"/>
              </a:spcAft>
              <a:buFont typeface="+mj-lt"/>
              <a:buAutoNum type="arabicPeriod"/>
              <a:defRPr/>
            </a:pPr>
            <a:r>
              <a:rPr lang="en-US" sz="1600" dirty="0" smtClean="0">
                <a:latin typeface="Times New Roman" pitchFamily="18" charset="0"/>
                <a:cs typeface="Times New Roman" pitchFamily="18" charset="0"/>
              </a:rPr>
              <a:t>The bus master which holds the grant then proceeds with the bus transaction using the following signals:</a:t>
            </a:r>
          </a:p>
          <a:p>
            <a:pPr marL="514350" indent="-514350" algn="just" eaLnBrk="1" fontAlgn="auto" hangingPunct="1">
              <a:lnSpc>
                <a:spcPct val="120000"/>
              </a:lnSpc>
              <a:spcAft>
                <a:spcPts val="0"/>
              </a:spcAft>
              <a:buFont typeface="+mj-lt"/>
              <a:buAutoNum type="arabicPeriod"/>
              <a:defRPr/>
            </a:pPr>
            <a:r>
              <a:rPr lang="en-US" sz="1600" dirty="0" smtClean="0">
                <a:latin typeface="Times New Roman" pitchFamily="18" charset="0"/>
                <a:cs typeface="Times New Roman" pitchFamily="18" charset="0"/>
              </a:rPr>
              <a:t>Bus transaction, </a:t>
            </a:r>
            <a:r>
              <a:rPr lang="en-US" sz="1600" i="1" dirty="0" smtClean="0">
                <a:latin typeface="Times New Roman" pitchFamily="18" charset="0"/>
                <a:cs typeface="Times New Roman" pitchFamily="18" charset="0"/>
              </a:rPr>
              <a:t>BTRAN[1:0], indicates whether the next bus cycle will be</a:t>
            </a:r>
          </a:p>
          <a:p>
            <a:pPr marL="514350" indent="-514350" algn="just" eaLnBrk="1" fontAlgn="auto" hangingPunct="1">
              <a:lnSpc>
                <a:spcPct val="120000"/>
              </a:lnSpc>
              <a:spcAft>
                <a:spcPts val="0"/>
              </a:spcAft>
              <a:buNone/>
              <a:defRPr/>
            </a:pPr>
            <a:r>
              <a:rPr lang="en-US" sz="1600" dirty="0" smtClean="0">
                <a:latin typeface="Times New Roman" pitchFamily="18" charset="0"/>
                <a:cs typeface="Times New Roman" pitchFamily="18" charset="0"/>
              </a:rPr>
              <a:t>          address-only, sequential or non-sequential. It is enabled by the grant signal and is ahead of the bus cycle to which it refers.</a:t>
            </a:r>
          </a:p>
          <a:p>
            <a:pPr marL="514350" indent="-514350" algn="just" eaLnBrk="1" fontAlgn="auto" hangingPunct="1">
              <a:lnSpc>
                <a:spcPct val="120000"/>
              </a:lnSpc>
              <a:spcAft>
                <a:spcPts val="0"/>
              </a:spcAft>
              <a:buNone/>
              <a:defRPr/>
            </a:pPr>
            <a:r>
              <a:rPr lang="en-US" sz="1600" dirty="0" smtClean="0">
                <a:latin typeface="Times New Roman" pitchFamily="18" charset="0"/>
                <a:cs typeface="Times New Roman" pitchFamily="18" charset="0"/>
              </a:rPr>
              <a:t>3.       The address bus, </a:t>
            </a:r>
            <a:r>
              <a:rPr lang="en-US" sz="1600" i="1" dirty="0" smtClean="0">
                <a:latin typeface="Times New Roman" pitchFamily="18" charset="0"/>
                <a:cs typeface="Times New Roman" pitchFamily="18" charset="0"/>
              </a:rPr>
              <a:t>BA[31:OJ. (Not all address lines need be implemented in </a:t>
            </a:r>
            <a:r>
              <a:rPr lang="en-US" sz="1600" i="1" dirty="0" smtClean="0">
                <a:latin typeface="Times New Roman" pitchFamily="18" charset="0"/>
                <a:cs typeface="Times New Roman" pitchFamily="18" charset="0"/>
              </a:rPr>
              <a:t>sys</a:t>
            </a:r>
            <a:r>
              <a:rPr lang="en-US" sz="1600" dirty="0" smtClean="0">
                <a:latin typeface="Times New Roman" pitchFamily="18" charset="0"/>
                <a:cs typeface="Times New Roman" pitchFamily="18" charset="0"/>
              </a:rPr>
              <a:t>tems </a:t>
            </a:r>
            <a:r>
              <a:rPr lang="en-US" sz="1600" dirty="0" smtClean="0">
                <a:latin typeface="Times New Roman" pitchFamily="18" charset="0"/>
                <a:cs typeface="Times New Roman" pitchFamily="18" charset="0"/>
              </a:rPr>
              <a:t>with modest address-space requirements, and in a multiplexed implementation the address is sent down the data bus.)</a:t>
            </a:r>
          </a:p>
          <a:p>
            <a:pPr marL="514350" indent="-514350" algn="just" eaLnBrk="1" fontAlgn="auto" hangingPunct="1">
              <a:lnSpc>
                <a:spcPct val="120000"/>
              </a:lnSpc>
              <a:spcAft>
                <a:spcPts val="0"/>
              </a:spcAft>
              <a:buNone/>
              <a:defRPr/>
            </a:pPr>
            <a:r>
              <a:rPr lang="en-US" sz="1600" dirty="0" smtClean="0">
                <a:latin typeface="Times New Roman" pitchFamily="18" charset="0"/>
                <a:cs typeface="Times New Roman" pitchFamily="18" charset="0"/>
              </a:rPr>
              <a:t>4.       Bus transfer direction, </a:t>
            </a:r>
            <a:r>
              <a:rPr lang="en-US" sz="1600" i="1" dirty="0" smtClean="0">
                <a:latin typeface="Times New Roman" pitchFamily="18" charset="0"/>
                <a:cs typeface="Times New Roman" pitchFamily="18" charset="0"/>
              </a:rPr>
              <a:t>BWRITE.</a:t>
            </a:r>
          </a:p>
          <a:p>
            <a:pPr marL="514350" indent="-514350" algn="just" eaLnBrk="1" fontAlgn="auto" hangingPunct="1">
              <a:lnSpc>
                <a:spcPct val="120000"/>
              </a:lnSpc>
              <a:spcAft>
                <a:spcPts val="0"/>
              </a:spcAft>
              <a:buNone/>
              <a:defRPr/>
            </a:pPr>
            <a:r>
              <a:rPr lang="en-US" sz="1600" dirty="0" smtClean="0">
                <a:latin typeface="Times New Roman" pitchFamily="18" charset="0"/>
                <a:cs typeface="Times New Roman" pitchFamily="18" charset="0"/>
              </a:rPr>
              <a:t>5.       Bus protection signals, </a:t>
            </a:r>
            <a:r>
              <a:rPr lang="en-US" sz="1600" i="1" dirty="0" smtClean="0">
                <a:latin typeface="Times New Roman" pitchFamily="18" charset="0"/>
                <a:cs typeface="Times New Roman" pitchFamily="18" charset="0"/>
              </a:rPr>
              <a:t>BPROT[1:0], which indicate instruction or data fetches</a:t>
            </a:r>
          </a:p>
          <a:p>
            <a:pPr marL="514350" indent="-514350" algn="just" eaLnBrk="1" fontAlgn="auto" hangingPunct="1">
              <a:lnSpc>
                <a:spcPct val="120000"/>
              </a:lnSpc>
              <a:spcAft>
                <a:spcPts val="0"/>
              </a:spcAft>
              <a:buNone/>
              <a:defRPr/>
            </a:pPr>
            <a:r>
              <a:rPr lang="en-US" sz="1600" dirty="0" smtClean="0">
                <a:latin typeface="Times New Roman" pitchFamily="18" charset="0"/>
                <a:cs typeface="Times New Roman" pitchFamily="18" charset="0"/>
              </a:rPr>
              <a:t>           and supervisor or user access.</a:t>
            </a:r>
          </a:p>
          <a:p>
            <a:pPr marL="514350" indent="-514350" algn="just" eaLnBrk="1" fontAlgn="auto" hangingPunct="1">
              <a:lnSpc>
                <a:spcPct val="120000"/>
              </a:lnSpc>
              <a:spcAft>
                <a:spcPts val="0"/>
              </a:spcAft>
              <a:buNone/>
              <a:defRPr/>
            </a:pPr>
            <a:r>
              <a:rPr lang="en-US" sz="1600" dirty="0" smtClean="0">
                <a:latin typeface="Times New Roman" pitchFamily="18" charset="0"/>
                <a:cs typeface="Times New Roman" pitchFamily="18" charset="0"/>
              </a:rPr>
              <a:t>6.      The transfer size, </a:t>
            </a:r>
            <a:r>
              <a:rPr lang="en-US" sz="1600" i="1" dirty="0" smtClean="0">
                <a:latin typeface="Times New Roman" pitchFamily="18" charset="0"/>
                <a:cs typeface="Times New Roman" pitchFamily="18" charset="0"/>
              </a:rPr>
              <a:t>BSIZE[1:0], specifies a byte, half-word or word transfer.</a:t>
            </a:r>
          </a:p>
          <a:p>
            <a:pPr marL="514350" indent="-514350" algn="just" eaLnBrk="1" fontAlgn="auto" hangingPunct="1">
              <a:lnSpc>
                <a:spcPct val="120000"/>
              </a:lnSpc>
              <a:spcAft>
                <a:spcPts val="0"/>
              </a:spcAft>
              <a:buAutoNum type="arabicPeriod" startAt="7"/>
              <a:defRPr/>
            </a:pPr>
            <a:r>
              <a:rPr lang="en-US" sz="1600" dirty="0" smtClean="0">
                <a:latin typeface="Times New Roman" pitchFamily="18" charset="0"/>
                <a:cs typeface="Times New Roman" pitchFamily="18" charset="0"/>
              </a:rPr>
              <a:t>Bus lock, </a:t>
            </a:r>
            <a:r>
              <a:rPr lang="en-US" sz="1600" i="1" dirty="0" smtClean="0">
                <a:latin typeface="Times New Roman" pitchFamily="18" charset="0"/>
                <a:cs typeface="Times New Roman" pitchFamily="18" charset="0"/>
              </a:rPr>
              <a:t>BLOK, allows a master to retain the bus to complete an atomic </a:t>
            </a:r>
            <a:r>
              <a:rPr lang="en-US" sz="1600" i="1" dirty="0" err="1" smtClean="0">
                <a:latin typeface="Times New Roman" pitchFamily="18" charset="0"/>
                <a:cs typeface="Times New Roman" pitchFamily="18" charset="0"/>
              </a:rPr>
              <a:t>readmodify</a:t>
            </a:r>
            <a:r>
              <a:rPr lang="en-US" sz="1600" i="1" dirty="0" smtClean="0">
                <a:latin typeface="Times New Roman" pitchFamily="18" charset="0"/>
                <a:cs typeface="Times New Roman" pitchFamily="18" charset="0"/>
              </a:rPr>
              <a:t>-</a:t>
            </a:r>
            <a:r>
              <a:rPr lang="en-US" sz="1600" dirty="0" smtClean="0">
                <a:latin typeface="Times New Roman" pitchFamily="18" charset="0"/>
                <a:cs typeface="Times New Roman" pitchFamily="18" charset="0"/>
              </a:rPr>
              <a:t>write transaction.</a:t>
            </a:r>
          </a:p>
          <a:p>
            <a:pPr algn="just">
              <a:lnSpc>
                <a:spcPct val="120000"/>
              </a:lnSpc>
              <a:buNone/>
              <a:defRPr/>
            </a:pPr>
            <a:r>
              <a:rPr lang="en-US" sz="1600" dirty="0" smtClean="0">
                <a:latin typeface="Times New Roman" pitchFamily="18" charset="0"/>
                <a:cs typeface="Times New Roman" pitchFamily="18" charset="0"/>
              </a:rPr>
              <a:t>8.     The data bus, </a:t>
            </a:r>
            <a:r>
              <a:rPr lang="en-US" sz="1600" i="1" dirty="0" smtClean="0">
                <a:latin typeface="Times New Roman" pitchFamily="18" charset="0"/>
                <a:cs typeface="Times New Roman" pitchFamily="18" charset="0"/>
              </a:rPr>
              <a:t>BD[31:0], used to transmit write data and to receive read data. In an</a:t>
            </a:r>
          </a:p>
          <a:p>
            <a:pPr algn="just">
              <a:lnSpc>
                <a:spcPct val="120000"/>
              </a:lnSpc>
              <a:buNone/>
              <a:defRPr/>
            </a:pPr>
            <a:r>
              <a:rPr lang="en-US" sz="1600" dirty="0" smtClean="0">
                <a:latin typeface="Times New Roman" pitchFamily="18" charset="0"/>
                <a:cs typeface="Times New Roman" pitchFamily="18" charset="0"/>
              </a:rPr>
              <a:t>	   implementation with multiplexed address and data, the address is also transmitted down this bus.</a:t>
            </a:r>
          </a:p>
          <a:p>
            <a:pPr marL="514350" indent="-514350" algn="just" eaLnBrk="1" fontAlgn="auto" hangingPunct="1">
              <a:lnSpc>
                <a:spcPct val="120000"/>
              </a:lnSpc>
              <a:spcAft>
                <a:spcPts val="0"/>
              </a:spcAft>
              <a:buAutoNum type="arabicPeriod" startAt="7"/>
              <a:defRPr/>
            </a:pPr>
            <a:endParaRPr lang="en-US" sz="1600" dirty="0" smtClean="0">
              <a:latin typeface="Times New Roman" pitchFamily="18" charset="0"/>
              <a:cs typeface="Times New Roman" pitchFamily="18" charset="0"/>
            </a:endParaRPr>
          </a:p>
          <a:p>
            <a:pPr algn="just" eaLnBrk="1" fontAlgn="auto" hangingPunct="1">
              <a:lnSpc>
                <a:spcPct val="120000"/>
              </a:lnSpc>
              <a:spcAft>
                <a:spcPts val="0"/>
              </a:spcAft>
              <a:buFont typeface="Arial" pitchFamily="34" charset="0"/>
              <a:buNone/>
              <a:defRPr/>
            </a:pPr>
            <a:endParaRPr lang="en-US" sz="1600" i="1" dirty="0" smtClean="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rtlCol="0">
            <a:normAutofit/>
          </a:bodyPr>
          <a:lstStyle/>
          <a:p>
            <a:pPr eaLnBrk="1" fontAlgn="auto" hangingPunct="1">
              <a:spcAft>
                <a:spcPts val="0"/>
              </a:spcAft>
              <a:buFont typeface="Arial" pitchFamily="34" charset="0"/>
              <a:buNone/>
              <a:defRPr/>
            </a:pPr>
            <a:endParaRPr lang="en-US" dirty="0" smtClean="0"/>
          </a:p>
          <a:p>
            <a:pPr algn="just" eaLnBrk="1" fontAlgn="auto" hangingPunct="1">
              <a:spcAft>
                <a:spcPts val="0"/>
              </a:spcAft>
              <a:buFont typeface="Arial" pitchFamily="34" charset="0"/>
              <a:buNone/>
              <a:defRPr/>
            </a:pPr>
            <a:r>
              <a:rPr lang="en-US" dirty="0" smtClean="0"/>
              <a:t>	</a:t>
            </a:r>
            <a:r>
              <a:rPr lang="en-US" sz="2000" dirty="0" smtClean="0">
                <a:latin typeface="Times New Roman" pitchFamily="18" charset="0"/>
                <a:cs typeface="Times New Roman" pitchFamily="18" charset="0"/>
              </a:rPr>
              <a:t>A slave unit may process the requested transaction immediately, accepting write data or issuing read data on </a:t>
            </a:r>
            <a:r>
              <a:rPr lang="en-US" sz="2000" i="1" dirty="0" smtClean="0">
                <a:latin typeface="Times New Roman" pitchFamily="18" charset="0"/>
                <a:cs typeface="Times New Roman" pitchFamily="18" charset="0"/>
              </a:rPr>
              <a:t>ED[31:0], or signal one of the following responses:</a:t>
            </a:r>
          </a:p>
          <a:p>
            <a:pPr eaLnBrk="1" fontAlgn="auto" hangingPunct="1">
              <a:spcAft>
                <a:spcPts val="0"/>
              </a:spcAft>
              <a:buFont typeface="Arial" pitchFamily="34" charset="0"/>
              <a:buNone/>
              <a:defRPr/>
            </a:pPr>
            <a:endParaRPr lang="en-US" sz="2000" i="1" dirty="0" smtClean="0">
              <a:latin typeface="Times New Roman" pitchFamily="18" charset="0"/>
              <a:cs typeface="Times New Roman" pitchFamily="18" charset="0"/>
            </a:endParaRPr>
          </a:p>
          <a:p>
            <a:pPr marL="514350" indent="-514350" algn="just" eaLnBrk="1" fontAlgn="auto" hangingPunct="1">
              <a:spcAft>
                <a:spcPts val="0"/>
              </a:spcAft>
              <a:buFont typeface="+mj-lt"/>
              <a:buAutoNum type="arabicPeriod"/>
              <a:defRPr/>
            </a:pPr>
            <a:r>
              <a:rPr lang="en-US" sz="2000" dirty="0" smtClean="0">
                <a:latin typeface="Times New Roman" pitchFamily="18" charset="0"/>
                <a:cs typeface="Times New Roman" pitchFamily="18" charset="0"/>
              </a:rPr>
              <a:t>Bus wait, </a:t>
            </a:r>
            <a:r>
              <a:rPr lang="en-US" sz="2000" i="1" dirty="0" smtClean="0">
                <a:latin typeface="Times New Roman" pitchFamily="18" charset="0"/>
                <a:cs typeface="Times New Roman" pitchFamily="18" charset="0"/>
              </a:rPr>
              <a:t>BWAIT, allows a slave module to insert wait states when it cannot com</a:t>
            </a:r>
            <a:r>
              <a:rPr lang="en-US" sz="2000" dirty="0" smtClean="0">
                <a:latin typeface="Times New Roman" pitchFamily="18" charset="0"/>
                <a:cs typeface="Times New Roman" pitchFamily="18" charset="0"/>
              </a:rPr>
              <a:t>plete the transaction in the current cycle.</a:t>
            </a:r>
          </a:p>
          <a:p>
            <a:pPr marL="514350" indent="-514350" algn="just" eaLnBrk="1" fontAlgn="auto" hangingPunct="1">
              <a:spcAft>
                <a:spcPts val="0"/>
              </a:spcAft>
              <a:buFont typeface="+mj-lt"/>
              <a:buAutoNum type="arabicPeriod"/>
              <a:defRPr/>
            </a:pPr>
            <a:r>
              <a:rPr lang="en-US" sz="2000" dirty="0" smtClean="0">
                <a:latin typeface="Times New Roman" pitchFamily="18" charset="0"/>
                <a:cs typeface="Times New Roman" pitchFamily="18" charset="0"/>
              </a:rPr>
              <a:t>Bus last, </a:t>
            </a:r>
            <a:r>
              <a:rPr lang="en-US" sz="2000" i="1" dirty="0" smtClean="0">
                <a:latin typeface="Times New Roman" pitchFamily="18" charset="0"/>
                <a:cs typeface="Times New Roman" pitchFamily="18" charset="0"/>
              </a:rPr>
              <a:t>BLAST, allows a slave to terminate a sequential burst to force the bus </a:t>
            </a:r>
            <a:r>
              <a:rPr lang="en-US" sz="2000" dirty="0" smtClean="0">
                <a:latin typeface="Times New Roman" pitchFamily="18" charset="0"/>
                <a:cs typeface="Times New Roman" pitchFamily="18" charset="0"/>
              </a:rPr>
              <a:t>	master to issue a new bus transaction request to continue.</a:t>
            </a:r>
          </a:p>
          <a:p>
            <a:pPr marL="514350" indent="-514350" algn="just" eaLnBrk="1" fontAlgn="auto" hangingPunct="1">
              <a:spcAft>
                <a:spcPts val="0"/>
              </a:spcAft>
              <a:buFont typeface="+mj-lt"/>
              <a:buAutoNum type="arabicPeriod"/>
              <a:defRPr/>
            </a:pPr>
            <a:r>
              <a:rPr lang="en-US" sz="2000" dirty="0" smtClean="0">
                <a:latin typeface="Times New Roman" pitchFamily="18" charset="0"/>
                <a:cs typeface="Times New Roman" pitchFamily="18" charset="0"/>
              </a:rPr>
              <a:t>Bus error, </a:t>
            </a:r>
            <a:r>
              <a:rPr lang="en-US" sz="2000" i="1" dirty="0" smtClean="0">
                <a:latin typeface="Times New Roman" pitchFamily="18" charset="0"/>
                <a:cs typeface="Times New Roman" pitchFamily="18" charset="0"/>
              </a:rPr>
              <a:t>BERROR, indicates a transaction that cannot be completed. If the </a:t>
            </a:r>
            <a:r>
              <a:rPr lang="en-US" sz="2000" dirty="0" smtClean="0">
                <a:latin typeface="Times New Roman" pitchFamily="18" charset="0"/>
                <a:cs typeface="Times New Roman" pitchFamily="18" charset="0"/>
              </a:rPr>
              <a:t>master is a processor it should abort the transfer.</a:t>
            </a:r>
          </a:p>
          <a:p>
            <a:pPr marL="514350" indent="-514350" eaLnBrk="1" fontAlgn="auto" hangingPunct="1">
              <a:spcAft>
                <a:spcPts val="0"/>
              </a:spcAft>
              <a:buFont typeface="+mj-lt"/>
              <a:buAutoNum type="arabicPeriod"/>
              <a:defRPr/>
            </a:pPr>
            <a:endParaRPr lang="en-US" sz="2600" dirty="0">
              <a:latin typeface="Arial" pitchFamily="34" charset="0"/>
              <a:cs typeface="Arial"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ZIGbee</a:t>
            </a:r>
            <a:r>
              <a:rPr lang="en-US" dirty="0" smtClean="0"/>
              <a:t> technology</a:t>
            </a:r>
            <a:endParaRPr lang="en-US" dirty="0"/>
          </a:p>
        </p:txBody>
      </p:sp>
      <p:sp>
        <p:nvSpPr>
          <p:cNvPr id="3" name="Content Placeholder 2"/>
          <p:cNvSpPr>
            <a:spLocks noGrp="1"/>
          </p:cNvSpPr>
          <p:nvPr>
            <p:ph idx="1"/>
          </p:nvPr>
        </p:nvSpPr>
        <p:spPr/>
        <p:txBody>
          <a:bodyPr/>
          <a:lstStyle/>
          <a:p>
            <a:r>
              <a:rPr lang="en-US" dirty="0" smtClean="0"/>
              <a:t>Wireless networking standards are everywhere. You’ve heard of </a:t>
            </a:r>
            <a:r>
              <a:rPr lang="en-US" dirty="0" err="1" smtClean="0"/>
              <a:t>WiFi</a:t>
            </a:r>
            <a:r>
              <a:rPr lang="en-US" dirty="0" smtClean="0"/>
              <a:t>™ and Bluetooth™ and cellular technology. Perhaps you’ve heard of Active RFID, </a:t>
            </a:r>
            <a:r>
              <a:rPr lang="en-US" dirty="0" err="1" smtClean="0"/>
              <a:t>Wibree</a:t>
            </a:r>
            <a:r>
              <a:rPr lang="en-US" dirty="0" smtClean="0"/>
              <a:t>, </a:t>
            </a:r>
            <a:r>
              <a:rPr lang="en-US" dirty="0" err="1" smtClean="0"/>
              <a:t>WiMAX</a:t>
            </a:r>
            <a:r>
              <a:rPr lang="en-US" dirty="0" smtClean="0"/>
              <a:t>™, or Wireless USB. So, why </a:t>
            </a:r>
            <a:r>
              <a:rPr lang="en-US" dirty="0" err="1" smtClean="0"/>
              <a:t>ZigBee</a:t>
            </a:r>
            <a:r>
              <a:rPr lang="en-US" dirty="0" smtClean="0"/>
              <a:t>™? </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1026" name="Picture 2"/>
          <p:cNvPicPr>
            <a:picLocks noChangeAspect="1" noChangeArrowheads="1"/>
          </p:cNvPicPr>
          <p:nvPr/>
        </p:nvPicPr>
        <p:blipFill>
          <a:blip r:embed="rId2"/>
          <a:srcRect/>
          <a:stretch>
            <a:fillRect/>
          </a:stretch>
        </p:blipFill>
        <p:spPr bwMode="auto">
          <a:xfrm>
            <a:off x="685800" y="762000"/>
            <a:ext cx="6934200" cy="564678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6146" name="Picture 2"/>
          <p:cNvPicPr>
            <a:picLocks noChangeAspect="1" noChangeArrowheads="1"/>
          </p:cNvPicPr>
          <p:nvPr/>
        </p:nvPicPr>
        <p:blipFill>
          <a:blip r:embed="rId2"/>
          <a:srcRect/>
          <a:stretch>
            <a:fillRect/>
          </a:stretch>
        </p:blipFill>
        <p:spPr bwMode="auto">
          <a:xfrm>
            <a:off x="685800" y="1347788"/>
            <a:ext cx="6905625" cy="4759871"/>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62500" lnSpcReduction="20000"/>
          </a:bodyPr>
          <a:lstStyle/>
          <a:p>
            <a:r>
              <a:rPr lang="en-US" dirty="0" err="1" smtClean="0"/>
              <a:t>ZigBee</a:t>
            </a:r>
            <a:r>
              <a:rPr lang="en-US" dirty="0" smtClean="0"/>
              <a:t> serves is called “ wireless sensor networking and control, </a:t>
            </a:r>
            <a:r>
              <a:rPr lang="en-US" dirty="0" smtClean="0"/>
              <a:t>” or </a:t>
            </a:r>
            <a:r>
              <a:rPr lang="en-US" dirty="0" smtClean="0"/>
              <a:t>simply, “ wireless control. </a:t>
            </a:r>
            <a:endParaRPr lang="en-US" dirty="0" smtClean="0"/>
          </a:p>
          <a:p>
            <a:r>
              <a:rPr lang="en-US" dirty="0" smtClean="0"/>
              <a:t>The wireless control market has a number of unique needs for which </a:t>
            </a:r>
            <a:r>
              <a:rPr lang="en-US" dirty="0" err="1" smtClean="0"/>
              <a:t>ZigBee</a:t>
            </a:r>
            <a:r>
              <a:rPr lang="en-US" dirty="0" smtClean="0"/>
              <a:t> </a:t>
            </a:r>
            <a:r>
              <a:rPr lang="en-US" dirty="0" smtClean="0"/>
              <a:t>is ideally </a:t>
            </a:r>
            <a:r>
              <a:rPr lang="en-US" dirty="0" smtClean="0"/>
              <a:t>suited, </a:t>
            </a:r>
            <a:endParaRPr lang="en-US" dirty="0" smtClean="0"/>
          </a:p>
          <a:p>
            <a:pPr>
              <a:buNone/>
            </a:pPr>
            <a:r>
              <a:rPr lang="en-US" dirty="0" smtClean="0"/>
              <a:t>because </a:t>
            </a:r>
            <a:r>
              <a:rPr lang="en-US" dirty="0" err="1" smtClean="0"/>
              <a:t>ZigBee</a:t>
            </a:r>
            <a:r>
              <a:rPr lang="en-US" dirty="0" smtClean="0"/>
              <a:t> is</a:t>
            </a:r>
            <a:r>
              <a:rPr lang="en-US" dirty="0" smtClean="0"/>
              <a:t>:</a:t>
            </a:r>
          </a:p>
          <a:p>
            <a:endParaRPr lang="en-US" dirty="0" smtClean="0"/>
          </a:p>
          <a:p>
            <a:pPr>
              <a:buNone/>
            </a:pPr>
            <a:r>
              <a:rPr lang="en-US" dirty="0" smtClean="0"/>
              <a:t>● Highly reliable</a:t>
            </a:r>
          </a:p>
          <a:p>
            <a:pPr>
              <a:buNone/>
            </a:pPr>
            <a:r>
              <a:rPr lang="en-US" dirty="0" smtClean="0"/>
              <a:t>● Cost-effective</a:t>
            </a:r>
          </a:p>
          <a:p>
            <a:pPr>
              <a:buNone/>
            </a:pPr>
            <a:r>
              <a:rPr lang="en-US" dirty="0" smtClean="0"/>
              <a:t>● Able to achieve very low power</a:t>
            </a:r>
          </a:p>
          <a:p>
            <a:pPr>
              <a:buNone/>
            </a:pPr>
            <a:r>
              <a:rPr lang="en-US" dirty="0" smtClean="0"/>
              <a:t>● Highly secure</a:t>
            </a:r>
          </a:p>
          <a:p>
            <a:pPr>
              <a:buNone/>
            </a:pPr>
            <a:r>
              <a:rPr lang="en-US" dirty="0" smtClean="0"/>
              <a:t>● An open global </a:t>
            </a:r>
            <a:r>
              <a:rPr lang="en-US" dirty="0" smtClean="0"/>
              <a:t>standard</a:t>
            </a:r>
          </a:p>
          <a:p>
            <a:pPr>
              <a:buNone/>
            </a:pPr>
            <a:endParaRPr lang="en-US" dirty="0" smtClean="0"/>
          </a:p>
          <a:p>
            <a:pPr>
              <a:buNone/>
            </a:pPr>
            <a:r>
              <a:rPr lang="en-US" dirty="0" smtClean="0"/>
              <a:t>To achieve the low power and low cost criteria, </a:t>
            </a:r>
            <a:r>
              <a:rPr lang="en-US" dirty="0" err="1" smtClean="0"/>
              <a:t>ZigBee</a:t>
            </a:r>
            <a:r>
              <a:rPr lang="en-US" dirty="0" smtClean="0"/>
              <a:t> added a constraint to </a:t>
            </a:r>
            <a:r>
              <a:rPr lang="en-US" dirty="0" smtClean="0"/>
              <a:t>the technology</a:t>
            </a:r>
            <a:r>
              <a:rPr lang="en-US" dirty="0" smtClean="0"/>
              <a:t>:</a:t>
            </a:r>
          </a:p>
          <a:p>
            <a:r>
              <a:rPr lang="en-US" dirty="0" smtClean="0"/>
              <a:t>Low data </a:t>
            </a:r>
            <a:r>
              <a:rPr lang="en-US" dirty="0" smtClean="0"/>
              <a:t>rate</a:t>
            </a:r>
          </a:p>
          <a:p>
            <a:pPr>
              <a:buNone/>
            </a:pPr>
            <a:endParaRPr lang="en-US" dirty="0" smtClean="0"/>
          </a:p>
          <a:p>
            <a:pPr>
              <a:buNone/>
            </a:pPr>
            <a:r>
              <a:rPr lang="en-US" dirty="0" smtClean="0"/>
              <a:t>The </a:t>
            </a:r>
            <a:r>
              <a:rPr lang="en-US" dirty="0" err="1" smtClean="0"/>
              <a:t>ZigBee</a:t>
            </a:r>
            <a:r>
              <a:rPr lang="en-US" dirty="0" smtClean="0"/>
              <a:t> protocol fits on 8-bit microcontrollers, with 16- and 32-bit solutions available.</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87963"/>
          </a:xfrm>
        </p:spPr>
        <p:txBody>
          <a:bodyPr/>
          <a:lstStyle/>
          <a:p>
            <a:r>
              <a:rPr lang="en-US" dirty="0" smtClean="0"/>
              <a:t>Bluetooth™ is great at point-to-point (as seen in </a:t>
            </a:r>
            <a:r>
              <a:rPr lang="en-US" dirty="0" smtClean="0"/>
              <a:t>many headsets </a:t>
            </a:r>
            <a:r>
              <a:rPr lang="en-US" dirty="0" smtClean="0"/>
              <a:t>and cell phones). </a:t>
            </a:r>
            <a:r>
              <a:rPr lang="en-US" dirty="0" err="1" smtClean="0"/>
              <a:t>ZigBee</a:t>
            </a:r>
            <a:r>
              <a:rPr lang="en-US" dirty="0" smtClean="0"/>
              <a:t> is great at wireless control, where anywhere from </a:t>
            </a:r>
            <a:r>
              <a:rPr lang="en-US" dirty="0" smtClean="0"/>
              <a:t>two to </a:t>
            </a:r>
            <a:r>
              <a:rPr lang="en-US" dirty="0" smtClean="0"/>
              <a:t>thousands of nodes are all connected together, in multi-hop mesh network.</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7170" name="Picture 2"/>
          <p:cNvPicPr>
            <a:picLocks noChangeAspect="1" noChangeArrowheads="1"/>
          </p:cNvPicPr>
          <p:nvPr/>
        </p:nvPicPr>
        <p:blipFill>
          <a:blip r:embed="rId2"/>
          <a:srcRect/>
          <a:stretch>
            <a:fillRect/>
          </a:stretch>
        </p:blipFill>
        <p:spPr bwMode="auto">
          <a:xfrm>
            <a:off x="990600" y="914400"/>
            <a:ext cx="6567488" cy="4713508"/>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pPr>
              <a:buNone/>
            </a:pPr>
            <a:r>
              <a:rPr lang="en-US" dirty="0" smtClean="0"/>
              <a:t>A network coordinator is a device that sets up the network, is aware of all the nodes within its network, and manages both the information about each node as well as the information that is being transmitted/received within the network. Every </a:t>
            </a:r>
            <a:r>
              <a:rPr lang="en-US" dirty="0" err="1" smtClean="0"/>
              <a:t>ZigBee</a:t>
            </a:r>
            <a:r>
              <a:rPr lang="en-US" dirty="0" smtClean="0"/>
              <a:t> network must contain a network coordinator. </a:t>
            </a:r>
            <a:endParaRPr lang="en-US" dirty="0" smtClean="0"/>
          </a:p>
          <a:p>
            <a:pPr>
              <a:buNone/>
            </a:pPr>
            <a:r>
              <a:rPr lang="en-US" dirty="0" smtClean="0"/>
              <a:t>End </a:t>
            </a:r>
            <a:r>
              <a:rPr lang="en-US" dirty="0" smtClean="0"/>
              <a:t>device-that </a:t>
            </a:r>
            <a:r>
              <a:rPr lang="en-US" dirty="0" smtClean="0"/>
              <a:t>interact with the physical world. </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8194" name="Picture 2"/>
          <p:cNvPicPr>
            <a:picLocks noChangeAspect="1" noChangeArrowheads="1"/>
          </p:cNvPicPr>
          <p:nvPr/>
        </p:nvPicPr>
        <p:blipFill>
          <a:blip r:embed="rId2"/>
          <a:srcRect/>
          <a:stretch>
            <a:fillRect/>
          </a:stretch>
        </p:blipFill>
        <p:spPr bwMode="auto">
          <a:xfrm>
            <a:off x="914399" y="1828800"/>
            <a:ext cx="7564763" cy="3733800"/>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r>
              <a:rPr lang="en-US" dirty="0" smtClean="0"/>
              <a:t>star topology is most useful when several end devices are located close together so that they can communicate with a single router </a:t>
            </a:r>
            <a:r>
              <a:rPr lang="en-US" dirty="0" smtClean="0"/>
              <a:t>node</a:t>
            </a:r>
          </a:p>
          <a:p>
            <a:r>
              <a:rPr lang="en-US" dirty="0" smtClean="0"/>
              <a:t>That node can then be a part of a larger mesh network that ultimately communicates with the network coordinator. Mesh networking allows for redundancy in node links, so that if one node goes down, devices can find an alternative path to communicate with one another. </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Zigbee</a:t>
            </a:r>
            <a:r>
              <a:rPr lang="en-US" dirty="0" smtClean="0"/>
              <a:t> topology</a:t>
            </a:r>
            <a:endParaRPr lang="en-US" dirty="0"/>
          </a:p>
        </p:txBody>
      </p:sp>
      <p:sp>
        <p:nvSpPr>
          <p:cNvPr id="3" name="Content Placeholder 2"/>
          <p:cNvSpPr>
            <a:spLocks noGrp="1"/>
          </p:cNvSpPr>
          <p:nvPr>
            <p:ph idx="1"/>
          </p:nvPr>
        </p:nvSpPr>
        <p:spPr>
          <a:xfrm>
            <a:off x="457200" y="1295401"/>
            <a:ext cx="8229600" cy="3733800"/>
          </a:xfrm>
        </p:spPr>
        <p:txBody>
          <a:bodyPr/>
          <a:lstStyle/>
          <a:p>
            <a:endParaRPr lang="en-US" dirty="0"/>
          </a:p>
        </p:txBody>
      </p:sp>
      <p:pic>
        <p:nvPicPr>
          <p:cNvPr id="2050" name="Picture 2"/>
          <p:cNvPicPr>
            <a:picLocks noChangeAspect="1" noChangeArrowheads="1"/>
          </p:cNvPicPr>
          <p:nvPr/>
        </p:nvPicPr>
        <p:blipFill>
          <a:blip r:embed="rId2"/>
          <a:srcRect/>
          <a:stretch>
            <a:fillRect/>
          </a:stretch>
        </p:blipFill>
        <p:spPr bwMode="auto">
          <a:xfrm>
            <a:off x="1447800" y="1219200"/>
            <a:ext cx="6629400" cy="3619500"/>
          </a:xfrm>
          <a:prstGeom prst="rect">
            <a:avLst/>
          </a:prstGeom>
          <a:noFill/>
          <a:ln w="9525">
            <a:noFill/>
            <a:miter lim="800000"/>
            <a:headEnd/>
            <a:tailEnd/>
          </a:ln>
          <a:effectLst/>
        </p:spPr>
      </p:pic>
      <p:sp>
        <p:nvSpPr>
          <p:cNvPr id="5" name="Rectangle 4"/>
          <p:cNvSpPr/>
          <p:nvPr/>
        </p:nvSpPr>
        <p:spPr>
          <a:xfrm>
            <a:off x="457200" y="5103674"/>
            <a:ext cx="7848600" cy="1754326"/>
          </a:xfrm>
          <a:prstGeom prst="rect">
            <a:avLst/>
          </a:prstGeom>
        </p:spPr>
        <p:txBody>
          <a:bodyPr wrap="square">
            <a:spAutoFit/>
          </a:bodyPr>
          <a:lstStyle/>
          <a:p>
            <a:r>
              <a:rPr lang="en-US" dirty="0" smtClean="0"/>
              <a:t>With mesh networking, data from the first node can reach any other node in the </a:t>
            </a:r>
            <a:r>
              <a:rPr lang="en-US" dirty="0" err="1" smtClean="0"/>
              <a:t>ZigBee</a:t>
            </a:r>
            <a:r>
              <a:rPr lang="en-US" dirty="0" smtClean="0"/>
              <a:t> network</a:t>
            </a:r>
            <a:r>
              <a:rPr lang="en-US" dirty="0" smtClean="0"/>
              <a:t>, regardless of the distance as long as there are enough radios in between to </a:t>
            </a:r>
            <a:r>
              <a:rPr lang="en-US" dirty="0" smtClean="0"/>
              <a:t>pass the </a:t>
            </a:r>
            <a:r>
              <a:rPr lang="en-US" dirty="0" smtClean="0"/>
              <a:t>message along (see Figure 1.2 ). Node 1 wants to communicate to node 3, but is </a:t>
            </a:r>
            <a:r>
              <a:rPr lang="en-US" dirty="0" smtClean="0"/>
              <a:t>out </a:t>
            </a:r>
            <a:r>
              <a:rPr lang="en-US" dirty="0" smtClean="0"/>
              <a:t>of radio range. </a:t>
            </a:r>
            <a:r>
              <a:rPr lang="en-US" dirty="0" err="1" smtClean="0"/>
              <a:t>ZigBee</a:t>
            </a:r>
            <a:r>
              <a:rPr lang="en-US" dirty="0" smtClean="0"/>
              <a:t> automatically figures out the best path and so node 1 sends </a:t>
            </a:r>
            <a:r>
              <a:rPr lang="en-US" dirty="0" smtClean="0"/>
              <a:t>the information </a:t>
            </a:r>
            <a:r>
              <a:rPr lang="en-US" dirty="0" smtClean="0"/>
              <a:t>to node 2, which forwards it on to node 3.</a:t>
            </a:r>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a:t>
            </a:r>
            <a:endParaRPr lang="en-US" dirty="0"/>
          </a:p>
        </p:txBody>
      </p:sp>
      <p:sp>
        <p:nvSpPr>
          <p:cNvPr id="3" name="Content Placeholder 2"/>
          <p:cNvSpPr>
            <a:spLocks noGrp="1"/>
          </p:cNvSpPr>
          <p:nvPr>
            <p:ph idx="1"/>
          </p:nvPr>
        </p:nvSpPr>
        <p:spPr/>
        <p:txBody>
          <a:bodyPr/>
          <a:lstStyle/>
          <a:p>
            <a:endParaRPr lang="en-US"/>
          </a:p>
        </p:txBody>
      </p:sp>
      <p:pic>
        <p:nvPicPr>
          <p:cNvPr id="3074" name="Picture 2"/>
          <p:cNvPicPr>
            <a:picLocks noChangeAspect="1" noChangeArrowheads="1"/>
          </p:cNvPicPr>
          <p:nvPr/>
        </p:nvPicPr>
        <p:blipFill>
          <a:blip r:embed="rId2"/>
          <a:srcRect/>
          <a:stretch>
            <a:fillRect/>
          </a:stretch>
        </p:blipFill>
        <p:spPr bwMode="auto">
          <a:xfrm>
            <a:off x="859434" y="1309688"/>
            <a:ext cx="6841529" cy="463391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dirty="0" smtClean="0">
                <a:latin typeface="Times New Roman" pitchFamily="18" charset="0"/>
                <a:cs typeface="Times New Roman" pitchFamily="18" charset="0"/>
              </a:rPr>
              <a:t>The </a:t>
            </a:r>
            <a:r>
              <a:rPr lang="en-US" sz="3600" dirty="0" err="1" smtClean="0">
                <a:latin typeface="Times New Roman" pitchFamily="18" charset="0"/>
                <a:cs typeface="Times New Roman" pitchFamily="18" charset="0"/>
              </a:rPr>
              <a:t>ZigBee</a:t>
            </a:r>
            <a:r>
              <a:rPr lang="en-US" sz="3600" dirty="0" smtClean="0">
                <a:latin typeface="Times New Roman" pitchFamily="18" charset="0"/>
                <a:cs typeface="Times New Roman" pitchFamily="18" charset="0"/>
              </a:rPr>
              <a:t> Alliance Members—Over 200 Companies and </a:t>
            </a:r>
            <a:r>
              <a:rPr lang="en-US" b="1" dirty="0" smtClean="0"/>
              <a:t>Growing!</a:t>
            </a:r>
            <a:endParaRPr lang="en-US" dirty="0"/>
          </a:p>
        </p:txBody>
      </p:sp>
      <p:sp>
        <p:nvSpPr>
          <p:cNvPr id="3" name="Content Placeholder 2"/>
          <p:cNvSpPr>
            <a:spLocks noGrp="1"/>
          </p:cNvSpPr>
          <p:nvPr>
            <p:ph idx="1"/>
          </p:nvPr>
        </p:nvSpPr>
        <p:spPr/>
        <p:txBody>
          <a:bodyPr/>
          <a:lstStyle/>
          <a:p>
            <a:endParaRPr lang="en-US"/>
          </a:p>
        </p:txBody>
      </p:sp>
      <p:pic>
        <p:nvPicPr>
          <p:cNvPr id="4098" name="Picture 2"/>
          <p:cNvPicPr>
            <a:picLocks noChangeAspect="1" noChangeArrowheads="1"/>
          </p:cNvPicPr>
          <p:nvPr/>
        </p:nvPicPr>
        <p:blipFill>
          <a:blip r:embed="rId2"/>
          <a:srcRect/>
          <a:stretch>
            <a:fillRect/>
          </a:stretch>
        </p:blipFill>
        <p:spPr bwMode="auto">
          <a:xfrm>
            <a:off x="642938" y="1328738"/>
            <a:ext cx="7858125" cy="42005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122" name="Picture 2"/>
          <p:cNvPicPr>
            <a:picLocks noChangeAspect="1" noChangeArrowheads="1"/>
          </p:cNvPicPr>
          <p:nvPr/>
        </p:nvPicPr>
        <p:blipFill>
          <a:blip r:embed="rId2"/>
          <a:srcRect/>
          <a:stretch>
            <a:fillRect/>
          </a:stretch>
        </p:blipFill>
        <p:spPr bwMode="auto">
          <a:xfrm>
            <a:off x="914400" y="1524000"/>
            <a:ext cx="7010400" cy="4419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2915</TotalTime>
  <Words>833</Words>
  <Application>Microsoft Office PowerPoint</Application>
  <PresentationFormat>On-screen Show (4:3)</PresentationFormat>
  <Paragraphs>73</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Advanced Microcontroller Bus Architecture</vt:lpstr>
      <vt:lpstr>Objectives of the AMBA specification </vt:lpstr>
      <vt:lpstr>Slide 3</vt:lpstr>
      <vt:lpstr>A typical AMBA-based microcontroller</vt:lpstr>
      <vt:lpstr>The Advanced Microcontroller Bus Architecture (AMBA)</vt:lpstr>
      <vt:lpstr>Bus Transfer steps</vt:lpstr>
      <vt:lpstr>Slide 7</vt:lpstr>
      <vt:lpstr>ZIGbee technology</vt:lpstr>
      <vt:lpstr>Slide 9</vt:lpstr>
      <vt:lpstr>Slide 10</vt:lpstr>
      <vt:lpstr>Slide 11</vt:lpstr>
      <vt:lpstr>Slide 12</vt:lpstr>
      <vt:lpstr>Slide 13</vt:lpstr>
      <vt:lpstr>Slide 14</vt:lpstr>
      <vt:lpstr>Slide 15</vt:lpstr>
      <vt:lpstr>Slide 16</vt:lpstr>
      <vt:lpstr>Zigbee topology</vt:lpstr>
      <vt:lpstr>Application</vt:lpstr>
      <vt:lpstr>The ZigBee Alliance Members—Over 200 Companies and Growing!</vt:lpstr>
      <vt:lpstr>Slide 20</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Microcontroller Bus Architecture</dc:title>
  <dc:creator>staff</dc:creator>
  <cp:lastModifiedBy>staff</cp:lastModifiedBy>
  <cp:revision>170</cp:revision>
  <dcterms:created xsi:type="dcterms:W3CDTF">2006-08-16T00:00:00Z</dcterms:created>
  <dcterms:modified xsi:type="dcterms:W3CDTF">2022-12-07T07:13:14Z</dcterms:modified>
</cp:coreProperties>
</file>