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6"/>
  </p:notes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8" r:id="rId14"/>
    <p:sldId id="279" r:id="rId15"/>
    <p:sldId id="280" r:id="rId16"/>
    <p:sldId id="281" r:id="rId17"/>
    <p:sldId id="282" r:id="rId18"/>
    <p:sldId id="257" r:id="rId19"/>
    <p:sldId id="258" r:id="rId20"/>
    <p:sldId id="260" r:id="rId21"/>
    <p:sldId id="261" r:id="rId22"/>
    <p:sldId id="283" r:id="rId23"/>
    <p:sldId id="284" r:id="rId24"/>
    <p:sldId id="285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0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2DF1B-9BE1-4A8D-AD96-33BF39DA1211}" type="datetimeFigureOut">
              <a:rPr lang="en-US" smtClean="0"/>
              <a:t>8/7/2021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FB5369-BA3B-4D8F-8026-5AB67AE892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2976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B1069-F57D-41F9-B2DD-FA5135F4DB03}" type="datetime1">
              <a:rPr lang="en-US" smtClean="0"/>
              <a:t>8/7/2021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RTOS_LAB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13214-9D8B-46BF-8FDA-D56892954BF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ACB0C-B1BA-48F2-97CE-825D77B474A3}" type="datetime1">
              <a:rPr lang="en-US" smtClean="0"/>
              <a:t>8/7/2021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RTOS_LAB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13214-9D8B-46BF-8FDA-D56892954BF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A5999-8981-4B3A-8BFB-38F92617911D}" type="datetime1">
              <a:rPr lang="en-US" smtClean="0"/>
              <a:t>8/7/2021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RTOS_LAB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13214-9D8B-46BF-8FDA-D56892954BF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5C499-4FCC-41FE-9ECA-8CF5FDB2D688}" type="datetime1">
              <a:rPr lang="en-US" smtClean="0"/>
              <a:t>8/7/2021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RTOS_LAB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13214-9D8B-46BF-8FDA-D56892954BF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C7A67-A0B9-4467-9632-C088BCC68489}" type="datetime1">
              <a:rPr lang="en-US" smtClean="0"/>
              <a:t>8/7/2021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RTOS_LAB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13214-9D8B-46BF-8FDA-D56892954BF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AE3B6-A112-4C63-853E-CF7DA5753510}" type="datetime1">
              <a:rPr lang="en-US" smtClean="0"/>
              <a:t>8/7/2021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RTOS_LAB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13214-9D8B-46BF-8FDA-D56892954BF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F5C6E-832F-4325-941B-053443237EF4}" type="datetime1">
              <a:rPr lang="en-US" smtClean="0"/>
              <a:t>8/7/2021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RTOS_LAB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13214-9D8B-46BF-8FDA-D56892954BF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B6F3C-23A4-4CDB-A9AE-422C802EAB82}" type="datetime1">
              <a:rPr lang="en-US" smtClean="0"/>
              <a:t>8/7/2021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RTOS_LAB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13214-9D8B-46BF-8FDA-D56892954BF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B667D-AAC5-440A-A444-AB2EA64908E4}" type="datetime1">
              <a:rPr lang="en-US" smtClean="0"/>
              <a:t>8/7/2021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RTOS_LAB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13214-9D8B-46BF-8FDA-D56892954BF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22F51-4BCE-451D-94D8-E281B0EB7237}" type="datetime1">
              <a:rPr lang="en-US" smtClean="0"/>
              <a:t>8/7/2021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RTOS_LAB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13214-9D8B-46BF-8FDA-D56892954BF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B0250-BACE-4809-9273-F9692B31A409}" type="datetime1">
              <a:rPr lang="en-US" smtClean="0"/>
              <a:t>8/7/2021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RTOS_LAB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13214-9D8B-46BF-8FDA-D56892954BF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b="5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AC711A-F0D4-451F-AD50-79737E2436FB}" type="datetime1">
              <a:rPr lang="en-US" smtClean="0"/>
              <a:t>8/7/2021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RTOS_LAB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813214-9D8B-46BF-8FDA-D56892954BF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RTC</a:t>
            </a:r>
            <a:br>
              <a:rPr lang="en-US" dirty="0" smtClean="0"/>
            </a:br>
            <a:r>
              <a:rPr lang="en-US" dirty="0" smtClean="0"/>
              <a:t>(REAL TIME </a:t>
            </a:r>
            <a:r>
              <a:rPr lang="en-US" dirty="0" smtClean="0"/>
              <a:t>CLOCK)IN LPC2148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 to RTC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762000" y="1905000"/>
            <a:ext cx="7772400" cy="4572000"/>
          </a:xfrm>
        </p:spPr>
        <p:txBody>
          <a:bodyPr>
            <a:no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2400" dirty="0" smtClean="0"/>
              <a:t>Measures the passage of time to maintain a calendar and clock using counters when the system is ON and optionally when it is OFF.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400" dirty="0" smtClean="0"/>
              <a:t> Ultra Low Power design to support battery powered systems (3.3 V).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400" dirty="0" smtClean="0"/>
              <a:t>Provides Seconds, Minutes, Hours, Day of Month, Month, Year, Day of Week, and Day of Year.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400" dirty="0" smtClean="0"/>
              <a:t>Programmable Reference Clock Divider allows adjustment of the RTC to match various crystal frequencies.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RTOS_LAB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13214-9D8B-46BF-8FDA-D56892954BF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Block diagram of RTC</a:t>
            </a:r>
            <a:endParaRPr lang="en-US" dirty="0"/>
          </a:p>
        </p:txBody>
      </p:sp>
      <p:pic>
        <p:nvPicPr>
          <p:cNvPr id="3074" name="Picture 2" descr="http://www.ustudy.in/sites/default/files/images/RTC%20Architecture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1371600"/>
            <a:ext cx="7543800" cy="5257800"/>
          </a:xfrm>
          <a:prstGeom prst="rect">
            <a:avLst/>
          </a:prstGeom>
          <a:noFill/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RTOS_LAB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13214-9D8B-46BF-8FDA-D56892954BF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dirty="0" smtClean="0"/>
              <a:t>Register Description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2400" dirty="0" smtClean="0"/>
              <a:t> </a:t>
            </a:r>
            <a:r>
              <a:rPr lang="en-US" sz="2400" dirty="0" smtClean="0"/>
              <a:t>Registers are split into four sections by their functionality…</a:t>
            </a:r>
          </a:p>
          <a:p>
            <a:pPr algn="just">
              <a:buNone/>
            </a:pPr>
            <a:endParaRPr lang="en-US" sz="2400" dirty="0" smtClean="0"/>
          </a:p>
          <a:p>
            <a:pPr algn="just">
              <a:buNone/>
            </a:pPr>
            <a:r>
              <a:rPr lang="en-US" sz="2400" dirty="0" smtClean="0"/>
              <a:t>	</a:t>
            </a:r>
            <a:r>
              <a:rPr lang="en-US" sz="2400" dirty="0" err="1" smtClean="0"/>
              <a:t>i</a:t>
            </a:r>
            <a:r>
              <a:rPr lang="en-US" sz="2400" dirty="0" smtClean="0"/>
              <a:t>.  Miscellaneous Register Group (8-reg).</a:t>
            </a:r>
          </a:p>
          <a:p>
            <a:pPr algn="just">
              <a:buNone/>
            </a:pPr>
            <a:r>
              <a:rPr lang="en-US" sz="2400" dirty="0" smtClean="0"/>
              <a:t>	ii. Time Counter Group (8-reg).</a:t>
            </a:r>
          </a:p>
          <a:p>
            <a:pPr algn="just">
              <a:buNone/>
            </a:pPr>
            <a:r>
              <a:rPr lang="en-US" sz="2400" dirty="0" smtClean="0"/>
              <a:t>	iii. Alarm Register Group (8-reg).</a:t>
            </a:r>
          </a:p>
          <a:p>
            <a:pPr algn="just">
              <a:buNone/>
            </a:pPr>
            <a:r>
              <a:rPr lang="en-US" sz="2400" dirty="0" smtClean="0"/>
              <a:t>	iv.  Prescalar register(2-reg).</a:t>
            </a:r>
          </a:p>
          <a:p>
            <a:pPr algn="just">
              <a:buNone/>
            </a:pPr>
            <a:r>
              <a:rPr lang="en-US" sz="2400" dirty="0" smtClean="0"/>
              <a:t>	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RTOS_LAB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13214-9D8B-46BF-8FDA-D56892954BF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Miscellaneous Register Group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38200" y="1524000"/>
            <a:ext cx="7772400" cy="4572000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v"/>
            </a:pPr>
            <a:r>
              <a:rPr lang="en-US" sz="2400" dirty="0" smtClean="0"/>
              <a:t> ILR (Interrupt Location Register)</a:t>
            </a:r>
          </a:p>
          <a:p>
            <a:pPr algn="just">
              <a:buFont typeface="Wingdings" pitchFamily="2" charset="2"/>
              <a:buChar char="v"/>
            </a:pPr>
            <a:r>
              <a:rPr lang="en-US" sz="2400" dirty="0" smtClean="0"/>
              <a:t> CTC (Clock Tick Counter)</a:t>
            </a:r>
          </a:p>
          <a:p>
            <a:pPr algn="just">
              <a:buFont typeface="Wingdings" pitchFamily="2" charset="2"/>
              <a:buChar char="v"/>
            </a:pPr>
            <a:r>
              <a:rPr lang="en-US" sz="2400" dirty="0" smtClean="0"/>
              <a:t> CCR (Clock Control Register)</a:t>
            </a:r>
          </a:p>
          <a:p>
            <a:pPr algn="just">
              <a:buFont typeface="Wingdings" pitchFamily="2" charset="2"/>
              <a:buChar char="v"/>
            </a:pPr>
            <a:r>
              <a:rPr lang="en-US" sz="2400" dirty="0" smtClean="0"/>
              <a:t> CIIR (Clock Increment Interrupt Register)</a:t>
            </a:r>
          </a:p>
          <a:p>
            <a:pPr algn="just">
              <a:buFont typeface="Wingdings" pitchFamily="2" charset="2"/>
              <a:buChar char="v"/>
            </a:pPr>
            <a:r>
              <a:rPr lang="en-US" sz="2400" dirty="0" smtClean="0"/>
              <a:t> AMR (Alarm Mask Register)</a:t>
            </a:r>
          </a:p>
          <a:p>
            <a:pPr algn="just">
              <a:buFont typeface="Wingdings" pitchFamily="2" charset="2"/>
              <a:buChar char="v"/>
            </a:pPr>
            <a:r>
              <a:rPr lang="en-US" sz="2400" dirty="0" smtClean="0"/>
              <a:t> CTIME0 (Consolidated Time Register 0)</a:t>
            </a:r>
          </a:p>
          <a:p>
            <a:pPr algn="just">
              <a:buFont typeface="Wingdings" pitchFamily="2" charset="2"/>
              <a:buChar char="v"/>
            </a:pPr>
            <a:r>
              <a:rPr lang="en-US" sz="2400" dirty="0" smtClean="0"/>
              <a:t> CTIME1 (Consolidated Time Register 1)</a:t>
            </a:r>
          </a:p>
          <a:p>
            <a:pPr algn="just">
              <a:buFont typeface="Wingdings" pitchFamily="2" charset="2"/>
              <a:buChar char="v"/>
            </a:pPr>
            <a:r>
              <a:rPr lang="en-US" sz="2400" dirty="0" smtClean="0"/>
              <a:t> CTIME2 (Consolidated Time Register 2)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RTOS_LAB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13214-9D8B-46BF-8FDA-D56892954BFB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smtClean="0"/>
              <a:t>Interrupt Location Register (ILR)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10000"/>
          </a:bodyPr>
          <a:lstStyle/>
          <a:p>
            <a:pPr algn="just">
              <a:buNone/>
            </a:pPr>
            <a:endParaRPr lang="en-US" dirty="0" smtClean="0"/>
          </a:p>
          <a:p>
            <a:pPr algn="just">
              <a:buFont typeface="Wingdings" pitchFamily="2" charset="2"/>
              <a:buChar char="Ø"/>
            </a:pPr>
            <a:r>
              <a:rPr lang="en-US" dirty="0" smtClean="0"/>
              <a:t> This Register specifies which block is generating interrupt and writing 1 will clear the interrupt.</a:t>
            </a:r>
          </a:p>
          <a:p>
            <a:pPr algn="just">
              <a:buNone/>
            </a:pPr>
            <a:r>
              <a:rPr lang="en-US" dirty="0" smtClean="0"/>
              <a:t>     7             6          5          4            3         2            1           0</a:t>
            </a:r>
          </a:p>
          <a:p>
            <a:pPr algn="just">
              <a:buNone/>
            </a:pPr>
            <a:endParaRPr lang="en-US" b="1" dirty="0" smtClean="0"/>
          </a:p>
          <a:p>
            <a:pPr algn="just">
              <a:buNone/>
            </a:pPr>
            <a:endParaRPr lang="en-US" b="1" dirty="0" smtClean="0"/>
          </a:p>
          <a:p>
            <a:pPr marL="514350" indent="-514350" algn="just">
              <a:buFont typeface="Wingdings" pitchFamily="2" charset="2"/>
              <a:buChar char="Ø"/>
            </a:pPr>
            <a:r>
              <a:rPr lang="en-US" b="1" dirty="0" smtClean="0"/>
              <a:t>RTCALF : </a:t>
            </a:r>
            <a:r>
              <a:rPr lang="en-US" dirty="0" smtClean="0"/>
              <a:t>Clears the interrupt generated by Alarm </a:t>
            </a:r>
          </a:p>
          <a:p>
            <a:pPr marL="514350" indent="-514350" algn="just">
              <a:buFont typeface="Wingdings" pitchFamily="2" charset="2"/>
              <a:buChar char="Ø"/>
            </a:pPr>
            <a:r>
              <a:rPr lang="en-US" b="1" dirty="0" smtClean="0"/>
              <a:t>RTCCIF : </a:t>
            </a:r>
            <a:r>
              <a:rPr lang="en-US" dirty="0" smtClean="0"/>
              <a:t>Clears the interrupt generated by Counter Increment Interrupt</a:t>
            </a:r>
            <a:endParaRPr lang="en-US" b="1" dirty="0" smtClean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66800" y="3352800"/>
          <a:ext cx="7696200" cy="4572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962025"/>
                <a:gridCol w="962025"/>
                <a:gridCol w="962025"/>
                <a:gridCol w="962025"/>
                <a:gridCol w="876300"/>
                <a:gridCol w="694353"/>
                <a:gridCol w="1315422"/>
                <a:gridCol w="962025"/>
              </a:tblGrid>
              <a:tr h="4572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RTCALF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RTCCIF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RTOS_LAB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13214-9D8B-46BF-8FDA-D56892954BFB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Clock Tick Counter (CTC)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b="1" dirty="0" smtClean="0"/>
              <a:t>Clock </a:t>
            </a:r>
            <a:r>
              <a:rPr lang="en-US" sz="2400" b="1" dirty="0" smtClean="0"/>
              <a:t>Tick Counter : </a:t>
            </a:r>
            <a:endParaRPr lang="en-US" sz="2400" b="1" dirty="0" smtClean="0"/>
          </a:p>
          <a:p>
            <a:pPr marL="0" indent="0" algn="just">
              <a:buNone/>
            </a:pPr>
            <a:r>
              <a:rPr lang="en-US" sz="2400" dirty="0" smtClean="0"/>
              <a:t>This </a:t>
            </a:r>
            <a:r>
              <a:rPr lang="en-US" sz="2400" dirty="0" smtClean="0"/>
              <a:t>register act as counter register, this register counts 32,768 clocks per second (This is variable based on the </a:t>
            </a:r>
            <a:r>
              <a:rPr lang="en-US" sz="2400" dirty="0" err="1" smtClean="0"/>
              <a:t>prescaler</a:t>
            </a:r>
            <a:r>
              <a:rPr lang="en-US" sz="2400" dirty="0" smtClean="0"/>
              <a:t> value)</a:t>
            </a:r>
            <a:r>
              <a:rPr lang="en-US" sz="2400" b="1" dirty="0" smtClean="0"/>
              <a:t>. </a:t>
            </a:r>
          </a:p>
          <a:p>
            <a:pPr algn="just">
              <a:buNone/>
            </a:pP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RTOS_LAB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13214-9D8B-46BF-8FDA-D56892954BFB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0"/>
            <a:ext cx="7772400" cy="1143000"/>
          </a:xfrm>
        </p:spPr>
        <p:txBody>
          <a:bodyPr>
            <a:normAutofit/>
          </a:bodyPr>
          <a:lstStyle/>
          <a:p>
            <a:pPr algn="ctr"/>
            <a:r>
              <a:rPr lang="en-US" dirty="0" smtClean="0"/>
              <a:t>Clock Control Register (CCR)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38200" y="1371600"/>
            <a:ext cx="7772400" cy="5334000"/>
          </a:xfrm>
        </p:spPr>
        <p:txBody>
          <a:bodyPr>
            <a:no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2400" b="1" dirty="0" smtClean="0"/>
              <a:t> </a:t>
            </a:r>
            <a:r>
              <a:rPr lang="en-US" sz="2400" dirty="0" smtClean="0"/>
              <a:t>These registers controls the RTC </a:t>
            </a:r>
          </a:p>
          <a:p>
            <a:pPr algn="just">
              <a:buNone/>
            </a:pPr>
            <a:r>
              <a:rPr lang="en-US" sz="2400" b="1" dirty="0" smtClean="0"/>
              <a:t>          7        6       5      4        3              2           1           0</a:t>
            </a:r>
          </a:p>
          <a:p>
            <a:pPr algn="just">
              <a:buNone/>
            </a:pPr>
            <a:endParaRPr lang="en-US" sz="2400" b="1" dirty="0" smtClean="0"/>
          </a:p>
          <a:p>
            <a:pPr algn="just">
              <a:buNone/>
            </a:pPr>
            <a:endParaRPr lang="en-US" sz="2400" b="1" dirty="0" smtClean="0"/>
          </a:p>
          <a:p>
            <a:pPr algn="just">
              <a:buFont typeface="Wingdings" pitchFamily="2" charset="2"/>
              <a:buChar char="Ø"/>
            </a:pPr>
            <a:r>
              <a:rPr lang="en-US" sz="2400" b="1" dirty="0" smtClean="0"/>
              <a:t> CLKEN:</a:t>
            </a:r>
            <a:r>
              <a:rPr lang="en-US" sz="2400" dirty="0" smtClean="0"/>
              <a:t> Writing logical One will enable the clock for RTC. </a:t>
            </a:r>
            <a:r>
              <a:rPr lang="en-US" sz="2400" dirty="0" smtClean="0"/>
              <a:t>	      And  </a:t>
            </a:r>
            <a:r>
              <a:rPr lang="en-US" sz="2400" dirty="0" smtClean="0"/>
              <a:t>Zero on this bit will disable RTC. 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400" b="1" dirty="0" smtClean="0"/>
              <a:t>CTCRST:</a:t>
            </a:r>
            <a:r>
              <a:rPr lang="en-US" sz="2400" dirty="0" smtClean="0"/>
              <a:t> Writing logical one on this bit will clear CTC </a:t>
            </a:r>
            <a:r>
              <a:rPr lang="en-US" sz="2400" dirty="0" smtClean="0"/>
              <a:t>		       register</a:t>
            </a:r>
            <a:r>
              <a:rPr lang="en-US" sz="2400" dirty="0" smtClean="0"/>
              <a:t>. CTC will clear till this bit is one.</a:t>
            </a:r>
            <a:r>
              <a:rPr lang="en-US" sz="2400" b="1" dirty="0" smtClean="0"/>
              <a:t> 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400" b="1" dirty="0" smtClean="0"/>
              <a:t>CTTEST: </a:t>
            </a:r>
            <a:r>
              <a:rPr lang="en-US" sz="2400" dirty="0" smtClean="0"/>
              <a:t>This bit enables test. These bits must be zero </a:t>
            </a:r>
            <a:r>
              <a:rPr lang="en-US" sz="2400" dirty="0" smtClean="0"/>
              <a:t>  	  	       during </a:t>
            </a:r>
            <a:r>
              <a:rPr lang="en-US" sz="2400" dirty="0" smtClean="0"/>
              <a:t>normal operation. 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400" b="1" dirty="0" smtClean="0"/>
              <a:t>CLKSRC: </a:t>
            </a:r>
            <a:r>
              <a:rPr lang="en-US" sz="2400" dirty="0" smtClean="0"/>
              <a:t>When this bit is one it takes external oscillator as </a:t>
            </a:r>
            <a:r>
              <a:rPr lang="en-US" sz="2400" dirty="0" smtClean="0"/>
              <a:t>   	clock </a:t>
            </a:r>
            <a:r>
              <a:rPr lang="en-US" sz="2400" dirty="0" smtClean="0"/>
              <a:t>source and zero means it takes the internal </a:t>
            </a:r>
            <a:r>
              <a:rPr lang="en-US" sz="2400" dirty="0" smtClean="0"/>
              <a:t>	clock </a:t>
            </a:r>
            <a:r>
              <a:rPr lang="en-US" sz="2400" dirty="0" smtClean="0"/>
              <a:t>source.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447800" y="2362200"/>
          <a:ext cx="66294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5800"/>
                <a:gridCol w="685800"/>
                <a:gridCol w="609600"/>
                <a:gridCol w="609600"/>
                <a:gridCol w="1066800"/>
                <a:gridCol w="990600"/>
                <a:gridCol w="990600"/>
                <a:gridCol w="990600"/>
              </a:tblGrid>
              <a:tr h="4572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CLKSRC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CTTEST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CTCRST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CLKEN</a:t>
                      </a:r>
                      <a:endParaRPr lang="en-US" b="1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RTOS_LAB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13214-9D8B-46BF-8FDA-D56892954BFB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 smtClean="0"/>
              <a:t>Counter Increment Interrupt Register (CIIR)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1600200"/>
            <a:ext cx="8534400" cy="4495800"/>
          </a:xfrm>
        </p:spPr>
        <p:txBody>
          <a:bodyPr>
            <a:noAutofit/>
          </a:bodyPr>
          <a:lstStyle/>
          <a:p>
            <a:pPr algn="just">
              <a:buFont typeface="Wingdings" pitchFamily="2" charset="2"/>
              <a:buChar char="v"/>
            </a:pPr>
            <a:r>
              <a:rPr lang="en-US" sz="2400" dirty="0" smtClean="0"/>
              <a:t>This register enables interrupt when a counter is incremented and this interrupt can be cleared by writing logical 1 to ILR 0th bit (</a:t>
            </a:r>
            <a:r>
              <a:rPr lang="en-US" sz="2400" b="1" dirty="0" smtClean="0"/>
              <a:t>RTCCIF).</a:t>
            </a:r>
          </a:p>
          <a:p>
            <a:pPr algn="just">
              <a:buNone/>
            </a:pPr>
            <a:r>
              <a:rPr lang="en-US" sz="2400" dirty="0" smtClean="0"/>
              <a:t>    7    </a:t>
            </a:r>
            <a:r>
              <a:rPr lang="en-US" sz="2400" dirty="0" smtClean="0"/>
              <a:t>      </a:t>
            </a:r>
            <a:r>
              <a:rPr lang="en-US" sz="2400" dirty="0" smtClean="0"/>
              <a:t>6            5  </a:t>
            </a:r>
            <a:r>
              <a:rPr lang="en-US" sz="2400" dirty="0" smtClean="0"/>
              <a:t>        </a:t>
            </a:r>
            <a:r>
              <a:rPr lang="en-US" sz="2400" dirty="0" smtClean="0"/>
              <a:t>4   </a:t>
            </a:r>
            <a:r>
              <a:rPr lang="en-US" sz="2400" dirty="0" smtClean="0"/>
              <a:t>     </a:t>
            </a:r>
            <a:r>
              <a:rPr lang="en-US" sz="2400" dirty="0" smtClean="0"/>
              <a:t>3             2            1  </a:t>
            </a:r>
            <a:r>
              <a:rPr lang="en-US" sz="2400" dirty="0" smtClean="0"/>
              <a:t>        </a:t>
            </a:r>
            <a:r>
              <a:rPr lang="en-US" sz="2400" dirty="0" smtClean="0"/>
              <a:t>0</a:t>
            </a:r>
          </a:p>
          <a:p>
            <a:pPr algn="just">
              <a:buNone/>
            </a:pPr>
            <a:endParaRPr lang="en-US" sz="2400" dirty="0" smtClean="0"/>
          </a:p>
          <a:p>
            <a:pPr algn="just">
              <a:buNone/>
            </a:pPr>
            <a:endParaRPr lang="en-US" sz="2400" b="1" dirty="0" smtClean="0"/>
          </a:p>
          <a:p>
            <a:pPr algn="just">
              <a:buNone/>
            </a:pPr>
            <a:r>
              <a:rPr lang="en-US" sz="2400" b="1" dirty="0" smtClean="0"/>
              <a:t>BIT </a:t>
            </a:r>
            <a:r>
              <a:rPr lang="en-US" sz="2400" b="1" dirty="0" smtClean="0"/>
              <a:t>0: IMSEC: </a:t>
            </a:r>
            <a:r>
              <a:rPr lang="en-US" sz="2400" dirty="0" smtClean="0"/>
              <a:t>Logical one on this bit will generate interrupt for increment in second value.</a:t>
            </a:r>
          </a:p>
          <a:p>
            <a:pPr algn="just">
              <a:buNone/>
            </a:pPr>
            <a:r>
              <a:rPr lang="en-US" sz="2400" b="1" dirty="0" smtClean="0"/>
              <a:t>BIT 1: IMMIN: </a:t>
            </a:r>
            <a:r>
              <a:rPr lang="en-US" sz="2400" dirty="0" smtClean="0"/>
              <a:t>Logical one on this bit will generate interrupt for increment in Minute value.</a:t>
            </a:r>
            <a:endParaRPr lang="en-US" sz="24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52400" y="3352800"/>
          <a:ext cx="87630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5375"/>
                <a:gridCol w="1095375"/>
                <a:gridCol w="1095375"/>
                <a:gridCol w="1095375"/>
                <a:gridCol w="1095375"/>
                <a:gridCol w="1188997"/>
                <a:gridCol w="1001753"/>
                <a:gridCol w="1095375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IMYEAR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IMMON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IMDOY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IMDOW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IMDOM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IMHOUR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IMMIN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IMSEC</a:t>
                      </a:r>
                      <a:endParaRPr lang="en-US" b="1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RTOS_LAB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13214-9D8B-46BF-8FDA-D56892954BFB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CONTND</a:t>
            </a:r>
            <a:r>
              <a:rPr lang="en-US" dirty="0" smtClean="0"/>
              <a:t>…..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06963"/>
          </a:xfrm>
        </p:spPr>
        <p:txBody>
          <a:bodyPr>
            <a:noAutofit/>
          </a:bodyPr>
          <a:lstStyle/>
          <a:p>
            <a:pPr algn="just">
              <a:buNone/>
            </a:pPr>
            <a:r>
              <a:rPr lang="en-US" sz="2400" b="1" dirty="0" smtClean="0"/>
              <a:t>BIT 2: IMHOUR: </a:t>
            </a:r>
            <a:r>
              <a:rPr lang="en-US" sz="2400" dirty="0" smtClean="0"/>
              <a:t>Logical one on this bit will generate interrupt for </a:t>
            </a:r>
            <a:r>
              <a:rPr lang="en-US" sz="2400" dirty="0" smtClean="0"/>
              <a:t>		   increment </a:t>
            </a:r>
            <a:r>
              <a:rPr lang="en-US" sz="2400" dirty="0" smtClean="0"/>
              <a:t>in hour value</a:t>
            </a:r>
          </a:p>
          <a:p>
            <a:pPr algn="just">
              <a:buNone/>
            </a:pPr>
            <a:r>
              <a:rPr lang="en-US" sz="2400" b="1" dirty="0" smtClean="0"/>
              <a:t>BIT 3: IMDOM:</a:t>
            </a:r>
            <a:r>
              <a:rPr lang="en-US" sz="2400" dirty="0" smtClean="0"/>
              <a:t> Logical one on this bit will generate interrupt for </a:t>
            </a:r>
            <a:r>
              <a:rPr lang="en-US" sz="2400" dirty="0" smtClean="0"/>
              <a:t>		  increment </a:t>
            </a:r>
            <a:r>
              <a:rPr lang="en-US" sz="2400" dirty="0" smtClean="0"/>
              <a:t>in day of month value </a:t>
            </a:r>
          </a:p>
          <a:p>
            <a:pPr algn="just">
              <a:buNone/>
            </a:pPr>
            <a:r>
              <a:rPr lang="en-US" sz="2400" b="1" dirty="0" smtClean="0"/>
              <a:t>BIT4:  IMDOW: </a:t>
            </a:r>
            <a:r>
              <a:rPr lang="en-US" sz="2400" dirty="0" smtClean="0"/>
              <a:t>Logical one on this bit will generate interrupt for </a:t>
            </a:r>
            <a:r>
              <a:rPr lang="en-US" sz="2400" dirty="0" smtClean="0"/>
              <a:t>		  increment </a:t>
            </a:r>
            <a:r>
              <a:rPr lang="en-US" sz="2400" dirty="0" smtClean="0"/>
              <a:t>in day of week value</a:t>
            </a:r>
          </a:p>
          <a:p>
            <a:pPr algn="just">
              <a:buNone/>
            </a:pPr>
            <a:r>
              <a:rPr lang="en-US" sz="2400" b="1" dirty="0" smtClean="0"/>
              <a:t>BIT5: IMDOY: </a:t>
            </a:r>
            <a:r>
              <a:rPr lang="en-US" sz="2400" dirty="0" smtClean="0"/>
              <a:t>Logical one on this bit will generate interrupt for </a:t>
            </a:r>
            <a:r>
              <a:rPr lang="en-US" sz="2400" dirty="0" smtClean="0"/>
              <a:t>   		increment </a:t>
            </a:r>
            <a:r>
              <a:rPr lang="en-US" sz="2400" dirty="0" smtClean="0"/>
              <a:t>in s day of year value</a:t>
            </a:r>
            <a:r>
              <a:rPr lang="en-US" sz="2400" b="1" dirty="0" smtClean="0"/>
              <a:t> </a:t>
            </a:r>
          </a:p>
          <a:p>
            <a:pPr algn="just">
              <a:buNone/>
            </a:pPr>
            <a:r>
              <a:rPr lang="en-US" sz="2400" b="1" dirty="0" smtClean="0"/>
              <a:t>BIT 6: IMMON: </a:t>
            </a:r>
            <a:r>
              <a:rPr lang="en-US" sz="2400" dirty="0" smtClean="0"/>
              <a:t>Logical one on this bit will generate interrupt for </a:t>
            </a:r>
            <a:r>
              <a:rPr lang="en-US" sz="2400" dirty="0" smtClean="0"/>
              <a:t>		  increment </a:t>
            </a:r>
            <a:r>
              <a:rPr lang="en-US" sz="2400" dirty="0" smtClean="0"/>
              <a:t>in month value</a:t>
            </a:r>
            <a:r>
              <a:rPr lang="en-US" sz="2400" b="1" dirty="0" smtClean="0"/>
              <a:t> </a:t>
            </a:r>
          </a:p>
          <a:p>
            <a:pPr algn="just">
              <a:buNone/>
            </a:pPr>
            <a:r>
              <a:rPr lang="en-US" sz="2400" b="1" dirty="0" smtClean="0"/>
              <a:t>BIT 7: IMYEAR: </a:t>
            </a:r>
            <a:r>
              <a:rPr lang="en-US" sz="2400" dirty="0" smtClean="0"/>
              <a:t>Logical one on this bit will generate interrupt for </a:t>
            </a:r>
            <a:r>
              <a:rPr lang="en-US" sz="2400" dirty="0" smtClean="0"/>
              <a:t>		increment </a:t>
            </a:r>
            <a:r>
              <a:rPr lang="en-US" sz="2400" dirty="0" smtClean="0"/>
              <a:t>in year value</a:t>
            </a:r>
            <a:r>
              <a:rPr lang="en-US" sz="2400" b="1" dirty="0" smtClean="0"/>
              <a:t> </a:t>
            </a:r>
            <a:endParaRPr lang="en-US" sz="2400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RTOS_LAB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13214-9D8B-46BF-8FDA-D56892954BFB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Alarm Mask Register (AMR)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81000" y="1447800"/>
            <a:ext cx="8458200" cy="4572000"/>
          </a:xfrm>
        </p:spPr>
        <p:txBody>
          <a:bodyPr>
            <a:normAutofit lnSpcReduction="10000"/>
          </a:bodyPr>
          <a:lstStyle/>
          <a:p>
            <a:pPr algn="just">
              <a:buFont typeface="Wingdings" pitchFamily="2" charset="2"/>
              <a:buChar char="v"/>
            </a:pPr>
            <a:r>
              <a:rPr lang="en-US" sz="2400" dirty="0" smtClean="0"/>
              <a:t> This register is used to enable/disable corresponding interrupt generate because of the value present in the Alarms </a:t>
            </a:r>
            <a:r>
              <a:rPr lang="en-US" sz="2400" dirty="0" smtClean="0"/>
              <a:t>registers.</a:t>
            </a:r>
          </a:p>
          <a:p>
            <a:pPr marL="0" indent="0" algn="just">
              <a:buNone/>
            </a:pPr>
            <a:r>
              <a:rPr lang="en-US" sz="2400" dirty="0" smtClean="0"/>
              <a:t>       7             6            5        4       3          2            1                0</a:t>
            </a:r>
          </a:p>
          <a:p>
            <a:pPr algn="just">
              <a:buNone/>
            </a:pPr>
            <a:endParaRPr lang="en-US" sz="2400" dirty="0" smtClean="0"/>
          </a:p>
          <a:p>
            <a:pPr algn="just">
              <a:buNone/>
            </a:pPr>
            <a:endParaRPr lang="en-US" sz="2400" dirty="0" smtClean="0"/>
          </a:p>
          <a:p>
            <a:pPr algn="just">
              <a:buNone/>
            </a:pPr>
            <a:endParaRPr lang="en-US" sz="2400" b="1" dirty="0" smtClean="0"/>
          </a:p>
          <a:p>
            <a:pPr algn="just">
              <a:buNone/>
            </a:pPr>
            <a:r>
              <a:rPr lang="en-US" sz="2400" b="1" dirty="0" smtClean="0"/>
              <a:t>BIT0</a:t>
            </a:r>
            <a:r>
              <a:rPr lang="en-US" sz="2400" b="1" dirty="0" smtClean="0"/>
              <a:t>: AMRSEC: </a:t>
            </a:r>
            <a:r>
              <a:rPr lang="en-US" sz="2400" dirty="0" smtClean="0"/>
              <a:t>When this bit is written one, the second value will </a:t>
            </a:r>
            <a:r>
              <a:rPr lang="en-US" sz="2400" dirty="0" smtClean="0"/>
              <a:t>			not </a:t>
            </a:r>
            <a:r>
              <a:rPr lang="en-US" sz="2400" dirty="0" smtClean="0"/>
              <a:t>compared for alarm.</a:t>
            </a:r>
          </a:p>
          <a:p>
            <a:pPr algn="just">
              <a:buNone/>
            </a:pPr>
            <a:r>
              <a:rPr lang="en-US" sz="2400" b="1" dirty="0" smtClean="0"/>
              <a:t>BIT1:</a:t>
            </a:r>
            <a:r>
              <a:rPr lang="en-US" sz="2400" dirty="0" smtClean="0"/>
              <a:t> </a:t>
            </a:r>
            <a:r>
              <a:rPr lang="en-US" sz="2400" b="1" dirty="0" smtClean="0"/>
              <a:t>AMRMIN: </a:t>
            </a:r>
            <a:r>
              <a:rPr lang="en-US" sz="2400" dirty="0" smtClean="0"/>
              <a:t>When this bit is written one, the minute value will </a:t>
            </a:r>
            <a:r>
              <a:rPr lang="en-US" sz="2400" dirty="0" smtClean="0"/>
              <a:t>		   not </a:t>
            </a:r>
            <a:r>
              <a:rPr lang="en-US" sz="2400" dirty="0" smtClean="0"/>
              <a:t>compared for alarm.</a:t>
            </a:r>
          </a:p>
          <a:p>
            <a:pPr algn="just">
              <a:buNone/>
            </a:pPr>
            <a:r>
              <a:rPr lang="en-US" sz="2400" b="1" dirty="0" smtClean="0"/>
              <a:t>BIT2:</a:t>
            </a:r>
            <a:r>
              <a:rPr lang="en-US" sz="2400" dirty="0" smtClean="0"/>
              <a:t> </a:t>
            </a:r>
            <a:r>
              <a:rPr lang="en-US" sz="2400" b="1" dirty="0" smtClean="0"/>
              <a:t>AMRHOUR: </a:t>
            </a:r>
            <a:r>
              <a:rPr lang="en-US" sz="2400" dirty="0" smtClean="0"/>
              <a:t>When this bit is written one, the hour value will </a:t>
            </a:r>
            <a:r>
              <a:rPr lang="en-US" sz="2400" dirty="0" smtClean="0"/>
              <a:t>			   not </a:t>
            </a:r>
            <a:r>
              <a:rPr lang="en-US" sz="2400" dirty="0" smtClean="0"/>
              <a:t>compared for alarm.</a:t>
            </a:r>
          </a:p>
          <a:p>
            <a:pPr algn="just">
              <a:buNone/>
            </a:pPr>
            <a:endParaRPr lang="en-US" sz="24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3124200"/>
          <a:ext cx="8001000" cy="64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00125"/>
                <a:gridCol w="1000125"/>
                <a:gridCol w="1000125"/>
                <a:gridCol w="1000125"/>
                <a:gridCol w="1000125"/>
                <a:gridCol w="1000125"/>
                <a:gridCol w="1000125"/>
                <a:gridCol w="1000125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AMR</a:t>
                      </a:r>
                    </a:p>
                    <a:p>
                      <a:pPr algn="ctr"/>
                      <a:r>
                        <a:rPr lang="en-US" b="1" dirty="0" smtClean="0"/>
                        <a:t>YEAR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AMR</a:t>
                      </a:r>
                    </a:p>
                    <a:p>
                      <a:pPr algn="ctr"/>
                      <a:r>
                        <a:rPr lang="en-US" b="1" dirty="0" smtClean="0"/>
                        <a:t>MON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AMR</a:t>
                      </a:r>
                    </a:p>
                    <a:p>
                      <a:pPr algn="ctr"/>
                      <a:r>
                        <a:rPr lang="en-US" b="1" dirty="0" smtClean="0"/>
                        <a:t>DOY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AMR</a:t>
                      </a:r>
                    </a:p>
                    <a:p>
                      <a:pPr algn="ctr"/>
                      <a:r>
                        <a:rPr lang="en-US" b="1" dirty="0" smtClean="0"/>
                        <a:t>DOW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AMR</a:t>
                      </a:r>
                    </a:p>
                    <a:p>
                      <a:pPr algn="ctr"/>
                      <a:r>
                        <a:rPr lang="en-US" b="1" dirty="0" smtClean="0"/>
                        <a:t>DOM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AMR</a:t>
                      </a:r>
                    </a:p>
                    <a:p>
                      <a:pPr algn="ctr"/>
                      <a:r>
                        <a:rPr lang="en-US" b="1" dirty="0" smtClean="0"/>
                        <a:t>HOUR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AMR</a:t>
                      </a:r>
                    </a:p>
                    <a:p>
                      <a:pPr algn="ctr"/>
                      <a:r>
                        <a:rPr lang="en-US" b="1" dirty="0" smtClean="0"/>
                        <a:t>MIN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AMRSEC</a:t>
                      </a:r>
                      <a:endParaRPr lang="en-US" b="1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RTOS_LAB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13214-9D8B-46BF-8FDA-D56892954BFB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CNTND…..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just">
              <a:buNone/>
            </a:pPr>
            <a:r>
              <a:rPr lang="en-US" sz="2400" b="1" dirty="0" smtClean="0"/>
              <a:t>BIT3: AMRDOM: </a:t>
            </a:r>
            <a:r>
              <a:rPr lang="en-US" sz="2400" dirty="0" smtClean="0"/>
              <a:t>When this bit is written one, the day of month </a:t>
            </a:r>
            <a:r>
              <a:rPr lang="en-US" sz="2400" dirty="0" smtClean="0"/>
              <a:t>		     value </a:t>
            </a:r>
            <a:r>
              <a:rPr lang="en-US" sz="2400" dirty="0" smtClean="0"/>
              <a:t>will not compared for alarm</a:t>
            </a:r>
          </a:p>
          <a:p>
            <a:pPr algn="just">
              <a:buNone/>
            </a:pPr>
            <a:r>
              <a:rPr lang="en-US" sz="2400" b="1" dirty="0" smtClean="0"/>
              <a:t>BIT4: AMRDOW:</a:t>
            </a:r>
            <a:r>
              <a:rPr lang="en-US" sz="2400" dirty="0" smtClean="0"/>
              <a:t> When this bit is written one, the day of the </a:t>
            </a:r>
            <a:r>
              <a:rPr lang="en-US" sz="2400" dirty="0" smtClean="0"/>
              <a:t>		       week </a:t>
            </a:r>
            <a:r>
              <a:rPr lang="en-US" sz="2400" dirty="0" smtClean="0"/>
              <a:t>value will not compared for alarm </a:t>
            </a:r>
          </a:p>
          <a:p>
            <a:pPr algn="just">
              <a:buNone/>
            </a:pPr>
            <a:r>
              <a:rPr lang="en-US" sz="2400" b="1" dirty="0" smtClean="0"/>
              <a:t>BIT5:AMRDOY: </a:t>
            </a:r>
            <a:r>
              <a:rPr lang="en-US" sz="2400" dirty="0" smtClean="0"/>
              <a:t>When this bit is written one, the day of the year </a:t>
            </a:r>
            <a:r>
              <a:rPr lang="en-US" sz="2400" dirty="0" smtClean="0"/>
              <a:t>  		  value </a:t>
            </a:r>
            <a:r>
              <a:rPr lang="en-US" sz="2400" dirty="0" smtClean="0"/>
              <a:t>will not compared for alarm</a:t>
            </a:r>
            <a:r>
              <a:rPr lang="en-US" sz="2400" b="1" dirty="0" smtClean="0"/>
              <a:t> </a:t>
            </a:r>
          </a:p>
          <a:p>
            <a:pPr algn="just">
              <a:buNone/>
            </a:pPr>
            <a:r>
              <a:rPr lang="en-US" sz="2400" b="1" dirty="0" smtClean="0"/>
              <a:t>BIT6:AMRMON: </a:t>
            </a:r>
            <a:r>
              <a:rPr lang="en-US" sz="2400" dirty="0" smtClean="0"/>
              <a:t>When this bit is written one, the month value </a:t>
            </a:r>
            <a:r>
              <a:rPr lang="en-US" sz="2400" dirty="0" smtClean="0"/>
              <a:t>		    will </a:t>
            </a:r>
            <a:r>
              <a:rPr lang="en-US" sz="2400" dirty="0" smtClean="0"/>
              <a:t>not compared for alarm </a:t>
            </a:r>
          </a:p>
          <a:p>
            <a:pPr algn="just">
              <a:buNone/>
            </a:pPr>
            <a:r>
              <a:rPr lang="en-US" sz="2400" b="1" dirty="0" smtClean="0"/>
              <a:t>BIT7:AMRYEAR: </a:t>
            </a:r>
            <a:r>
              <a:rPr lang="en-US" sz="2400" dirty="0" smtClean="0"/>
              <a:t>When this bit is written one, the year value will </a:t>
            </a:r>
            <a:r>
              <a:rPr lang="en-US" sz="2400" dirty="0" smtClean="0"/>
              <a:t>		   not </a:t>
            </a:r>
            <a:r>
              <a:rPr lang="en-US" sz="2400" dirty="0" smtClean="0"/>
              <a:t>compared for alarm 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RTOS_LAB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13214-9D8B-46BF-8FDA-D56892954BFB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Alarm Register group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b="1" dirty="0" smtClean="0"/>
              <a:t>Name of the </a:t>
            </a:r>
          </a:p>
          <a:p>
            <a:pPr>
              <a:buNone/>
            </a:pPr>
            <a:r>
              <a:rPr lang="en-US" b="1" dirty="0" smtClean="0"/>
              <a:t>register 	Size 	Description 	</a:t>
            </a:r>
          </a:p>
          <a:p>
            <a:pPr>
              <a:buNone/>
            </a:pPr>
            <a:r>
              <a:rPr lang="en-US" dirty="0" smtClean="0"/>
              <a:t>ALSEC 	              6 	Contains alarm value of second 	</a:t>
            </a:r>
          </a:p>
          <a:p>
            <a:pPr>
              <a:buNone/>
            </a:pPr>
            <a:r>
              <a:rPr lang="en-US" dirty="0" smtClean="0"/>
              <a:t>ALMIN	 </a:t>
            </a:r>
            <a:r>
              <a:rPr lang="en-US" dirty="0" smtClean="0"/>
              <a:t>	6 	</a:t>
            </a:r>
            <a:r>
              <a:rPr lang="en-US" dirty="0" smtClean="0"/>
              <a:t>Contains </a:t>
            </a:r>
            <a:r>
              <a:rPr lang="en-US" dirty="0" smtClean="0"/>
              <a:t>alarm value of minute 	</a:t>
            </a:r>
          </a:p>
          <a:p>
            <a:pPr>
              <a:buNone/>
            </a:pPr>
            <a:r>
              <a:rPr lang="en-US" dirty="0" smtClean="0"/>
              <a:t>ALHOUR 	5 	Contains alarm value of hour 	</a:t>
            </a:r>
          </a:p>
          <a:p>
            <a:pPr>
              <a:buNone/>
            </a:pPr>
            <a:r>
              <a:rPr lang="en-US" dirty="0" smtClean="0"/>
              <a:t>ALDOM 	5 	Contains alarm value of day of the </a:t>
            </a:r>
            <a:r>
              <a:rPr lang="en-US" dirty="0" smtClean="0"/>
              <a:t>month </a:t>
            </a:r>
          </a:p>
          <a:p>
            <a:pPr>
              <a:buNone/>
            </a:pPr>
            <a:r>
              <a:rPr lang="en-US" dirty="0" smtClean="0"/>
              <a:t>ALDOW 	3 	Contains alarm value of day of the week</a:t>
            </a:r>
          </a:p>
          <a:p>
            <a:pPr>
              <a:buNone/>
            </a:pPr>
            <a:r>
              <a:rPr lang="en-US" dirty="0" smtClean="0"/>
              <a:t>ALDOY </a:t>
            </a:r>
            <a:r>
              <a:rPr lang="en-US" dirty="0" smtClean="0"/>
              <a:t>	</a:t>
            </a:r>
            <a:r>
              <a:rPr lang="en-US" dirty="0" smtClean="0"/>
              <a:t>	9 </a:t>
            </a:r>
            <a:r>
              <a:rPr lang="en-US" dirty="0" smtClean="0"/>
              <a:t>	Contains alarm value of day of the year 	</a:t>
            </a:r>
          </a:p>
          <a:p>
            <a:pPr>
              <a:buNone/>
            </a:pPr>
            <a:r>
              <a:rPr lang="en-US" dirty="0" smtClean="0"/>
              <a:t>ALMONTH 	4 	Contains alarm value of the month 	</a:t>
            </a:r>
          </a:p>
          <a:p>
            <a:pPr>
              <a:buNone/>
            </a:pPr>
            <a:r>
              <a:rPr lang="en-US" dirty="0" smtClean="0"/>
              <a:t>ALYEAR	 </a:t>
            </a:r>
            <a:r>
              <a:rPr lang="en-US" dirty="0" smtClean="0"/>
              <a:t>	12 	Contains alarm value of the year 	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RTOS_LAB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13214-9D8B-46BF-8FDA-D56892954BFB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Time Counter Register Group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b="1" dirty="0" smtClean="0"/>
              <a:t>Name of</a:t>
            </a:r>
          </a:p>
          <a:p>
            <a:pPr>
              <a:buNone/>
            </a:pPr>
            <a:r>
              <a:rPr lang="en-US" b="1" dirty="0" smtClean="0"/>
              <a:t> the register 	Size 	Description 	</a:t>
            </a:r>
          </a:p>
          <a:p>
            <a:pPr>
              <a:buNone/>
            </a:pPr>
            <a:r>
              <a:rPr lang="en-US" dirty="0" smtClean="0"/>
              <a:t>SEC 	             6 	 Contains value of second 	</a:t>
            </a:r>
          </a:p>
          <a:p>
            <a:pPr>
              <a:buNone/>
            </a:pPr>
            <a:r>
              <a:rPr lang="en-US" dirty="0" smtClean="0"/>
              <a:t>MIN 	             6 	 Contains value of minute 	</a:t>
            </a:r>
          </a:p>
          <a:p>
            <a:pPr>
              <a:buNone/>
            </a:pPr>
            <a:r>
              <a:rPr lang="en-US" dirty="0" smtClean="0"/>
              <a:t>HOUR 	</a:t>
            </a:r>
            <a:r>
              <a:rPr lang="en-US" dirty="0" smtClean="0"/>
              <a:t>	 </a:t>
            </a:r>
            <a:r>
              <a:rPr lang="en-US" dirty="0" smtClean="0"/>
              <a:t>5 	 Contains value of hour 	</a:t>
            </a:r>
          </a:p>
          <a:p>
            <a:pPr>
              <a:buNone/>
            </a:pPr>
            <a:r>
              <a:rPr lang="en-US" dirty="0" smtClean="0"/>
              <a:t>DOM 	             5 	 Contains value of day of the </a:t>
            </a:r>
            <a:r>
              <a:rPr lang="en-US" dirty="0" smtClean="0"/>
              <a:t>month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DOW 	             3 	 Contains value of day of the week 	</a:t>
            </a:r>
          </a:p>
          <a:p>
            <a:pPr>
              <a:buNone/>
            </a:pPr>
            <a:r>
              <a:rPr lang="en-US" dirty="0" smtClean="0"/>
              <a:t>DOY 	             9 	 Contains value of day of the year 	</a:t>
            </a:r>
          </a:p>
          <a:p>
            <a:pPr>
              <a:buNone/>
            </a:pPr>
            <a:r>
              <a:rPr lang="en-US" dirty="0" smtClean="0"/>
              <a:t>MONTH 	 4 	 Contains value of the month 	</a:t>
            </a:r>
          </a:p>
          <a:p>
            <a:pPr>
              <a:buNone/>
            </a:pPr>
            <a:r>
              <a:rPr lang="en-US" dirty="0" smtClean="0"/>
              <a:t>YEAR 	            12 	 Contains value of the year 	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RTOS_LAB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13214-9D8B-46BF-8FDA-D56892954BFB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Reference Clock Divider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400" dirty="0" smtClean="0"/>
              <a:t>The reference clock divider (hereafter referred to as the </a:t>
            </a:r>
            <a:r>
              <a:rPr lang="en-US" sz="2400" dirty="0" err="1" smtClean="0"/>
              <a:t>Prescaler</a:t>
            </a:r>
            <a:r>
              <a:rPr lang="en-US" sz="2400" dirty="0" smtClean="0"/>
              <a:t>) allows generation of a 32.768 kHz reference clock from any peripheral clock frequency greater than or equal to 65.536 kHz (2 x 32.768 kHz).</a:t>
            </a:r>
          </a:p>
          <a:p>
            <a:pPr algn="just"/>
            <a:r>
              <a:rPr lang="en-US" sz="2400" dirty="0" smtClean="0"/>
              <a:t>This permits the RTC to always run at the proper rate regardless of the peripheral clock rate.</a:t>
            </a:r>
          </a:p>
          <a:p>
            <a:pPr algn="just"/>
            <a:r>
              <a:rPr lang="en-US" sz="2400" dirty="0" err="1" smtClean="0"/>
              <a:t>Prescaler</a:t>
            </a:r>
            <a:r>
              <a:rPr lang="en-US" sz="2400" dirty="0" smtClean="0"/>
              <a:t> divides the peripheral clock (</a:t>
            </a:r>
            <a:r>
              <a:rPr lang="en-US" sz="2400" dirty="0" err="1" smtClean="0"/>
              <a:t>pclk</a:t>
            </a:r>
            <a:r>
              <a:rPr lang="en-US" sz="2400" dirty="0" smtClean="0"/>
              <a:t>) by a value which contains both an integer portion and a fractional portion. The result is not a continuous output at a constant frequency, some clock periods will be one </a:t>
            </a:r>
            <a:r>
              <a:rPr lang="en-US" sz="2400" dirty="0" err="1" smtClean="0"/>
              <a:t>pclk</a:t>
            </a:r>
            <a:r>
              <a:rPr lang="en-US" sz="2400" dirty="0" smtClean="0"/>
              <a:t> longer than others. However, the overall result can always be 32,768 counts per second.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RTOS_LAB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13214-9D8B-46BF-8FDA-D56892954BFB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Prescalar Integer registers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400" b="1" dirty="0" smtClean="0"/>
              <a:t>PREINT (13-bit </a:t>
            </a:r>
            <a:r>
              <a:rPr lang="en-US" sz="2400" b="1" dirty="0" err="1" smtClean="0"/>
              <a:t>reg</a:t>
            </a:r>
            <a:r>
              <a:rPr lang="en-US" sz="2400" b="1" dirty="0" smtClean="0"/>
              <a:t>)</a:t>
            </a:r>
          </a:p>
          <a:p>
            <a:pPr>
              <a:buNone/>
            </a:pPr>
            <a:r>
              <a:rPr lang="en-US" sz="2400" dirty="0" smtClean="0"/>
              <a:t>	This is the integer portion of the </a:t>
            </a:r>
            <a:r>
              <a:rPr lang="en-US" sz="2400" dirty="0" err="1" smtClean="0"/>
              <a:t>prescale</a:t>
            </a:r>
            <a:r>
              <a:rPr lang="en-US" sz="2400" dirty="0" smtClean="0"/>
              <a:t> value, calculated as:</a:t>
            </a:r>
          </a:p>
          <a:p>
            <a:pPr>
              <a:buNone/>
            </a:pPr>
            <a:r>
              <a:rPr lang="en-US" sz="2400" dirty="0" smtClean="0"/>
              <a:t>   PREINT = </a:t>
            </a:r>
            <a:r>
              <a:rPr lang="en-US" sz="2400" dirty="0" err="1" smtClean="0"/>
              <a:t>int</a:t>
            </a:r>
            <a:r>
              <a:rPr lang="en-US" sz="2400" dirty="0" smtClean="0"/>
              <a:t> (</a:t>
            </a:r>
            <a:r>
              <a:rPr lang="en-US" sz="2400" dirty="0" err="1" smtClean="0"/>
              <a:t>pclk</a:t>
            </a:r>
            <a:r>
              <a:rPr lang="en-US" sz="2400" dirty="0" smtClean="0"/>
              <a:t> / 32768) - 1. </a:t>
            </a:r>
          </a:p>
          <a:p>
            <a:pPr>
              <a:buNone/>
            </a:pPr>
            <a:r>
              <a:rPr lang="en-US" sz="2400" dirty="0" smtClean="0"/>
              <a:t>    The value of PREINT must be greater than or equal to 1.</a:t>
            </a:r>
          </a:p>
          <a:p>
            <a:r>
              <a:rPr lang="en-US" sz="2400" b="1" dirty="0" smtClean="0"/>
              <a:t>PREFRAC (15-bit </a:t>
            </a:r>
            <a:r>
              <a:rPr lang="en-US" sz="2400" b="1" dirty="0" err="1" smtClean="0"/>
              <a:t>reg</a:t>
            </a:r>
            <a:r>
              <a:rPr lang="en-US" sz="2400" b="1" dirty="0" smtClean="0"/>
              <a:t>)</a:t>
            </a:r>
          </a:p>
          <a:p>
            <a:pPr>
              <a:buNone/>
            </a:pPr>
            <a:r>
              <a:rPr lang="en-US" sz="2400" dirty="0" smtClean="0"/>
              <a:t>    This is the fractional portion of the </a:t>
            </a:r>
            <a:r>
              <a:rPr lang="en-US" sz="2400" dirty="0" err="1" smtClean="0"/>
              <a:t>prescale</a:t>
            </a:r>
            <a:r>
              <a:rPr lang="en-US" sz="2400" dirty="0" smtClean="0"/>
              <a:t> value, and may be calculated as:</a:t>
            </a:r>
          </a:p>
          <a:p>
            <a:pPr>
              <a:buNone/>
            </a:pPr>
            <a:r>
              <a:rPr lang="en-US" sz="2400" dirty="0" smtClean="0"/>
              <a:t>     PREFRAC = </a:t>
            </a:r>
            <a:r>
              <a:rPr lang="en-US" sz="2400" dirty="0" err="1" smtClean="0"/>
              <a:t>pclk</a:t>
            </a:r>
            <a:r>
              <a:rPr lang="en-US" sz="2400" dirty="0" smtClean="0"/>
              <a:t> - ((PREINT +1) x 32768).</a:t>
            </a:r>
            <a:endParaRPr lang="en-US" sz="2400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RTOS_LAB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13214-9D8B-46BF-8FDA-D56892954BFB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29600" cy="4876800"/>
          </a:xfrm>
        </p:spPr>
        <p:txBody>
          <a:bodyPr>
            <a:noAutofit/>
          </a:bodyPr>
          <a:lstStyle/>
          <a:p>
            <a:r>
              <a:rPr lang="en-US" sz="2400" dirty="0" smtClean="0"/>
              <a:t>In a simplistic case, the </a:t>
            </a:r>
            <a:r>
              <a:rPr lang="en-US" sz="2400" dirty="0" err="1" smtClean="0"/>
              <a:t>pclk</a:t>
            </a:r>
            <a:r>
              <a:rPr lang="en-US" sz="2400" dirty="0" smtClean="0"/>
              <a:t> frequency is 65.537 kHz. So:</a:t>
            </a:r>
          </a:p>
          <a:p>
            <a:pPr>
              <a:buNone/>
            </a:pPr>
            <a:r>
              <a:rPr lang="en-US" sz="2400" dirty="0" smtClean="0"/>
              <a:t>PREINT = </a:t>
            </a:r>
            <a:r>
              <a:rPr lang="en-US" sz="2400" dirty="0" err="1" smtClean="0"/>
              <a:t>int</a:t>
            </a:r>
            <a:r>
              <a:rPr lang="en-US" sz="2400" dirty="0" smtClean="0"/>
              <a:t> (</a:t>
            </a:r>
            <a:r>
              <a:rPr lang="en-US" sz="2400" dirty="0" err="1" smtClean="0"/>
              <a:t>pclk</a:t>
            </a:r>
            <a:r>
              <a:rPr lang="en-US" sz="2400" dirty="0" smtClean="0"/>
              <a:t> / 32768) - 1 = 1 and </a:t>
            </a:r>
          </a:p>
          <a:p>
            <a:pPr>
              <a:buNone/>
            </a:pPr>
            <a:r>
              <a:rPr lang="en-US" sz="2400" dirty="0" smtClean="0"/>
              <a:t>PREFRAC = </a:t>
            </a:r>
            <a:r>
              <a:rPr lang="en-US" sz="2400" dirty="0" err="1" smtClean="0"/>
              <a:t>pclk</a:t>
            </a:r>
            <a:r>
              <a:rPr lang="en-US" sz="2400" dirty="0" smtClean="0"/>
              <a:t> - ((PREINT +1) x 32768) = 1</a:t>
            </a:r>
          </a:p>
          <a:p>
            <a:pPr>
              <a:buNone/>
            </a:pPr>
            <a:r>
              <a:rPr lang="en-US" sz="2400" dirty="0" smtClean="0"/>
              <a:t>     With this </a:t>
            </a:r>
            <a:r>
              <a:rPr lang="en-US" sz="2400" dirty="0" err="1" smtClean="0"/>
              <a:t>prescaler</a:t>
            </a:r>
            <a:r>
              <a:rPr lang="en-US" sz="2400" dirty="0" smtClean="0"/>
              <a:t> setting, exactly 32,768 clocks per second will be provided to the RTC by counting 2 </a:t>
            </a:r>
            <a:r>
              <a:rPr lang="en-US" sz="2400" dirty="0" err="1" smtClean="0"/>
              <a:t>pclks</a:t>
            </a:r>
            <a:r>
              <a:rPr lang="en-US" sz="2400" dirty="0" smtClean="0"/>
              <a:t> 32,767 times, and 3 </a:t>
            </a:r>
            <a:r>
              <a:rPr lang="en-US" sz="2400" dirty="0" err="1" smtClean="0"/>
              <a:t>pclks</a:t>
            </a:r>
            <a:r>
              <a:rPr lang="en-US" sz="2400" dirty="0" smtClean="0"/>
              <a:t> once.</a:t>
            </a:r>
          </a:p>
          <a:p>
            <a:r>
              <a:rPr lang="en-US" sz="2400" dirty="0" smtClean="0"/>
              <a:t>In a more realistic case, the </a:t>
            </a:r>
            <a:r>
              <a:rPr lang="en-US" sz="2400" dirty="0" err="1" smtClean="0"/>
              <a:t>pclk</a:t>
            </a:r>
            <a:r>
              <a:rPr lang="en-US" sz="2400" dirty="0" smtClean="0"/>
              <a:t> frequency is 10 </a:t>
            </a:r>
            <a:r>
              <a:rPr lang="en-US" sz="2400" dirty="0" err="1" smtClean="0"/>
              <a:t>MHz.</a:t>
            </a:r>
            <a:r>
              <a:rPr lang="en-US" sz="2400" dirty="0" smtClean="0"/>
              <a:t> Then,</a:t>
            </a:r>
          </a:p>
          <a:p>
            <a:r>
              <a:rPr lang="en-US" sz="2400" dirty="0" smtClean="0"/>
              <a:t>PREINT = </a:t>
            </a:r>
            <a:r>
              <a:rPr lang="en-US" sz="2400" dirty="0" err="1" smtClean="0"/>
              <a:t>int</a:t>
            </a:r>
            <a:r>
              <a:rPr lang="en-US" sz="2400" dirty="0" smtClean="0"/>
              <a:t> (</a:t>
            </a:r>
            <a:r>
              <a:rPr lang="en-US" sz="2400" dirty="0" err="1" smtClean="0"/>
              <a:t>pclk</a:t>
            </a:r>
            <a:r>
              <a:rPr lang="en-US" sz="2400" dirty="0" smtClean="0"/>
              <a:t> / 32768) - 1 = 304 and </a:t>
            </a:r>
          </a:p>
          <a:p>
            <a:r>
              <a:rPr lang="en-US" sz="2400" dirty="0" smtClean="0"/>
              <a:t>PREFRAC = </a:t>
            </a:r>
            <a:r>
              <a:rPr lang="en-US" sz="2400" dirty="0" err="1" smtClean="0"/>
              <a:t>pclk</a:t>
            </a:r>
            <a:r>
              <a:rPr lang="en-US" sz="2400" dirty="0" smtClean="0"/>
              <a:t> - ((PREINT +1) x 32768) = 5,760.</a:t>
            </a:r>
          </a:p>
          <a:p>
            <a:r>
              <a:rPr lang="en-US" sz="2400" dirty="0" smtClean="0"/>
              <a:t>In this case, 5,760 of the </a:t>
            </a:r>
            <a:r>
              <a:rPr lang="en-US" sz="2400" dirty="0" err="1" smtClean="0"/>
              <a:t>prescaler</a:t>
            </a:r>
            <a:r>
              <a:rPr lang="en-US" sz="2400" dirty="0" smtClean="0"/>
              <a:t> output clocks will be 306 (305+1) </a:t>
            </a:r>
            <a:r>
              <a:rPr lang="en-US" sz="2400" dirty="0" err="1" smtClean="0"/>
              <a:t>pclks</a:t>
            </a:r>
            <a:r>
              <a:rPr lang="en-US" sz="2400" dirty="0" smtClean="0"/>
              <a:t> long, the rest will be 305 </a:t>
            </a:r>
            <a:r>
              <a:rPr lang="en-US" sz="2400" dirty="0" err="1" smtClean="0"/>
              <a:t>pclks</a:t>
            </a:r>
            <a:r>
              <a:rPr lang="en-US" sz="2400" dirty="0" smtClean="0"/>
              <a:t> long.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RTOS_LAB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13214-9D8B-46BF-8FDA-D56892954BFB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RTC INTERFACING</a:t>
            </a:r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 Select the port.</a:t>
            </a:r>
          </a:p>
          <a:p>
            <a:r>
              <a:rPr lang="en-US" sz="2400" dirty="0" smtClean="0"/>
              <a:t>Enable </a:t>
            </a:r>
            <a:r>
              <a:rPr lang="en-US" sz="2400" dirty="0" err="1" smtClean="0"/>
              <a:t>reg</a:t>
            </a:r>
            <a:r>
              <a:rPr lang="en-US" sz="2400" dirty="0" smtClean="0"/>
              <a:t> select.</a:t>
            </a:r>
          </a:p>
          <a:p>
            <a:r>
              <a:rPr lang="en-US" sz="2400" dirty="0" smtClean="0"/>
              <a:t>Enable clock(</a:t>
            </a:r>
            <a:r>
              <a:rPr lang="en-US" sz="2400" dirty="0" err="1" smtClean="0"/>
              <a:t>clk</a:t>
            </a:r>
            <a:r>
              <a:rPr lang="en-US" sz="2400" dirty="0" smtClean="0"/>
              <a:t> division).</a:t>
            </a:r>
          </a:p>
          <a:p>
            <a:r>
              <a:rPr lang="en-US" sz="2400" dirty="0" smtClean="0"/>
              <a:t>Load values in sec, min, hour, DOM, month, and year.</a:t>
            </a:r>
          </a:p>
          <a:p>
            <a:r>
              <a:rPr lang="en-US" sz="2400" dirty="0" smtClean="0"/>
              <a:t>Convert values into </a:t>
            </a:r>
            <a:r>
              <a:rPr lang="en-US" sz="2400" dirty="0" err="1" smtClean="0"/>
              <a:t>bcd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Send to </a:t>
            </a:r>
            <a:r>
              <a:rPr lang="en-US" sz="2400" dirty="0" err="1" smtClean="0"/>
              <a:t>lcd</a:t>
            </a:r>
            <a:r>
              <a:rPr lang="en-US" sz="2400" dirty="0" smtClean="0"/>
              <a:t>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RTOS_LAB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13214-9D8B-46BF-8FDA-D56892954BFB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 smtClean="0"/>
              <a:t>SEC(6) : </a:t>
            </a:r>
            <a:r>
              <a:rPr lang="en-US" sz="2400" dirty="0" err="1" smtClean="0"/>
              <a:t>sec’s</a:t>
            </a:r>
            <a:r>
              <a:rPr lang="en-US" sz="2400" dirty="0" smtClean="0"/>
              <a:t> </a:t>
            </a:r>
            <a:r>
              <a:rPr lang="en-US" sz="2400" dirty="0" err="1" smtClean="0"/>
              <a:t>reg</a:t>
            </a:r>
            <a:r>
              <a:rPr lang="en-US" sz="2400" dirty="0" smtClean="0"/>
              <a:t> ( 0 to 59)</a:t>
            </a:r>
          </a:p>
          <a:p>
            <a:pPr algn="just"/>
            <a:r>
              <a:rPr lang="en-US" sz="2400" dirty="0" smtClean="0"/>
              <a:t>MIN(6) : min’s </a:t>
            </a:r>
            <a:r>
              <a:rPr lang="en-US" sz="2400" dirty="0" err="1" smtClean="0"/>
              <a:t>reg</a:t>
            </a:r>
            <a:r>
              <a:rPr lang="en-US" sz="2400" dirty="0" smtClean="0"/>
              <a:t> ( 0 to 59)</a:t>
            </a:r>
          </a:p>
          <a:p>
            <a:pPr algn="just"/>
            <a:r>
              <a:rPr lang="en-US" sz="2400" dirty="0" smtClean="0"/>
              <a:t>HOUR(5) : </a:t>
            </a:r>
            <a:r>
              <a:rPr lang="en-US" sz="2400" dirty="0" err="1" smtClean="0"/>
              <a:t>hr’s</a:t>
            </a:r>
            <a:r>
              <a:rPr lang="en-US" sz="2400" dirty="0" smtClean="0"/>
              <a:t> </a:t>
            </a:r>
            <a:r>
              <a:rPr lang="en-US" sz="2400" dirty="0" err="1" smtClean="0"/>
              <a:t>reg</a:t>
            </a:r>
            <a:r>
              <a:rPr lang="en-US" sz="2400" dirty="0" smtClean="0"/>
              <a:t> ( 0 to 23)</a:t>
            </a:r>
          </a:p>
          <a:p>
            <a:pPr algn="just"/>
            <a:r>
              <a:rPr lang="en-US" sz="2400" dirty="0" smtClean="0"/>
              <a:t>DOM(5) : day of month </a:t>
            </a:r>
            <a:r>
              <a:rPr lang="en-US" sz="2400" dirty="0" err="1" smtClean="0"/>
              <a:t>reg</a:t>
            </a:r>
            <a:r>
              <a:rPr lang="en-US" sz="2400" dirty="0" smtClean="0"/>
              <a:t> ( 1 to 28,29, 30 or 31 depending on month and whether leap year)</a:t>
            </a:r>
          </a:p>
          <a:p>
            <a:pPr algn="just"/>
            <a:r>
              <a:rPr lang="en-US" sz="2400" dirty="0" smtClean="0"/>
              <a:t>MONTH(4) : month’s </a:t>
            </a:r>
            <a:r>
              <a:rPr lang="en-US" sz="2400" dirty="0" err="1" smtClean="0"/>
              <a:t>reg</a:t>
            </a:r>
            <a:r>
              <a:rPr lang="en-US" sz="2400" dirty="0" smtClean="0"/>
              <a:t> ( 1 to 12)</a:t>
            </a:r>
          </a:p>
          <a:p>
            <a:pPr algn="just"/>
            <a:r>
              <a:rPr lang="en-US" sz="2400" dirty="0" smtClean="0"/>
              <a:t>YEAR(12) : year’s </a:t>
            </a:r>
            <a:r>
              <a:rPr lang="en-US" sz="2400" dirty="0" err="1" smtClean="0"/>
              <a:t>reg</a:t>
            </a:r>
            <a:r>
              <a:rPr lang="en-US" sz="2400" dirty="0" smtClean="0"/>
              <a:t> (0 to 4095)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RTOS_LAB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13214-9D8B-46BF-8FDA-D56892954BFB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 CLK DIVIDER(PRESCALAR)</a:t>
            </a:r>
          </a:p>
        </p:txBody>
      </p:sp>
      <p:sp>
        <p:nvSpPr>
          <p:cNvPr id="26627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410200"/>
          </a:xfrm>
        </p:spPr>
        <p:txBody>
          <a:bodyPr>
            <a:normAutofit/>
          </a:bodyPr>
          <a:lstStyle/>
          <a:p>
            <a:r>
              <a:rPr lang="en-US" sz="2400" dirty="0" err="1" smtClean="0"/>
              <a:t>Prescalar</a:t>
            </a:r>
            <a:r>
              <a:rPr lang="en-US" sz="2400" dirty="0" smtClean="0"/>
              <a:t> </a:t>
            </a:r>
            <a:r>
              <a:rPr lang="en-US" sz="2400" dirty="0" err="1" smtClean="0"/>
              <a:t>int</a:t>
            </a:r>
            <a:r>
              <a:rPr lang="en-US" sz="2400" dirty="0" smtClean="0"/>
              <a:t> </a:t>
            </a:r>
            <a:r>
              <a:rPr lang="en-US" sz="2400" dirty="0" err="1" smtClean="0"/>
              <a:t>reg</a:t>
            </a:r>
            <a:r>
              <a:rPr lang="en-US" sz="2400" dirty="0" smtClean="0"/>
              <a:t>:</a:t>
            </a:r>
          </a:p>
          <a:p>
            <a:r>
              <a:rPr lang="en-US" sz="2400" dirty="0" smtClean="0"/>
              <a:t>PREINT(13) = 0 x 0000 0392 or 0X5A(with </a:t>
            </a:r>
            <a:r>
              <a:rPr lang="en-US" sz="2400" dirty="0" err="1" smtClean="0"/>
              <a:t>pclk</a:t>
            </a:r>
            <a:r>
              <a:rPr lang="en-US" sz="2400" dirty="0" smtClean="0"/>
              <a:t>=3Mhz)</a:t>
            </a:r>
          </a:p>
          <a:p>
            <a:pPr>
              <a:buFont typeface="Arial" charset="0"/>
              <a:buNone/>
            </a:pPr>
            <a:r>
              <a:rPr lang="en-US" sz="2400" dirty="0" smtClean="0"/>
              <a:t>                         =</a:t>
            </a:r>
            <a:r>
              <a:rPr lang="en-US" sz="2400" dirty="0" err="1" smtClean="0"/>
              <a:t>int</a:t>
            </a:r>
            <a:r>
              <a:rPr lang="en-US" sz="2400" dirty="0" smtClean="0"/>
              <a:t>(</a:t>
            </a:r>
            <a:r>
              <a:rPr lang="en-US" sz="2400" dirty="0" err="1" smtClean="0"/>
              <a:t>pclk</a:t>
            </a:r>
            <a:r>
              <a:rPr lang="en-US" sz="2400" dirty="0" smtClean="0"/>
              <a:t>/32768) – 1</a:t>
            </a:r>
          </a:p>
          <a:p>
            <a:r>
              <a:rPr lang="en-US" sz="2400" dirty="0" smtClean="0"/>
              <a:t>Its value &gt;=1</a:t>
            </a:r>
          </a:p>
          <a:p>
            <a:r>
              <a:rPr lang="en-US" sz="2400" dirty="0" smtClean="0"/>
              <a:t>15-13 bit : reserved (XXX)</a:t>
            </a:r>
          </a:p>
          <a:p>
            <a:r>
              <a:rPr lang="en-US" sz="2400" dirty="0" smtClean="0"/>
              <a:t>12:0 bit : </a:t>
            </a:r>
            <a:r>
              <a:rPr lang="en-US" sz="2400" dirty="0" err="1" smtClean="0"/>
              <a:t>Prescalar</a:t>
            </a:r>
            <a:r>
              <a:rPr lang="en-US" sz="2400" dirty="0" smtClean="0"/>
              <a:t> </a:t>
            </a:r>
            <a:r>
              <a:rPr lang="en-US" sz="2400" dirty="0" err="1" smtClean="0"/>
              <a:t>int</a:t>
            </a:r>
            <a:r>
              <a:rPr lang="en-US" sz="2400" dirty="0" smtClean="0"/>
              <a:t> RTC </a:t>
            </a:r>
            <a:r>
              <a:rPr lang="en-US" sz="2400" dirty="0" err="1" smtClean="0"/>
              <a:t>prescalar</a:t>
            </a:r>
            <a:r>
              <a:rPr lang="en-US" sz="2400" dirty="0" smtClean="0"/>
              <a:t> value</a:t>
            </a:r>
          </a:p>
          <a:p>
            <a:r>
              <a:rPr lang="en-US" sz="2400" dirty="0" smtClean="0"/>
              <a:t>160 MHz/32,768 – 1 = 4881( 13 bits to hold) and remainder( </a:t>
            </a:r>
            <a:r>
              <a:rPr lang="en-US" sz="2400" dirty="0" err="1" smtClean="0"/>
              <a:t>val</a:t>
            </a:r>
            <a:r>
              <a:rPr lang="en-US" sz="2400" dirty="0" smtClean="0"/>
              <a:t> could be as large as 32,767 which requires 15 bits) 26, 624 </a:t>
            </a:r>
          </a:p>
          <a:p>
            <a:endParaRPr lang="en-US" sz="2400" dirty="0" smtClean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RTOS_LAB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13214-9D8B-46BF-8FDA-D56892954BFB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4876800"/>
          </a:xfrm>
        </p:spPr>
        <p:txBody>
          <a:bodyPr>
            <a:normAutofit/>
          </a:bodyPr>
          <a:lstStyle/>
          <a:p>
            <a:pPr algn="just"/>
            <a:r>
              <a:rPr lang="en-US" sz="2400" dirty="0" err="1" smtClean="0"/>
              <a:t>Prescalar</a:t>
            </a:r>
            <a:r>
              <a:rPr lang="en-US" sz="2400" dirty="0" smtClean="0"/>
              <a:t> </a:t>
            </a:r>
            <a:r>
              <a:rPr lang="en-US" sz="2400" dirty="0" err="1" smtClean="0"/>
              <a:t>frac</a:t>
            </a:r>
            <a:r>
              <a:rPr lang="en-US" sz="2400" dirty="0" smtClean="0"/>
              <a:t> </a:t>
            </a:r>
            <a:r>
              <a:rPr lang="en-US" sz="2400" dirty="0" err="1" smtClean="0"/>
              <a:t>reg</a:t>
            </a:r>
            <a:r>
              <a:rPr lang="en-US" sz="2400" dirty="0" smtClean="0"/>
              <a:t> :</a:t>
            </a:r>
          </a:p>
          <a:p>
            <a:pPr algn="just"/>
            <a:r>
              <a:rPr lang="en-US" sz="2400" dirty="0" smtClean="0"/>
              <a:t>PREFRAC(15) = 0 x 0000 4389 or 0X46C0(3Mhaz)</a:t>
            </a:r>
          </a:p>
          <a:p>
            <a:pPr algn="just"/>
            <a:r>
              <a:rPr lang="en-US" sz="2400" dirty="0" smtClean="0"/>
              <a:t>15 bit : </a:t>
            </a:r>
            <a:r>
              <a:rPr lang="en-US" sz="2400" dirty="0" err="1" smtClean="0"/>
              <a:t>reserver</a:t>
            </a:r>
            <a:r>
              <a:rPr lang="en-US" sz="2400" dirty="0" smtClean="0"/>
              <a:t>(X)</a:t>
            </a:r>
          </a:p>
          <a:p>
            <a:pPr algn="just"/>
            <a:r>
              <a:rPr lang="en-US" sz="2400" dirty="0" smtClean="0"/>
              <a:t>14 – 0 bit  : </a:t>
            </a:r>
            <a:r>
              <a:rPr lang="en-US" sz="2400" dirty="0" err="1" smtClean="0"/>
              <a:t>frac</a:t>
            </a:r>
            <a:r>
              <a:rPr lang="en-US" sz="2400" dirty="0" smtClean="0"/>
              <a:t> portion of RTC </a:t>
            </a:r>
            <a:r>
              <a:rPr lang="en-US" sz="2400" dirty="0" err="1" smtClean="0"/>
              <a:t>prescalar</a:t>
            </a:r>
            <a:r>
              <a:rPr lang="en-US" sz="2400" dirty="0" smtClean="0"/>
              <a:t> value.</a:t>
            </a:r>
          </a:p>
          <a:p>
            <a:pPr algn="just"/>
            <a:r>
              <a:rPr lang="en-US" sz="2400" dirty="0" smtClean="0"/>
              <a:t>PREFRAC =  </a:t>
            </a:r>
            <a:r>
              <a:rPr lang="en-US" sz="2400" dirty="0" err="1" smtClean="0"/>
              <a:t>pclk</a:t>
            </a:r>
            <a:r>
              <a:rPr lang="en-US" sz="2400" dirty="0" smtClean="0"/>
              <a:t> – ((PREINT +1)X 32768) </a:t>
            </a:r>
          </a:p>
          <a:p>
            <a:pPr algn="just"/>
            <a:r>
              <a:rPr lang="en-US" sz="2400" dirty="0" smtClean="0"/>
              <a:t>PINSEL0 = 0X 0005 0000; or PINSEL0=0X0000005; select TXD0 and RXD0 lines</a:t>
            </a:r>
          </a:p>
          <a:p>
            <a:pPr algn="just"/>
            <a:r>
              <a:rPr lang="en-US" sz="2400" dirty="0" smtClean="0"/>
              <a:t>VPBDIV = 0X 02; // PREINT = </a:t>
            </a:r>
            <a:r>
              <a:rPr lang="en-US" sz="2400" dirty="0" err="1" smtClean="0"/>
              <a:t>int</a:t>
            </a:r>
            <a:r>
              <a:rPr lang="en-US" sz="2400" dirty="0" smtClean="0"/>
              <a:t>(</a:t>
            </a:r>
            <a:r>
              <a:rPr lang="en-US" sz="2400" dirty="0" err="1" smtClean="0"/>
              <a:t>pclk</a:t>
            </a:r>
            <a:r>
              <a:rPr lang="en-US" sz="2400" dirty="0" smtClean="0"/>
              <a:t>/32768)-1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RTOS_LAB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13214-9D8B-46BF-8FDA-D56892954BFB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UM10139 Volume </a:t>
            </a:r>
            <a:r>
              <a:rPr lang="en-US" dirty="0"/>
              <a:t>1: LPC214x User </a:t>
            </a:r>
            <a:r>
              <a:rPr lang="en-US" dirty="0" smtClean="0"/>
              <a:t>Manual Rev</a:t>
            </a:r>
            <a:r>
              <a:rPr lang="en-US" dirty="0"/>
              <a:t>. 02 — 25 July 2006 User manual LPC214x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79472-375D-4995-AD44-0D489A2D383A}" type="datetime1">
              <a:rPr lang="en-IN" smtClean="0"/>
              <a:t>07-08-2021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RTOS_LAB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4BCFA-415E-45EC-9026-21BB5BA36EF0}" type="slidenum">
              <a:rPr lang="en-IN" smtClean="0"/>
              <a:pPr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75925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UM10139 Volume </a:t>
            </a:r>
            <a:r>
              <a:rPr lang="en-US" dirty="0"/>
              <a:t>1: LPC214x User </a:t>
            </a:r>
            <a:r>
              <a:rPr lang="en-US" dirty="0" smtClean="0"/>
              <a:t>Manual Rev</a:t>
            </a:r>
            <a:r>
              <a:rPr lang="en-US" dirty="0"/>
              <a:t>. 02 — 25 July 2006 User manual LPC214x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79472-375D-4995-AD44-0D489A2D383A}" type="datetime1">
              <a:rPr lang="en-IN" smtClean="0"/>
              <a:t>07-08-2021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RTOS_LAB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4BCFA-415E-45EC-9026-21BB5BA36EF0}" type="slidenum">
              <a:rPr lang="en-IN" smtClean="0"/>
              <a:pPr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83967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TextShape 1"/>
          <p:cNvSpPr txBox="1"/>
          <p:nvPr/>
        </p:nvSpPr>
        <p:spPr>
          <a:xfrm>
            <a:off x="457200" y="1447920"/>
            <a:ext cx="8229240" cy="388584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8800" strike="noStrike" spc="-1" dirty="0">
                <a:uFill>
                  <a:solidFill>
                    <a:srgbClr val="FFFFFF"/>
                  </a:solidFill>
                </a:uFill>
                <a:latin typeface="Algerian" pitchFamily="82" charset="0"/>
              </a:rPr>
              <a:t>THANK 
YOU</a:t>
            </a:r>
            <a:endParaRPr lang="en-US" sz="2400" strike="noStrike" spc="-1" dirty="0">
              <a:uFill>
                <a:solidFill>
                  <a:srgbClr val="FFFFFF"/>
                </a:solidFill>
              </a:uFill>
              <a:latin typeface="Algerian" pitchFamily="82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5C3A7-4DB4-4DF7-BB6E-FF1E35B01180}" type="datetime1">
              <a:rPr lang="en-IN" smtClean="0"/>
              <a:t>07-08-2021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RTOS_LAB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4BCFA-415E-45EC-9026-21BB5BA36EF0}" type="slidenum">
              <a:rPr lang="en-IN" smtClean="0"/>
              <a:pPr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6168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1093</Words>
  <Application>Microsoft Office PowerPoint</Application>
  <PresentationFormat>On-screen Show (4:3)</PresentationFormat>
  <Paragraphs>227</Paragraphs>
  <Slides>24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Theme</vt:lpstr>
      <vt:lpstr>RTC (REAL TIME CLOCK)IN LPC2148</vt:lpstr>
      <vt:lpstr>Introduction to RTC</vt:lpstr>
      <vt:lpstr>Block diagram of RTC</vt:lpstr>
      <vt:lpstr>Register Description</vt:lpstr>
      <vt:lpstr>Miscellaneous Register Group</vt:lpstr>
      <vt:lpstr>Interrupt Location Register (ILR)</vt:lpstr>
      <vt:lpstr>Clock Tick Counter (CTC)</vt:lpstr>
      <vt:lpstr>Clock Control Register (CCR)</vt:lpstr>
      <vt:lpstr>Counter Increment Interrupt Register (CIIR)</vt:lpstr>
      <vt:lpstr>CONTND…..</vt:lpstr>
      <vt:lpstr>Alarm Mask Register (AMR)</vt:lpstr>
      <vt:lpstr>CNTND…..</vt:lpstr>
      <vt:lpstr>Alarm Register group</vt:lpstr>
      <vt:lpstr>Time Counter Register Group</vt:lpstr>
      <vt:lpstr>Reference Clock Divider</vt:lpstr>
      <vt:lpstr>Prescalar Integer registers</vt:lpstr>
      <vt:lpstr>Example</vt:lpstr>
      <vt:lpstr>RTC INTERFACING</vt:lpstr>
      <vt:lpstr>PowerPoint Presentation</vt:lpstr>
      <vt:lpstr>REF CLK DIVIDER(PRESCALAR)</vt:lpstr>
      <vt:lpstr>PowerPoint Presentation</vt:lpstr>
      <vt:lpstr>REFERENCES</vt:lpstr>
      <vt:lpstr>REFERENCES</vt:lpstr>
      <vt:lpstr>PowerPoint Presentation</vt:lpstr>
    </vt:vector>
  </TitlesOfParts>
  <Company>bvb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 Time clock</dc:title>
  <dc:creator>SUPRIYA</dc:creator>
  <cp:lastModifiedBy>Acer</cp:lastModifiedBy>
  <cp:revision>15</cp:revision>
  <dcterms:created xsi:type="dcterms:W3CDTF">2014-10-28T05:15:59Z</dcterms:created>
  <dcterms:modified xsi:type="dcterms:W3CDTF">2021-08-07T07:33:39Z</dcterms:modified>
</cp:coreProperties>
</file>