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0"/>
  </p:notesMasterIdLst>
  <p:sldIdLst>
    <p:sldId id="277" r:id="rId2"/>
    <p:sldId id="278" r:id="rId3"/>
    <p:sldId id="279" r:id="rId4"/>
    <p:sldId id="257" r:id="rId5"/>
    <p:sldId id="284" r:id="rId6"/>
    <p:sldId id="286" r:id="rId7"/>
    <p:sldId id="285" r:id="rId8"/>
    <p:sldId id="281" r:id="rId9"/>
    <p:sldId id="282" r:id="rId10"/>
    <p:sldId id="283" r:id="rId11"/>
    <p:sldId id="264" r:id="rId12"/>
    <p:sldId id="265" r:id="rId13"/>
    <p:sldId id="259" r:id="rId14"/>
    <p:sldId id="260" r:id="rId15"/>
    <p:sldId id="262" r:id="rId16"/>
    <p:sldId id="258" r:id="rId17"/>
    <p:sldId id="266" r:id="rId18"/>
    <p:sldId id="268" r:id="rId19"/>
    <p:sldId id="267" r:id="rId20"/>
    <p:sldId id="271" r:id="rId21"/>
    <p:sldId id="272" r:id="rId22"/>
    <p:sldId id="276" r:id="rId23"/>
    <p:sldId id="280" r:id="rId24"/>
    <p:sldId id="270" r:id="rId25"/>
    <p:sldId id="274" r:id="rId26"/>
    <p:sldId id="275" r:id="rId27"/>
    <p:sldId id="287" r:id="rId28"/>
    <p:sldId id="27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-726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871E8-949A-4DFF-B5CB-B2F9783B19C0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B70F5-344A-487F-BDA2-A69981400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89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29D1D3-03DD-4166-B6DA-1C942171BE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46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B70F5-344A-487F-BDA2-A69981400B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52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Level Triggering:</a:t>
            </a:r>
            <a:r>
              <a:rPr lang="en-US" sz="1200" dirty="0" smtClean="0"/>
              <a:t> In level triggering the circuit will become active when the gating or clock pulse is on a particular level.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 Triggering: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edge triggering the circuit becomes active at negative or positive edge of the clock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2B70F5-344A-487F-BDA2-A69981400B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94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7F2CF-1363-492C-9850-7FFD953418A6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5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8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121EB-344D-4D18-9E38-807B3596364D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2CB5E-D4E0-4D23-BD91-8EC636BD9C6E}" type="datetime1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5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7782-4877-489D-A0FE-9534FD0D81F1}" type="datetime1">
              <a:rPr lang="en-US" smtClean="0"/>
              <a:t>5/5/2020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1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3C3A-10FB-4002-B334-02770836365B}" type="datetime1">
              <a:rPr lang="en-US" smtClean="0"/>
              <a:t>5/5/2020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AA0CD-9F14-42E4-8C5A-F345806F8250}" type="datetime1">
              <a:rPr lang="en-US" smtClean="0"/>
              <a:t>5/5/2020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0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4A8E-F978-4105-BA58-05B9FA32B4D0}" type="datetime1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4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36043-8FA8-47B3-B263-45DE7C4B2A63}" type="datetime1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4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75DE-09C3-4169-A9C0-FD17C255206C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8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79B39-8841-4E5F-9B81-1F2E69620D06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6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E8367-99F9-4EAC-BF90-B46C2537B566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772817"/>
            <a:ext cx="8712968" cy="1800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Course: </a:t>
            </a:r>
            <a:r>
              <a:rPr lang="en-US" dirty="0"/>
              <a:t>ARM Processor &amp; </a:t>
            </a:r>
            <a:r>
              <a:rPr lang="en-US" dirty="0" smtClean="0"/>
              <a:t>Applications</a:t>
            </a:r>
            <a:br>
              <a:rPr lang="en-US" dirty="0" smtClean="0"/>
            </a:br>
            <a:r>
              <a:rPr lang="en-US" dirty="0" smtClean="0"/>
              <a:t>(15EECC207) </a:t>
            </a:r>
            <a:r>
              <a:rPr lang="en-US" sz="5400" dirty="0" smtClean="0"/>
              <a:t>   </a:t>
            </a:r>
            <a:r>
              <a:rPr lang="en-IN" dirty="0">
                <a:latin typeface="Arial"/>
                <a:ea typeface="Arial"/>
              </a:rPr>
              <a:t/>
            </a:r>
            <a:br>
              <a:rPr lang="en-IN" dirty="0">
                <a:latin typeface="Arial"/>
                <a:ea typeface="Arial"/>
              </a:rPr>
            </a:b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688"/>
            <a:ext cx="6400800" cy="1752600"/>
          </a:xfrm>
        </p:spPr>
        <p:txBody>
          <a:bodyPr/>
          <a:lstStyle/>
          <a:p>
            <a:r>
              <a:rPr lang="en-IN" dirty="0" smtClean="0"/>
              <a:t>Faculty In Charge: Supriya </a:t>
            </a:r>
            <a:r>
              <a:rPr lang="en-IN" dirty="0" err="1" smtClean="0"/>
              <a:t>Katwe</a:t>
            </a: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  			   </a:t>
            </a:r>
            <a:r>
              <a:rPr lang="en-IN" dirty="0" err="1" smtClean="0"/>
              <a:t>Bhagyashree</a:t>
            </a:r>
            <a:r>
              <a:rPr lang="en-IN" dirty="0" smtClean="0"/>
              <a:t> K</a:t>
            </a:r>
          </a:p>
          <a:p>
            <a:r>
              <a:rPr lang="en-IN" dirty="0" smtClean="0"/>
              <a:t>                           </a:t>
            </a:r>
            <a:r>
              <a:rPr lang="en-IN" dirty="0" err="1" smtClean="0"/>
              <a:t>Preeti</a:t>
            </a:r>
            <a:r>
              <a:rPr lang="en-IN" dirty="0" smtClean="0"/>
              <a:t> </a:t>
            </a:r>
            <a:r>
              <a:rPr lang="en-IN" dirty="0" err="1" smtClean="0"/>
              <a:t>Pillai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121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3768" y="44625"/>
            <a:ext cx="5974432" cy="10081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Course: ARM </a:t>
            </a:r>
            <a:r>
              <a:rPr lang="en-US" sz="2800" dirty="0"/>
              <a:t>Processor &amp; Applications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196752"/>
            <a:ext cx="7920880" cy="511256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Course Outcomes (COs): </a:t>
            </a:r>
            <a:endParaRPr lang="en-IN" dirty="0"/>
          </a:p>
          <a:p>
            <a:pPr algn="l"/>
            <a:r>
              <a:rPr lang="en-US" dirty="0"/>
              <a:t>At the end of the course the student should be able to</a:t>
            </a:r>
            <a:r>
              <a:rPr lang="en-US" dirty="0" smtClean="0"/>
              <a:t>:</a:t>
            </a:r>
          </a:p>
          <a:p>
            <a:pPr algn="l"/>
            <a:r>
              <a:rPr lang="en-US" dirty="0" smtClean="0"/>
              <a:t>  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/>
              <a:t>Discuss advanced microprocessor architecture and pipeline </a:t>
            </a:r>
            <a:r>
              <a:rPr lang="en-US" dirty="0" smtClean="0"/>
              <a:t>structure.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 smtClean="0"/>
              <a:t>Write </a:t>
            </a:r>
            <a:r>
              <a:rPr lang="en-US" dirty="0"/>
              <a:t>assembly language programs with a tradeoff between size and complexity and test it using development </a:t>
            </a:r>
            <a:r>
              <a:rPr lang="en-US" dirty="0" smtClean="0"/>
              <a:t>tools.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 smtClean="0"/>
              <a:t>Develop </a:t>
            </a:r>
            <a:r>
              <a:rPr lang="en-US" dirty="0"/>
              <a:t>an assembly level program for the given application using ARM or THUMB or both instruction </a:t>
            </a:r>
            <a:r>
              <a:rPr lang="en-US" dirty="0" smtClean="0"/>
              <a:t>set.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b="1" dirty="0" smtClean="0">
                <a:solidFill>
                  <a:schemeClr val="tx1"/>
                </a:solidFill>
              </a:rPr>
              <a:t>Discuss </a:t>
            </a:r>
            <a:r>
              <a:rPr lang="en-US" b="1" dirty="0">
                <a:solidFill>
                  <a:schemeClr val="tx1"/>
                </a:solidFill>
              </a:rPr>
              <a:t>the concept of interrupt and their </a:t>
            </a:r>
            <a:r>
              <a:rPr lang="en-US" b="1" dirty="0" smtClean="0">
                <a:solidFill>
                  <a:schemeClr val="tx1"/>
                </a:solidFill>
              </a:rPr>
              <a:t>application.</a:t>
            </a:r>
            <a:endParaRPr lang="en-IN" b="1" dirty="0">
              <a:solidFill>
                <a:schemeClr val="tx1"/>
              </a:solidFill>
            </a:endParaRPr>
          </a:p>
          <a:p>
            <a:pPr marL="571500" lvl="0" indent="-571500" algn="l">
              <a:buFont typeface="+mj-lt"/>
              <a:buAutoNum type="romanLcPeriod"/>
            </a:pPr>
            <a:r>
              <a:rPr lang="en-US" b="1" dirty="0" smtClean="0">
                <a:solidFill>
                  <a:schemeClr val="tx1"/>
                </a:solidFill>
              </a:rPr>
              <a:t>Develop </a:t>
            </a:r>
            <a:r>
              <a:rPr lang="en-US" b="1" dirty="0">
                <a:solidFill>
                  <a:schemeClr val="tx1"/>
                </a:solidFill>
              </a:rPr>
              <a:t>a C code for interfacing different ON/OFF board peripheral devices to LPC 2148 controller.</a:t>
            </a:r>
            <a:endParaRPr lang="en-IN" b="1" dirty="0">
              <a:solidFill>
                <a:schemeClr val="tx1"/>
              </a:solidFill>
            </a:endParaRP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6327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Unit-III</a:t>
            </a:r>
            <a:br>
              <a:rPr lang="en-US" dirty="0" smtClean="0"/>
            </a:br>
            <a:r>
              <a:rPr lang="en-US" dirty="0" smtClean="0"/>
              <a:t>EXTERNAL INTERRUPT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Lesson Schedule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344379"/>
              </p:ext>
            </p:extLst>
          </p:nvPr>
        </p:nvGraphicFramePr>
        <p:xfrm>
          <a:off x="914400" y="2286000"/>
          <a:ext cx="6096000" cy="326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181600"/>
              </a:tblGrid>
              <a:tr h="46609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 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External</a:t>
                      </a:r>
                      <a:r>
                        <a:rPr lang="en-US" baseline="0" dirty="0" smtClean="0"/>
                        <a:t> interrupts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Vector interrupt</a:t>
                      </a:r>
                      <a:r>
                        <a:rPr lang="en-US" baseline="0" dirty="0" smtClean="0"/>
                        <a:t> controller</a:t>
                      </a:r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Interrupt -Registers </a:t>
                      </a:r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Algorithm 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Simulation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5E24F-8549-4A4A-AF01-8C7C0F6061F9}" type="datetime1">
              <a:rPr lang="en-US" smtClean="0"/>
              <a:t>5/5/2020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3721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Introduction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What is External Interrupt?</a:t>
            </a:r>
          </a:p>
          <a:p>
            <a:r>
              <a:rPr lang="en-US" sz="2000" dirty="0"/>
              <a:t>Interrupt caused by an external source such as external switch, sensor or monitoring device. </a:t>
            </a:r>
            <a:endParaRPr lang="en-US" sz="2000" dirty="0" smtClean="0"/>
          </a:p>
          <a:p>
            <a:r>
              <a:rPr lang="en-US" sz="2000" dirty="0" smtClean="0"/>
              <a:t>These </a:t>
            </a:r>
            <a:r>
              <a:rPr lang="en-US" sz="2000" dirty="0"/>
              <a:t>interrupt are special events that require immediate </a:t>
            </a:r>
            <a:r>
              <a:rPr lang="en-US" sz="2000" dirty="0" smtClean="0"/>
              <a:t>attention.</a:t>
            </a:r>
          </a:p>
          <a:p>
            <a:r>
              <a:rPr lang="en-US" sz="2000" dirty="0"/>
              <a:t>The LPC2148 includes four External Interrupt Inputs as selectable pin functions.</a:t>
            </a:r>
          </a:p>
          <a:p>
            <a:r>
              <a:rPr lang="en-US" sz="2000" dirty="0"/>
              <a:t>The External Interrupt Inputs can optionally be used to wake up the processor from Power-down mode.</a:t>
            </a:r>
            <a:endParaRPr lang="en-US" sz="2000" b="1" dirty="0"/>
          </a:p>
          <a:p>
            <a:r>
              <a:rPr lang="en-US" sz="2000" dirty="0"/>
              <a:t>An active low/high level or falling/rising edge general purpose interrupt input. </a:t>
            </a:r>
          </a:p>
          <a:p>
            <a:endParaRPr lang="en-US" sz="2000" dirty="0" smtClean="0"/>
          </a:p>
        </p:txBody>
      </p:sp>
      <p:pic>
        <p:nvPicPr>
          <p:cNvPr id="4" name="Pictur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E1499-0132-4C9A-B7A3-9D06B20AD00D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3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Interrupt Works?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4861870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563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With no interrupt controller</a:t>
            </a:r>
          </a:p>
          <a:p>
            <a:r>
              <a:rPr lang="en-US" dirty="0" smtClean="0"/>
              <a:t>Only few interrupts can be handled</a:t>
            </a:r>
          </a:p>
          <a:p>
            <a:r>
              <a:rPr lang="en-US" dirty="0" smtClean="0"/>
              <a:t>Only for simple embedded system, cannot be used for complex systems.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9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interrupt controller?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You need to reduce average response time to one or more interrupts.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have hard real-time requirements for interrupt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 </a:t>
            </a:r>
            <a:r>
              <a:rPr lang="en-US" dirty="0"/>
              <a:t>You require </a:t>
            </a:r>
            <a:r>
              <a:rPr lang="en-US" dirty="0" smtClean="0"/>
              <a:t>non </a:t>
            </a:r>
            <a:r>
              <a:rPr lang="en-US" dirty="0" err="1" smtClean="0"/>
              <a:t>maskable</a:t>
            </a:r>
            <a:r>
              <a:rPr lang="en-US" dirty="0" smtClean="0"/>
              <a:t> </a:t>
            </a:r>
            <a:r>
              <a:rPr lang="en-US" dirty="0"/>
              <a:t>interrupts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You </a:t>
            </a:r>
            <a:r>
              <a:rPr lang="en-US" dirty="0"/>
              <a:t>need to handle more interrupts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374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078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Vectored Interrupt Controller(VIC)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LPC2148 uses ARM </a:t>
            </a:r>
            <a:r>
              <a:rPr lang="en-US" sz="2000" dirty="0" err="1"/>
              <a:t>PrimeCell</a:t>
            </a:r>
            <a:r>
              <a:rPr lang="en-US" sz="2000" dirty="0"/>
              <a:t> (PL190) Vectored Interrupt Controller for managing interrupts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The VIC is used to handle all the on-chip interrupt sources from peripherals.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b="1" dirty="0" smtClean="0">
                <a:solidFill>
                  <a:srgbClr val="FF0000"/>
                </a:solidFill>
              </a:rPr>
              <a:t>When </a:t>
            </a:r>
            <a:r>
              <a:rPr lang="en-US" sz="2000" b="1" dirty="0">
                <a:solidFill>
                  <a:srgbClr val="FF0000"/>
                </a:solidFill>
              </a:rPr>
              <a:t>interrupt occurs: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VIC identifies the source of interrupts.</a:t>
            </a:r>
          </a:p>
          <a:p>
            <a:r>
              <a:rPr lang="en-US" sz="2000" dirty="0"/>
              <a:t>Passes requests on interrupt request pins as per the configuration.</a:t>
            </a:r>
          </a:p>
          <a:p>
            <a:r>
              <a:rPr lang="en-US" sz="2000" dirty="0"/>
              <a:t>If more than one interrupt occurs at a time, VIC resolves priority.</a:t>
            </a:r>
          </a:p>
          <a:p>
            <a:endParaRPr lang="en-US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786D1-5E88-4BAF-831B-261D8D8EB765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4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Each interrupt source is connected to the VIC on a fixed channel. Our application software can connect these channels to the CPU interrupt lines (FIQ, IRQ)</a:t>
            </a:r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AMBA (</a:t>
            </a:r>
            <a:r>
              <a:rPr lang="en-US" sz="2400" b="1" dirty="0"/>
              <a:t>A</a:t>
            </a:r>
            <a:r>
              <a:rPr lang="en-US" sz="2400" dirty="0"/>
              <a:t>dvance </a:t>
            </a:r>
            <a:r>
              <a:rPr lang="en-US" sz="2400" b="1" dirty="0"/>
              <a:t>H</a:t>
            </a:r>
            <a:r>
              <a:rPr lang="en-US" sz="2400" dirty="0"/>
              <a:t>igh Performance </a:t>
            </a:r>
            <a:r>
              <a:rPr lang="en-US" sz="2400" b="1" dirty="0"/>
              <a:t>B</a:t>
            </a:r>
            <a:r>
              <a:rPr lang="en-US" sz="2400" dirty="0"/>
              <a:t>us) is used for interface vectored interrupt controller to </a:t>
            </a:r>
            <a:r>
              <a:rPr lang="en-US" sz="2400" dirty="0" smtClean="0"/>
              <a:t>the      		ARM7 </a:t>
            </a:r>
            <a:r>
              <a:rPr lang="en-US" sz="2400" dirty="0"/>
              <a:t>Core (LPC2148)</a:t>
            </a:r>
          </a:p>
          <a:p>
            <a:pPr algn="just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432443"/>
            <a:ext cx="216217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283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26309"/>
            <a:ext cx="8229600" cy="1752600"/>
          </a:xfrm>
        </p:spPr>
        <p:txBody>
          <a:bodyPr>
            <a:normAutofit/>
          </a:bodyPr>
          <a:lstStyle/>
          <a:p>
            <a:r>
              <a:rPr lang="en-US" sz="2000" dirty="0"/>
              <a:t>The vector Interrupt Controller (VIC) takes 32-interrupt request input and assigned them </a:t>
            </a:r>
            <a:r>
              <a:rPr lang="en-US" sz="2000" dirty="0" err="1"/>
              <a:t>programmably</a:t>
            </a:r>
            <a:r>
              <a:rPr lang="en-US" sz="2000" dirty="0"/>
              <a:t> into 3-categories, listed below: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57057"/>
              </p:ext>
            </p:extLst>
          </p:nvPr>
        </p:nvGraphicFramePr>
        <p:xfrm>
          <a:off x="685800" y="1435402"/>
          <a:ext cx="8229600" cy="4525962"/>
        </p:xfrm>
        <a:graphic>
          <a:graphicData uri="http://schemas.openxmlformats.org/drawingml/2006/table">
            <a:tbl>
              <a:tblPr/>
              <a:tblGrid>
                <a:gridCol w="2353761"/>
                <a:gridCol w="5875839"/>
              </a:tblGrid>
              <a:tr h="1185371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FIQ</a:t>
                      </a:r>
                      <a:endParaRPr lang="en-US" sz="1100" dirty="0">
                        <a:effectLst/>
                      </a:endParaRPr>
                    </a:p>
                  </a:txBody>
                  <a:tcPr marL="53881" marR="53881" marT="26940" marB="26940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Fast Interrupt Request: 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</a:rPr>
                        <a:t>For fast, low latency interrupt handling. FIQ have highest priority followed by interrupt vector 0-31. Only single FIQ source at a time is generally used in a system</a:t>
                      </a:r>
                      <a:endParaRPr lang="en-US" sz="1100">
                        <a:effectLst/>
                      </a:endParaRPr>
                    </a:p>
                  </a:txBody>
                  <a:tcPr marL="53881" marR="53881" marT="26940" marB="26940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508654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Vectored IRQ</a:t>
                      </a:r>
                      <a:endParaRPr lang="en-US" sz="1100">
                        <a:effectLst/>
                      </a:endParaRPr>
                    </a:p>
                  </a:txBody>
                  <a:tcPr marL="53881" marR="53881" marT="26940" marB="26940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Vectored Interrupt Request: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 VIRQ have medium priority. Vectored Interrupt Controller has 32 vectored interrupt slots out of which 16 slots are used for vector addressing. Each slot contain vector address register &amp; vector control register</a:t>
                      </a:r>
                      <a:endParaRPr lang="en-US" sz="1100" dirty="0">
                        <a:effectLst/>
                      </a:endParaRPr>
                    </a:p>
                  </a:txBody>
                  <a:tcPr marL="53881" marR="53881" marT="26940" marB="26940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31937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Non-Vectored IRQ</a:t>
                      </a:r>
                      <a:endParaRPr lang="en-US" sz="1100">
                        <a:effectLst/>
                      </a:endParaRPr>
                    </a:p>
                  </a:txBody>
                  <a:tcPr marL="53881" marR="53881" marT="26940" marB="26940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Non-Vectored Request: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</a:rPr>
                        <a:t> Non Vectored IRQ has lowest priority. The VIC is capable of handling 16 peripherals as a vectored interrupt and at least one as an FIQ Interrupt. If in case there are more than 17 interrupt sources on chip, any extra interrupt can be serviced as a Non-Vectored Interrupt.</a:t>
                      </a:r>
                      <a:endParaRPr lang="en-US" sz="1100" dirty="0">
                        <a:effectLst/>
                      </a:endParaRPr>
                    </a:p>
                  </a:txBody>
                  <a:tcPr marL="53881" marR="53881" marT="26940" marB="26940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779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Seven Pins of PORT0 on LPC2148 Microcontroller</a:t>
            </a:r>
            <a:r>
              <a:rPr lang="en-US" sz="2000" dirty="0"/>
              <a:t> can be configured as external interrupt input. The pin description is given as below: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40794"/>
              </p:ext>
            </p:extLst>
          </p:nvPr>
        </p:nvGraphicFramePr>
        <p:xfrm>
          <a:off x="457200" y="2482064"/>
          <a:ext cx="7086600" cy="4343401"/>
        </p:xfrm>
        <a:graphic>
          <a:graphicData uri="http://schemas.openxmlformats.org/drawingml/2006/table">
            <a:tbl>
              <a:tblPr/>
              <a:tblGrid>
                <a:gridCol w="1574800"/>
                <a:gridCol w="1574800"/>
                <a:gridCol w="3937000"/>
              </a:tblGrid>
              <a:tr h="478117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Pin Name</a:t>
                      </a:r>
                      <a:endParaRPr lang="en-US" sz="1400" dirty="0">
                        <a:effectLst/>
                      </a:endParaRPr>
                    </a:p>
                  </a:txBody>
                  <a:tcPr marL="69630" marR="69630" marT="34815" marB="34815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Pin Direction</a:t>
                      </a:r>
                      <a:endParaRPr lang="en-US" sz="1400">
                        <a:effectLst/>
                      </a:endParaRP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Pin Description</a:t>
                      </a:r>
                      <a:endParaRPr lang="en-US" sz="1400">
                        <a:effectLst/>
                      </a:endParaRP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96632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EINT0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External Interrupt Input 0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Pins P0.1 and P0.16 can be selected to perform EINT0 function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96632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EINT1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External Interrupt Input 1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Pins P0.3 and P0.14 can be selected to perform EINT1 function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96632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EINT2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External Interrupt Input 2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Pins P0.7 and P0.15 can be selected to perform EINT2 function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96632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EINT3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External Interrupt Input 3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Pins P0.9, P0.20 and P0.30 can be selected to for EINT3</a:t>
                      </a:r>
                    </a:p>
                  </a:txBody>
                  <a:tcPr marL="69630" marR="69630" marT="34815" marB="34815"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8A89-B8D1-4740-8783-47C145AE44FD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1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Regitsers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External Interrupt Mode register (EXTMODE</a:t>
            </a:r>
            <a:r>
              <a:rPr lang="en-US" sz="2000" dirty="0" smtClean="0"/>
              <a:t>)</a:t>
            </a:r>
          </a:p>
          <a:p>
            <a:r>
              <a:rPr lang="en-US" sz="2000" dirty="0"/>
              <a:t>External Interrupt Polarity register (EXTPOLAR</a:t>
            </a:r>
            <a:r>
              <a:rPr lang="en-US" sz="2000" dirty="0" smtClean="0"/>
              <a:t>)</a:t>
            </a:r>
          </a:p>
          <a:p>
            <a:r>
              <a:rPr lang="sv-SE" sz="2000" dirty="0"/>
              <a:t>External Interrupt Flag register (EXTINT)</a:t>
            </a:r>
            <a:endParaRPr lang="en-US" sz="20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095F-B5A1-44A6-A42F-39EF9CE8CAD3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1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899" y="82630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External Interrupt Mode register (</a:t>
            </a:r>
            <a:r>
              <a:rPr lang="en-US" b="1" dirty="0" smtClean="0"/>
              <a:t>EXTMODE)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84" y="2590800"/>
            <a:ext cx="8229600" cy="85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318499" y="3733800"/>
            <a:ext cx="85344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0-- </a:t>
            </a:r>
            <a:r>
              <a:rPr lang="en-US" sz="2000" dirty="0"/>
              <a:t>Level-sensitivity is selected </a:t>
            </a:r>
            <a:r>
              <a:rPr lang="en-US" sz="2000" dirty="0" smtClean="0"/>
              <a:t>for EINT0/1/2/3</a:t>
            </a:r>
          </a:p>
          <a:p>
            <a:endParaRPr lang="en-US" sz="2000" dirty="0"/>
          </a:p>
          <a:p>
            <a:r>
              <a:rPr lang="en-US" sz="2000" dirty="0" smtClean="0"/>
              <a:t>1-- EINT0/1/2/3 </a:t>
            </a:r>
            <a:r>
              <a:rPr lang="en-US" sz="2000" dirty="0"/>
              <a:t>is edge sensitive.</a:t>
            </a:r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381000" y="1905000"/>
            <a:ext cx="76987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bits in this register select whether each EINT pin is level- or edge-sensitive.</a:t>
            </a:r>
          </a:p>
        </p:txBody>
      </p:sp>
      <p:pic>
        <p:nvPicPr>
          <p:cNvPr id="6" name="Picture 5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7FB9-E0B6-46DF-903A-DB342062281E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4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297" y="8553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External Interrupt Polarity register (</a:t>
            </a:r>
            <a:r>
              <a:rPr lang="en-US" b="1" dirty="0" smtClean="0"/>
              <a:t>EXTPOLAR)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3437824"/>
            <a:ext cx="8229600" cy="85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609600" y="45720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0-- EINT0/1/2/3  </a:t>
            </a:r>
            <a:r>
              <a:rPr lang="en-US" sz="2000" dirty="0"/>
              <a:t>is low-active or falling-edge sensitive </a:t>
            </a:r>
          </a:p>
          <a:p>
            <a:r>
              <a:rPr lang="en-US" sz="2000" dirty="0" smtClean="0"/>
              <a:t>1-- EINT0/1/2/3  </a:t>
            </a:r>
            <a:r>
              <a:rPr lang="en-US" sz="2000" dirty="0"/>
              <a:t>is high-active or rising-edge sensitive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497" y="1981200"/>
            <a:ext cx="8077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 level-sensitive mode, the bits in this register select whether the corresponding pin </a:t>
            </a:r>
            <a:r>
              <a:rPr lang="en-US" sz="2000" dirty="0" smtClean="0"/>
              <a:t>is high- </a:t>
            </a:r>
            <a:r>
              <a:rPr lang="en-US" sz="2000" dirty="0"/>
              <a:t>or low-active. </a:t>
            </a:r>
            <a:endParaRPr lang="en-US" sz="20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In </a:t>
            </a:r>
            <a:r>
              <a:rPr lang="en-US" sz="2000" dirty="0"/>
              <a:t>edge-sensitive mode, they select whether the pin is rising- </a:t>
            </a:r>
            <a:r>
              <a:rPr lang="en-US" sz="2000" dirty="0" smtClean="0"/>
              <a:t>or falling-edge </a:t>
            </a:r>
            <a:r>
              <a:rPr lang="en-US" sz="2000" dirty="0"/>
              <a:t>sensitive.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A932-2DFD-40B0-ACCB-B85EF40B78FB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1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5466"/>
            <a:ext cx="8229600" cy="1143000"/>
          </a:xfrm>
        </p:spPr>
        <p:txBody>
          <a:bodyPr/>
          <a:lstStyle/>
          <a:p>
            <a:r>
              <a:rPr lang="en-US" sz="4100" b="1" dirty="0" smtClean="0"/>
              <a:t>Level / Edge Sensitive Interrupt</a:t>
            </a:r>
            <a:endParaRPr lang="en-US" sz="4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2633663"/>
            <a:ext cx="41243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C04F3-FCAC-45F2-8B50-5EE872685405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7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5281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v-SE" b="1" dirty="0"/>
              <a:t>External Interrupt Flag </a:t>
            </a:r>
            <a:r>
              <a:rPr lang="sv-SE" b="1" dirty="0" smtClean="0"/>
              <a:t>Register </a:t>
            </a:r>
            <a:r>
              <a:rPr lang="sv-SE" b="1" dirty="0"/>
              <a:t>(</a:t>
            </a:r>
            <a:r>
              <a:rPr lang="sv-SE" b="1" dirty="0" smtClean="0"/>
              <a:t>EXTINT)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077200" cy="4068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Once a bit from EINT0 to EINT3 is set and an appropriate code starts to execute (</a:t>
            </a:r>
            <a:r>
              <a:rPr lang="en-US" sz="2000" dirty="0" smtClean="0"/>
              <a:t>handling wakeup </a:t>
            </a:r>
            <a:r>
              <a:rPr lang="en-US" sz="2000" dirty="0"/>
              <a:t>and/or external interrupt), this bit in EXTINT register must be cleared. </a:t>
            </a:r>
            <a:r>
              <a:rPr lang="en-US" sz="2000" dirty="0" smtClean="0"/>
              <a:t>Otherwise the </a:t>
            </a:r>
            <a:r>
              <a:rPr lang="en-US" sz="2000" dirty="0"/>
              <a:t>event that was just triggered by activity on the EINT pin will not be recognized in the</a:t>
            </a:r>
          </a:p>
          <a:p>
            <a:pPr marL="0" indent="0">
              <a:buNone/>
            </a:pPr>
            <a:r>
              <a:rPr lang="en-US" sz="2000" dirty="0"/>
              <a:t>future.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2572923"/>
            <a:ext cx="6151563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04290" y="1895815"/>
            <a:ext cx="77724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External </a:t>
            </a:r>
            <a:r>
              <a:rPr lang="en-US" sz="2000" dirty="0"/>
              <a:t>Interrupt</a:t>
            </a:r>
            <a:r>
              <a:rPr lang="en-US" dirty="0"/>
              <a:t> Flag Register </a:t>
            </a:r>
            <a:r>
              <a:rPr lang="en-US" dirty="0" smtClean="0"/>
              <a:t>contains interrupt </a:t>
            </a:r>
            <a:r>
              <a:rPr lang="en-US" dirty="0"/>
              <a:t>flags for EINT0, EINT1, EINT2 </a:t>
            </a:r>
            <a:r>
              <a:rPr lang="en-US" dirty="0" smtClean="0"/>
              <a:t>and EINT3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8E800-A654-4B2C-9DA6-E2BFDB962D38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9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731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Vectored Interrupt Controller(VIC)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The registers used for programming the interrupts are:</a:t>
            </a:r>
            <a:endParaRPr lang="en-US" sz="2000" dirty="0"/>
          </a:p>
          <a:p>
            <a:pPr lvl="1"/>
            <a:r>
              <a:rPr lang="en-US" sz="2000" dirty="0" err="1" smtClean="0"/>
              <a:t>VICIntEnable</a:t>
            </a:r>
            <a:endParaRPr lang="en-US" sz="2000" dirty="0" smtClean="0"/>
          </a:p>
          <a:p>
            <a:pPr lvl="1"/>
            <a:r>
              <a:rPr lang="en-US" sz="2000" dirty="0" err="1" smtClean="0"/>
              <a:t>VICVectAddr</a:t>
            </a:r>
            <a:endParaRPr lang="en-US" sz="2000" dirty="0" smtClean="0"/>
          </a:p>
          <a:p>
            <a:pPr lvl="1"/>
            <a:r>
              <a:rPr lang="en-US" sz="2000" dirty="0" smtClean="0"/>
              <a:t>VICVectAddr0-</a:t>
            </a:r>
            <a:r>
              <a:rPr lang="en-US" sz="2000" dirty="0"/>
              <a:t>VICVectAddr15</a:t>
            </a:r>
            <a:endParaRPr lang="en-US" sz="2000" dirty="0" smtClean="0"/>
          </a:p>
          <a:p>
            <a:pPr lvl="1"/>
            <a:r>
              <a:rPr lang="en-US" sz="2000" dirty="0" smtClean="0"/>
              <a:t>VICVectCntl0-</a:t>
            </a:r>
            <a:r>
              <a:rPr lang="en-US" sz="2000" dirty="0"/>
              <a:t>VICVectCntl15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1FA4-60CA-4C96-A26A-4BEDE8150AB9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7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379" y="12422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Interrupt Enable Register. 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/>
              <a:t>This </a:t>
            </a:r>
            <a:r>
              <a:rPr lang="en-US" sz="2000" dirty="0"/>
              <a:t>register controls which of </a:t>
            </a:r>
            <a:r>
              <a:rPr lang="en-US" sz="2000" dirty="0" smtClean="0"/>
              <a:t>the 32 </a:t>
            </a:r>
            <a:r>
              <a:rPr lang="en-US" sz="2000" dirty="0"/>
              <a:t>interrupt requests and software interrupts are enabled </a:t>
            </a:r>
            <a:r>
              <a:rPr lang="en-US" sz="2000" dirty="0" smtClean="0"/>
              <a:t>to contribute </a:t>
            </a:r>
            <a:r>
              <a:rPr lang="en-US" sz="2000" dirty="0"/>
              <a:t>to FIQ or IRQ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When </a:t>
            </a:r>
            <a:r>
              <a:rPr lang="en-US" sz="2000" dirty="0"/>
              <a:t>a bit is set to 1, the corresponding interrupt is enabled.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742" y="3505199"/>
            <a:ext cx="8437563" cy="297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VICIntEnable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4400" dirty="0"/>
          </a:p>
        </p:txBody>
      </p:sp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94B7-A974-4CB6-B9D2-E65A748E9836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0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849" y="179112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Vector </a:t>
            </a:r>
            <a:r>
              <a:rPr lang="en-US" sz="2000" dirty="0">
                <a:solidFill>
                  <a:srgbClr val="FF0000"/>
                </a:solidFill>
              </a:rPr>
              <a:t>Address Registers </a:t>
            </a:r>
            <a:r>
              <a:rPr lang="en-US" sz="2000" dirty="0" smtClean="0"/>
              <a:t>0-15 hold </a:t>
            </a:r>
            <a:r>
              <a:rPr lang="en-US" sz="2000" dirty="0"/>
              <a:t>the addresses of the Interrupt Service routines (</a:t>
            </a:r>
            <a:r>
              <a:rPr lang="en-US" sz="2000" dirty="0" smtClean="0"/>
              <a:t>ISRs) for </a:t>
            </a:r>
            <a:r>
              <a:rPr lang="en-US" sz="2000" dirty="0"/>
              <a:t>the 16 vectored IRQ slots.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685800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tx1"/>
                </a:solidFill>
              </a:rPr>
              <a:t>VICVectAddr0-VICVectAddr15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4A66-E77C-40D4-A6EC-2819434A5998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2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94" y="2332037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The first 5 bits in the Vector Control Registers (Bit 0 – Bit 4) contains the number of the interrupt request. The 5</a:t>
            </a:r>
            <a:r>
              <a:rPr lang="en-US" sz="2000" baseline="30000" dirty="0"/>
              <a:t>th</a:t>
            </a:r>
            <a:r>
              <a:rPr lang="en-US" sz="2000" dirty="0"/>
              <a:t> bit (Bit 5) is used to enable the Vectored IRQ Slot.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5797" y="35814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81400"/>
            <a:ext cx="663257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33400" y="381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/>
            <a:endParaRPr lang="en-US" sz="4000" dirty="0"/>
          </a:p>
        </p:txBody>
      </p:sp>
      <p:sp>
        <p:nvSpPr>
          <p:cNvPr id="13" name="Rectangle 12"/>
          <p:cNvSpPr/>
          <p:nvPr/>
        </p:nvSpPr>
        <p:spPr>
          <a:xfrm>
            <a:off x="761822" y="1524000"/>
            <a:ext cx="7848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Vector </a:t>
            </a:r>
            <a:r>
              <a:rPr lang="en-US" sz="2000" dirty="0">
                <a:solidFill>
                  <a:srgbClr val="FF0000"/>
                </a:solidFill>
              </a:rPr>
              <a:t>Control Registers </a:t>
            </a:r>
            <a:r>
              <a:rPr lang="en-US" sz="2000" dirty="0"/>
              <a:t>0-15 </a:t>
            </a:r>
            <a:r>
              <a:rPr lang="en-US" sz="2000" dirty="0" smtClean="0"/>
              <a:t>each control </a:t>
            </a:r>
            <a:r>
              <a:rPr lang="en-US" sz="2000" dirty="0"/>
              <a:t>one of the 16 vectored IRQ slots. Slot 0 has </a:t>
            </a:r>
            <a:r>
              <a:rPr lang="en-US" sz="2000" dirty="0" smtClean="0"/>
              <a:t>the highest </a:t>
            </a:r>
            <a:r>
              <a:rPr lang="en-US" sz="2000" dirty="0"/>
              <a:t>priority and slot 15 the lowest.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20687" y="609600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lvl="1" algn="ctr"/>
            <a:r>
              <a:rPr lang="en-US" sz="4000" b="1" dirty="0">
                <a:latin typeface="+mj-lt"/>
                <a:ea typeface="+mj-ea"/>
                <a:cs typeface="+mj-cs"/>
              </a:rPr>
              <a:t>VICVectCntl0-VICVectCntl15</a:t>
            </a:r>
          </a:p>
        </p:txBody>
      </p:sp>
      <p:pic>
        <p:nvPicPr>
          <p:cNvPr id="10" name="Picture 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1131-89FB-4F77-95AD-CA41730665CD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6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1430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+mn-lt"/>
              </a:rPr>
              <a:t>For example, if we want to assign Slot 0 to </a:t>
            </a:r>
            <a:r>
              <a:rPr lang="en-US" sz="2000" dirty="0" smtClean="0">
                <a:latin typeface="+mn-lt"/>
              </a:rPr>
              <a:t>EINT0, </a:t>
            </a:r>
            <a:r>
              <a:rPr lang="en-US" sz="2000" dirty="0">
                <a:latin typeface="+mn-lt"/>
              </a:rPr>
              <a:t>then the Vector Control Register must be declared as follows: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VICVectCntl0 = 0x20 | </a:t>
            </a:r>
            <a:r>
              <a:rPr lang="en-US" sz="2000" dirty="0" smtClean="0">
                <a:latin typeface="+mn-lt"/>
              </a:rPr>
              <a:t>14</a:t>
            </a:r>
            <a:r>
              <a:rPr lang="en-US" sz="2000" dirty="0">
                <a:latin typeface="+mn-lt"/>
              </a:rPr>
              <a:t>;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243478"/>
              </p:ext>
            </p:extLst>
          </p:nvPr>
        </p:nvGraphicFramePr>
        <p:xfrm>
          <a:off x="914400" y="1676400"/>
          <a:ext cx="2590800" cy="4937816"/>
        </p:xfrm>
        <a:graphic>
          <a:graphicData uri="http://schemas.openxmlformats.org/drawingml/2006/table">
            <a:tbl>
              <a:tblPr/>
              <a:tblGrid>
                <a:gridCol w="1066800"/>
                <a:gridCol w="1524000"/>
              </a:tblGrid>
              <a:tr h="878172">
                <a:tc>
                  <a:txBody>
                    <a:bodyPr/>
                    <a:lstStyle/>
                    <a:p>
                      <a:r>
                        <a:rPr lang="en-US" sz="1600" b="1" dirty="0"/>
                        <a:t>Interrupt Source</a:t>
                      </a:r>
                      <a:endParaRPr lang="en-US" sz="1600" dirty="0"/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Source Number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in Decimal</a:t>
                      </a:r>
                      <a:endParaRPr lang="en-US" sz="1600" dirty="0"/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WDT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N/A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2862">
                <a:tc>
                  <a:txBody>
                    <a:bodyPr/>
                    <a:lstStyle/>
                    <a:p>
                      <a:r>
                        <a:rPr lang="en-US" sz="1600" dirty="0"/>
                        <a:t>ARMCore0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2862">
                <a:tc>
                  <a:txBody>
                    <a:bodyPr/>
                    <a:lstStyle/>
                    <a:p>
                      <a:r>
                        <a:rPr lang="en-US" sz="1600"/>
                        <a:t>ARMCore1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TIMER0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TIMER1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UART0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UART1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PWM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I2C0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SPI0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0207">
                <a:tc>
                  <a:txBody>
                    <a:bodyPr/>
                    <a:lstStyle/>
                    <a:p>
                      <a:r>
                        <a:rPr lang="en-US" sz="1600"/>
                        <a:t>SPI1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352867"/>
              </p:ext>
            </p:extLst>
          </p:nvPr>
        </p:nvGraphicFramePr>
        <p:xfrm>
          <a:off x="4724400" y="1600200"/>
          <a:ext cx="2901672" cy="4587899"/>
        </p:xfrm>
        <a:graphic>
          <a:graphicData uri="http://schemas.openxmlformats.org/drawingml/2006/table">
            <a:tbl>
              <a:tblPr/>
              <a:tblGrid>
                <a:gridCol w="996672"/>
                <a:gridCol w="1905000"/>
              </a:tblGrid>
              <a:tr h="1032237">
                <a:tc>
                  <a:txBody>
                    <a:bodyPr/>
                    <a:lstStyle/>
                    <a:p>
                      <a:r>
                        <a:rPr lang="en-US" sz="1600" b="1" dirty="0"/>
                        <a:t>Interrupt Source</a:t>
                      </a:r>
                      <a:endParaRPr lang="en-US" sz="1600" dirty="0"/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Source number</a:t>
                      </a:r>
                      <a:br>
                        <a:rPr lang="en-US" sz="1600" b="1"/>
                      </a:br>
                      <a:r>
                        <a:rPr lang="en-US" sz="1600" b="1"/>
                        <a:t>In Decimal</a:t>
                      </a:r>
                      <a:endParaRPr lang="en-US" sz="1600"/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PLL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RTC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13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 dirty="0"/>
                        <a:t>EINT0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14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EINT1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15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 dirty="0"/>
                        <a:t>EINT2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16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EINT3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17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ADC0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18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I2C1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19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BOD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ADC1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21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611">
                <a:tc>
                  <a:txBody>
                    <a:bodyPr/>
                    <a:lstStyle/>
                    <a:p>
                      <a:r>
                        <a:rPr lang="en-US" sz="1600"/>
                        <a:t>USB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22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4BE86-0393-4226-9736-424A0230C721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9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2136339"/>
            <a:ext cx="8153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Vector Address Register</a:t>
            </a:r>
          </a:p>
          <a:p>
            <a:r>
              <a:rPr lang="en-US" dirty="0"/>
              <a:t> When an IRQ interrupt occurs, the IRQ service routine can read this register and jump to the value read.</a:t>
            </a:r>
          </a:p>
          <a:p>
            <a:r>
              <a:rPr lang="en-US" dirty="0"/>
              <a:t>Writing a value to this register indicates the VIC that the execution of the current interrupt is finished. Hence, this register is written with a dummy value at the end of the ISR to indicate the end of execution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 algn="ctr" rtl="0">
              <a:spcBef>
                <a:spcPct val="0"/>
              </a:spcBef>
            </a:pPr>
            <a:r>
              <a:rPr lang="en-US" sz="4000" b="1" dirty="0" err="1">
                <a:latin typeface="+mj-lt"/>
                <a:ea typeface="+mj-ea"/>
                <a:cs typeface="+mj-cs"/>
              </a:rPr>
              <a:t>VICVectAddr</a:t>
            </a:r>
            <a:r>
              <a:rPr lang="en-US" sz="4000" b="1" dirty="0">
                <a:latin typeface="+mj-lt"/>
                <a:ea typeface="+mj-ea"/>
                <a:cs typeface="+mj-cs"/>
              </a:rPr>
              <a:t/>
            </a:r>
            <a:br>
              <a:rPr lang="en-US" sz="4000" b="1" dirty="0">
                <a:latin typeface="+mj-lt"/>
                <a:ea typeface="+mj-ea"/>
                <a:cs typeface="+mj-cs"/>
              </a:rPr>
            </a:br>
            <a:endParaRPr lang="en-US" sz="40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2A1D4-23EF-4E47-BAC2-EE821AF28C8A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1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External Interrupt Circuit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2133600"/>
            <a:ext cx="3429000" cy="3611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When the SW10  is pressed the port line goes low and the external interrupt occurs at the port P0.16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87" y="2057400"/>
            <a:ext cx="3133725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2677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Algorithm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Initialization Steps: External Interrupt in LPC2148 ARM7</a:t>
            </a:r>
            <a:endParaRPr lang="en-US" sz="2000" dirty="0"/>
          </a:p>
          <a:p>
            <a:r>
              <a:rPr lang="en-US" sz="2000" dirty="0"/>
              <a:t>Configure Pin Function</a:t>
            </a:r>
          </a:p>
          <a:p>
            <a:r>
              <a:rPr lang="en-US" sz="2000" dirty="0"/>
              <a:t>Select Edge/Level sensitive</a:t>
            </a:r>
          </a:p>
          <a:p>
            <a:r>
              <a:rPr lang="en-US" sz="2000" dirty="0"/>
              <a:t>Choose Signal </a:t>
            </a:r>
            <a:r>
              <a:rPr lang="en-US" sz="2000" dirty="0" smtClean="0"/>
              <a:t>Polarity</a:t>
            </a:r>
          </a:p>
          <a:p>
            <a:r>
              <a:rPr lang="en-US" sz="2000" dirty="0" smtClean="0"/>
              <a:t>Enable the Vectored IRQ slot </a:t>
            </a:r>
            <a:endParaRPr lang="en-US" sz="2000" dirty="0"/>
          </a:p>
          <a:p>
            <a:r>
              <a:rPr lang="en-US" sz="2000" dirty="0" smtClean="0"/>
              <a:t>Assign address of the ISR </a:t>
            </a:r>
          </a:p>
          <a:p>
            <a:r>
              <a:rPr lang="en-US" sz="2000" dirty="0" smtClean="0"/>
              <a:t>Enable the external interrupt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Once Interrupt is detected</a:t>
            </a:r>
          </a:p>
          <a:p>
            <a:pPr marL="0" indent="0">
              <a:buNone/>
            </a:pPr>
            <a:r>
              <a:rPr lang="en-US" sz="2000" dirty="0" smtClean="0"/>
              <a:t>ISR  Function is called automatically</a:t>
            </a:r>
          </a:p>
          <a:p>
            <a:r>
              <a:rPr lang="en-US" sz="2000" dirty="0" smtClean="0"/>
              <a:t>Execute the ISR for desired application   </a:t>
            </a:r>
          </a:p>
          <a:p>
            <a:r>
              <a:rPr lang="en-US" sz="2000" dirty="0" smtClean="0"/>
              <a:t>Clear Interrupt Flag</a:t>
            </a:r>
          </a:p>
          <a:p>
            <a:r>
              <a:rPr lang="en-US" sz="2000" dirty="0" smtClean="0"/>
              <a:t>Terminate ISR Execution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/>
          </a:p>
        </p:txBody>
      </p:sp>
      <p:sp>
        <p:nvSpPr>
          <p:cNvPr id="7" name="Right Arrow 6"/>
          <p:cNvSpPr/>
          <p:nvPr/>
        </p:nvSpPr>
        <p:spPr>
          <a:xfrm>
            <a:off x="3825410" y="1676400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37150" y="158998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PINSEL1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4246" y="2008806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3868646" y="2372786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3926440" y="2743200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3950412" y="3412731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78246" y="1922386"/>
            <a:ext cx="133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EXTMODE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040" y="2656780"/>
            <a:ext cx="163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VICVectCntl0</a:t>
            </a:r>
            <a:endParaRPr lang="en-US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4595972" y="2929796"/>
            <a:ext cx="172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VICVectAddr0</a:t>
            </a:r>
            <a:endParaRPr lang="en-US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4636211" y="3326311"/>
            <a:ext cx="160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VICIntEnable</a:t>
            </a:r>
            <a:endParaRPr lang="en-US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4448707" y="2286366"/>
            <a:ext cx="1333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EXTPOLAR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82108" y="4724400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648644" y="4637980"/>
            <a:ext cx="160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Blink LEDs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944865" y="5093731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670476" y="5027750"/>
            <a:ext cx="160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EXTINT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982108" y="5472862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608405" y="5417903"/>
            <a:ext cx="172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VICVectAddr</a:t>
            </a:r>
            <a:endParaRPr lang="en-US" dirty="0" smtClean="0"/>
          </a:p>
        </p:txBody>
      </p:sp>
      <p:sp>
        <p:nvSpPr>
          <p:cNvPr id="32" name="Right Arrow 31"/>
          <p:cNvSpPr/>
          <p:nvPr/>
        </p:nvSpPr>
        <p:spPr>
          <a:xfrm>
            <a:off x="3902467" y="3069563"/>
            <a:ext cx="609600" cy="196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0BF3-2D90-42CB-82D6-E241EA997CAD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8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Program 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82296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#</a:t>
            </a:r>
            <a:r>
              <a:rPr lang="en-US" sz="2000" dirty="0"/>
              <a:t>include&lt;LPC21XX.h&gt;</a:t>
            </a:r>
          </a:p>
          <a:p>
            <a:pPr marL="0" indent="0">
              <a:buNone/>
            </a:pPr>
            <a:r>
              <a:rPr lang="en-US" sz="2000" dirty="0"/>
              <a:t>#include&lt;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void delay(unsigned </a:t>
            </a:r>
            <a:r>
              <a:rPr lang="en-US" sz="2000" dirty="0" err="1"/>
              <a:t>int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void extint0_ISR(void)__</a:t>
            </a:r>
            <a:r>
              <a:rPr lang="en-US" sz="2000" dirty="0" err="1"/>
              <a:t>irq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void delay(unsigned </a:t>
            </a:r>
            <a:r>
              <a:rPr lang="en-US" sz="2000" dirty="0" err="1"/>
              <a:t>int</a:t>
            </a:r>
            <a:r>
              <a:rPr lang="en-US" sz="2000" dirty="0"/>
              <a:t> );</a:t>
            </a:r>
          </a:p>
          <a:p>
            <a:pPr marL="0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main(void)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	PINSEL1=0x00000001;</a:t>
            </a:r>
          </a:p>
          <a:p>
            <a:pPr marL="0" indent="0">
              <a:buNone/>
            </a:pPr>
            <a:r>
              <a:rPr lang="en-US" sz="2000" dirty="0"/>
              <a:t>	EXTMODE=0x00000001;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VICVectAddr0</a:t>
            </a:r>
            <a:r>
              <a:rPr lang="en-US" sz="2000" dirty="0"/>
              <a:t>=(unsigned long)extint0_ISR;</a:t>
            </a:r>
          </a:p>
          <a:p>
            <a:pPr marL="0" indent="0">
              <a:buNone/>
            </a:pPr>
            <a:r>
              <a:rPr lang="en-US" sz="2000" dirty="0"/>
              <a:t>	VICVectCntl0=0x20|14;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VICIntEnable</a:t>
            </a:r>
            <a:r>
              <a:rPr lang="en-US" sz="2000" dirty="0"/>
              <a:t>|=0x00004000;</a:t>
            </a:r>
          </a:p>
          <a:p>
            <a:pPr marL="0" indent="0">
              <a:buNone/>
            </a:pPr>
            <a:r>
              <a:rPr lang="en-US" sz="2000" dirty="0"/>
              <a:t>	while(1)</a:t>
            </a:r>
          </a:p>
          <a:p>
            <a:pPr marL="0" indent="0">
              <a:buNone/>
            </a:pPr>
            <a:r>
              <a:rPr lang="en-US" sz="2000" dirty="0" smtClean="0"/>
              <a:t>}</a:t>
            </a:r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endParaRPr lang="en-US" sz="2000" dirty="0"/>
          </a:p>
          <a:p>
            <a:endParaRPr lang="en-US" sz="1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85640-13EB-42CA-86C5-6498B7C7E7A1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3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void extint0_ISR(void)__</a:t>
            </a:r>
            <a:r>
              <a:rPr lang="en-US" sz="2000" dirty="0" err="1"/>
              <a:t>irq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	PINSEL0=0x00000000;</a:t>
            </a:r>
          </a:p>
          <a:p>
            <a:pPr marL="0" indent="0">
              <a:buNone/>
            </a:pPr>
            <a:r>
              <a:rPr lang="en-US" sz="2000" dirty="0"/>
              <a:t>	IODIR0=0x000f0000;</a:t>
            </a:r>
          </a:p>
          <a:p>
            <a:pPr marL="0" indent="0">
              <a:buNone/>
            </a:pPr>
            <a:r>
              <a:rPr lang="en-US" sz="2000" dirty="0"/>
              <a:t>	IOCLR0=0X000f0000</a:t>
            </a:r>
            <a:r>
              <a:rPr lang="en-US" sz="2000" dirty="0" smtClean="0"/>
              <a:t>; 	// ON LEDS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 delay(100000);	  </a:t>
            </a:r>
          </a:p>
          <a:p>
            <a:pPr marL="914400" lvl="2" indent="0">
              <a:buNone/>
            </a:pPr>
            <a:r>
              <a:rPr lang="en-US" sz="2000" dirty="0"/>
              <a:t>IOSET0=0X000f0000; </a:t>
            </a:r>
            <a:r>
              <a:rPr lang="en-US" sz="2000" dirty="0" smtClean="0"/>
              <a:t>	// OFF LEDS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delay(100000);</a:t>
            </a:r>
          </a:p>
          <a:p>
            <a:pPr marL="0" indent="0">
              <a:buNone/>
            </a:pPr>
            <a:r>
              <a:rPr lang="en-US" sz="2000" dirty="0"/>
              <a:t>	EXTINT|=0X00000001</a:t>
            </a:r>
            <a:r>
              <a:rPr lang="en-US" sz="2000" dirty="0" smtClean="0"/>
              <a:t>;	//Clear interrupt flag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VICVectAddr</a:t>
            </a:r>
            <a:r>
              <a:rPr lang="en-US" sz="2000" dirty="0"/>
              <a:t>=0</a:t>
            </a:r>
            <a:r>
              <a:rPr lang="en-US" sz="2000" dirty="0" smtClean="0"/>
              <a:t>;		</a:t>
            </a:r>
            <a:r>
              <a:rPr lang="en-US" sz="2000" dirty="0"/>
              <a:t>// End of interrupt </a:t>
            </a:r>
            <a:r>
              <a:rPr lang="en-US" sz="2000" dirty="0" smtClean="0"/>
              <a:t>execution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 smtClean="0"/>
              <a:t>void </a:t>
            </a:r>
            <a:r>
              <a:rPr lang="en-US" sz="2000" dirty="0"/>
              <a:t>delay(unsigned </a:t>
            </a:r>
            <a:r>
              <a:rPr lang="en-US" sz="2000" dirty="0" err="1"/>
              <a:t>int</a:t>
            </a:r>
            <a:r>
              <a:rPr lang="en-US" sz="2000" dirty="0"/>
              <a:t> x)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unsigned </a:t>
            </a:r>
            <a:r>
              <a:rPr lang="en-US" sz="2000" dirty="0" err="1"/>
              <a:t>int</a:t>
            </a:r>
            <a:r>
              <a:rPr lang="en-US" sz="2000" dirty="0"/>
              <a:t> i;</a:t>
            </a:r>
          </a:p>
          <a:p>
            <a:pPr marL="0" indent="0">
              <a:buNone/>
            </a:pPr>
            <a:r>
              <a:rPr lang="en-US" sz="2000" dirty="0"/>
              <a:t> for(i=0;i&lt;</a:t>
            </a:r>
            <a:r>
              <a:rPr lang="en-US" sz="2000" dirty="0" err="1"/>
              <a:t>x;i</a:t>
            </a:r>
            <a:r>
              <a:rPr lang="en-US" sz="2000" dirty="0"/>
              <a:t>++) 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ECB0-C46D-487E-8099-68F936586E7E}" type="datetime1">
              <a:rPr lang="en-US" smtClean="0"/>
              <a:t>5/5/2020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4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Interrupt is a external signal</a:t>
            </a:r>
          </a:p>
          <a:p>
            <a:r>
              <a:rPr lang="en-US" dirty="0" smtClean="0"/>
              <a:t>Vic</a:t>
            </a:r>
          </a:p>
          <a:p>
            <a:r>
              <a:rPr lang="en-US" dirty="0" smtClean="0"/>
              <a:t>Registers for configuration</a:t>
            </a:r>
          </a:p>
          <a:p>
            <a:r>
              <a:rPr lang="en-US" dirty="0" smtClean="0"/>
              <a:t>Vic registers</a:t>
            </a:r>
          </a:p>
          <a:p>
            <a:r>
              <a:rPr lang="en-US" dirty="0" smtClean="0"/>
              <a:t>Program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CFFFB-D57F-47E2-8884-AC2114774238}" type="datetime1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28209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3C86A-6E27-417E-AC2F-634B8B4442F1}" type="datetime1">
              <a:rPr lang="en-US" smtClean="0"/>
              <a:t>5/5/2020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pPr marL="914400" lvl="2" indent="0">
              <a:buFont typeface="Arial" pitchFamily="34" charset="0"/>
              <a:buNone/>
            </a:pPr>
            <a:r>
              <a:rPr lang="en-US" sz="6000" smtClean="0">
                <a:latin typeface="+mj-lt"/>
              </a:rPr>
              <a:t>	Thank You </a:t>
            </a:r>
            <a:endParaRPr lang="en-US" sz="6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616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</TotalTime>
  <Words>1287</Words>
  <Application>Microsoft Office PowerPoint</Application>
  <PresentationFormat>On-screen Show (4:3)</PresentationFormat>
  <Paragraphs>331</Paragraphs>
  <Slides>28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Course: ARM Processor &amp; Applications (15EECC207)      </vt:lpstr>
      <vt:lpstr>Course: ARM Processor &amp; Applications</vt:lpstr>
      <vt:lpstr>Unit-III EXTERNAL INTERRUPT</vt:lpstr>
      <vt:lpstr>Introduction </vt:lpstr>
      <vt:lpstr>How Interrupt Works? </vt:lpstr>
      <vt:lpstr>PowerPoint Presentation</vt:lpstr>
      <vt:lpstr>Why interrupt controller?</vt:lpstr>
      <vt:lpstr>Vectored Interrupt Controller(VIC)</vt:lpstr>
      <vt:lpstr>PowerPoint Presentation</vt:lpstr>
      <vt:lpstr>PowerPoint Presentation</vt:lpstr>
      <vt:lpstr>PowerPoint Presentation</vt:lpstr>
      <vt:lpstr>Regitsers </vt:lpstr>
      <vt:lpstr>External Interrupt Mode register (EXTMODE)</vt:lpstr>
      <vt:lpstr>External Interrupt Polarity register (EXTPOLAR)</vt:lpstr>
      <vt:lpstr>Level / Edge Sensitive Interrupt</vt:lpstr>
      <vt:lpstr>External Interrupt Flag Register (EXTINT)</vt:lpstr>
      <vt:lpstr>Vectored Interrupt Controller(VIC)</vt:lpstr>
      <vt:lpstr>PowerPoint Presentation</vt:lpstr>
      <vt:lpstr> </vt:lpstr>
      <vt:lpstr> </vt:lpstr>
      <vt:lpstr>For example, if we want to assign Slot 0 to EINT0, then the Vector Control Register must be declared as follows: VICVectCntl0 = 0x20 | 14;</vt:lpstr>
      <vt:lpstr>PowerPoint Presentation</vt:lpstr>
      <vt:lpstr>External Interrupt Circuit </vt:lpstr>
      <vt:lpstr>Algorithm </vt:lpstr>
      <vt:lpstr>Program </vt:lpstr>
      <vt:lpstr>PowerPoint Presentation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Interrupts </dc:title>
  <dc:creator>supriyavinayak</dc:creator>
  <cp:lastModifiedBy>Acer</cp:lastModifiedBy>
  <cp:revision>46</cp:revision>
  <dcterms:created xsi:type="dcterms:W3CDTF">2006-08-16T00:00:00Z</dcterms:created>
  <dcterms:modified xsi:type="dcterms:W3CDTF">2020-05-05T15:12:54Z</dcterms:modified>
</cp:coreProperties>
</file>