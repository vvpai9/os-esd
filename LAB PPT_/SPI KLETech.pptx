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8" r:id="rId3"/>
    <p:sldId id="257" r:id="rId4"/>
    <p:sldId id="289" r:id="rId5"/>
    <p:sldId id="259" r:id="rId6"/>
    <p:sldId id="278" r:id="rId7"/>
    <p:sldId id="279" r:id="rId8"/>
    <p:sldId id="280" r:id="rId9"/>
    <p:sldId id="281" r:id="rId10"/>
    <p:sldId id="283" r:id="rId11"/>
    <p:sldId id="261" r:id="rId12"/>
    <p:sldId id="290" r:id="rId13"/>
    <p:sldId id="262" r:id="rId14"/>
    <p:sldId id="264" r:id="rId15"/>
    <p:sldId id="265" r:id="rId16"/>
    <p:sldId id="266" r:id="rId17"/>
    <p:sldId id="284" r:id="rId18"/>
    <p:sldId id="282" r:id="rId19"/>
    <p:sldId id="267" r:id="rId20"/>
    <p:sldId id="285" r:id="rId21"/>
    <p:sldId id="268" r:id="rId22"/>
    <p:sldId id="287" r:id="rId23"/>
    <p:sldId id="269" r:id="rId24"/>
    <p:sldId id="286" r:id="rId25"/>
    <p:sldId id="270" r:id="rId26"/>
    <p:sldId id="271" r:id="rId27"/>
    <p:sldId id="291" r:id="rId28"/>
    <p:sldId id="273" r:id="rId29"/>
    <p:sldId id="274" r:id="rId30"/>
    <p:sldId id="272" r:id="rId31"/>
    <p:sldId id="275" r:id="rId32"/>
    <p:sldId id="288" r:id="rId33"/>
    <p:sldId id="276" r:id="rId34"/>
    <p:sldId id="27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8" autoAdjust="0"/>
    <p:restoredTop sz="94660"/>
  </p:normalViewPr>
  <p:slideViewPr>
    <p:cSldViewPr snapToGrid="0">
      <p:cViewPr varScale="1">
        <p:scale>
          <a:sx n="64" d="100"/>
          <a:sy n="64" d="100"/>
        </p:scale>
        <p:origin x="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10CDC1-B32D-400A-ABF8-A973C8F2E1EC}" type="datetimeFigureOut">
              <a:rPr lang="en-IN" smtClean="0"/>
              <a:t>14-09-2022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7C731-522A-4D39-B854-097B3799A79C}" type="slidenum">
              <a:rPr lang="en-IN" smtClean="0"/>
              <a:t>‹#›</a:t>
            </a:fld>
            <a:endParaRPr lang="en-IN"/>
          </a:p>
        </p:txBody>
      </p:sp>
    </p:spTree>
    <p:extLst>
      <p:ext uri="{BB962C8B-B14F-4D97-AF65-F5344CB8AC3E}">
        <p14:creationId xmlns:p14="http://schemas.microsoft.com/office/powerpoint/2010/main" val="151357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16FA-6BE2-49BE-A10F-0937F4581A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C39F394-7126-465D-BCD7-ECAE85B2B3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241CEC-30F1-431A-A551-0001C37AEB00}"/>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5" name="Footer Placeholder 4">
            <a:extLst>
              <a:ext uri="{FF2B5EF4-FFF2-40B4-BE49-F238E27FC236}">
                <a16:creationId xmlns:a16="http://schemas.microsoft.com/office/drawing/2014/main" id="{B61F1C67-D20D-475F-AA06-7333D0F4E9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05C8D4-2D3A-4242-BA0B-65F0518D5A01}"/>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1716732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3D6C4-B8CA-40FA-9396-08679462C8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432967-4B07-41D8-9CE6-B2A0590B0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0740DB-796D-42AB-AFE4-970B8E564D61}"/>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5" name="Footer Placeholder 4">
            <a:extLst>
              <a:ext uri="{FF2B5EF4-FFF2-40B4-BE49-F238E27FC236}">
                <a16:creationId xmlns:a16="http://schemas.microsoft.com/office/drawing/2014/main" id="{29044620-BCBF-426A-AA81-62662811E4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7E6785-C3B5-4F15-A063-08C8A574639E}"/>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2359696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A9A2-0244-42D7-97FC-AD7035BB4E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8E1F88-107C-49E4-9E15-F90AE71389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AE1F10-59E1-4226-88B7-1CC72C4232EF}"/>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5" name="Footer Placeholder 4">
            <a:extLst>
              <a:ext uri="{FF2B5EF4-FFF2-40B4-BE49-F238E27FC236}">
                <a16:creationId xmlns:a16="http://schemas.microsoft.com/office/drawing/2014/main" id="{6E64E892-11FA-49A2-B386-F69686F175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06FC4B-9AFF-48BE-83C3-00313EC436F7}"/>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3894145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7745-E649-4097-952D-EE5C79AF2C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D916B2-1FF9-405E-A592-7EC05F7862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AA9C115-6D0E-4131-BCE0-F12C5EACA0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2028D8-E400-4D90-A392-194CFC03C26C}"/>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6" name="Footer Placeholder 5">
            <a:extLst>
              <a:ext uri="{FF2B5EF4-FFF2-40B4-BE49-F238E27FC236}">
                <a16:creationId xmlns:a16="http://schemas.microsoft.com/office/drawing/2014/main" id="{88D1AB53-0A63-403B-B033-4C44EBD3FB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BB7F66-8431-4124-A293-85FC9AAB7706}"/>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2204828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80CED-8366-4656-83C1-249A49A61B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12BD5F-1856-48F5-8C5B-ED344177D1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AB34DB-65DE-41CF-9DBF-0C94B36099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777F778-F64A-460A-BA0A-F645759FB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FCE677-9FA5-4BEB-8AB9-D3CBD59C22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000674-2634-43D1-B71D-56C3A4F83BB2}"/>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8" name="Footer Placeholder 7">
            <a:extLst>
              <a:ext uri="{FF2B5EF4-FFF2-40B4-BE49-F238E27FC236}">
                <a16:creationId xmlns:a16="http://schemas.microsoft.com/office/drawing/2014/main" id="{C73286C1-0DD2-4910-8FD6-96154ED319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7509ED-FA03-404C-9EFA-0FA7E187D3A2}"/>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643845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66951-A596-4FB7-9A0A-0E320B45AFE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35E55C-5D90-4612-9B00-8C29F40CADD5}"/>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4" name="Footer Placeholder 3">
            <a:extLst>
              <a:ext uri="{FF2B5EF4-FFF2-40B4-BE49-F238E27FC236}">
                <a16:creationId xmlns:a16="http://schemas.microsoft.com/office/drawing/2014/main" id="{F455D858-F692-4E24-8FC9-6AEF2DC36F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F24FF8D-7B40-4D23-A725-6A353FE38A5D}"/>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2049629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B5E139-4D4B-4A13-959F-51D937420C8B}"/>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3" name="Footer Placeholder 2">
            <a:extLst>
              <a:ext uri="{FF2B5EF4-FFF2-40B4-BE49-F238E27FC236}">
                <a16:creationId xmlns:a16="http://schemas.microsoft.com/office/drawing/2014/main" id="{F5082107-7F80-4E09-BFE9-1F2104F4C1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2A5CCB-BC7C-44E2-9E25-6F183C7BD1F0}"/>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284536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2757F-EC97-47BE-99FB-AAD7122A36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2D27D0-8EA3-4419-9EAE-E30F23D1B1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148B06-C497-4DC3-A79E-6D94127E00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87B58D-1A65-43DE-BD9C-6FDF3E9DB205}"/>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6" name="Footer Placeholder 5">
            <a:extLst>
              <a:ext uri="{FF2B5EF4-FFF2-40B4-BE49-F238E27FC236}">
                <a16:creationId xmlns:a16="http://schemas.microsoft.com/office/drawing/2014/main" id="{61AD62A3-988C-4046-AB60-1C012D8F13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B1C61B-DC2B-4749-AFE2-FC8D4AFD3FE3}"/>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2305524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8DDBC-89A1-4021-A0A6-E90668D449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61FA30-7F36-4B68-8114-C04BA89620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B516C2-240F-4D4C-A776-6D62E2D8AA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5E43C9-156B-4F25-8E9A-9065264B3B2D}"/>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6" name="Footer Placeholder 5">
            <a:extLst>
              <a:ext uri="{FF2B5EF4-FFF2-40B4-BE49-F238E27FC236}">
                <a16:creationId xmlns:a16="http://schemas.microsoft.com/office/drawing/2014/main" id="{E7D6E773-41C3-477F-85FC-798B9D313B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BFA4A0-6F15-4D60-A679-7269AD17FB08}"/>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1672157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CD9F7-7FB9-45B7-8654-F09F085A4A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A4081-CBC3-4A54-AA7C-B75BF543E4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098E25-A0C6-48BF-9962-A13CF89E48BC}"/>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5" name="Footer Placeholder 4">
            <a:extLst>
              <a:ext uri="{FF2B5EF4-FFF2-40B4-BE49-F238E27FC236}">
                <a16:creationId xmlns:a16="http://schemas.microsoft.com/office/drawing/2014/main" id="{21113F81-2AED-451B-B7CA-833C90EE75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5ADA32-C10D-4553-9641-2763D379C8F7}"/>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2638320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939AB9-6338-4423-A20B-5DBC314780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D80956-B4DE-4C02-BD03-D15C437B1D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E5430D-8339-4F99-9E52-BBA5031DF732}"/>
              </a:ext>
            </a:extLst>
          </p:cNvPr>
          <p:cNvSpPr>
            <a:spLocks noGrp="1"/>
          </p:cNvSpPr>
          <p:nvPr>
            <p:ph type="dt" sz="half" idx="10"/>
          </p:nvPr>
        </p:nvSpPr>
        <p:spPr/>
        <p:txBody>
          <a:bodyPr/>
          <a:lstStyle/>
          <a:p>
            <a:fld id="{BB85E7AC-8BED-4663-9190-DD28DC09C30F}" type="datetimeFigureOut">
              <a:rPr lang="en-IN" smtClean="0"/>
              <a:t>14-09-2022</a:t>
            </a:fld>
            <a:endParaRPr lang="en-IN"/>
          </a:p>
        </p:txBody>
      </p:sp>
      <p:sp>
        <p:nvSpPr>
          <p:cNvPr id="5" name="Footer Placeholder 4">
            <a:extLst>
              <a:ext uri="{FF2B5EF4-FFF2-40B4-BE49-F238E27FC236}">
                <a16:creationId xmlns:a16="http://schemas.microsoft.com/office/drawing/2014/main" id="{DD3A041C-DA33-468D-86DE-6CC438D667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C5F6DB-2E06-4AB1-B8E9-40ED00C32540}"/>
              </a:ext>
            </a:extLst>
          </p:cNvPr>
          <p:cNvSpPr>
            <a:spLocks noGrp="1"/>
          </p:cNvSpPr>
          <p:nvPr>
            <p:ph type="sldNum" sz="quarter" idx="12"/>
          </p:nvPr>
        </p:nvSpPr>
        <p:spPr/>
        <p:txBody>
          <a:bodyPr/>
          <a:lstStyle/>
          <a:p>
            <a:fld id="{404CEDB1-FE56-4E48-986E-D37942F2E589}" type="slidenum">
              <a:rPr lang="en-IN" smtClean="0"/>
              <a:t>‹#›</a:t>
            </a:fld>
            <a:endParaRPr lang="en-IN"/>
          </a:p>
        </p:txBody>
      </p:sp>
    </p:spTree>
    <p:extLst>
      <p:ext uri="{BB962C8B-B14F-4D97-AF65-F5344CB8AC3E}">
        <p14:creationId xmlns:p14="http://schemas.microsoft.com/office/powerpoint/2010/main" val="4149574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5E9E41-472F-4BF5-95F6-515ED1E3D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A4A4FA-A01B-4468-965F-8495739B8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3FF410-7D56-4FEA-8C61-02B0B19528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85E7AC-8BED-4663-9190-DD28DC09C30F}" type="datetimeFigureOut">
              <a:rPr lang="en-IN" smtClean="0"/>
              <a:t>14-09-2022</a:t>
            </a:fld>
            <a:endParaRPr lang="en-IN"/>
          </a:p>
        </p:txBody>
      </p:sp>
      <p:sp>
        <p:nvSpPr>
          <p:cNvPr id="5" name="Footer Placeholder 4">
            <a:extLst>
              <a:ext uri="{FF2B5EF4-FFF2-40B4-BE49-F238E27FC236}">
                <a16:creationId xmlns:a16="http://schemas.microsoft.com/office/drawing/2014/main" id="{F764280A-FE79-4659-9827-AE6F1A9DE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F520D3-E1FA-432B-9D95-483C08352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4CEDB1-FE56-4E48-986E-D37942F2E589}" type="slidenum">
              <a:rPr lang="en-IN" smtClean="0"/>
              <a:t>‹#›</a:t>
            </a:fld>
            <a:endParaRPr lang="en-IN"/>
          </a:p>
        </p:txBody>
      </p:sp>
    </p:spTree>
    <p:extLst>
      <p:ext uri="{BB962C8B-B14F-4D97-AF65-F5344CB8AC3E}">
        <p14:creationId xmlns:p14="http://schemas.microsoft.com/office/powerpoint/2010/main" val="1702055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circuitbasics.com/basics-of-the-spi-communication-protocol/"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circuitbasics.com/wp-content/uploads/2016/02/Basics-of-the-SPI-Communication-Protocol-Specifications-Table.p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820355-4D40-4841-8BD3-41537BEF2387}"/>
              </a:ext>
            </a:extLst>
          </p:cNvPr>
          <p:cNvSpPr txBox="1"/>
          <p:nvPr/>
        </p:nvSpPr>
        <p:spPr>
          <a:xfrm>
            <a:off x="3699803" y="295422"/>
            <a:ext cx="4895557" cy="584775"/>
          </a:xfrm>
          <a:prstGeom prst="rect">
            <a:avLst/>
          </a:prstGeom>
          <a:noFill/>
        </p:spPr>
        <p:txBody>
          <a:bodyPr wrap="square" rtlCol="0">
            <a:spAutoFit/>
          </a:bodyPr>
          <a:lstStyle/>
          <a:p>
            <a:pPr algn="ctr"/>
            <a:r>
              <a:rPr lang="en-US" sz="3200" dirty="0"/>
              <a:t>SPI Protocol</a:t>
            </a:r>
            <a:endParaRPr lang="en-IN" sz="3200" dirty="0"/>
          </a:p>
        </p:txBody>
      </p:sp>
      <p:sp>
        <p:nvSpPr>
          <p:cNvPr id="3" name="TextBox 2">
            <a:extLst>
              <a:ext uri="{FF2B5EF4-FFF2-40B4-BE49-F238E27FC236}">
                <a16:creationId xmlns:a16="http://schemas.microsoft.com/office/drawing/2014/main" id="{E8429D09-725C-44DC-82F5-9BB2E648E928}"/>
              </a:ext>
            </a:extLst>
          </p:cNvPr>
          <p:cNvSpPr txBox="1"/>
          <p:nvPr/>
        </p:nvSpPr>
        <p:spPr>
          <a:xfrm>
            <a:off x="548640" y="1463040"/>
            <a:ext cx="2841674" cy="523220"/>
          </a:xfrm>
          <a:prstGeom prst="rect">
            <a:avLst/>
          </a:prstGeom>
          <a:noFill/>
        </p:spPr>
        <p:txBody>
          <a:bodyPr wrap="square" rtlCol="0">
            <a:spAutoFit/>
          </a:bodyPr>
          <a:lstStyle/>
          <a:p>
            <a:r>
              <a:rPr lang="en-US" sz="2800" dirty="0"/>
              <a:t>What is SPI…?</a:t>
            </a:r>
            <a:endParaRPr lang="en-IN" sz="2800" dirty="0"/>
          </a:p>
        </p:txBody>
      </p:sp>
      <p:sp>
        <p:nvSpPr>
          <p:cNvPr id="4" name="TextBox 3">
            <a:extLst>
              <a:ext uri="{FF2B5EF4-FFF2-40B4-BE49-F238E27FC236}">
                <a16:creationId xmlns:a16="http://schemas.microsoft.com/office/drawing/2014/main" id="{FC7C04CF-BF14-49EC-8C86-F5ABC1E793B4}"/>
              </a:ext>
            </a:extLst>
          </p:cNvPr>
          <p:cNvSpPr txBox="1"/>
          <p:nvPr/>
        </p:nvSpPr>
        <p:spPr>
          <a:xfrm>
            <a:off x="548640" y="2236763"/>
            <a:ext cx="11071273" cy="1569660"/>
          </a:xfrm>
          <a:prstGeom prst="rect">
            <a:avLst/>
          </a:prstGeom>
          <a:noFill/>
        </p:spPr>
        <p:txBody>
          <a:bodyPr wrap="square" rtlCol="0">
            <a:spAutoFit/>
          </a:bodyPr>
          <a:lstStyle/>
          <a:p>
            <a:pPr algn="just"/>
            <a:r>
              <a:rPr lang="en-US" sz="2400" b="0" i="0" dirty="0">
                <a:effectLst/>
              </a:rPr>
              <a:t>The </a:t>
            </a:r>
            <a:r>
              <a:rPr lang="en-US" sz="2400" b="1" i="0" dirty="0">
                <a:effectLst/>
              </a:rPr>
              <a:t>Serial Peripheral Interface</a:t>
            </a:r>
            <a:r>
              <a:rPr lang="en-US" sz="2400" b="0" i="0" dirty="0">
                <a:effectLst/>
              </a:rPr>
              <a:t> (</a:t>
            </a:r>
            <a:r>
              <a:rPr lang="en-US" sz="2400" b="1" i="0" dirty="0">
                <a:effectLst/>
              </a:rPr>
              <a:t>SPI</a:t>
            </a:r>
            <a:r>
              <a:rPr lang="en-US" sz="2400" b="0" i="0" dirty="0">
                <a:effectLst/>
              </a:rPr>
              <a:t>) is a </a:t>
            </a:r>
            <a:r>
              <a:rPr lang="en-US" sz="2400" b="0" i="0" strike="noStrike" dirty="0">
                <a:effectLst/>
              </a:rPr>
              <a:t>synchronous </a:t>
            </a:r>
            <a:r>
              <a:rPr lang="en-US" sz="2400" b="1" i="0" strike="noStrike" dirty="0">
                <a:effectLst/>
              </a:rPr>
              <a:t>full duplex</a:t>
            </a:r>
            <a:r>
              <a:rPr lang="en-US" sz="2400" b="1" i="0" dirty="0">
                <a:effectLst/>
              </a:rPr>
              <a:t> </a:t>
            </a:r>
            <a:r>
              <a:rPr lang="en-US" sz="2400" b="1" i="0" strike="noStrike" dirty="0">
                <a:effectLst/>
              </a:rPr>
              <a:t>serial communication</a:t>
            </a:r>
            <a:r>
              <a:rPr lang="en-US" sz="2400" b="1" i="0" dirty="0">
                <a:effectLst/>
              </a:rPr>
              <a:t> </a:t>
            </a:r>
            <a:r>
              <a:rPr lang="en-US" sz="2400" b="0" i="0" dirty="0">
                <a:effectLst/>
              </a:rPr>
              <a:t>interface specification used for </a:t>
            </a:r>
            <a:r>
              <a:rPr lang="en-US" sz="2400" b="1" i="0" dirty="0">
                <a:effectLst/>
              </a:rPr>
              <a:t>short-distance</a:t>
            </a:r>
            <a:r>
              <a:rPr lang="en-US" sz="2400" b="0" i="0" dirty="0">
                <a:effectLst/>
              </a:rPr>
              <a:t> communication, primarily in </a:t>
            </a:r>
            <a:r>
              <a:rPr lang="en-US" sz="2400" b="1" i="0" strike="noStrike" dirty="0">
                <a:effectLst/>
              </a:rPr>
              <a:t>embedded</a:t>
            </a:r>
            <a:r>
              <a:rPr lang="en-US" sz="2400" b="0" i="0" strike="noStrike" dirty="0">
                <a:effectLst/>
              </a:rPr>
              <a:t> systems like interface between microcontroller and peripheral IC’s such as sensors, ADCs, DACs, shift registers, SRAM, and EEPROM etc..</a:t>
            </a:r>
            <a:endParaRPr lang="en-IN" sz="2400" dirty="0"/>
          </a:p>
        </p:txBody>
      </p:sp>
    </p:spTree>
    <p:extLst>
      <p:ext uri="{BB962C8B-B14F-4D97-AF65-F5344CB8AC3E}">
        <p14:creationId xmlns:p14="http://schemas.microsoft.com/office/powerpoint/2010/main" val="2471488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8D7B07-0B8C-4135-AF80-023A01372EE4}"/>
              </a:ext>
            </a:extLst>
          </p:cNvPr>
          <p:cNvSpPr txBox="1"/>
          <p:nvPr/>
        </p:nvSpPr>
        <p:spPr>
          <a:xfrm>
            <a:off x="548640" y="1069141"/>
            <a:ext cx="4220308" cy="523220"/>
          </a:xfrm>
          <a:prstGeom prst="rect">
            <a:avLst/>
          </a:prstGeom>
          <a:noFill/>
        </p:spPr>
        <p:txBody>
          <a:bodyPr wrap="square" rtlCol="0">
            <a:spAutoFit/>
          </a:bodyPr>
          <a:lstStyle/>
          <a:p>
            <a:r>
              <a:rPr lang="en-US" sz="2800" dirty="0"/>
              <a:t>Wiring connection in SPI</a:t>
            </a:r>
            <a:endParaRPr lang="en-IN" sz="2800" dirty="0"/>
          </a:p>
        </p:txBody>
      </p:sp>
      <p:pic>
        <p:nvPicPr>
          <p:cNvPr id="1026" name="Picture 2">
            <a:extLst>
              <a:ext uri="{FF2B5EF4-FFF2-40B4-BE49-F238E27FC236}">
                <a16:creationId xmlns:a16="http://schemas.microsoft.com/office/drawing/2014/main" id="{85B1A547-E139-4526-97F7-A9886ED24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2500" y="1776630"/>
            <a:ext cx="4466999" cy="20919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77A0E33-6B4F-47FF-9C0E-BB6B0C2B8603}"/>
              </a:ext>
            </a:extLst>
          </p:cNvPr>
          <p:cNvSpPr txBox="1"/>
          <p:nvPr/>
        </p:nvSpPr>
        <p:spPr>
          <a:xfrm>
            <a:off x="3527474" y="3683947"/>
            <a:ext cx="6098344" cy="369332"/>
          </a:xfrm>
          <a:prstGeom prst="rect">
            <a:avLst/>
          </a:prstGeom>
          <a:noFill/>
        </p:spPr>
        <p:txBody>
          <a:bodyPr wrap="square">
            <a:spAutoFit/>
          </a:bodyPr>
          <a:lstStyle/>
          <a:p>
            <a:r>
              <a:rPr lang="en-US" dirty="0">
                <a:hlinkClick r:id="rId3"/>
              </a:rPr>
              <a:t>Basics of the SPI Communication Protocol (circuitbasics.com)</a:t>
            </a:r>
            <a:endParaRPr lang="en-IN" dirty="0"/>
          </a:p>
        </p:txBody>
      </p:sp>
      <p:sp>
        <p:nvSpPr>
          <p:cNvPr id="7" name="TextBox 6">
            <a:extLst>
              <a:ext uri="{FF2B5EF4-FFF2-40B4-BE49-F238E27FC236}">
                <a16:creationId xmlns:a16="http://schemas.microsoft.com/office/drawing/2014/main" id="{221E3289-18DD-4BFA-8F83-5F0BA84FC0C6}"/>
              </a:ext>
            </a:extLst>
          </p:cNvPr>
          <p:cNvSpPr txBox="1"/>
          <p:nvPr/>
        </p:nvSpPr>
        <p:spPr>
          <a:xfrm>
            <a:off x="616633" y="3988366"/>
            <a:ext cx="10958732" cy="3600986"/>
          </a:xfrm>
          <a:prstGeom prst="rect">
            <a:avLst/>
          </a:prstGeom>
          <a:noFill/>
        </p:spPr>
        <p:txBody>
          <a:bodyPr wrap="square">
            <a:spAutoFit/>
          </a:bodyPr>
          <a:lstStyle/>
          <a:p>
            <a:pPr algn="l" fontAlgn="base">
              <a:lnSpc>
                <a:spcPct val="150000"/>
              </a:lnSpc>
            </a:pPr>
            <a:r>
              <a:rPr lang="en-US" sz="2400" b="1" i="0" dirty="0">
                <a:effectLst/>
                <a:latin typeface="Calibri(body"/>
              </a:rPr>
              <a:t>MOSI (Master Output/Slave Input)</a:t>
            </a:r>
            <a:r>
              <a:rPr lang="en-US" sz="2400" b="0" i="0" dirty="0">
                <a:effectLst/>
                <a:latin typeface="Calibri(body"/>
              </a:rPr>
              <a:t> – Line for the master to send data to the slave.</a:t>
            </a:r>
          </a:p>
          <a:p>
            <a:pPr algn="l" fontAlgn="base">
              <a:lnSpc>
                <a:spcPct val="150000"/>
              </a:lnSpc>
            </a:pPr>
            <a:r>
              <a:rPr lang="en-US" sz="2400" b="1" i="0" dirty="0">
                <a:effectLst/>
                <a:latin typeface="Calibri(body"/>
              </a:rPr>
              <a:t>MISO (Master Input/Slave Output)</a:t>
            </a:r>
            <a:r>
              <a:rPr lang="en-US" sz="2400" b="0" i="0" dirty="0">
                <a:effectLst/>
                <a:latin typeface="Calibri(body"/>
              </a:rPr>
              <a:t> – Line for the slave to send data to the master.</a:t>
            </a:r>
          </a:p>
          <a:p>
            <a:pPr algn="l" fontAlgn="base">
              <a:lnSpc>
                <a:spcPct val="150000"/>
              </a:lnSpc>
            </a:pPr>
            <a:r>
              <a:rPr lang="en-US" sz="2400" b="1" i="0" dirty="0">
                <a:effectLst/>
                <a:latin typeface="Calibri(body"/>
              </a:rPr>
              <a:t>SCLK (Clock)</a:t>
            </a:r>
            <a:r>
              <a:rPr lang="en-US" sz="2400" b="0" i="0" dirty="0">
                <a:effectLst/>
                <a:latin typeface="Calibri(body"/>
              </a:rPr>
              <a:t> – Line for the clock signal.</a:t>
            </a:r>
          </a:p>
          <a:p>
            <a:pPr algn="l" fontAlgn="base">
              <a:lnSpc>
                <a:spcPct val="150000"/>
              </a:lnSpc>
            </a:pPr>
            <a:r>
              <a:rPr lang="en-US" sz="2400" b="1" i="0" dirty="0">
                <a:effectLst/>
                <a:latin typeface="Calibri(body"/>
              </a:rPr>
              <a:t>SS/CS (Slave Select/Chip Select)</a:t>
            </a:r>
            <a:r>
              <a:rPr lang="en-US" sz="2400" b="0" i="0" dirty="0">
                <a:effectLst/>
                <a:latin typeface="Calibri(body"/>
              </a:rPr>
              <a:t> – Line for the master to select which slave to </a:t>
            </a:r>
            <a:r>
              <a:rPr lang="en-US" sz="2400" dirty="0">
                <a:latin typeface="Calibri(body"/>
              </a:rPr>
              <a:t>be selected to </a:t>
            </a:r>
            <a:r>
              <a:rPr lang="en-US" sz="2400" b="0" i="0" dirty="0">
                <a:effectLst/>
                <a:latin typeface="Calibri(body"/>
              </a:rPr>
              <a:t>send data.</a:t>
            </a:r>
          </a:p>
          <a:p>
            <a:br>
              <a:rPr lang="en-US" sz="2400" b="0" i="0" u="none" strike="noStrike" dirty="0">
                <a:solidFill>
                  <a:srgbClr val="1976D2"/>
                </a:solidFill>
                <a:effectLst/>
                <a:latin typeface="Calibri(body"/>
                <a:hlinkClick r:id="rId4"/>
              </a:rPr>
            </a:br>
            <a:endParaRPr lang="en-IN" sz="2400" dirty="0">
              <a:latin typeface="Calibri(body"/>
            </a:endParaRPr>
          </a:p>
        </p:txBody>
      </p:sp>
    </p:spTree>
    <p:extLst>
      <p:ext uri="{BB962C8B-B14F-4D97-AF65-F5344CB8AC3E}">
        <p14:creationId xmlns:p14="http://schemas.microsoft.com/office/powerpoint/2010/main" val="46436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D5C0A1-1562-487C-B229-6383953BAF50}"/>
              </a:ext>
            </a:extLst>
          </p:cNvPr>
          <p:cNvSpPr txBox="1"/>
          <p:nvPr/>
        </p:nvSpPr>
        <p:spPr>
          <a:xfrm>
            <a:off x="533650" y="753024"/>
            <a:ext cx="2841674" cy="523220"/>
          </a:xfrm>
          <a:prstGeom prst="rect">
            <a:avLst/>
          </a:prstGeom>
          <a:noFill/>
        </p:spPr>
        <p:txBody>
          <a:bodyPr wrap="square" rtlCol="0">
            <a:spAutoFit/>
          </a:bodyPr>
          <a:lstStyle/>
          <a:p>
            <a:r>
              <a:rPr lang="en-US" sz="2800" dirty="0"/>
              <a:t>Why SPI…?</a:t>
            </a:r>
            <a:endParaRPr lang="en-IN" sz="2800" dirty="0"/>
          </a:p>
        </p:txBody>
      </p:sp>
      <p:sp>
        <p:nvSpPr>
          <p:cNvPr id="3" name="TextBox 2">
            <a:extLst>
              <a:ext uri="{FF2B5EF4-FFF2-40B4-BE49-F238E27FC236}">
                <a16:creationId xmlns:a16="http://schemas.microsoft.com/office/drawing/2014/main" id="{8EADB64B-2E8E-4C1C-9094-0354490471F0}"/>
              </a:ext>
            </a:extLst>
          </p:cNvPr>
          <p:cNvSpPr txBox="1"/>
          <p:nvPr/>
        </p:nvSpPr>
        <p:spPr>
          <a:xfrm>
            <a:off x="689317" y="1428216"/>
            <a:ext cx="10297551" cy="3359061"/>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400" dirty="0"/>
              <a:t>No </a:t>
            </a:r>
            <a:r>
              <a:rPr lang="en-US" sz="2400" b="1" dirty="0"/>
              <a:t>start </a:t>
            </a:r>
            <a:r>
              <a:rPr lang="en-US" sz="2400" dirty="0"/>
              <a:t>and </a:t>
            </a:r>
            <a:r>
              <a:rPr lang="en-US" sz="2400" b="1" dirty="0"/>
              <a:t>stop</a:t>
            </a:r>
            <a:r>
              <a:rPr lang="en-US" sz="2400" dirty="0"/>
              <a:t> bits, so the data can be </a:t>
            </a:r>
            <a:r>
              <a:rPr lang="en-US" sz="2400" b="1" dirty="0"/>
              <a:t>streamed continuously </a:t>
            </a:r>
            <a:r>
              <a:rPr lang="en-US" sz="2400" dirty="0"/>
              <a:t>without </a:t>
            </a:r>
            <a:r>
              <a:rPr lang="en-US" sz="2400" b="1" dirty="0"/>
              <a:t>interruption.</a:t>
            </a:r>
          </a:p>
          <a:p>
            <a:pPr marL="457200" indent="-457200">
              <a:lnSpc>
                <a:spcPct val="150000"/>
              </a:lnSpc>
              <a:buFont typeface="Wingdings" panose="05000000000000000000" pitchFamily="2" charset="2"/>
              <a:buChar char="Ø"/>
            </a:pPr>
            <a:r>
              <a:rPr lang="en-US" sz="2400" dirty="0"/>
              <a:t>No complicated </a:t>
            </a:r>
            <a:r>
              <a:rPr lang="en-US" sz="2400" b="1" dirty="0"/>
              <a:t>slave addressing </a:t>
            </a:r>
            <a:r>
              <a:rPr lang="en-US" sz="2400" dirty="0"/>
              <a:t>system like </a:t>
            </a:r>
            <a:r>
              <a:rPr lang="en-US" sz="2400" b="1" dirty="0"/>
              <a:t>I2C</a:t>
            </a:r>
            <a:r>
              <a:rPr lang="en-US" sz="2400" dirty="0"/>
              <a:t>.</a:t>
            </a:r>
          </a:p>
          <a:p>
            <a:pPr marL="457200" indent="-457200">
              <a:lnSpc>
                <a:spcPct val="150000"/>
              </a:lnSpc>
              <a:buFont typeface="Wingdings" panose="05000000000000000000" pitchFamily="2" charset="2"/>
              <a:buChar char="Ø"/>
            </a:pPr>
            <a:r>
              <a:rPr lang="en-US" sz="2400" b="1" dirty="0"/>
              <a:t>Higher data transfer </a:t>
            </a:r>
            <a:r>
              <a:rPr lang="en-US" sz="2400" dirty="0"/>
              <a:t>rate than </a:t>
            </a:r>
            <a:r>
              <a:rPr lang="en-US" sz="2400" b="1" dirty="0"/>
              <a:t>I2C </a:t>
            </a:r>
            <a:r>
              <a:rPr lang="en-US" sz="2400" dirty="0"/>
              <a:t>(</a:t>
            </a:r>
            <a:r>
              <a:rPr lang="en-US" sz="2400" dirty="0" err="1"/>
              <a:t>Upto</a:t>
            </a:r>
            <a:r>
              <a:rPr lang="en-US" sz="2400" dirty="0"/>
              <a:t> </a:t>
            </a:r>
            <a:r>
              <a:rPr lang="en-US" sz="2400" b="1" dirty="0"/>
              <a:t>10Mbps</a:t>
            </a:r>
            <a:r>
              <a:rPr lang="en-US" sz="2400" dirty="0"/>
              <a:t>).</a:t>
            </a:r>
          </a:p>
          <a:p>
            <a:pPr marL="457200" indent="-457200">
              <a:lnSpc>
                <a:spcPct val="150000"/>
              </a:lnSpc>
              <a:buFont typeface="Wingdings" panose="05000000000000000000" pitchFamily="2" charset="2"/>
              <a:buChar char="Ø"/>
            </a:pPr>
            <a:r>
              <a:rPr lang="en-US" sz="2400" dirty="0"/>
              <a:t>Separate </a:t>
            </a:r>
            <a:r>
              <a:rPr lang="en-US" sz="2400" b="1" dirty="0"/>
              <a:t>MISO</a:t>
            </a:r>
            <a:r>
              <a:rPr lang="en-US" sz="2400" dirty="0"/>
              <a:t> and </a:t>
            </a:r>
            <a:r>
              <a:rPr lang="en-US" sz="2400" b="1" dirty="0"/>
              <a:t>MOSI </a:t>
            </a:r>
            <a:r>
              <a:rPr lang="en-US" sz="2400" dirty="0"/>
              <a:t>lines, so </a:t>
            </a:r>
            <a:r>
              <a:rPr lang="en-US" sz="2400" b="1" dirty="0"/>
              <a:t>data</a:t>
            </a:r>
            <a:r>
              <a:rPr lang="en-US" sz="2400" dirty="0"/>
              <a:t> can be </a:t>
            </a:r>
            <a:r>
              <a:rPr lang="en-US" sz="2400" b="1" dirty="0"/>
              <a:t>sent</a:t>
            </a:r>
            <a:r>
              <a:rPr lang="en-US" sz="2400" dirty="0"/>
              <a:t> and </a:t>
            </a:r>
            <a:r>
              <a:rPr lang="en-US" sz="2400" b="1" dirty="0"/>
              <a:t>received</a:t>
            </a:r>
            <a:r>
              <a:rPr lang="en-US" sz="2400" dirty="0"/>
              <a:t> at the </a:t>
            </a:r>
            <a:r>
              <a:rPr lang="en-US" sz="2400" b="1" dirty="0"/>
              <a:t>same</a:t>
            </a:r>
            <a:r>
              <a:rPr lang="en-US" sz="2400" dirty="0"/>
              <a:t> time.</a:t>
            </a:r>
          </a:p>
        </p:txBody>
      </p:sp>
    </p:spTree>
    <p:extLst>
      <p:ext uri="{BB962C8B-B14F-4D97-AF65-F5344CB8AC3E}">
        <p14:creationId xmlns:p14="http://schemas.microsoft.com/office/powerpoint/2010/main" val="183503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432FA4-E710-4805-B03A-56EACF438E74}"/>
              </a:ext>
            </a:extLst>
          </p:cNvPr>
          <p:cNvPicPr>
            <a:picLocks noChangeAspect="1"/>
          </p:cNvPicPr>
          <p:nvPr/>
        </p:nvPicPr>
        <p:blipFill>
          <a:blip r:embed="rId2"/>
          <a:stretch>
            <a:fillRect/>
          </a:stretch>
        </p:blipFill>
        <p:spPr>
          <a:xfrm>
            <a:off x="3200400" y="1063279"/>
            <a:ext cx="5314013" cy="5794721"/>
          </a:xfrm>
          <a:prstGeom prst="rect">
            <a:avLst/>
          </a:prstGeom>
        </p:spPr>
      </p:pic>
      <p:sp>
        <p:nvSpPr>
          <p:cNvPr id="6" name="TextBox 5">
            <a:extLst>
              <a:ext uri="{FF2B5EF4-FFF2-40B4-BE49-F238E27FC236}">
                <a16:creationId xmlns:a16="http://schemas.microsoft.com/office/drawing/2014/main" id="{A9954B20-D639-4ED9-9369-0C1E07A7E855}"/>
              </a:ext>
            </a:extLst>
          </p:cNvPr>
          <p:cNvSpPr txBox="1"/>
          <p:nvPr/>
        </p:nvSpPr>
        <p:spPr>
          <a:xfrm>
            <a:off x="284813" y="344774"/>
            <a:ext cx="4437089" cy="461665"/>
          </a:xfrm>
          <a:prstGeom prst="rect">
            <a:avLst/>
          </a:prstGeom>
          <a:noFill/>
        </p:spPr>
        <p:txBody>
          <a:bodyPr wrap="square" rtlCol="0">
            <a:spAutoFit/>
          </a:bodyPr>
          <a:lstStyle/>
          <a:p>
            <a:r>
              <a:rPr lang="en-US" sz="2400" b="1" dirty="0"/>
              <a:t>Difference between I2C and SPI</a:t>
            </a:r>
            <a:endParaRPr lang="en-IN" sz="2400" b="1" dirty="0"/>
          </a:p>
        </p:txBody>
      </p:sp>
    </p:spTree>
    <p:extLst>
      <p:ext uri="{BB962C8B-B14F-4D97-AF65-F5344CB8AC3E}">
        <p14:creationId xmlns:p14="http://schemas.microsoft.com/office/powerpoint/2010/main" val="2300184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8AB2DA-CC3D-4F3C-A33C-F12A5872B7BF}"/>
              </a:ext>
            </a:extLst>
          </p:cNvPr>
          <p:cNvSpPr txBox="1"/>
          <p:nvPr/>
        </p:nvSpPr>
        <p:spPr>
          <a:xfrm>
            <a:off x="633046" y="1181687"/>
            <a:ext cx="1899140" cy="523220"/>
          </a:xfrm>
          <a:prstGeom prst="rect">
            <a:avLst/>
          </a:prstGeom>
          <a:noFill/>
        </p:spPr>
        <p:txBody>
          <a:bodyPr wrap="square" rtlCol="0">
            <a:spAutoFit/>
          </a:bodyPr>
          <a:lstStyle/>
          <a:p>
            <a:r>
              <a:rPr lang="en-US" sz="2800" dirty="0"/>
              <a:t>SPI working</a:t>
            </a:r>
            <a:endParaRPr lang="en-IN" sz="2800" dirty="0"/>
          </a:p>
        </p:txBody>
      </p:sp>
      <p:pic>
        <p:nvPicPr>
          <p:cNvPr id="4" name="Picture 3">
            <a:extLst>
              <a:ext uri="{FF2B5EF4-FFF2-40B4-BE49-F238E27FC236}">
                <a16:creationId xmlns:a16="http://schemas.microsoft.com/office/drawing/2014/main" id="{6524FC25-5958-49F8-91FB-C16C3B2386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932" y="3002101"/>
            <a:ext cx="10524136" cy="2329010"/>
          </a:xfrm>
          <a:prstGeom prst="rect">
            <a:avLst/>
          </a:prstGeom>
        </p:spPr>
      </p:pic>
      <p:sp>
        <p:nvSpPr>
          <p:cNvPr id="3" name="TextBox 2">
            <a:extLst>
              <a:ext uri="{FF2B5EF4-FFF2-40B4-BE49-F238E27FC236}">
                <a16:creationId xmlns:a16="http://schemas.microsoft.com/office/drawing/2014/main" id="{EBBCE021-22DD-4905-A182-FA0610B2CEFB}"/>
              </a:ext>
            </a:extLst>
          </p:cNvPr>
          <p:cNvSpPr txBox="1"/>
          <p:nvPr/>
        </p:nvSpPr>
        <p:spPr>
          <a:xfrm>
            <a:off x="2667097" y="2478881"/>
            <a:ext cx="1155395" cy="461665"/>
          </a:xfrm>
          <a:prstGeom prst="rect">
            <a:avLst/>
          </a:prstGeom>
          <a:noFill/>
        </p:spPr>
        <p:txBody>
          <a:bodyPr wrap="square" rtlCol="0">
            <a:spAutoFit/>
          </a:bodyPr>
          <a:lstStyle/>
          <a:p>
            <a:r>
              <a:rPr lang="en-US" sz="2400" dirty="0"/>
              <a:t>Master</a:t>
            </a:r>
            <a:endParaRPr lang="en-IN" sz="2400" dirty="0"/>
          </a:p>
        </p:txBody>
      </p:sp>
      <p:sp>
        <p:nvSpPr>
          <p:cNvPr id="5" name="TextBox 4">
            <a:extLst>
              <a:ext uri="{FF2B5EF4-FFF2-40B4-BE49-F238E27FC236}">
                <a16:creationId xmlns:a16="http://schemas.microsoft.com/office/drawing/2014/main" id="{0200D566-67B7-456F-AC54-6D9F101A18F7}"/>
              </a:ext>
            </a:extLst>
          </p:cNvPr>
          <p:cNvSpPr txBox="1"/>
          <p:nvPr/>
        </p:nvSpPr>
        <p:spPr>
          <a:xfrm>
            <a:off x="8504421" y="2509658"/>
            <a:ext cx="909401" cy="461665"/>
          </a:xfrm>
          <a:prstGeom prst="rect">
            <a:avLst/>
          </a:prstGeom>
          <a:noFill/>
        </p:spPr>
        <p:txBody>
          <a:bodyPr wrap="square" rtlCol="0">
            <a:spAutoFit/>
          </a:bodyPr>
          <a:lstStyle/>
          <a:p>
            <a:r>
              <a:rPr lang="en-US" sz="2400" dirty="0"/>
              <a:t>Slave</a:t>
            </a:r>
            <a:endParaRPr lang="en-IN" sz="2400" dirty="0"/>
          </a:p>
        </p:txBody>
      </p:sp>
    </p:spTree>
    <p:extLst>
      <p:ext uri="{BB962C8B-B14F-4D97-AF65-F5344CB8AC3E}">
        <p14:creationId xmlns:p14="http://schemas.microsoft.com/office/powerpoint/2010/main" val="3624429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509EF1-2046-4476-AD28-83EA1EFB0926}"/>
              </a:ext>
            </a:extLst>
          </p:cNvPr>
          <p:cNvSpPr txBox="1"/>
          <p:nvPr/>
        </p:nvSpPr>
        <p:spPr>
          <a:xfrm>
            <a:off x="562708" y="1546162"/>
            <a:ext cx="8116598" cy="461665"/>
          </a:xfrm>
          <a:prstGeom prst="rect">
            <a:avLst/>
          </a:prstGeom>
          <a:noFill/>
        </p:spPr>
        <p:txBody>
          <a:bodyPr wrap="square">
            <a:spAutoFit/>
          </a:bodyPr>
          <a:lstStyle/>
          <a:p>
            <a:r>
              <a:rPr lang="en-US" b="0" i="0" dirty="0">
                <a:effectLst/>
                <a:latin typeface="Montserrat"/>
              </a:rPr>
              <a:t> </a:t>
            </a:r>
            <a:r>
              <a:rPr lang="en-US" sz="2400" b="1" i="0" dirty="0">
                <a:effectLst/>
                <a:latin typeface="Calibri "/>
              </a:rPr>
              <a:t>1)  The master outputs the clock signal</a:t>
            </a:r>
            <a:endParaRPr lang="en-IN" sz="2400" b="1" dirty="0">
              <a:latin typeface="Calibri "/>
            </a:endParaRPr>
          </a:p>
        </p:txBody>
      </p:sp>
      <p:pic>
        <p:nvPicPr>
          <p:cNvPr id="4" name="Picture 4">
            <a:extLst>
              <a:ext uri="{FF2B5EF4-FFF2-40B4-BE49-F238E27FC236}">
                <a16:creationId xmlns:a16="http://schemas.microsoft.com/office/drawing/2014/main" id="{139F32C2-18BB-4EFA-9A5F-1B2D527F5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463" y="2259540"/>
            <a:ext cx="9937276" cy="2561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013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C3A635-34DF-4807-B094-0675CBCFED09}"/>
              </a:ext>
            </a:extLst>
          </p:cNvPr>
          <p:cNvSpPr txBox="1"/>
          <p:nvPr/>
        </p:nvSpPr>
        <p:spPr>
          <a:xfrm>
            <a:off x="693313" y="1029323"/>
            <a:ext cx="10805374" cy="830997"/>
          </a:xfrm>
          <a:prstGeom prst="rect">
            <a:avLst/>
          </a:prstGeom>
          <a:noFill/>
        </p:spPr>
        <p:txBody>
          <a:bodyPr wrap="square">
            <a:spAutoFit/>
          </a:bodyPr>
          <a:lstStyle/>
          <a:p>
            <a:r>
              <a:rPr lang="en-US" sz="2400" b="1" i="0" dirty="0">
                <a:effectLst/>
                <a:latin typeface="Montserrat"/>
              </a:rPr>
              <a:t>2)  The master switches the SS/CS pin to a low voltage state, which activates the slave</a:t>
            </a:r>
            <a:endParaRPr lang="en-IN" sz="2400" b="1" dirty="0"/>
          </a:p>
        </p:txBody>
      </p:sp>
      <p:pic>
        <p:nvPicPr>
          <p:cNvPr id="3" name="Picture 6">
            <a:extLst>
              <a:ext uri="{FF2B5EF4-FFF2-40B4-BE49-F238E27FC236}">
                <a16:creationId xmlns:a16="http://schemas.microsoft.com/office/drawing/2014/main" id="{67B0D5FD-8969-42F3-9EB3-585F5C449A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129" y="2333697"/>
            <a:ext cx="10216738" cy="2634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334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8CE804-3947-4A83-9245-31515C941A59}"/>
              </a:ext>
            </a:extLst>
          </p:cNvPr>
          <p:cNvSpPr txBox="1"/>
          <p:nvPr/>
        </p:nvSpPr>
        <p:spPr>
          <a:xfrm>
            <a:off x="691796" y="1154571"/>
            <a:ext cx="10808408" cy="830997"/>
          </a:xfrm>
          <a:prstGeom prst="rect">
            <a:avLst/>
          </a:prstGeom>
          <a:noFill/>
        </p:spPr>
        <p:txBody>
          <a:bodyPr wrap="square">
            <a:spAutoFit/>
          </a:bodyPr>
          <a:lstStyle/>
          <a:p>
            <a:r>
              <a:rPr lang="en-US" sz="2400" b="1" i="0" dirty="0">
                <a:effectLst/>
                <a:latin typeface="Calibri "/>
              </a:rPr>
              <a:t>3)  The master sends the data one bit at a time to the slave along the MOSI line. The slave reads the bits as they are received</a:t>
            </a:r>
            <a:endParaRPr lang="en-IN" sz="2400" b="1" dirty="0">
              <a:latin typeface="Calibri "/>
            </a:endParaRPr>
          </a:p>
        </p:txBody>
      </p:sp>
      <p:pic>
        <p:nvPicPr>
          <p:cNvPr id="4" name="Picture 8">
            <a:extLst>
              <a:ext uri="{FF2B5EF4-FFF2-40B4-BE49-F238E27FC236}">
                <a16:creationId xmlns:a16="http://schemas.microsoft.com/office/drawing/2014/main" id="{443CC2B5-13CA-498A-B79E-BFF33AAF5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796" y="2829233"/>
            <a:ext cx="10460606" cy="20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796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B53433-51BF-43BB-B43A-AB2F637ECEFA}"/>
              </a:ext>
            </a:extLst>
          </p:cNvPr>
          <p:cNvSpPr txBox="1"/>
          <p:nvPr/>
        </p:nvSpPr>
        <p:spPr>
          <a:xfrm>
            <a:off x="1126338" y="746869"/>
            <a:ext cx="10625951" cy="830997"/>
          </a:xfrm>
          <a:prstGeom prst="rect">
            <a:avLst/>
          </a:prstGeom>
          <a:noFill/>
        </p:spPr>
        <p:txBody>
          <a:bodyPr wrap="square">
            <a:spAutoFit/>
          </a:bodyPr>
          <a:lstStyle/>
          <a:p>
            <a:r>
              <a:rPr lang="en-US" sz="2400" b="1" i="0" dirty="0">
                <a:effectLst/>
                <a:latin typeface="Calibri "/>
              </a:rPr>
              <a:t>4)  If a response is needed, the slave returns data one bit at a time to the master along the MISO line. The master reads the bits as they are received</a:t>
            </a:r>
            <a:endParaRPr lang="en-IN" sz="2400" b="1" dirty="0">
              <a:latin typeface="Calibri "/>
            </a:endParaRPr>
          </a:p>
        </p:txBody>
      </p:sp>
      <p:pic>
        <p:nvPicPr>
          <p:cNvPr id="4" name="Picture 10">
            <a:extLst>
              <a:ext uri="{FF2B5EF4-FFF2-40B4-BE49-F238E27FC236}">
                <a16:creationId xmlns:a16="http://schemas.microsoft.com/office/drawing/2014/main" id="{5F7CA3A9-4069-4859-A447-86444EFF89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562" y="2422289"/>
            <a:ext cx="9326716" cy="2404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667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A81A32-AB19-449D-83DA-25FBBEC8DAC3}"/>
              </a:ext>
            </a:extLst>
          </p:cNvPr>
          <p:cNvSpPr txBox="1"/>
          <p:nvPr/>
        </p:nvSpPr>
        <p:spPr>
          <a:xfrm>
            <a:off x="393896" y="787790"/>
            <a:ext cx="1871003" cy="461665"/>
          </a:xfrm>
          <a:prstGeom prst="rect">
            <a:avLst/>
          </a:prstGeom>
          <a:noFill/>
        </p:spPr>
        <p:txBody>
          <a:bodyPr wrap="square" rtlCol="0">
            <a:spAutoFit/>
          </a:bodyPr>
          <a:lstStyle/>
          <a:p>
            <a:r>
              <a:rPr lang="en-US" sz="2400" b="1" dirty="0"/>
              <a:t>SPI Modes</a:t>
            </a:r>
            <a:endParaRPr lang="en-IN" sz="2400" b="1" dirty="0"/>
          </a:p>
        </p:txBody>
      </p:sp>
      <p:grpSp>
        <p:nvGrpSpPr>
          <p:cNvPr id="19" name="Group 18">
            <a:extLst>
              <a:ext uri="{FF2B5EF4-FFF2-40B4-BE49-F238E27FC236}">
                <a16:creationId xmlns:a16="http://schemas.microsoft.com/office/drawing/2014/main" id="{69A9B56D-AD84-43D8-B3F7-796956365169}"/>
              </a:ext>
            </a:extLst>
          </p:cNvPr>
          <p:cNvGrpSpPr/>
          <p:nvPr/>
        </p:nvGrpSpPr>
        <p:grpSpPr>
          <a:xfrm>
            <a:off x="1481940" y="1952845"/>
            <a:ext cx="9769867" cy="3716436"/>
            <a:chOff x="553476" y="1952845"/>
            <a:chExt cx="9769867" cy="3716436"/>
          </a:xfrm>
        </p:grpSpPr>
        <p:pic>
          <p:nvPicPr>
            <p:cNvPr id="6" name="Picture 5">
              <a:extLst>
                <a:ext uri="{FF2B5EF4-FFF2-40B4-BE49-F238E27FC236}">
                  <a16:creationId xmlns:a16="http://schemas.microsoft.com/office/drawing/2014/main" id="{53FD676E-A10E-45F2-AF2C-9A9432746538}"/>
                </a:ext>
              </a:extLst>
            </p:cNvPr>
            <p:cNvPicPr>
              <a:picLocks noChangeAspect="1"/>
            </p:cNvPicPr>
            <p:nvPr/>
          </p:nvPicPr>
          <p:blipFill>
            <a:blip r:embed="rId2"/>
            <a:stretch>
              <a:fillRect/>
            </a:stretch>
          </p:blipFill>
          <p:spPr>
            <a:xfrm>
              <a:off x="553476" y="1952845"/>
              <a:ext cx="7723408" cy="3716436"/>
            </a:xfrm>
            <a:prstGeom prst="rect">
              <a:avLst/>
            </a:prstGeom>
          </p:spPr>
        </p:pic>
        <p:sp>
          <p:nvSpPr>
            <p:cNvPr id="11" name="Arrow: Right 10">
              <a:extLst>
                <a:ext uri="{FF2B5EF4-FFF2-40B4-BE49-F238E27FC236}">
                  <a16:creationId xmlns:a16="http://schemas.microsoft.com/office/drawing/2014/main" id="{05C5CDCA-4410-4BD0-80A8-940245D71EFB}"/>
                </a:ext>
              </a:extLst>
            </p:cNvPr>
            <p:cNvSpPr/>
            <p:nvPr/>
          </p:nvSpPr>
          <p:spPr>
            <a:xfrm>
              <a:off x="8276884" y="2771335"/>
              <a:ext cx="661182" cy="3094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2BA35199-C6F1-4F32-9E1C-43A1EE54C03A}"/>
                </a:ext>
              </a:extLst>
            </p:cNvPr>
            <p:cNvSpPr/>
            <p:nvPr/>
          </p:nvSpPr>
          <p:spPr>
            <a:xfrm>
              <a:off x="8276884" y="3429000"/>
              <a:ext cx="661182" cy="3094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a16="http://schemas.microsoft.com/office/drawing/2014/main" id="{2AC0FBAA-75C7-4805-BE50-304543AA59C2}"/>
                </a:ext>
              </a:extLst>
            </p:cNvPr>
            <p:cNvSpPr/>
            <p:nvPr/>
          </p:nvSpPr>
          <p:spPr>
            <a:xfrm>
              <a:off x="8276884" y="4086665"/>
              <a:ext cx="661182" cy="3094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ECB1FFB3-34B4-4FED-BD1B-34C947D7A33F}"/>
                </a:ext>
              </a:extLst>
            </p:cNvPr>
            <p:cNvSpPr/>
            <p:nvPr/>
          </p:nvSpPr>
          <p:spPr>
            <a:xfrm>
              <a:off x="8276884" y="4723228"/>
              <a:ext cx="661182" cy="3094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4741F440-0C2D-4518-9173-1D6E8257CA39}"/>
                </a:ext>
              </a:extLst>
            </p:cNvPr>
            <p:cNvSpPr txBox="1"/>
            <p:nvPr/>
          </p:nvSpPr>
          <p:spPr>
            <a:xfrm>
              <a:off x="9115865" y="2700998"/>
              <a:ext cx="1195754" cy="461665"/>
            </a:xfrm>
            <a:prstGeom prst="rect">
              <a:avLst/>
            </a:prstGeom>
            <a:noFill/>
          </p:spPr>
          <p:txBody>
            <a:bodyPr wrap="square" rtlCol="0">
              <a:spAutoFit/>
            </a:bodyPr>
            <a:lstStyle/>
            <a:p>
              <a:r>
                <a:rPr lang="en-US" sz="2400" b="1" dirty="0"/>
                <a:t>Mode 0</a:t>
              </a:r>
              <a:endParaRPr lang="en-IN" sz="2400" b="1" dirty="0"/>
            </a:p>
          </p:txBody>
        </p:sp>
        <p:sp>
          <p:nvSpPr>
            <p:cNvPr id="16" name="TextBox 15">
              <a:extLst>
                <a:ext uri="{FF2B5EF4-FFF2-40B4-BE49-F238E27FC236}">
                  <a16:creationId xmlns:a16="http://schemas.microsoft.com/office/drawing/2014/main" id="{349B5AFE-FDD3-46DA-91B4-714F02AEB9BF}"/>
                </a:ext>
              </a:extLst>
            </p:cNvPr>
            <p:cNvSpPr txBox="1"/>
            <p:nvPr/>
          </p:nvSpPr>
          <p:spPr>
            <a:xfrm>
              <a:off x="9099453" y="3345767"/>
              <a:ext cx="1195754" cy="461665"/>
            </a:xfrm>
            <a:prstGeom prst="rect">
              <a:avLst/>
            </a:prstGeom>
            <a:noFill/>
          </p:spPr>
          <p:txBody>
            <a:bodyPr wrap="square" rtlCol="0">
              <a:spAutoFit/>
            </a:bodyPr>
            <a:lstStyle/>
            <a:p>
              <a:r>
                <a:rPr lang="en-US" sz="2400" b="1" dirty="0"/>
                <a:t>Mode 1</a:t>
              </a:r>
              <a:endParaRPr lang="en-IN" sz="2400" b="1" dirty="0"/>
            </a:p>
          </p:txBody>
        </p:sp>
        <p:sp>
          <p:nvSpPr>
            <p:cNvPr id="17" name="TextBox 16">
              <a:extLst>
                <a:ext uri="{FF2B5EF4-FFF2-40B4-BE49-F238E27FC236}">
                  <a16:creationId xmlns:a16="http://schemas.microsoft.com/office/drawing/2014/main" id="{CD2FA91D-2340-4BE2-BC96-BA7A99D3E727}"/>
                </a:ext>
              </a:extLst>
            </p:cNvPr>
            <p:cNvSpPr txBox="1"/>
            <p:nvPr/>
          </p:nvSpPr>
          <p:spPr>
            <a:xfrm>
              <a:off x="9115865" y="4010576"/>
              <a:ext cx="1195754" cy="461665"/>
            </a:xfrm>
            <a:prstGeom prst="rect">
              <a:avLst/>
            </a:prstGeom>
            <a:noFill/>
          </p:spPr>
          <p:txBody>
            <a:bodyPr wrap="square" rtlCol="0">
              <a:spAutoFit/>
            </a:bodyPr>
            <a:lstStyle/>
            <a:p>
              <a:r>
                <a:rPr lang="en-US" sz="2400" b="1" dirty="0"/>
                <a:t>Mode 2</a:t>
              </a:r>
              <a:endParaRPr lang="en-IN" sz="2400" b="1" dirty="0"/>
            </a:p>
          </p:txBody>
        </p:sp>
        <p:sp>
          <p:nvSpPr>
            <p:cNvPr id="18" name="TextBox 17">
              <a:extLst>
                <a:ext uri="{FF2B5EF4-FFF2-40B4-BE49-F238E27FC236}">
                  <a16:creationId xmlns:a16="http://schemas.microsoft.com/office/drawing/2014/main" id="{94AEF3BA-C71F-4A7E-A3AC-7A2FE09B5649}"/>
                </a:ext>
              </a:extLst>
            </p:cNvPr>
            <p:cNvSpPr txBox="1"/>
            <p:nvPr/>
          </p:nvSpPr>
          <p:spPr>
            <a:xfrm>
              <a:off x="9127589" y="4654063"/>
              <a:ext cx="1195754" cy="461665"/>
            </a:xfrm>
            <a:prstGeom prst="rect">
              <a:avLst/>
            </a:prstGeom>
            <a:noFill/>
          </p:spPr>
          <p:txBody>
            <a:bodyPr wrap="square" rtlCol="0">
              <a:spAutoFit/>
            </a:bodyPr>
            <a:lstStyle/>
            <a:p>
              <a:r>
                <a:rPr lang="en-US" sz="2400" b="1" dirty="0"/>
                <a:t>Mode 3</a:t>
              </a:r>
              <a:endParaRPr lang="en-IN" sz="2400" b="1" dirty="0"/>
            </a:p>
          </p:txBody>
        </p:sp>
      </p:grpSp>
    </p:spTree>
    <p:extLst>
      <p:ext uri="{BB962C8B-B14F-4D97-AF65-F5344CB8AC3E}">
        <p14:creationId xmlns:p14="http://schemas.microsoft.com/office/powerpoint/2010/main" val="941053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A2C1D8-87DE-4865-876E-CC0D5F9AC13B}"/>
              </a:ext>
            </a:extLst>
          </p:cNvPr>
          <p:cNvSpPr txBox="1"/>
          <p:nvPr/>
        </p:nvSpPr>
        <p:spPr>
          <a:xfrm>
            <a:off x="4893211" y="194232"/>
            <a:ext cx="2405575" cy="523220"/>
          </a:xfrm>
          <a:prstGeom prst="rect">
            <a:avLst/>
          </a:prstGeom>
          <a:noFill/>
        </p:spPr>
        <p:txBody>
          <a:bodyPr wrap="square" rtlCol="0">
            <a:spAutoFit/>
          </a:bodyPr>
          <a:lstStyle/>
          <a:p>
            <a:r>
              <a:rPr lang="en-US" sz="2800" dirty="0"/>
              <a:t>SPI in LPC2148</a:t>
            </a:r>
            <a:endParaRPr lang="en-IN" sz="2800" dirty="0"/>
          </a:p>
        </p:txBody>
      </p:sp>
      <p:pic>
        <p:nvPicPr>
          <p:cNvPr id="4" name="Picture 3">
            <a:extLst>
              <a:ext uri="{FF2B5EF4-FFF2-40B4-BE49-F238E27FC236}">
                <a16:creationId xmlns:a16="http://schemas.microsoft.com/office/drawing/2014/main" id="{95B4D92C-B153-4142-845E-967AA94CB10E}"/>
              </a:ext>
            </a:extLst>
          </p:cNvPr>
          <p:cNvPicPr>
            <a:picLocks noChangeAspect="1"/>
          </p:cNvPicPr>
          <p:nvPr/>
        </p:nvPicPr>
        <p:blipFill rotWithShape="1">
          <a:blip r:embed="rId2"/>
          <a:srcRect l="32077" t="26244" r="31346" b="7262"/>
          <a:stretch/>
        </p:blipFill>
        <p:spPr>
          <a:xfrm>
            <a:off x="3324664" y="717452"/>
            <a:ext cx="5542671" cy="5665065"/>
          </a:xfrm>
          <a:prstGeom prst="rect">
            <a:avLst/>
          </a:prstGeom>
        </p:spPr>
      </p:pic>
      <p:sp>
        <p:nvSpPr>
          <p:cNvPr id="5" name="TextBox 4">
            <a:extLst>
              <a:ext uri="{FF2B5EF4-FFF2-40B4-BE49-F238E27FC236}">
                <a16:creationId xmlns:a16="http://schemas.microsoft.com/office/drawing/2014/main" id="{F31357D9-26A4-43C5-95BA-D7E5E2DC604A}"/>
              </a:ext>
            </a:extLst>
          </p:cNvPr>
          <p:cNvSpPr txBox="1"/>
          <p:nvPr/>
        </p:nvSpPr>
        <p:spPr>
          <a:xfrm>
            <a:off x="520505" y="844062"/>
            <a:ext cx="3221501" cy="523220"/>
          </a:xfrm>
          <a:prstGeom prst="rect">
            <a:avLst/>
          </a:prstGeom>
          <a:noFill/>
        </p:spPr>
        <p:txBody>
          <a:bodyPr wrap="square" rtlCol="0">
            <a:spAutoFit/>
          </a:bodyPr>
          <a:lstStyle/>
          <a:p>
            <a:r>
              <a:rPr lang="en-US" sz="2800" dirty="0"/>
              <a:t>SPI pins on LPC2148</a:t>
            </a:r>
            <a:endParaRPr lang="en-IN" sz="2800" dirty="0"/>
          </a:p>
        </p:txBody>
      </p:sp>
      <p:sp>
        <p:nvSpPr>
          <p:cNvPr id="6" name="Left Brace 5">
            <a:extLst>
              <a:ext uri="{FF2B5EF4-FFF2-40B4-BE49-F238E27FC236}">
                <a16:creationId xmlns:a16="http://schemas.microsoft.com/office/drawing/2014/main" id="{04223046-FD4E-42C0-A105-D469FA1C19A3}"/>
              </a:ext>
            </a:extLst>
          </p:cNvPr>
          <p:cNvSpPr/>
          <p:nvPr/>
        </p:nvSpPr>
        <p:spPr>
          <a:xfrm rot="16200000">
            <a:off x="6861167" y="5883114"/>
            <a:ext cx="134347" cy="9988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037B67C0-BB13-4910-805C-F74BF26EFCEA}"/>
              </a:ext>
            </a:extLst>
          </p:cNvPr>
          <p:cNvCxnSpPr/>
          <p:nvPr/>
        </p:nvCxnSpPr>
        <p:spPr>
          <a:xfrm>
            <a:off x="7554351" y="6315342"/>
            <a:ext cx="2588455"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4FE4E3A-95A4-47E1-9344-B1F89333BDBA}"/>
              </a:ext>
            </a:extLst>
          </p:cNvPr>
          <p:cNvCxnSpPr>
            <a:cxnSpLocks/>
          </p:cNvCxnSpPr>
          <p:nvPr/>
        </p:nvCxnSpPr>
        <p:spPr>
          <a:xfrm flipV="1">
            <a:off x="6928340" y="1028728"/>
            <a:ext cx="3214466" cy="1727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7C555-9EE9-4158-8BB7-14D2FEE797AF}"/>
              </a:ext>
            </a:extLst>
          </p:cNvPr>
          <p:cNvCxnSpPr>
            <a:cxnSpLocks/>
          </p:cNvCxnSpPr>
          <p:nvPr/>
        </p:nvCxnSpPr>
        <p:spPr>
          <a:xfrm>
            <a:off x="8525022" y="1046005"/>
            <a:ext cx="0" cy="141584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B0FF1D2-A2FE-4BEA-865B-D93DACF9CE12}"/>
              </a:ext>
            </a:extLst>
          </p:cNvPr>
          <p:cNvSpPr txBox="1"/>
          <p:nvPr/>
        </p:nvSpPr>
        <p:spPr>
          <a:xfrm>
            <a:off x="10313964" y="844062"/>
            <a:ext cx="649460" cy="369332"/>
          </a:xfrm>
          <a:prstGeom prst="rect">
            <a:avLst/>
          </a:prstGeom>
          <a:noFill/>
        </p:spPr>
        <p:txBody>
          <a:bodyPr wrap="square" rtlCol="0">
            <a:spAutoFit/>
          </a:bodyPr>
          <a:lstStyle/>
          <a:p>
            <a:r>
              <a:rPr lang="en-US" b="1" dirty="0"/>
              <a:t>SPI 1</a:t>
            </a:r>
            <a:endParaRPr lang="en-IN" b="1" dirty="0"/>
          </a:p>
        </p:txBody>
      </p:sp>
      <p:sp>
        <p:nvSpPr>
          <p:cNvPr id="16" name="TextBox 15">
            <a:extLst>
              <a:ext uri="{FF2B5EF4-FFF2-40B4-BE49-F238E27FC236}">
                <a16:creationId xmlns:a16="http://schemas.microsoft.com/office/drawing/2014/main" id="{40E07C8F-08D8-4040-A6DF-F147F41AFFC2}"/>
              </a:ext>
            </a:extLst>
          </p:cNvPr>
          <p:cNvSpPr txBox="1"/>
          <p:nvPr/>
        </p:nvSpPr>
        <p:spPr>
          <a:xfrm>
            <a:off x="10313964" y="6130676"/>
            <a:ext cx="649460" cy="369332"/>
          </a:xfrm>
          <a:prstGeom prst="rect">
            <a:avLst/>
          </a:prstGeom>
          <a:noFill/>
        </p:spPr>
        <p:txBody>
          <a:bodyPr wrap="square" rtlCol="0">
            <a:spAutoFit/>
          </a:bodyPr>
          <a:lstStyle/>
          <a:p>
            <a:r>
              <a:rPr lang="en-US" b="1" dirty="0"/>
              <a:t>SPI 0</a:t>
            </a:r>
            <a:endParaRPr lang="en-IN" b="1" dirty="0"/>
          </a:p>
        </p:txBody>
      </p:sp>
    </p:spTree>
    <p:extLst>
      <p:ext uri="{BB962C8B-B14F-4D97-AF65-F5344CB8AC3E}">
        <p14:creationId xmlns:p14="http://schemas.microsoft.com/office/powerpoint/2010/main" val="1426811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2EFA68-DF73-4BEF-A91E-7A72635624BB}"/>
              </a:ext>
            </a:extLst>
          </p:cNvPr>
          <p:cNvPicPr>
            <a:picLocks noChangeAspect="1"/>
          </p:cNvPicPr>
          <p:nvPr/>
        </p:nvPicPr>
        <p:blipFill>
          <a:blip r:embed="rId2"/>
          <a:stretch>
            <a:fillRect/>
          </a:stretch>
        </p:blipFill>
        <p:spPr>
          <a:xfrm>
            <a:off x="1885872" y="2105102"/>
            <a:ext cx="8749605" cy="2886622"/>
          </a:xfrm>
          <a:prstGeom prst="rect">
            <a:avLst/>
          </a:prstGeom>
        </p:spPr>
      </p:pic>
      <p:sp>
        <p:nvSpPr>
          <p:cNvPr id="4" name="TextBox 3">
            <a:extLst>
              <a:ext uri="{FF2B5EF4-FFF2-40B4-BE49-F238E27FC236}">
                <a16:creationId xmlns:a16="http://schemas.microsoft.com/office/drawing/2014/main" id="{245A96D8-E743-49AC-92DF-C9CE1F63799E}"/>
              </a:ext>
            </a:extLst>
          </p:cNvPr>
          <p:cNvSpPr txBox="1"/>
          <p:nvPr/>
        </p:nvSpPr>
        <p:spPr>
          <a:xfrm>
            <a:off x="329784" y="734518"/>
            <a:ext cx="6625652" cy="461665"/>
          </a:xfrm>
          <a:prstGeom prst="rect">
            <a:avLst/>
          </a:prstGeom>
          <a:noFill/>
        </p:spPr>
        <p:txBody>
          <a:bodyPr wrap="square" rtlCol="0">
            <a:spAutoFit/>
          </a:bodyPr>
          <a:lstStyle/>
          <a:p>
            <a:r>
              <a:rPr lang="en-US" sz="2400" b="1" dirty="0"/>
              <a:t>Connection of  EEPROM with LPC2148 on ALS kit</a:t>
            </a:r>
            <a:endParaRPr lang="en-IN" sz="2400" b="1" dirty="0"/>
          </a:p>
        </p:txBody>
      </p:sp>
    </p:spTree>
    <p:extLst>
      <p:ext uri="{BB962C8B-B14F-4D97-AF65-F5344CB8AC3E}">
        <p14:creationId xmlns:p14="http://schemas.microsoft.com/office/powerpoint/2010/main" val="3342949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607C01-74CD-475A-A2F3-B3C4208DFD07}"/>
              </a:ext>
            </a:extLst>
          </p:cNvPr>
          <p:cNvSpPr txBox="1"/>
          <p:nvPr/>
        </p:nvSpPr>
        <p:spPr>
          <a:xfrm>
            <a:off x="520505" y="844062"/>
            <a:ext cx="3742006" cy="523220"/>
          </a:xfrm>
          <a:prstGeom prst="rect">
            <a:avLst/>
          </a:prstGeom>
          <a:noFill/>
        </p:spPr>
        <p:txBody>
          <a:bodyPr wrap="square" rtlCol="0">
            <a:spAutoFit/>
          </a:bodyPr>
          <a:lstStyle/>
          <a:p>
            <a:r>
              <a:rPr lang="en-US" sz="2800" dirty="0"/>
              <a:t>SPI registers  in LPC2148</a:t>
            </a:r>
            <a:endParaRPr lang="en-IN" sz="2800" dirty="0"/>
          </a:p>
        </p:txBody>
      </p:sp>
      <p:grpSp>
        <p:nvGrpSpPr>
          <p:cNvPr id="132" name="Group 131">
            <a:extLst>
              <a:ext uri="{FF2B5EF4-FFF2-40B4-BE49-F238E27FC236}">
                <a16:creationId xmlns:a16="http://schemas.microsoft.com/office/drawing/2014/main" id="{7534C6F7-CB57-47ED-91B3-B26B370E3887}"/>
              </a:ext>
            </a:extLst>
          </p:cNvPr>
          <p:cNvGrpSpPr/>
          <p:nvPr/>
        </p:nvGrpSpPr>
        <p:grpSpPr>
          <a:xfrm>
            <a:off x="474784" y="1663151"/>
            <a:ext cx="3632981" cy="461665"/>
            <a:chOff x="474784" y="1663151"/>
            <a:chExt cx="3632981" cy="461665"/>
          </a:xfrm>
        </p:grpSpPr>
        <p:sp>
          <p:nvSpPr>
            <p:cNvPr id="4" name="TextBox 3">
              <a:extLst>
                <a:ext uri="{FF2B5EF4-FFF2-40B4-BE49-F238E27FC236}">
                  <a16:creationId xmlns:a16="http://schemas.microsoft.com/office/drawing/2014/main" id="{04ACA0D5-0E40-447D-9D03-7192C974C879}"/>
                </a:ext>
              </a:extLst>
            </p:cNvPr>
            <p:cNvSpPr txBox="1"/>
            <p:nvPr/>
          </p:nvSpPr>
          <p:spPr>
            <a:xfrm>
              <a:off x="2776610" y="1663151"/>
              <a:ext cx="1331155" cy="461665"/>
            </a:xfrm>
            <a:prstGeom prst="rect">
              <a:avLst/>
            </a:prstGeom>
            <a:noFill/>
          </p:spPr>
          <p:txBody>
            <a:bodyPr wrap="square">
              <a:spAutoFit/>
            </a:bodyPr>
            <a:lstStyle/>
            <a:p>
              <a:r>
                <a:rPr lang="en-IN" sz="2400" b="1" dirty="0"/>
                <a:t>(SSPCR0)</a:t>
              </a:r>
            </a:p>
          </p:txBody>
        </p:sp>
        <p:sp>
          <p:nvSpPr>
            <p:cNvPr id="6" name="TextBox 5">
              <a:extLst>
                <a:ext uri="{FF2B5EF4-FFF2-40B4-BE49-F238E27FC236}">
                  <a16:creationId xmlns:a16="http://schemas.microsoft.com/office/drawing/2014/main" id="{91CBB14C-CBAD-4906-9109-6848C5630DDD}"/>
                </a:ext>
              </a:extLst>
            </p:cNvPr>
            <p:cNvSpPr txBox="1"/>
            <p:nvPr/>
          </p:nvSpPr>
          <p:spPr>
            <a:xfrm>
              <a:off x="474784" y="1663151"/>
              <a:ext cx="2465364" cy="461665"/>
            </a:xfrm>
            <a:prstGeom prst="rect">
              <a:avLst/>
            </a:prstGeom>
            <a:noFill/>
          </p:spPr>
          <p:txBody>
            <a:bodyPr wrap="square">
              <a:spAutoFit/>
            </a:bodyPr>
            <a:lstStyle/>
            <a:p>
              <a:r>
                <a:rPr lang="en-IN" sz="2400" b="1" dirty="0"/>
                <a:t>Control Register 0</a:t>
              </a:r>
            </a:p>
          </p:txBody>
        </p:sp>
      </p:grpSp>
      <p:sp>
        <p:nvSpPr>
          <p:cNvPr id="8" name="TextBox 7">
            <a:extLst>
              <a:ext uri="{FF2B5EF4-FFF2-40B4-BE49-F238E27FC236}">
                <a16:creationId xmlns:a16="http://schemas.microsoft.com/office/drawing/2014/main" id="{09522BB7-DA52-4069-8E79-D1E0D039D0DD}"/>
              </a:ext>
            </a:extLst>
          </p:cNvPr>
          <p:cNvSpPr txBox="1"/>
          <p:nvPr/>
        </p:nvSpPr>
        <p:spPr>
          <a:xfrm>
            <a:off x="474784" y="2124816"/>
            <a:ext cx="6569612" cy="461665"/>
          </a:xfrm>
          <a:prstGeom prst="rect">
            <a:avLst/>
          </a:prstGeom>
          <a:noFill/>
        </p:spPr>
        <p:txBody>
          <a:bodyPr wrap="square">
            <a:spAutoFit/>
          </a:bodyPr>
          <a:lstStyle/>
          <a:p>
            <a:r>
              <a:rPr lang="en-US" sz="2400" dirty="0"/>
              <a:t>Selects the serial clock rate, bus type, and data size.</a:t>
            </a:r>
            <a:r>
              <a:rPr lang="en-US" dirty="0"/>
              <a:t> </a:t>
            </a:r>
            <a:endParaRPr lang="en-IN" dirty="0"/>
          </a:p>
        </p:txBody>
      </p:sp>
      <p:sp>
        <p:nvSpPr>
          <p:cNvPr id="9" name="TextBox 8">
            <a:extLst>
              <a:ext uri="{FF2B5EF4-FFF2-40B4-BE49-F238E27FC236}">
                <a16:creationId xmlns:a16="http://schemas.microsoft.com/office/drawing/2014/main" id="{3D950C3E-0C94-4B3C-B938-2A2DBBF26E01}"/>
              </a:ext>
            </a:extLst>
          </p:cNvPr>
          <p:cNvSpPr txBox="1"/>
          <p:nvPr/>
        </p:nvSpPr>
        <p:spPr>
          <a:xfrm>
            <a:off x="474784" y="2586481"/>
            <a:ext cx="2518117" cy="461665"/>
          </a:xfrm>
          <a:prstGeom prst="rect">
            <a:avLst/>
          </a:prstGeom>
          <a:noFill/>
        </p:spPr>
        <p:txBody>
          <a:bodyPr wrap="square" rtlCol="0">
            <a:spAutoFit/>
          </a:bodyPr>
          <a:lstStyle/>
          <a:p>
            <a:r>
              <a:rPr lang="en-US" sz="2400" dirty="0"/>
              <a:t>Access Type: R/W</a:t>
            </a:r>
            <a:endParaRPr lang="en-IN" sz="2400" dirty="0"/>
          </a:p>
        </p:txBody>
      </p:sp>
      <p:pic>
        <p:nvPicPr>
          <p:cNvPr id="80" name="Picture 79">
            <a:extLst>
              <a:ext uri="{FF2B5EF4-FFF2-40B4-BE49-F238E27FC236}">
                <a16:creationId xmlns:a16="http://schemas.microsoft.com/office/drawing/2014/main" id="{0DACAF39-629A-48FA-96E2-0B461E4681B1}"/>
              </a:ext>
            </a:extLst>
          </p:cNvPr>
          <p:cNvPicPr>
            <a:picLocks noChangeAspect="1"/>
          </p:cNvPicPr>
          <p:nvPr/>
        </p:nvPicPr>
        <p:blipFill>
          <a:blip r:embed="rId2"/>
          <a:stretch>
            <a:fillRect/>
          </a:stretch>
        </p:blipFill>
        <p:spPr>
          <a:xfrm>
            <a:off x="1178901" y="3268523"/>
            <a:ext cx="9834197" cy="1082664"/>
          </a:xfrm>
          <a:prstGeom prst="rect">
            <a:avLst/>
          </a:prstGeom>
        </p:spPr>
      </p:pic>
      <p:pic>
        <p:nvPicPr>
          <p:cNvPr id="82" name="Picture 81">
            <a:extLst>
              <a:ext uri="{FF2B5EF4-FFF2-40B4-BE49-F238E27FC236}">
                <a16:creationId xmlns:a16="http://schemas.microsoft.com/office/drawing/2014/main" id="{15E210D7-08EA-4C2C-9F84-534BE324CB3D}"/>
              </a:ext>
            </a:extLst>
          </p:cNvPr>
          <p:cNvPicPr>
            <a:picLocks noChangeAspect="1"/>
          </p:cNvPicPr>
          <p:nvPr/>
        </p:nvPicPr>
        <p:blipFill>
          <a:blip r:embed="rId3"/>
          <a:stretch>
            <a:fillRect/>
          </a:stretch>
        </p:blipFill>
        <p:spPr>
          <a:xfrm>
            <a:off x="8050165" y="3268524"/>
            <a:ext cx="2191116" cy="1012447"/>
          </a:xfrm>
          <a:prstGeom prst="rect">
            <a:avLst/>
          </a:prstGeom>
        </p:spPr>
      </p:pic>
      <p:sp>
        <p:nvSpPr>
          <p:cNvPr id="83" name="TextBox 82">
            <a:extLst>
              <a:ext uri="{FF2B5EF4-FFF2-40B4-BE49-F238E27FC236}">
                <a16:creationId xmlns:a16="http://schemas.microsoft.com/office/drawing/2014/main" id="{20725CA9-7BE4-4436-BD79-54DE81AD3CE5}"/>
              </a:ext>
            </a:extLst>
          </p:cNvPr>
          <p:cNvSpPr txBox="1"/>
          <p:nvPr/>
        </p:nvSpPr>
        <p:spPr>
          <a:xfrm>
            <a:off x="7480092" y="5021705"/>
            <a:ext cx="2761189" cy="523220"/>
          </a:xfrm>
          <a:prstGeom prst="rect">
            <a:avLst/>
          </a:prstGeom>
          <a:noFill/>
        </p:spPr>
        <p:txBody>
          <a:bodyPr wrap="square" rtlCol="0">
            <a:spAutoFit/>
          </a:bodyPr>
          <a:lstStyle/>
          <a:p>
            <a:r>
              <a:rPr lang="en-US" sz="2800" b="1" dirty="0"/>
              <a:t>D</a:t>
            </a:r>
            <a:r>
              <a:rPr lang="en-US" sz="2800" dirty="0"/>
              <a:t>ata </a:t>
            </a:r>
            <a:r>
              <a:rPr lang="en-US" sz="2800" b="1" dirty="0"/>
              <a:t>S</a:t>
            </a:r>
            <a:r>
              <a:rPr lang="en-US" sz="2800" dirty="0"/>
              <a:t>ize </a:t>
            </a:r>
            <a:r>
              <a:rPr lang="en-US" sz="2800" b="1" dirty="0"/>
              <a:t>S</a:t>
            </a:r>
            <a:r>
              <a:rPr lang="en-US" sz="2800" dirty="0"/>
              <a:t>elect</a:t>
            </a:r>
            <a:endParaRPr lang="en-IN" sz="2800" dirty="0"/>
          </a:p>
        </p:txBody>
      </p:sp>
      <p:sp>
        <p:nvSpPr>
          <p:cNvPr id="85" name="TextBox 84">
            <a:extLst>
              <a:ext uri="{FF2B5EF4-FFF2-40B4-BE49-F238E27FC236}">
                <a16:creationId xmlns:a16="http://schemas.microsoft.com/office/drawing/2014/main" id="{073A9D64-F35A-4AEB-883E-EF74872B261F}"/>
              </a:ext>
            </a:extLst>
          </p:cNvPr>
          <p:cNvSpPr txBox="1"/>
          <p:nvPr/>
        </p:nvSpPr>
        <p:spPr>
          <a:xfrm>
            <a:off x="7480092" y="5528499"/>
            <a:ext cx="4781488" cy="830997"/>
          </a:xfrm>
          <a:prstGeom prst="rect">
            <a:avLst/>
          </a:prstGeom>
          <a:noFill/>
        </p:spPr>
        <p:txBody>
          <a:bodyPr wrap="square">
            <a:spAutoFit/>
          </a:bodyPr>
          <a:lstStyle/>
          <a:p>
            <a:r>
              <a:rPr lang="en-US" sz="2400" dirty="0"/>
              <a:t>This field controls the number of bits transferred in each frame</a:t>
            </a:r>
            <a:endParaRPr lang="en-IN" sz="2400" dirty="0"/>
          </a:p>
        </p:txBody>
      </p:sp>
      <p:grpSp>
        <p:nvGrpSpPr>
          <p:cNvPr id="97" name="Group 96">
            <a:extLst>
              <a:ext uri="{FF2B5EF4-FFF2-40B4-BE49-F238E27FC236}">
                <a16:creationId xmlns:a16="http://schemas.microsoft.com/office/drawing/2014/main" id="{A7CFA3FA-3075-4147-B614-FF2D754A2ADC}"/>
              </a:ext>
            </a:extLst>
          </p:cNvPr>
          <p:cNvGrpSpPr/>
          <p:nvPr/>
        </p:nvGrpSpPr>
        <p:grpSpPr>
          <a:xfrm>
            <a:off x="4262511" y="5528499"/>
            <a:ext cx="2603291" cy="1061829"/>
            <a:chOff x="4262511" y="5528499"/>
            <a:chExt cx="2603291" cy="1061829"/>
          </a:xfrm>
        </p:grpSpPr>
        <p:sp>
          <p:nvSpPr>
            <p:cNvPr id="92" name="TextBox 91">
              <a:extLst>
                <a:ext uri="{FF2B5EF4-FFF2-40B4-BE49-F238E27FC236}">
                  <a16:creationId xmlns:a16="http://schemas.microsoft.com/office/drawing/2014/main" id="{BC5CAFDD-C589-4EC6-8A8C-EDDD10DD8FF0}"/>
                </a:ext>
              </a:extLst>
            </p:cNvPr>
            <p:cNvSpPr txBox="1"/>
            <p:nvPr/>
          </p:nvSpPr>
          <p:spPr>
            <a:xfrm>
              <a:off x="4262511" y="5528499"/>
              <a:ext cx="2603291" cy="461665"/>
            </a:xfrm>
            <a:prstGeom prst="rect">
              <a:avLst/>
            </a:prstGeom>
            <a:noFill/>
          </p:spPr>
          <p:txBody>
            <a:bodyPr wrap="square" rtlCol="0">
              <a:spAutoFit/>
            </a:bodyPr>
            <a:lstStyle/>
            <a:p>
              <a:r>
                <a:rPr lang="en-US" sz="2400" dirty="0"/>
                <a:t>0        0         1         1</a:t>
              </a:r>
              <a:endParaRPr lang="en-IN" sz="2400" dirty="0"/>
            </a:p>
          </p:txBody>
        </p:sp>
        <p:sp>
          <p:nvSpPr>
            <p:cNvPr id="94" name="TextBox 93">
              <a:extLst>
                <a:ext uri="{FF2B5EF4-FFF2-40B4-BE49-F238E27FC236}">
                  <a16:creationId xmlns:a16="http://schemas.microsoft.com/office/drawing/2014/main" id="{7018BEB0-6F6B-4B1C-B9E4-FC41A440BDBF}"/>
                </a:ext>
              </a:extLst>
            </p:cNvPr>
            <p:cNvSpPr txBox="1"/>
            <p:nvPr/>
          </p:nvSpPr>
          <p:spPr>
            <a:xfrm>
              <a:off x="4711909" y="6128663"/>
              <a:ext cx="1898753" cy="461665"/>
            </a:xfrm>
            <a:prstGeom prst="rect">
              <a:avLst/>
            </a:prstGeom>
            <a:noFill/>
          </p:spPr>
          <p:txBody>
            <a:bodyPr wrap="square">
              <a:spAutoFit/>
            </a:bodyPr>
            <a:lstStyle/>
            <a:p>
              <a:r>
                <a:rPr lang="en-IN" sz="2400" b="1" dirty="0"/>
                <a:t>4 bit transfer</a:t>
              </a:r>
            </a:p>
          </p:txBody>
        </p:sp>
      </p:grpSp>
      <p:grpSp>
        <p:nvGrpSpPr>
          <p:cNvPr id="98" name="Group 97">
            <a:extLst>
              <a:ext uri="{FF2B5EF4-FFF2-40B4-BE49-F238E27FC236}">
                <a16:creationId xmlns:a16="http://schemas.microsoft.com/office/drawing/2014/main" id="{95AA0709-B718-4BFB-BF83-57BB18FB02EE}"/>
              </a:ext>
            </a:extLst>
          </p:cNvPr>
          <p:cNvGrpSpPr/>
          <p:nvPr/>
        </p:nvGrpSpPr>
        <p:grpSpPr>
          <a:xfrm>
            <a:off x="4262511" y="5528499"/>
            <a:ext cx="2603291" cy="1061829"/>
            <a:chOff x="1044930" y="5314092"/>
            <a:chExt cx="2603291" cy="1061829"/>
          </a:xfrm>
        </p:grpSpPr>
        <p:sp>
          <p:nvSpPr>
            <p:cNvPr id="95" name="TextBox 94">
              <a:extLst>
                <a:ext uri="{FF2B5EF4-FFF2-40B4-BE49-F238E27FC236}">
                  <a16:creationId xmlns:a16="http://schemas.microsoft.com/office/drawing/2014/main" id="{C213FD53-A79C-4AFF-B3E6-50F8D1B158EC}"/>
                </a:ext>
              </a:extLst>
            </p:cNvPr>
            <p:cNvSpPr txBox="1"/>
            <p:nvPr/>
          </p:nvSpPr>
          <p:spPr>
            <a:xfrm>
              <a:off x="1044930" y="5314092"/>
              <a:ext cx="2603291" cy="461665"/>
            </a:xfrm>
            <a:prstGeom prst="rect">
              <a:avLst/>
            </a:prstGeom>
            <a:noFill/>
          </p:spPr>
          <p:txBody>
            <a:bodyPr wrap="square" rtlCol="0">
              <a:spAutoFit/>
            </a:bodyPr>
            <a:lstStyle/>
            <a:p>
              <a:r>
                <a:rPr lang="en-US" sz="2400" dirty="0"/>
                <a:t>0        1         0         0</a:t>
              </a:r>
              <a:endParaRPr lang="en-IN" sz="2400" dirty="0"/>
            </a:p>
          </p:txBody>
        </p:sp>
        <p:sp>
          <p:nvSpPr>
            <p:cNvPr id="96" name="TextBox 95">
              <a:extLst>
                <a:ext uri="{FF2B5EF4-FFF2-40B4-BE49-F238E27FC236}">
                  <a16:creationId xmlns:a16="http://schemas.microsoft.com/office/drawing/2014/main" id="{BEFFA9C4-72B0-4CC9-97F7-E4D7FB1D1E70}"/>
                </a:ext>
              </a:extLst>
            </p:cNvPr>
            <p:cNvSpPr txBox="1"/>
            <p:nvPr/>
          </p:nvSpPr>
          <p:spPr>
            <a:xfrm>
              <a:off x="1494328" y="5914256"/>
              <a:ext cx="1898753" cy="461665"/>
            </a:xfrm>
            <a:prstGeom prst="rect">
              <a:avLst/>
            </a:prstGeom>
            <a:noFill/>
          </p:spPr>
          <p:txBody>
            <a:bodyPr wrap="square">
              <a:spAutoFit/>
            </a:bodyPr>
            <a:lstStyle/>
            <a:p>
              <a:r>
                <a:rPr lang="en-IN" sz="2400" b="1" dirty="0"/>
                <a:t>5 bit transfer</a:t>
              </a:r>
            </a:p>
          </p:txBody>
        </p:sp>
      </p:grpSp>
      <p:grpSp>
        <p:nvGrpSpPr>
          <p:cNvPr id="99" name="Group 98">
            <a:extLst>
              <a:ext uri="{FF2B5EF4-FFF2-40B4-BE49-F238E27FC236}">
                <a16:creationId xmlns:a16="http://schemas.microsoft.com/office/drawing/2014/main" id="{59501CB6-33C3-425C-9AF1-37B1AAFFCD31}"/>
              </a:ext>
            </a:extLst>
          </p:cNvPr>
          <p:cNvGrpSpPr/>
          <p:nvPr/>
        </p:nvGrpSpPr>
        <p:grpSpPr>
          <a:xfrm>
            <a:off x="4262511" y="5528499"/>
            <a:ext cx="2603291" cy="1061829"/>
            <a:chOff x="1044930" y="5314092"/>
            <a:chExt cx="2603291" cy="1061829"/>
          </a:xfrm>
        </p:grpSpPr>
        <p:sp>
          <p:nvSpPr>
            <p:cNvPr id="100" name="TextBox 99">
              <a:extLst>
                <a:ext uri="{FF2B5EF4-FFF2-40B4-BE49-F238E27FC236}">
                  <a16:creationId xmlns:a16="http://schemas.microsoft.com/office/drawing/2014/main" id="{00C12B5E-8FED-41CC-A96B-BA5E47907E12}"/>
                </a:ext>
              </a:extLst>
            </p:cNvPr>
            <p:cNvSpPr txBox="1"/>
            <p:nvPr/>
          </p:nvSpPr>
          <p:spPr>
            <a:xfrm>
              <a:off x="1044930" y="5314092"/>
              <a:ext cx="2603291" cy="461665"/>
            </a:xfrm>
            <a:prstGeom prst="rect">
              <a:avLst/>
            </a:prstGeom>
            <a:noFill/>
          </p:spPr>
          <p:txBody>
            <a:bodyPr wrap="square" rtlCol="0">
              <a:spAutoFit/>
            </a:bodyPr>
            <a:lstStyle/>
            <a:p>
              <a:r>
                <a:rPr lang="en-US" sz="2400" dirty="0"/>
                <a:t>0        1         0         1</a:t>
              </a:r>
              <a:endParaRPr lang="en-IN" sz="2400" dirty="0"/>
            </a:p>
          </p:txBody>
        </p:sp>
        <p:sp>
          <p:nvSpPr>
            <p:cNvPr id="101" name="TextBox 100">
              <a:extLst>
                <a:ext uri="{FF2B5EF4-FFF2-40B4-BE49-F238E27FC236}">
                  <a16:creationId xmlns:a16="http://schemas.microsoft.com/office/drawing/2014/main" id="{0F1FAC35-651E-4A97-BC7F-406A21548781}"/>
                </a:ext>
              </a:extLst>
            </p:cNvPr>
            <p:cNvSpPr txBox="1"/>
            <p:nvPr/>
          </p:nvSpPr>
          <p:spPr>
            <a:xfrm>
              <a:off x="1494328" y="5914256"/>
              <a:ext cx="1898753" cy="461665"/>
            </a:xfrm>
            <a:prstGeom prst="rect">
              <a:avLst/>
            </a:prstGeom>
            <a:noFill/>
          </p:spPr>
          <p:txBody>
            <a:bodyPr wrap="square">
              <a:spAutoFit/>
            </a:bodyPr>
            <a:lstStyle/>
            <a:p>
              <a:r>
                <a:rPr lang="en-IN" sz="2400" b="1" dirty="0"/>
                <a:t>6 bit transfer</a:t>
              </a:r>
            </a:p>
          </p:txBody>
        </p:sp>
      </p:grpSp>
      <p:grpSp>
        <p:nvGrpSpPr>
          <p:cNvPr id="102" name="Group 101">
            <a:extLst>
              <a:ext uri="{FF2B5EF4-FFF2-40B4-BE49-F238E27FC236}">
                <a16:creationId xmlns:a16="http://schemas.microsoft.com/office/drawing/2014/main" id="{4EDAB1F6-24B4-4A4E-B1D3-84919B8CACDC}"/>
              </a:ext>
            </a:extLst>
          </p:cNvPr>
          <p:cNvGrpSpPr/>
          <p:nvPr/>
        </p:nvGrpSpPr>
        <p:grpSpPr>
          <a:xfrm>
            <a:off x="4262510" y="5528499"/>
            <a:ext cx="2603291" cy="1061829"/>
            <a:chOff x="1044930" y="5314092"/>
            <a:chExt cx="2603291" cy="1061829"/>
          </a:xfrm>
        </p:grpSpPr>
        <p:sp>
          <p:nvSpPr>
            <p:cNvPr id="103" name="TextBox 102">
              <a:extLst>
                <a:ext uri="{FF2B5EF4-FFF2-40B4-BE49-F238E27FC236}">
                  <a16:creationId xmlns:a16="http://schemas.microsoft.com/office/drawing/2014/main" id="{BEF8DE45-53C4-4F98-B9A6-3169074DA2B7}"/>
                </a:ext>
              </a:extLst>
            </p:cNvPr>
            <p:cNvSpPr txBox="1"/>
            <p:nvPr/>
          </p:nvSpPr>
          <p:spPr>
            <a:xfrm>
              <a:off x="1044930" y="5314092"/>
              <a:ext cx="2603291" cy="461665"/>
            </a:xfrm>
            <a:prstGeom prst="rect">
              <a:avLst/>
            </a:prstGeom>
            <a:noFill/>
          </p:spPr>
          <p:txBody>
            <a:bodyPr wrap="square" rtlCol="0">
              <a:spAutoFit/>
            </a:bodyPr>
            <a:lstStyle/>
            <a:p>
              <a:r>
                <a:rPr lang="en-US" sz="2400" dirty="0"/>
                <a:t>0        1         1         0</a:t>
              </a:r>
              <a:endParaRPr lang="en-IN" sz="2400" dirty="0"/>
            </a:p>
          </p:txBody>
        </p:sp>
        <p:sp>
          <p:nvSpPr>
            <p:cNvPr id="104" name="TextBox 103">
              <a:extLst>
                <a:ext uri="{FF2B5EF4-FFF2-40B4-BE49-F238E27FC236}">
                  <a16:creationId xmlns:a16="http://schemas.microsoft.com/office/drawing/2014/main" id="{F3536432-348F-444D-A7F6-1779362623A2}"/>
                </a:ext>
              </a:extLst>
            </p:cNvPr>
            <p:cNvSpPr txBox="1"/>
            <p:nvPr/>
          </p:nvSpPr>
          <p:spPr>
            <a:xfrm>
              <a:off x="1494328" y="5914256"/>
              <a:ext cx="1898753" cy="461665"/>
            </a:xfrm>
            <a:prstGeom prst="rect">
              <a:avLst/>
            </a:prstGeom>
            <a:noFill/>
          </p:spPr>
          <p:txBody>
            <a:bodyPr wrap="square">
              <a:spAutoFit/>
            </a:bodyPr>
            <a:lstStyle/>
            <a:p>
              <a:r>
                <a:rPr lang="en-IN" sz="2400" b="1" dirty="0"/>
                <a:t>7 bit transfer</a:t>
              </a:r>
            </a:p>
          </p:txBody>
        </p:sp>
      </p:grpSp>
      <p:grpSp>
        <p:nvGrpSpPr>
          <p:cNvPr id="105" name="Group 104">
            <a:extLst>
              <a:ext uri="{FF2B5EF4-FFF2-40B4-BE49-F238E27FC236}">
                <a16:creationId xmlns:a16="http://schemas.microsoft.com/office/drawing/2014/main" id="{699BB2B4-1741-40B7-A7FB-5396EA69B7BA}"/>
              </a:ext>
            </a:extLst>
          </p:cNvPr>
          <p:cNvGrpSpPr/>
          <p:nvPr/>
        </p:nvGrpSpPr>
        <p:grpSpPr>
          <a:xfrm>
            <a:off x="4262509" y="5528499"/>
            <a:ext cx="2603291" cy="1061829"/>
            <a:chOff x="1044930" y="5314092"/>
            <a:chExt cx="2603291" cy="1061829"/>
          </a:xfrm>
        </p:grpSpPr>
        <p:sp>
          <p:nvSpPr>
            <p:cNvPr id="106" name="TextBox 105">
              <a:extLst>
                <a:ext uri="{FF2B5EF4-FFF2-40B4-BE49-F238E27FC236}">
                  <a16:creationId xmlns:a16="http://schemas.microsoft.com/office/drawing/2014/main" id="{1751E642-A524-4D86-A523-354C3408E5BA}"/>
                </a:ext>
              </a:extLst>
            </p:cNvPr>
            <p:cNvSpPr txBox="1"/>
            <p:nvPr/>
          </p:nvSpPr>
          <p:spPr>
            <a:xfrm>
              <a:off x="1044930" y="5314092"/>
              <a:ext cx="2603291" cy="461665"/>
            </a:xfrm>
            <a:prstGeom prst="rect">
              <a:avLst/>
            </a:prstGeom>
            <a:noFill/>
          </p:spPr>
          <p:txBody>
            <a:bodyPr wrap="square" rtlCol="0">
              <a:spAutoFit/>
            </a:bodyPr>
            <a:lstStyle/>
            <a:p>
              <a:r>
                <a:rPr lang="en-US" sz="2400" dirty="0"/>
                <a:t>0        1         1         1</a:t>
              </a:r>
              <a:endParaRPr lang="en-IN" sz="2400" dirty="0"/>
            </a:p>
          </p:txBody>
        </p:sp>
        <p:sp>
          <p:nvSpPr>
            <p:cNvPr id="107" name="TextBox 106">
              <a:extLst>
                <a:ext uri="{FF2B5EF4-FFF2-40B4-BE49-F238E27FC236}">
                  <a16:creationId xmlns:a16="http://schemas.microsoft.com/office/drawing/2014/main" id="{203969BA-F0C7-4D37-BC01-E1D3F518518B}"/>
                </a:ext>
              </a:extLst>
            </p:cNvPr>
            <p:cNvSpPr txBox="1"/>
            <p:nvPr/>
          </p:nvSpPr>
          <p:spPr>
            <a:xfrm>
              <a:off x="1494328" y="5914256"/>
              <a:ext cx="1898753" cy="461665"/>
            </a:xfrm>
            <a:prstGeom prst="rect">
              <a:avLst/>
            </a:prstGeom>
            <a:noFill/>
          </p:spPr>
          <p:txBody>
            <a:bodyPr wrap="square">
              <a:spAutoFit/>
            </a:bodyPr>
            <a:lstStyle/>
            <a:p>
              <a:r>
                <a:rPr lang="en-IN" sz="2400" b="1" dirty="0"/>
                <a:t>8 bit transfer</a:t>
              </a:r>
            </a:p>
          </p:txBody>
        </p:sp>
      </p:grpSp>
      <p:grpSp>
        <p:nvGrpSpPr>
          <p:cNvPr id="108" name="Group 107">
            <a:extLst>
              <a:ext uri="{FF2B5EF4-FFF2-40B4-BE49-F238E27FC236}">
                <a16:creationId xmlns:a16="http://schemas.microsoft.com/office/drawing/2014/main" id="{3C20EF7B-EF56-416E-AA1C-FE0E9F484812}"/>
              </a:ext>
            </a:extLst>
          </p:cNvPr>
          <p:cNvGrpSpPr/>
          <p:nvPr/>
        </p:nvGrpSpPr>
        <p:grpSpPr>
          <a:xfrm>
            <a:off x="4262509" y="5528499"/>
            <a:ext cx="2603291" cy="1061829"/>
            <a:chOff x="1044930" y="5314092"/>
            <a:chExt cx="2603291" cy="1061829"/>
          </a:xfrm>
        </p:grpSpPr>
        <p:sp>
          <p:nvSpPr>
            <p:cNvPr id="109" name="TextBox 108">
              <a:extLst>
                <a:ext uri="{FF2B5EF4-FFF2-40B4-BE49-F238E27FC236}">
                  <a16:creationId xmlns:a16="http://schemas.microsoft.com/office/drawing/2014/main" id="{D8C105E8-7579-45CA-A52C-2663BF039E0E}"/>
                </a:ext>
              </a:extLst>
            </p:cNvPr>
            <p:cNvSpPr txBox="1"/>
            <p:nvPr/>
          </p:nvSpPr>
          <p:spPr>
            <a:xfrm>
              <a:off x="1044930" y="5314092"/>
              <a:ext cx="2603291" cy="461665"/>
            </a:xfrm>
            <a:prstGeom prst="rect">
              <a:avLst/>
            </a:prstGeom>
            <a:noFill/>
          </p:spPr>
          <p:txBody>
            <a:bodyPr wrap="square" rtlCol="0">
              <a:spAutoFit/>
            </a:bodyPr>
            <a:lstStyle/>
            <a:p>
              <a:r>
                <a:rPr lang="en-US" sz="2400" dirty="0"/>
                <a:t>1        0         0         0</a:t>
              </a:r>
              <a:endParaRPr lang="en-IN" sz="2400" dirty="0"/>
            </a:p>
          </p:txBody>
        </p:sp>
        <p:sp>
          <p:nvSpPr>
            <p:cNvPr id="110" name="TextBox 109">
              <a:extLst>
                <a:ext uri="{FF2B5EF4-FFF2-40B4-BE49-F238E27FC236}">
                  <a16:creationId xmlns:a16="http://schemas.microsoft.com/office/drawing/2014/main" id="{C0853CA3-8FAE-4C34-8600-B6F53C0A04A3}"/>
                </a:ext>
              </a:extLst>
            </p:cNvPr>
            <p:cNvSpPr txBox="1"/>
            <p:nvPr/>
          </p:nvSpPr>
          <p:spPr>
            <a:xfrm>
              <a:off x="1494328" y="5914256"/>
              <a:ext cx="1898753" cy="461665"/>
            </a:xfrm>
            <a:prstGeom prst="rect">
              <a:avLst/>
            </a:prstGeom>
            <a:noFill/>
          </p:spPr>
          <p:txBody>
            <a:bodyPr wrap="square">
              <a:spAutoFit/>
            </a:bodyPr>
            <a:lstStyle/>
            <a:p>
              <a:r>
                <a:rPr lang="en-IN" sz="2400" b="1" dirty="0"/>
                <a:t>9 bit transfer</a:t>
              </a:r>
            </a:p>
          </p:txBody>
        </p:sp>
      </p:grpSp>
      <p:grpSp>
        <p:nvGrpSpPr>
          <p:cNvPr id="111" name="Group 110">
            <a:extLst>
              <a:ext uri="{FF2B5EF4-FFF2-40B4-BE49-F238E27FC236}">
                <a16:creationId xmlns:a16="http://schemas.microsoft.com/office/drawing/2014/main" id="{C7730B61-8493-4543-8902-A220B7CCB714}"/>
              </a:ext>
            </a:extLst>
          </p:cNvPr>
          <p:cNvGrpSpPr/>
          <p:nvPr/>
        </p:nvGrpSpPr>
        <p:grpSpPr>
          <a:xfrm>
            <a:off x="4262509" y="5528499"/>
            <a:ext cx="2603291" cy="1061829"/>
            <a:chOff x="1044930" y="5314092"/>
            <a:chExt cx="2603291" cy="1061829"/>
          </a:xfrm>
        </p:grpSpPr>
        <p:sp>
          <p:nvSpPr>
            <p:cNvPr id="112" name="TextBox 111">
              <a:extLst>
                <a:ext uri="{FF2B5EF4-FFF2-40B4-BE49-F238E27FC236}">
                  <a16:creationId xmlns:a16="http://schemas.microsoft.com/office/drawing/2014/main" id="{A018D371-8BE4-41B8-B7E6-AC4D92A20A1F}"/>
                </a:ext>
              </a:extLst>
            </p:cNvPr>
            <p:cNvSpPr txBox="1"/>
            <p:nvPr/>
          </p:nvSpPr>
          <p:spPr>
            <a:xfrm>
              <a:off x="1044930" y="5314092"/>
              <a:ext cx="2603291" cy="461665"/>
            </a:xfrm>
            <a:prstGeom prst="rect">
              <a:avLst/>
            </a:prstGeom>
            <a:noFill/>
          </p:spPr>
          <p:txBody>
            <a:bodyPr wrap="square" rtlCol="0">
              <a:spAutoFit/>
            </a:bodyPr>
            <a:lstStyle/>
            <a:p>
              <a:r>
                <a:rPr lang="en-US" sz="2400" dirty="0"/>
                <a:t>1        0         0         1</a:t>
              </a:r>
              <a:endParaRPr lang="en-IN" sz="2400" dirty="0"/>
            </a:p>
          </p:txBody>
        </p:sp>
        <p:sp>
          <p:nvSpPr>
            <p:cNvPr id="113" name="TextBox 112">
              <a:extLst>
                <a:ext uri="{FF2B5EF4-FFF2-40B4-BE49-F238E27FC236}">
                  <a16:creationId xmlns:a16="http://schemas.microsoft.com/office/drawing/2014/main" id="{B45BC169-E510-4C92-9F29-24511753B242}"/>
                </a:ext>
              </a:extLst>
            </p:cNvPr>
            <p:cNvSpPr txBox="1"/>
            <p:nvPr/>
          </p:nvSpPr>
          <p:spPr>
            <a:xfrm>
              <a:off x="1494328" y="5914256"/>
              <a:ext cx="2033666" cy="461665"/>
            </a:xfrm>
            <a:prstGeom prst="rect">
              <a:avLst/>
            </a:prstGeom>
            <a:noFill/>
          </p:spPr>
          <p:txBody>
            <a:bodyPr wrap="square">
              <a:spAutoFit/>
            </a:bodyPr>
            <a:lstStyle/>
            <a:p>
              <a:r>
                <a:rPr lang="en-IN" sz="2400" b="1" dirty="0"/>
                <a:t>10 bit transfer</a:t>
              </a:r>
            </a:p>
          </p:txBody>
        </p:sp>
      </p:grpSp>
      <p:grpSp>
        <p:nvGrpSpPr>
          <p:cNvPr id="114" name="Group 113">
            <a:extLst>
              <a:ext uri="{FF2B5EF4-FFF2-40B4-BE49-F238E27FC236}">
                <a16:creationId xmlns:a16="http://schemas.microsoft.com/office/drawing/2014/main" id="{528847CF-F95E-4A46-8DD1-7892B7930AB2}"/>
              </a:ext>
            </a:extLst>
          </p:cNvPr>
          <p:cNvGrpSpPr/>
          <p:nvPr/>
        </p:nvGrpSpPr>
        <p:grpSpPr>
          <a:xfrm>
            <a:off x="4262508" y="5528499"/>
            <a:ext cx="2603291" cy="1061829"/>
            <a:chOff x="1044930" y="5314092"/>
            <a:chExt cx="2603291" cy="1061829"/>
          </a:xfrm>
        </p:grpSpPr>
        <p:sp>
          <p:nvSpPr>
            <p:cNvPr id="115" name="TextBox 114">
              <a:extLst>
                <a:ext uri="{FF2B5EF4-FFF2-40B4-BE49-F238E27FC236}">
                  <a16:creationId xmlns:a16="http://schemas.microsoft.com/office/drawing/2014/main" id="{286DD382-8024-4584-ABFA-B55BC6F33F8F}"/>
                </a:ext>
              </a:extLst>
            </p:cNvPr>
            <p:cNvSpPr txBox="1"/>
            <p:nvPr/>
          </p:nvSpPr>
          <p:spPr>
            <a:xfrm>
              <a:off x="1044930" y="5314092"/>
              <a:ext cx="2603291" cy="461665"/>
            </a:xfrm>
            <a:prstGeom prst="rect">
              <a:avLst/>
            </a:prstGeom>
            <a:noFill/>
          </p:spPr>
          <p:txBody>
            <a:bodyPr wrap="square" rtlCol="0">
              <a:spAutoFit/>
            </a:bodyPr>
            <a:lstStyle/>
            <a:p>
              <a:r>
                <a:rPr lang="en-US" sz="2400" dirty="0"/>
                <a:t>1        0         1         0</a:t>
              </a:r>
              <a:endParaRPr lang="en-IN" sz="2400" dirty="0"/>
            </a:p>
          </p:txBody>
        </p:sp>
        <p:sp>
          <p:nvSpPr>
            <p:cNvPr id="116" name="TextBox 115">
              <a:extLst>
                <a:ext uri="{FF2B5EF4-FFF2-40B4-BE49-F238E27FC236}">
                  <a16:creationId xmlns:a16="http://schemas.microsoft.com/office/drawing/2014/main" id="{6025C41B-277A-41C7-BFCE-90787897BB7E}"/>
                </a:ext>
              </a:extLst>
            </p:cNvPr>
            <p:cNvSpPr txBox="1"/>
            <p:nvPr/>
          </p:nvSpPr>
          <p:spPr>
            <a:xfrm>
              <a:off x="1494328" y="5914256"/>
              <a:ext cx="2033666" cy="461665"/>
            </a:xfrm>
            <a:prstGeom prst="rect">
              <a:avLst/>
            </a:prstGeom>
            <a:noFill/>
          </p:spPr>
          <p:txBody>
            <a:bodyPr wrap="square">
              <a:spAutoFit/>
            </a:bodyPr>
            <a:lstStyle/>
            <a:p>
              <a:r>
                <a:rPr lang="en-IN" sz="2400" b="1" dirty="0"/>
                <a:t>11 bit transfer</a:t>
              </a:r>
            </a:p>
          </p:txBody>
        </p:sp>
      </p:grpSp>
      <p:grpSp>
        <p:nvGrpSpPr>
          <p:cNvPr id="117" name="Group 116">
            <a:extLst>
              <a:ext uri="{FF2B5EF4-FFF2-40B4-BE49-F238E27FC236}">
                <a16:creationId xmlns:a16="http://schemas.microsoft.com/office/drawing/2014/main" id="{9DA92BD0-73B9-4984-83F5-3F973857E9AC}"/>
              </a:ext>
            </a:extLst>
          </p:cNvPr>
          <p:cNvGrpSpPr/>
          <p:nvPr/>
        </p:nvGrpSpPr>
        <p:grpSpPr>
          <a:xfrm>
            <a:off x="4262507" y="5528499"/>
            <a:ext cx="2603291" cy="1061829"/>
            <a:chOff x="1044930" y="5314092"/>
            <a:chExt cx="2603291" cy="1061829"/>
          </a:xfrm>
        </p:grpSpPr>
        <p:sp>
          <p:nvSpPr>
            <p:cNvPr id="118" name="TextBox 117">
              <a:extLst>
                <a:ext uri="{FF2B5EF4-FFF2-40B4-BE49-F238E27FC236}">
                  <a16:creationId xmlns:a16="http://schemas.microsoft.com/office/drawing/2014/main" id="{A6F49F96-7EC1-4D76-B84F-6600610A122D}"/>
                </a:ext>
              </a:extLst>
            </p:cNvPr>
            <p:cNvSpPr txBox="1"/>
            <p:nvPr/>
          </p:nvSpPr>
          <p:spPr>
            <a:xfrm>
              <a:off x="1044930" y="5314092"/>
              <a:ext cx="2603291" cy="461665"/>
            </a:xfrm>
            <a:prstGeom prst="rect">
              <a:avLst/>
            </a:prstGeom>
            <a:noFill/>
          </p:spPr>
          <p:txBody>
            <a:bodyPr wrap="square" rtlCol="0">
              <a:spAutoFit/>
            </a:bodyPr>
            <a:lstStyle/>
            <a:p>
              <a:r>
                <a:rPr lang="en-US" sz="2400" dirty="0"/>
                <a:t>1        0         1         1</a:t>
              </a:r>
              <a:endParaRPr lang="en-IN" sz="2400" dirty="0"/>
            </a:p>
          </p:txBody>
        </p:sp>
        <p:sp>
          <p:nvSpPr>
            <p:cNvPr id="119" name="TextBox 118">
              <a:extLst>
                <a:ext uri="{FF2B5EF4-FFF2-40B4-BE49-F238E27FC236}">
                  <a16:creationId xmlns:a16="http://schemas.microsoft.com/office/drawing/2014/main" id="{F0870371-AF87-427F-BF6C-BB16FDC751C3}"/>
                </a:ext>
              </a:extLst>
            </p:cNvPr>
            <p:cNvSpPr txBox="1"/>
            <p:nvPr/>
          </p:nvSpPr>
          <p:spPr>
            <a:xfrm>
              <a:off x="1494328" y="5914256"/>
              <a:ext cx="2033666" cy="461665"/>
            </a:xfrm>
            <a:prstGeom prst="rect">
              <a:avLst/>
            </a:prstGeom>
            <a:noFill/>
          </p:spPr>
          <p:txBody>
            <a:bodyPr wrap="square">
              <a:spAutoFit/>
            </a:bodyPr>
            <a:lstStyle/>
            <a:p>
              <a:r>
                <a:rPr lang="en-IN" sz="2400" b="1" dirty="0"/>
                <a:t>12 bit transfer</a:t>
              </a:r>
            </a:p>
          </p:txBody>
        </p:sp>
      </p:grpSp>
      <p:grpSp>
        <p:nvGrpSpPr>
          <p:cNvPr id="120" name="Group 119">
            <a:extLst>
              <a:ext uri="{FF2B5EF4-FFF2-40B4-BE49-F238E27FC236}">
                <a16:creationId xmlns:a16="http://schemas.microsoft.com/office/drawing/2014/main" id="{3E1A39F7-A9E5-462A-8518-49C901075C87}"/>
              </a:ext>
            </a:extLst>
          </p:cNvPr>
          <p:cNvGrpSpPr/>
          <p:nvPr/>
        </p:nvGrpSpPr>
        <p:grpSpPr>
          <a:xfrm>
            <a:off x="4262507" y="5528499"/>
            <a:ext cx="2603291" cy="1061829"/>
            <a:chOff x="1044930" y="5314092"/>
            <a:chExt cx="2603291" cy="1061829"/>
          </a:xfrm>
        </p:grpSpPr>
        <p:sp>
          <p:nvSpPr>
            <p:cNvPr id="121" name="TextBox 120">
              <a:extLst>
                <a:ext uri="{FF2B5EF4-FFF2-40B4-BE49-F238E27FC236}">
                  <a16:creationId xmlns:a16="http://schemas.microsoft.com/office/drawing/2014/main" id="{4FE5D768-039A-48C2-90CB-56F536D5BD30}"/>
                </a:ext>
              </a:extLst>
            </p:cNvPr>
            <p:cNvSpPr txBox="1"/>
            <p:nvPr/>
          </p:nvSpPr>
          <p:spPr>
            <a:xfrm>
              <a:off x="1044930" y="5314092"/>
              <a:ext cx="2603291" cy="461665"/>
            </a:xfrm>
            <a:prstGeom prst="rect">
              <a:avLst/>
            </a:prstGeom>
            <a:noFill/>
          </p:spPr>
          <p:txBody>
            <a:bodyPr wrap="square" rtlCol="0">
              <a:spAutoFit/>
            </a:bodyPr>
            <a:lstStyle/>
            <a:p>
              <a:r>
                <a:rPr lang="en-US" sz="2400" dirty="0"/>
                <a:t>1        1         0         0</a:t>
              </a:r>
              <a:endParaRPr lang="en-IN" sz="2400" dirty="0"/>
            </a:p>
          </p:txBody>
        </p:sp>
        <p:sp>
          <p:nvSpPr>
            <p:cNvPr id="122" name="TextBox 121">
              <a:extLst>
                <a:ext uri="{FF2B5EF4-FFF2-40B4-BE49-F238E27FC236}">
                  <a16:creationId xmlns:a16="http://schemas.microsoft.com/office/drawing/2014/main" id="{DBBFFBE9-C00C-4720-B3C3-8DF8D5D2D0D9}"/>
                </a:ext>
              </a:extLst>
            </p:cNvPr>
            <p:cNvSpPr txBox="1"/>
            <p:nvPr/>
          </p:nvSpPr>
          <p:spPr>
            <a:xfrm>
              <a:off x="1494328" y="5914256"/>
              <a:ext cx="2033666" cy="461665"/>
            </a:xfrm>
            <a:prstGeom prst="rect">
              <a:avLst/>
            </a:prstGeom>
            <a:noFill/>
          </p:spPr>
          <p:txBody>
            <a:bodyPr wrap="square">
              <a:spAutoFit/>
            </a:bodyPr>
            <a:lstStyle/>
            <a:p>
              <a:r>
                <a:rPr lang="en-IN" sz="2400" b="1" dirty="0"/>
                <a:t>13 bit transfer</a:t>
              </a:r>
            </a:p>
          </p:txBody>
        </p:sp>
      </p:grpSp>
      <p:grpSp>
        <p:nvGrpSpPr>
          <p:cNvPr id="123" name="Group 122">
            <a:extLst>
              <a:ext uri="{FF2B5EF4-FFF2-40B4-BE49-F238E27FC236}">
                <a16:creationId xmlns:a16="http://schemas.microsoft.com/office/drawing/2014/main" id="{D0A15946-8663-40F5-AE2C-8FD46693150F}"/>
              </a:ext>
            </a:extLst>
          </p:cNvPr>
          <p:cNvGrpSpPr/>
          <p:nvPr/>
        </p:nvGrpSpPr>
        <p:grpSpPr>
          <a:xfrm>
            <a:off x="4262507" y="5544925"/>
            <a:ext cx="2603291" cy="1061829"/>
            <a:chOff x="1044930" y="5314092"/>
            <a:chExt cx="2603291" cy="1061829"/>
          </a:xfrm>
        </p:grpSpPr>
        <p:sp>
          <p:nvSpPr>
            <p:cNvPr id="124" name="TextBox 123">
              <a:extLst>
                <a:ext uri="{FF2B5EF4-FFF2-40B4-BE49-F238E27FC236}">
                  <a16:creationId xmlns:a16="http://schemas.microsoft.com/office/drawing/2014/main" id="{5776F4F0-83FF-4898-85DC-AFCDB7E6FDAB}"/>
                </a:ext>
              </a:extLst>
            </p:cNvPr>
            <p:cNvSpPr txBox="1"/>
            <p:nvPr/>
          </p:nvSpPr>
          <p:spPr>
            <a:xfrm>
              <a:off x="1044930" y="5314092"/>
              <a:ext cx="2603291" cy="461665"/>
            </a:xfrm>
            <a:prstGeom prst="rect">
              <a:avLst/>
            </a:prstGeom>
            <a:noFill/>
          </p:spPr>
          <p:txBody>
            <a:bodyPr wrap="square" rtlCol="0">
              <a:spAutoFit/>
            </a:bodyPr>
            <a:lstStyle/>
            <a:p>
              <a:r>
                <a:rPr lang="en-US" sz="2400" dirty="0"/>
                <a:t>1        1         0         1</a:t>
              </a:r>
              <a:endParaRPr lang="en-IN" sz="2400" dirty="0"/>
            </a:p>
          </p:txBody>
        </p:sp>
        <p:sp>
          <p:nvSpPr>
            <p:cNvPr id="125" name="TextBox 124">
              <a:extLst>
                <a:ext uri="{FF2B5EF4-FFF2-40B4-BE49-F238E27FC236}">
                  <a16:creationId xmlns:a16="http://schemas.microsoft.com/office/drawing/2014/main" id="{34E7F0F1-B8A5-4501-807D-093212CDF213}"/>
                </a:ext>
              </a:extLst>
            </p:cNvPr>
            <p:cNvSpPr txBox="1"/>
            <p:nvPr/>
          </p:nvSpPr>
          <p:spPr>
            <a:xfrm>
              <a:off x="1494328" y="5914256"/>
              <a:ext cx="2033666" cy="461665"/>
            </a:xfrm>
            <a:prstGeom prst="rect">
              <a:avLst/>
            </a:prstGeom>
            <a:noFill/>
          </p:spPr>
          <p:txBody>
            <a:bodyPr wrap="square">
              <a:spAutoFit/>
            </a:bodyPr>
            <a:lstStyle/>
            <a:p>
              <a:r>
                <a:rPr lang="en-IN" sz="2400" b="1" dirty="0"/>
                <a:t>14 bit transfer</a:t>
              </a:r>
            </a:p>
          </p:txBody>
        </p:sp>
      </p:grpSp>
      <p:grpSp>
        <p:nvGrpSpPr>
          <p:cNvPr id="126" name="Group 125">
            <a:extLst>
              <a:ext uri="{FF2B5EF4-FFF2-40B4-BE49-F238E27FC236}">
                <a16:creationId xmlns:a16="http://schemas.microsoft.com/office/drawing/2014/main" id="{BE874B77-E9D7-4DE6-8068-727D06A98B60}"/>
              </a:ext>
            </a:extLst>
          </p:cNvPr>
          <p:cNvGrpSpPr/>
          <p:nvPr/>
        </p:nvGrpSpPr>
        <p:grpSpPr>
          <a:xfrm>
            <a:off x="4262507" y="5544925"/>
            <a:ext cx="2603291" cy="1061829"/>
            <a:chOff x="1044930" y="5314092"/>
            <a:chExt cx="2603291" cy="1061829"/>
          </a:xfrm>
        </p:grpSpPr>
        <p:sp>
          <p:nvSpPr>
            <p:cNvPr id="127" name="TextBox 126">
              <a:extLst>
                <a:ext uri="{FF2B5EF4-FFF2-40B4-BE49-F238E27FC236}">
                  <a16:creationId xmlns:a16="http://schemas.microsoft.com/office/drawing/2014/main" id="{7D31F8E2-05DD-4B84-8E03-BE40A83EB8E5}"/>
                </a:ext>
              </a:extLst>
            </p:cNvPr>
            <p:cNvSpPr txBox="1"/>
            <p:nvPr/>
          </p:nvSpPr>
          <p:spPr>
            <a:xfrm>
              <a:off x="1044930" y="5314092"/>
              <a:ext cx="2603291" cy="461665"/>
            </a:xfrm>
            <a:prstGeom prst="rect">
              <a:avLst/>
            </a:prstGeom>
            <a:noFill/>
          </p:spPr>
          <p:txBody>
            <a:bodyPr wrap="square" rtlCol="0">
              <a:spAutoFit/>
            </a:bodyPr>
            <a:lstStyle/>
            <a:p>
              <a:r>
                <a:rPr lang="en-US" sz="2400" dirty="0"/>
                <a:t>1        1         1         0</a:t>
              </a:r>
              <a:endParaRPr lang="en-IN" sz="2400" dirty="0"/>
            </a:p>
          </p:txBody>
        </p:sp>
        <p:sp>
          <p:nvSpPr>
            <p:cNvPr id="128" name="TextBox 127">
              <a:extLst>
                <a:ext uri="{FF2B5EF4-FFF2-40B4-BE49-F238E27FC236}">
                  <a16:creationId xmlns:a16="http://schemas.microsoft.com/office/drawing/2014/main" id="{485AB202-1615-4DF7-83F2-0C9D3B5EECDA}"/>
                </a:ext>
              </a:extLst>
            </p:cNvPr>
            <p:cNvSpPr txBox="1"/>
            <p:nvPr/>
          </p:nvSpPr>
          <p:spPr>
            <a:xfrm>
              <a:off x="1494328" y="5914256"/>
              <a:ext cx="2033666" cy="461665"/>
            </a:xfrm>
            <a:prstGeom prst="rect">
              <a:avLst/>
            </a:prstGeom>
            <a:noFill/>
          </p:spPr>
          <p:txBody>
            <a:bodyPr wrap="square">
              <a:spAutoFit/>
            </a:bodyPr>
            <a:lstStyle/>
            <a:p>
              <a:r>
                <a:rPr lang="en-IN" sz="2400" b="1" dirty="0"/>
                <a:t>15 bit transfer</a:t>
              </a:r>
            </a:p>
          </p:txBody>
        </p:sp>
      </p:grpSp>
      <p:grpSp>
        <p:nvGrpSpPr>
          <p:cNvPr id="129" name="Group 128">
            <a:extLst>
              <a:ext uri="{FF2B5EF4-FFF2-40B4-BE49-F238E27FC236}">
                <a16:creationId xmlns:a16="http://schemas.microsoft.com/office/drawing/2014/main" id="{A3B1220E-2699-4341-8F44-E8B339E40431}"/>
              </a:ext>
            </a:extLst>
          </p:cNvPr>
          <p:cNvGrpSpPr/>
          <p:nvPr/>
        </p:nvGrpSpPr>
        <p:grpSpPr>
          <a:xfrm>
            <a:off x="4262507" y="5554732"/>
            <a:ext cx="2603291" cy="1061829"/>
            <a:chOff x="1044930" y="5314092"/>
            <a:chExt cx="2603291" cy="1061829"/>
          </a:xfrm>
        </p:grpSpPr>
        <p:sp>
          <p:nvSpPr>
            <p:cNvPr id="130" name="TextBox 129">
              <a:extLst>
                <a:ext uri="{FF2B5EF4-FFF2-40B4-BE49-F238E27FC236}">
                  <a16:creationId xmlns:a16="http://schemas.microsoft.com/office/drawing/2014/main" id="{7D297EC3-689F-4F0F-970F-21393E8319D9}"/>
                </a:ext>
              </a:extLst>
            </p:cNvPr>
            <p:cNvSpPr txBox="1"/>
            <p:nvPr/>
          </p:nvSpPr>
          <p:spPr>
            <a:xfrm>
              <a:off x="1044930" y="5314092"/>
              <a:ext cx="2603291" cy="461665"/>
            </a:xfrm>
            <a:prstGeom prst="rect">
              <a:avLst/>
            </a:prstGeom>
            <a:noFill/>
          </p:spPr>
          <p:txBody>
            <a:bodyPr wrap="square" rtlCol="0">
              <a:spAutoFit/>
            </a:bodyPr>
            <a:lstStyle/>
            <a:p>
              <a:r>
                <a:rPr lang="en-US" sz="2400" dirty="0"/>
                <a:t>1        1         1         1</a:t>
              </a:r>
              <a:endParaRPr lang="en-IN" sz="2400" dirty="0"/>
            </a:p>
          </p:txBody>
        </p:sp>
        <p:sp>
          <p:nvSpPr>
            <p:cNvPr id="131" name="TextBox 130">
              <a:extLst>
                <a:ext uri="{FF2B5EF4-FFF2-40B4-BE49-F238E27FC236}">
                  <a16:creationId xmlns:a16="http://schemas.microsoft.com/office/drawing/2014/main" id="{1B134803-E57D-4233-BF3C-D071F46B0F7B}"/>
                </a:ext>
              </a:extLst>
            </p:cNvPr>
            <p:cNvSpPr txBox="1"/>
            <p:nvPr/>
          </p:nvSpPr>
          <p:spPr>
            <a:xfrm>
              <a:off x="1494328" y="5914256"/>
              <a:ext cx="2033666" cy="461665"/>
            </a:xfrm>
            <a:prstGeom prst="rect">
              <a:avLst/>
            </a:prstGeom>
            <a:noFill/>
          </p:spPr>
          <p:txBody>
            <a:bodyPr wrap="square">
              <a:spAutoFit/>
            </a:bodyPr>
            <a:lstStyle/>
            <a:p>
              <a:r>
                <a:rPr lang="en-IN" sz="2400" b="1" dirty="0"/>
                <a:t>16 bit transfer</a:t>
              </a:r>
            </a:p>
          </p:txBody>
        </p:sp>
      </p:grpSp>
    </p:spTree>
    <p:extLst>
      <p:ext uri="{BB962C8B-B14F-4D97-AF65-F5344CB8AC3E}">
        <p14:creationId xmlns:p14="http://schemas.microsoft.com/office/powerpoint/2010/main" val="311742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8333E-7 -2.96296E-6 L -0.27825 0.15787 " pathEditMode="relative" rAng="0" ptsTypes="AA">
                                      <p:cBhvr>
                                        <p:cTn id="6" dur="2000" fill="hold"/>
                                        <p:tgtEl>
                                          <p:spTgt spid="82"/>
                                        </p:tgtEl>
                                        <p:attrNameLst>
                                          <p:attrName>ppt_x</p:attrName>
                                          <p:attrName>ppt_y</p:attrName>
                                        </p:attrNameLst>
                                      </p:cBhvr>
                                      <p:rCtr x="-13919" y="7894"/>
                                    </p:animMotion>
                                  </p:childTnLst>
                                </p:cTn>
                              </p:par>
                              <p:par>
                                <p:cTn id="7" presetID="6" presetClass="emph" presetSubtype="0" fill="hold" nodeType="withEffect">
                                  <p:stCondLst>
                                    <p:cond delay="0"/>
                                  </p:stCondLst>
                                  <p:childTnLst>
                                    <p:animScale>
                                      <p:cBhvr>
                                        <p:cTn id="8" dur="2000" fill="hold"/>
                                        <p:tgtEl>
                                          <p:spTgt spid="82"/>
                                        </p:tgtEl>
                                      </p:cBhvr>
                                      <p:by x="150000" y="150000"/>
                                    </p:animScale>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8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9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9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9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0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nodeType="clickEffect">
                                  <p:stCondLst>
                                    <p:cond delay="0"/>
                                  </p:stCondLst>
                                  <p:childTnLst>
                                    <p:set>
                                      <p:cBhvr>
                                        <p:cTn id="45" dur="1" fill="hold">
                                          <p:stCondLst>
                                            <p:cond delay="0"/>
                                          </p:stCondLst>
                                        </p:cTn>
                                        <p:tgtEl>
                                          <p:spTgt spid="10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0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105"/>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0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108"/>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1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111"/>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1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nodeType="clickEffect">
                                  <p:stCondLst>
                                    <p:cond delay="0"/>
                                  </p:stCondLst>
                                  <p:childTnLst>
                                    <p:set>
                                      <p:cBhvr>
                                        <p:cTn id="77" dur="1" fill="hold">
                                          <p:stCondLst>
                                            <p:cond delay="0"/>
                                          </p:stCondLst>
                                        </p:cTn>
                                        <p:tgtEl>
                                          <p:spTgt spid="114"/>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17"/>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nodeType="clickEffect">
                                  <p:stCondLst>
                                    <p:cond delay="0"/>
                                  </p:stCondLst>
                                  <p:childTnLst>
                                    <p:set>
                                      <p:cBhvr>
                                        <p:cTn id="85" dur="1" fill="hold">
                                          <p:stCondLst>
                                            <p:cond delay="0"/>
                                          </p:stCondLst>
                                        </p:cTn>
                                        <p:tgtEl>
                                          <p:spTgt spid="117"/>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20"/>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nodeType="clickEffect">
                                  <p:stCondLst>
                                    <p:cond delay="0"/>
                                  </p:stCondLst>
                                  <p:childTnLst>
                                    <p:set>
                                      <p:cBhvr>
                                        <p:cTn id="93" dur="1" fill="hold">
                                          <p:stCondLst>
                                            <p:cond delay="0"/>
                                          </p:stCondLst>
                                        </p:cTn>
                                        <p:tgtEl>
                                          <p:spTgt spid="12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2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nodeType="clickEffect">
                                  <p:stCondLst>
                                    <p:cond delay="0"/>
                                  </p:stCondLst>
                                  <p:childTnLst>
                                    <p:set>
                                      <p:cBhvr>
                                        <p:cTn id="101" dur="1" fill="hold">
                                          <p:stCondLst>
                                            <p:cond delay="0"/>
                                          </p:stCondLst>
                                        </p:cTn>
                                        <p:tgtEl>
                                          <p:spTgt spid="123"/>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12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nodeType="clickEffect">
                                  <p:stCondLst>
                                    <p:cond delay="0"/>
                                  </p:stCondLst>
                                  <p:childTnLst>
                                    <p:set>
                                      <p:cBhvr>
                                        <p:cTn id="109" dur="1" fill="hold">
                                          <p:stCondLst>
                                            <p:cond delay="0"/>
                                          </p:stCondLst>
                                        </p:cTn>
                                        <p:tgtEl>
                                          <p:spTgt spid="126"/>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29"/>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xit" presetSubtype="0" fill="hold" nodeType="clickEffect">
                                  <p:stCondLst>
                                    <p:cond delay="0"/>
                                  </p:stCondLst>
                                  <p:childTnLst>
                                    <p:set>
                                      <p:cBhvr>
                                        <p:cTn id="117" dur="1" fill="hold">
                                          <p:stCondLst>
                                            <p:cond delay="0"/>
                                          </p:stCondLst>
                                        </p:cTn>
                                        <p:tgtEl>
                                          <p:spTgt spid="1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E83504-0CA0-4663-88B7-50D7B5DD171C}"/>
              </a:ext>
            </a:extLst>
          </p:cNvPr>
          <p:cNvPicPr>
            <a:picLocks noChangeAspect="1"/>
          </p:cNvPicPr>
          <p:nvPr/>
        </p:nvPicPr>
        <p:blipFill>
          <a:blip r:embed="rId2"/>
          <a:stretch>
            <a:fillRect/>
          </a:stretch>
        </p:blipFill>
        <p:spPr>
          <a:xfrm>
            <a:off x="1178901" y="1709546"/>
            <a:ext cx="9834197" cy="1082664"/>
          </a:xfrm>
          <a:prstGeom prst="rect">
            <a:avLst/>
          </a:prstGeom>
        </p:spPr>
      </p:pic>
      <p:pic>
        <p:nvPicPr>
          <p:cNvPr id="4" name="Picture 3">
            <a:extLst>
              <a:ext uri="{FF2B5EF4-FFF2-40B4-BE49-F238E27FC236}">
                <a16:creationId xmlns:a16="http://schemas.microsoft.com/office/drawing/2014/main" id="{4648255C-4A0C-4377-8732-F732591C1223}"/>
              </a:ext>
            </a:extLst>
          </p:cNvPr>
          <p:cNvPicPr>
            <a:picLocks noChangeAspect="1"/>
          </p:cNvPicPr>
          <p:nvPr/>
        </p:nvPicPr>
        <p:blipFill>
          <a:blip r:embed="rId3"/>
          <a:stretch>
            <a:fillRect/>
          </a:stretch>
        </p:blipFill>
        <p:spPr>
          <a:xfrm>
            <a:off x="7017036" y="1728576"/>
            <a:ext cx="1047672" cy="973892"/>
          </a:xfrm>
          <a:prstGeom prst="rect">
            <a:avLst/>
          </a:prstGeom>
        </p:spPr>
      </p:pic>
      <p:grpSp>
        <p:nvGrpSpPr>
          <p:cNvPr id="7" name="Group 6">
            <a:extLst>
              <a:ext uri="{FF2B5EF4-FFF2-40B4-BE49-F238E27FC236}">
                <a16:creationId xmlns:a16="http://schemas.microsoft.com/office/drawing/2014/main" id="{BE08F3EA-9A15-48F7-9801-B9313A001E9F}"/>
              </a:ext>
            </a:extLst>
          </p:cNvPr>
          <p:cNvGrpSpPr/>
          <p:nvPr/>
        </p:nvGrpSpPr>
        <p:grpSpPr>
          <a:xfrm>
            <a:off x="444803" y="898653"/>
            <a:ext cx="3707472" cy="461665"/>
            <a:chOff x="474784" y="1663151"/>
            <a:chExt cx="3632981" cy="461665"/>
          </a:xfrm>
        </p:grpSpPr>
        <p:sp>
          <p:nvSpPr>
            <p:cNvPr id="8" name="TextBox 7">
              <a:extLst>
                <a:ext uri="{FF2B5EF4-FFF2-40B4-BE49-F238E27FC236}">
                  <a16:creationId xmlns:a16="http://schemas.microsoft.com/office/drawing/2014/main" id="{92A04729-A8B8-4B2F-987D-0898010CA5E4}"/>
                </a:ext>
              </a:extLst>
            </p:cNvPr>
            <p:cNvSpPr txBox="1"/>
            <p:nvPr/>
          </p:nvSpPr>
          <p:spPr>
            <a:xfrm>
              <a:off x="2776610" y="1663151"/>
              <a:ext cx="1331155" cy="461665"/>
            </a:xfrm>
            <a:prstGeom prst="rect">
              <a:avLst/>
            </a:prstGeom>
            <a:noFill/>
          </p:spPr>
          <p:txBody>
            <a:bodyPr wrap="square">
              <a:spAutoFit/>
            </a:bodyPr>
            <a:lstStyle/>
            <a:p>
              <a:r>
                <a:rPr lang="en-IN" sz="2400" b="1" dirty="0"/>
                <a:t>(SSPCR0)</a:t>
              </a:r>
            </a:p>
          </p:txBody>
        </p:sp>
        <p:sp>
          <p:nvSpPr>
            <p:cNvPr id="9" name="TextBox 8">
              <a:extLst>
                <a:ext uri="{FF2B5EF4-FFF2-40B4-BE49-F238E27FC236}">
                  <a16:creationId xmlns:a16="http://schemas.microsoft.com/office/drawing/2014/main" id="{5DA2497F-BC2B-4D50-BABF-E852AA05D3D6}"/>
                </a:ext>
              </a:extLst>
            </p:cNvPr>
            <p:cNvSpPr txBox="1"/>
            <p:nvPr/>
          </p:nvSpPr>
          <p:spPr>
            <a:xfrm>
              <a:off x="474784" y="1663151"/>
              <a:ext cx="2465364" cy="461665"/>
            </a:xfrm>
            <a:prstGeom prst="rect">
              <a:avLst/>
            </a:prstGeom>
            <a:noFill/>
          </p:spPr>
          <p:txBody>
            <a:bodyPr wrap="square">
              <a:spAutoFit/>
            </a:bodyPr>
            <a:lstStyle/>
            <a:p>
              <a:r>
                <a:rPr lang="en-IN" sz="2400" b="1" dirty="0"/>
                <a:t>Control Register 0</a:t>
              </a:r>
            </a:p>
          </p:txBody>
        </p:sp>
      </p:grpSp>
      <p:sp>
        <p:nvSpPr>
          <p:cNvPr id="10" name="TextBox 9">
            <a:extLst>
              <a:ext uri="{FF2B5EF4-FFF2-40B4-BE49-F238E27FC236}">
                <a16:creationId xmlns:a16="http://schemas.microsoft.com/office/drawing/2014/main" id="{C52F3D63-8800-4489-9F34-FE16489A4BF8}"/>
              </a:ext>
            </a:extLst>
          </p:cNvPr>
          <p:cNvSpPr txBox="1"/>
          <p:nvPr/>
        </p:nvSpPr>
        <p:spPr>
          <a:xfrm>
            <a:off x="7017036" y="3777521"/>
            <a:ext cx="2621639" cy="523220"/>
          </a:xfrm>
          <a:prstGeom prst="rect">
            <a:avLst/>
          </a:prstGeom>
          <a:noFill/>
        </p:spPr>
        <p:txBody>
          <a:bodyPr wrap="square" rtlCol="0">
            <a:spAutoFit/>
          </a:bodyPr>
          <a:lstStyle/>
          <a:p>
            <a:r>
              <a:rPr lang="en-US" sz="2800" dirty="0"/>
              <a:t>Frame format</a:t>
            </a:r>
            <a:endParaRPr lang="en-IN" sz="2800" dirty="0"/>
          </a:p>
        </p:txBody>
      </p:sp>
      <p:grpSp>
        <p:nvGrpSpPr>
          <p:cNvPr id="11" name="Group 10">
            <a:extLst>
              <a:ext uri="{FF2B5EF4-FFF2-40B4-BE49-F238E27FC236}">
                <a16:creationId xmlns:a16="http://schemas.microsoft.com/office/drawing/2014/main" id="{CF1A431E-A7D2-45AC-9EF6-E7436AF90D1D}"/>
              </a:ext>
            </a:extLst>
          </p:cNvPr>
          <p:cNvGrpSpPr/>
          <p:nvPr/>
        </p:nvGrpSpPr>
        <p:grpSpPr>
          <a:xfrm>
            <a:off x="4794353" y="4617539"/>
            <a:ext cx="2603291" cy="1431161"/>
            <a:chOff x="1044930" y="5314092"/>
            <a:chExt cx="2603291" cy="1431161"/>
          </a:xfrm>
        </p:grpSpPr>
        <p:sp>
          <p:nvSpPr>
            <p:cNvPr id="12" name="TextBox 11">
              <a:extLst>
                <a:ext uri="{FF2B5EF4-FFF2-40B4-BE49-F238E27FC236}">
                  <a16:creationId xmlns:a16="http://schemas.microsoft.com/office/drawing/2014/main" id="{1BE01EA1-67C5-4CA4-8D3D-E706460C2CC8}"/>
                </a:ext>
              </a:extLst>
            </p:cNvPr>
            <p:cNvSpPr txBox="1"/>
            <p:nvPr/>
          </p:nvSpPr>
          <p:spPr>
            <a:xfrm>
              <a:off x="1044930" y="5314092"/>
              <a:ext cx="2603291" cy="461665"/>
            </a:xfrm>
            <a:prstGeom prst="rect">
              <a:avLst/>
            </a:prstGeom>
            <a:noFill/>
          </p:spPr>
          <p:txBody>
            <a:bodyPr wrap="square" rtlCol="0">
              <a:spAutoFit/>
            </a:bodyPr>
            <a:lstStyle/>
            <a:p>
              <a:r>
                <a:rPr lang="en-US" sz="2400" dirty="0"/>
                <a:t>           0         0</a:t>
              </a:r>
              <a:endParaRPr lang="en-IN" sz="2400" dirty="0"/>
            </a:p>
          </p:txBody>
        </p:sp>
        <p:sp>
          <p:nvSpPr>
            <p:cNvPr id="13" name="TextBox 12">
              <a:extLst>
                <a:ext uri="{FF2B5EF4-FFF2-40B4-BE49-F238E27FC236}">
                  <a16:creationId xmlns:a16="http://schemas.microsoft.com/office/drawing/2014/main" id="{62B8B16C-EF15-4F5D-9AAF-4AED67A63928}"/>
                </a:ext>
              </a:extLst>
            </p:cNvPr>
            <p:cNvSpPr txBox="1"/>
            <p:nvPr/>
          </p:nvSpPr>
          <p:spPr>
            <a:xfrm>
              <a:off x="1329742" y="5914256"/>
              <a:ext cx="2033666" cy="830997"/>
            </a:xfrm>
            <a:prstGeom prst="rect">
              <a:avLst/>
            </a:prstGeom>
            <a:noFill/>
          </p:spPr>
          <p:txBody>
            <a:bodyPr wrap="square">
              <a:spAutoFit/>
            </a:bodyPr>
            <a:lstStyle/>
            <a:p>
              <a:pPr algn="ctr"/>
              <a:r>
                <a:rPr lang="en-US" sz="2400" b="1" dirty="0"/>
                <a:t>S</a:t>
              </a:r>
              <a:r>
                <a:rPr lang="en-IN" sz="2400" b="1" dirty="0"/>
                <a:t>PI Frame format</a:t>
              </a:r>
            </a:p>
          </p:txBody>
        </p:sp>
      </p:grpSp>
      <p:grpSp>
        <p:nvGrpSpPr>
          <p:cNvPr id="17" name="Group 16">
            <a:extLst>
              <a:ext uri="{FF2B5EF4-FFF2-40B4-BE49-F238E27FC236}">
                <a16:creationId xmlns:a16="http://schemas.microsoft.com/office/drawing/2014/main" id="{4CF6CF27-F93E-4CE8-8A3A-55A071C3F45C}"/>
              </a:ext>
            </a:extLst>
          </p:cNvPr>
          <p:cNvGrpSpPr/>
          <p:nvPr/>
        </p:nvGrpSpPr>
        <p:grpSpPr>
          <a:xfrm>
            <a:off x="4794353" y="4617539"/>
            <a:ext cx="2603291" cy="1431161"/>
            <a:chOff x="1044930" y="5314092"/>
            <a:chExt cx="2603291" cy="1431161"/>
          </a:xfrm>
        </p:grpSpPr>
        <p:sp>
          <p:nvSpPr>
            <p:cNvPr id="18" name="TextBox 17">
              <a:extLst>
                <a:ext uri="{FF2B5EF4-FFF2-40B4-BE49-F238E27FC236}">
                  <a16:creationId xmlns:a16="http://schemas.microsoft.com/office/drawing/2014/main" id="{06934E79-AA61-4122-A177-3E56190885C9}"/>
                </a:ext>
              </a:extLst>
            </p:cNvPr>
            <p:cNvSpPr txBox="1"/>
            <p:nvPr/>
          </p:nvSpPr>
          <p:spPr>
            <a:xfrm>
              <a:off x="1044930" y="5314092"/>
              <a:ext cx="2603291" cy="461665"/>
            </a:xfrm>
            <a:prstGeom prst="rect">
              <a:avLst/>
            </a:prstGeom>
            <a:noFill/>
          </p:spPr>
          <p:txBody>
            <a:bodyPr wrap="square" rtlCol="0">
              <a:spAutoFit/>
            </a:bodyPr>
            <a:lstStyle/>
            <a:p>
              <a:r>
                <a:rPr lang="en-US" sz="2400" dirty="0"/>
                <a:t>           1         0</a:t>
              </a:r>
              <a:endParaRPr lang="en-IN" sz="2400" dirty="0"/>
            </a:p>
          </p:txBody>
        </p:sp>
        <p:sp>
          <p:nvSpPr>
            <p:cNvPr id="19" name="TextBox 18">
              <a:extLst>
                <a:ext uri="{FF2B5EF4-FFF2-40B4-BE49-F238E27FC236}">
                  <a16:creationId xmlns:a16="http://schemas.microsoft.com/office/drawing/2014/main" id="{B9752740-D1F3-432F-8BF9-8570B67C1F5E}"/>
                </a:ext>
              </a:extLst>
            </p:cNvPr>
            <p:cNvSpPr txBox="1"/>
            <p:nvPr/>
          </p:nvSpPr>
          <p:spPr>
            <a:xfrm>
              <a:off x="1329742" y="5914256"/>
              <a:ext cx="2033666" cy="830997"/>
            </a:xfrm>
            <a:prstGeom prst="rect">
              <a:avLst/>
            </a:prstGeom>
            <a:noFill/>
          </p:spPr>
          <p:txBody>
            <a:bodyPr wrap="square">
              <a:spAutoFit/>
            </a:bodyPr>
            <a:lstStyle/>
            <a:p>
              <a:pPr algn="ctr"/>
              <a:r>
                <a:rPr lang="en-US" sz="2400" b="1" dirty="0"/>
                <a:t>S</a:t>
              </a:r>
              <a:r>
                <a:rPr lang="en-IN" sz="2400" b="1" dirty="0"/>
                <a:t>SI Frame format</a:t>
              </a:r>
            </a:p>
          </p:txBody>
        </p:sp>
      </p:grpSp>
      <p:grpSp>
        <p:nvGrpSpPr>
          <p:cNvPr id="20" name="Group 19">
            <a:extLst>
              <a:ext uri="{FF2B5EF4-FFF2-40B4-BE49-F238E27FC236}">
                <a16:creationId xmlns:a16="http://schemas.microsoft.com/office/drawing/2014/main" id="{9E16093F-03FC-473C-B140-E40E05133F1A}"/>
              </a:ext>
            </a:extLst>
          </p:cNvPr>
          <p:cNvGrpSpPr/>
          <p:nvPr/>
        </p:nvGrpSpPr>
        <p:grpSpPr>
          <a:xfrm>
            <a:off x="4794353" y="4617539"/>
            <a:ext cx="2603291" cy="1431161"/>
            <a:chOff x="1044930" y="5314092"/>
            <a:chExt cx="2603291" cy="1431161"/>
          </a:xfrm>
        </p:grpSpPr>
        <p:sp>
          <p:nvSpPr>
            <p:cNvPr id="21" name="TextBox 20">
              <a:extLst>
                <a:ext uri="{FF2B5EF4-FFF2-40B4-BE49-F238E27FC236}">
                  <a16:creationId xmlns:a16="http://schemas.microsoft.com/office/drawing/2014/main" id="{B683CF3E-C5F9-4B9E-B186-4A5F9FDF4BA0}"/>
                </a:ext>
              </a:extLst>
            </p:cNvPr>
            <p:cNvSpPr txBox="1"/>
            <p:nvPr/>
          </p:nvSpPr>
          <p:spPr>
            <a:xfrm>
              <a:off x="1044930" y="5314092"/>
              <a:ext cx="2603291" cy="461665"/>
            </a:xfrm>
            <a:prstGeom prst="rect">
              <a:avLst/>
            </a:prstGeom>
            <a:noFill/>
          </p:spPr>
          <p:txBody>
            <a:bodyPr wrap="square" rtlCol="0">
              <a:spAutoFit/>
            </a:bodyPr>
            <a:lstStyle/>
            <a:p>
              <a:r>
                <a:rPr lang="en-US" sz="2400" dirty="0"/>
                <a:t>           0         1</a:t>
              </a:r>
              <a:endParaRPr lang="en-IN" sz="2400" dirty="0"/>
            </a:p>
          </p:txBody>
        </p:sp>
        <p:sp>
          <p:nvSpPr>
            <p:cNvPr id="22" name="TextBox 21">
              <a:extLst>
                <a:ext uri="{FF2B5EF4-FFF2-40B4-BE49-F238E27FC236}">
                  <a16:creationId xmlns:a16="http://schemas.microsoft.com/office/drawing/2014/main" id="{A2626829-6CFE-4954-BEFC-AB80371D7979}"/>
                </a:ext>
              </a:extLst>
            </p:cNvPr>
            <p:cNvSpPr txBox="1"/>
            <p:nvPr/>
          </p:nvSpPr>
          <p:spPr>
            <a:xfrm>
              <a:off x="1329742" y="5914256"/>
              <a:ext cx="2033666" cy="830997"/>
            </a:xfrm>
            <a:prstGeom prst="rect">
              <a:avLst/>
            </a:prstGeom>
            <a:noFill/>
          </p:spPr>
          <p:txBody>
            <a:bodyPr wrap="square">
              <a:spAutoFit/>
            </a:bodyPr>
            <a:lstStyle/>
            <a:p>
              <a:pPr algn="ctr"/>
              <a:r>
                <a:rPr lang="en-US" sz="2400" b="1" dirty="0"/>
                <a:t>Microwire</a:t>
              </a:r>
              <a:r>
                <a:rPr lang="en-IN" sz="2400" b="1" dirty="0"/>
                <a:t> Frame format</a:t>
              </a:r>
            </a:p>
          </p:txBody>
        </p:sp>
      </p:grpSp>
      <p:grpSp>
        <p:nvGrpSpPr>
          <p:cNvPr id="23" name="Group 22">
            <a:extLst>
              <a:ext uri="{FF2B5EF4-FFF2-40B4-BE49-F238E27FC236}">
                <a16:creationId xmlns:a16="http://schemas.microsoft.com/office/drawing/2014/main" id="{DBB726AF-2643-4175-B4EF-D1DD1E0F6F35}"/>
              </a:ext>
            </a:extLst>
          </p:cNvPr>
          <p:cNvGrpSpPr/>
          <p:nvPr/>
        </p:nvGrpSpPr>
        <p:grpSpPr>
          <a:xfrm>
            <a:off x="4794352" y="4617539"/>
            <a:ext cx="2603291" cy="1431161"/>
            <a:chOff x="1044930" y="5314092"/>
            <a:chExt cx="2603291" cy="1431161"/>
          </a:xfrm>
        </p:grpSpPr>
        <p:sp>
          <p:nvSpPr>
            <p:cNvPr id="24" name="TextBox 23">
              <a:extLst>
                <a:ext uri="{FF2B5EF4-FFF2-40B4-BE49-F238E27FC236}">
                  <a16:creationId xmlns:a16="http://schemas.microsoft.com/office/drawing/2014/main" id="{6035E052-F925-4749-BE8F-4C4C8DA92A07}"/>
                </a:ext>
              </a:extLst>
            </p:cNvPr>
            <p:cNvSpPr txBox="1"/>
            <p:nvPr/>
          </p:nvSpPr>
          <p:spPr>
            <a:xfrm>
              <a:off x="1044930" y="5314092"/>
              <a:ext cx="2603291" cy="461665"/>
            </a:xfrm>
            <a:prstGeom prst="rect">
              <a:avLst/>
            </a:prstGeom>
            <a:noFill/>
          </p:spPr>
          <p:txBody>
            <a:bodyPr wrap="square" rtlCol="0">
              <a:spAutoFit/>
            </a:bodyPr>
            <a:lstStyle/>
            <a:p>
              <a:r>
                <a:rPr lang="en-US" sz="2400" dirty="0"/>
                <a:t>           1         1</a:t>
              </a:r>
              <a:endParaRPr lang="en-IN" sz="2400" dirty="0"/>
            </a:p>
          </p:txBody>
        </p:sp>
        <p:sp>
          <p:nvSpPr>
            <p:cNvPr id="25" name="TextBox 24">
              <a:extLst>
                <a:ext uri="{FF2B5EF4-FFF2-40B4-BE49-F238E27FC236}">
                  <a16:creationId xmlns:a16="http://schemas.microsoft.com/office/drawing/2014/main" id="{72D819D2-FEAB-40E0-BD82-3CDA0DC360FE}"/>
                </a:ext>
              </a:extLst>
            </p:cNvPr>
            <p:cNvSpPr txBox="1"/>
            <p:nvPr/>
          </p:nvSpPr>
          <p:spPr>
            <a:xfrm>
              <a:off x="1329742" y="5914256"/>
              <a:ext cx="2033666" cy="830997"/>
            </a:xfrm>
            <a:prstGeom prst="rect">
              <a:avLst/>
            </a:prstGeom>
            <a:noFill/>
          </p:spPr>
          <p:txBody>
            <a:bodyPr wrap="square">
              <a:spAutoFit/>
            </a:bodyPr>
            <a:lstStyle/>
            <a:p>
              <a:pPr algn="ctr"/>
              <a:r>
                <a:rPr lang="en-US" sz="2400" b="1" dirty="0"/>
                <a:t>Not Supported</a:t>
              </a:r>
              <a:endParaRPr lang="en-IN" sz="2400" b="1" dirty="0"/>
            </a:p>
          </p:txBody>
        </p:sp>
      </p:grpSp>
    </p:spTree>
    <p:extLst>
      <p:ext uri="{BB962C8B-B14F-4D97-AF65-F5344CB8AC3E}">
        <p14:creationId xmlns:p14="http://schemas.microsoft.com/office/powerpoint/2010/main" val="386452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16667E-7 3.33333E-6 L -0.11849 0.25416 " pathEditMode="relative" rAng="0" ptsTypes="AA">
                                      <p:cBhvr>
                                        <p:cTn id="6" dur="2000" fill="hold"/>
                                        <p:tgtEl>
                                          <p:spTgt spid="4"/>
                                        </p:tgtEl>
                                        <p:attrNameLst>
                                          <p:attrName>ppt_x</p:attrName>
                                          <p:attrName>ppt_y</p:attrName>
                                        </p:attrNameLst>
                                      </p:cBhvr>
                                      <p:rCtr x="-5924" y="12708"/>
                                    </p:animMotion>
                                  </p:childTnLst>
                                </p:cTn>
                              </p:par>
                              <p:par>
                                <p:cTn id="7" presetID="6" presetClass="emph" presetSubtype="0" fill="hold" nodeType="withEffect">
                                  <p:stCondLst>
                                    <p:cond delay="0"/>
                                  </p:stCondLst>
                                  <p:childTnLst>
                                    <p:animScale>
                                      <p:cBhvr>
                                        <p:cTn id="8" dur="2000" fill="hold"/>
                                        <p:tgtEl>
                                          <p:spTgt spid="4"/>
                                        </p:tgtEl>
                                      </p:cBhvr>
                                      <p:by x="150000" y="150000"/>
                                    </p:animScale>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11"/>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20"/>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nodeType="clickEffect">
                                  <p:stCondLst>
                                    <p:cond delay="0"/>
                                  </p:stCondLst>
                                  <p:childTnLst>
                                    <p:set>
                                      <p:cBhvr>
                                        <p:cTn id="43"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27A2B60-9077-458D-978B-B6B8CD034354}"/>
              </a:ext>
            </a:extLst>
          </p:cNvPr>
          <p:cNvGrpSpPr/>
          <p:nvPr/>
        </p:nvGrpSpPr>
        <p:grpSpPr>
          <a:xfrm>
            <a:off x="444803" y="898653"/>
            <a:ext cx="3707472" cy="461665"/>
            <a:chOff x="474784" y="1663151"/>
            <a:chExt cx="3632981" cy="461665"/>
          </a:xfrm>
        </p:grpSpPr>
        <p:sp>
          <p:nvSpPr>
            <p:cNvPr id="3" name="TextBox 2">
              <a:extLst>
                <a:ext uri="{FF2B5EF4-FFF2-40B4-BE49-F238E27FC236}">
                  <a16:creationId xmlns:a16="http://schemas.microsoft.com/office/drawing/2014/main" id="{5BB47E6B-2DBB-4864-9600-257999B93BD9}"/>
                </a:ext>
              </a:extLst>
            </p:cNvPr>
            <p:cNvSpPr txBox="1"/>
            <p:nvPr/>
          </p:nvSpPr>
          <p:spPr>
            <a:xfrm>
              <a:off x="2776610" y="1663151"/>
              <a:ext cx="1331155" cy="461665"/>
            </a:xfrm>
            <a:prstGeom prst="rect">
              <a:avLst/>
            </a:prstGeom>
            <a:noFill/>
          </p:spPr>
          <p:txBody>
            <a:bodyPr wrap="square">
              <a:spAutoFit/>
            </a:bodyPr>
            <a:lstStyle/>
            <a:p>
              <a:r>
                <a:rPr lang="en-IN" sz="2400" b="1" dirty="0"/>
                <a:t>(SSPCR0)</a:t>
              </a:r>
            </a:p>
          </p:txBody>
        </p:sp>
        <p:sp>
          <p:nvSpPr>
            <p:cNvPr id="4" name="TextBox 3">
              <a:extLst>
                <a:ext uri="{FF2B5EF4-FFF2-40B4-BE49-F238E27FC236}">
                  <a16:creationId xmlns:a16="http://schemas.microsoft.com/office/drawing/2014/main" id="{ADD48F99-D8D8-49B0-B1A5-58510DBE6062}"/>
                </a:ext>
              </a:extLst>
            </p:cNvPr>
            <p:cNvSpPr txBox="1"/>
            <p:nvPr/>
          </p:nvSpPr>
          <p:spPr>
            <a:xfrm>
              <a:off x="474784" y="1663151"/>
              <a:ext cx="2465364" cy="461665"/>
            </a:xfrm>
            <a:prstGeom prst="rect">
              <a:avLst/>
            </a:prstGeom>
            <a:noFill/>
          </p:spPr>
          <p:txBody>
            <a:bodyPr wrap="square">
              <a:spAutoFit/>
            </a:bodyPr>
            <a:lstStyle/>
            <a:p>
              <a:r>
                <a:rPr lang="en-IN" sz="2400" b="1" dirty="0"/>
                <a:t>Control Register 0</a:t>
              </a:r>
            </a:p>
          </p:txBody>
        </p:sp>
      </p:grpSp>
      <p:pic>
        <p:nvPicPr>
          <p:cNvPr id="5" name="Picture 4">
            <a:extLst>
              <a:ext uri="{FF2B5EF4-FFF2-40B4-BE49-F238E27FC236}">
                <a16:creationId xmlns:a16="http://schemas.microsoft.com/office/drawing/2014/main" id="{B6185826-DEFF-42DC-8790-75E0F62D9CC5}"/>
              </a:ext>
            </a:extLst>
          </p:cNvPr>
          <p:cNvPicPr>
            <a:picLocks noChangeAspect="1"/>
          </p:cNvPicPr>
          <p:nvPr/>
        </p:nvPicPr>
        <p:blipFill>
          <a:blip r:embed="rId2"/>
          <a:stretch>
            <a:fillRect/>
          </a:stretch>
        </p:blipFill>
        <p:spPr>
          <a:xfrm>
            <a:off x="1178901" y="2346336"/>
            <a:ext cx="9834197" cy="1082664"/>
          </a:xfrm>
          <a:prstGeom prst="rect">
            <a:avLst/>
          </a:prstGeom>
        </p:spPr>
      </p:pic>
      <p:pic>
        <p:nvPicPr>
          <p:cNvPr id="7" name="Picture 6">
            <a:extLst>
              <a:ext uri="{FF2B5EF4-FFF2-40B4-BE49-F238E27FC236}">
                <a16:creationId xmlns:a16="http://schemas.microsoft.com/office/drawing/2014/main" id="{0C250D06-5BEC-4291-B67F-EB093FC60882}"/>
              </a:ext>
            </a:extLst>
          </p:cNvPr>
          <p:cNvPicPr>
            <a:picLocks noChangeAspect="1"/>
          </p:cNvPicPr>
          <p:nvPr/>
        </p:nvPicPr>
        <p:blipFill>
          <a:blip r:embed="rId3"/>
          <a:stretch>
            <a:fillRect/>
          </a:stretch>
        </p:blipFill>
        <p:spPr>
          <a:xfrm>
            <a:off x="6415868" y="2346335"/>
            <a:ext cx="630534" cy="1026451"/>
          </a:xfrm>
          <a:prstGeom prst="rect">
            <a:avLst/>
          </a:prstGeom>
        </p:spPr>
      </p:pic>
      <p:pic>
        <p:nvPicPr>
          <p:cNvPr id="9" name="Picture 8">
            <a:extLst>
              <a:ext uri="{FF2B5EF4-FFF2-40B4-BE49-F238E27FC236}">
                <a16:creationId xmlns:a16="http://schemas.microsoft.com/office/drawing/2014/main" id="{06370DC5-6614-447A-B73C-FBA289C27B84}"/>
              </a:ext>
            </a:extLst>
          </p:cNvPr>
          <p:cNvPicPr>
            <a:picLocks noChangeAspect="1"/>
          </p:cNvPicPr>
          <p:nvPr/>
        </p:nvPicPr>
        <p:blipFill>
          <a:blip r:embed="rId4"/>
          <a:stretch>
            <a:fillRect/>
          </a:stretch>
        </p:blipFill>
        <p:spPr>
          <a:xfrm>
            <a:off x="5776133" y="2324059"/>
            <a:ext cx="673201" cy="1071002"/>
          </a:xfrm>
          <a:prstGeom prst="rect">
            <a:avLst/>
          </a:prstGeom>
        </p:spPr>
      </p:pic>
      <p:sp>
        <p:nvSpPr>
          <p:cNvPr id="10" name="TextBox 9">
            <a:extLst>
              <a:ext uri="{FF2B5EF4-FFF2-40B4-BE49-F238E27FC236}">
                <a16:creationId xmlns:a16="http://schemas.microsoft.com/office/drawing/2014/main" id="{DD7A59D0-E992-49F8-BA4E-EA070528F0D8}"/>
              </a:ext>
            </a:extLst>
          </p:cNvPr>
          <p:cNvSpPr txBox="1"/>
          <p:nvPr/>
        </p:nvSpPr>
        <p:spPr>
          <a:xfrm>
            <a:off x="9893507" y="3897443"/>
            <a:ext cx="2083633" cy="830997"/>
          </a:xfrm>
          <a:prstGeom prst="rect">
            <a:avLst/>
          </a:prstGeom>
          <a:noFill/>
        </p:spPr>
        <p:txBody>
          <a:bodyPr wrap="square" rtlCol="0">
            <a:spAutoFit/>
          </a:bodyPr>
          <a:lstStyle/>
          <a:p>
            <a:r>
              <a:rPr lang="en-US" sz="2400" dirty="0"/>
              <a:t>Clock Out Polarity</a:t>
            </a:r>
            <a:endParaRPr lang="en-IN" sz="2400" dirty="0"/>
          </a:p>
        </p:txBody>
      </p:sp>
      <p:grpSp>
        <p:nvGrpSpPr>
          <p:cNvPr id="11" name="Group 10">
            <a:extLst>
              <a:ext uri="{FF2B5EF4-FFF2-40B4-BE49-F238E27FC236}">
                <a16:creationId xmlns:a16="http://schemas.microsoft.com/office/drawing/2014/main" id="{D24788E5-4E6F-4761-96E9-6859315D784C}"/>
              </a:ext>
            </a:extLst>
          </p:cNvPr>
          <p:cNvGrpSpPr/>
          <p:nvPr/>
        </p:nvGrpSpPr>
        <p:grpSpPr>
          <a:xfrm>
            <a:off x="7275532" y="4728440"/>
            <a:ext cx="4176953" cy="1800493"/>
            <a:chOff x="1044930" y="5314092"/>
            <a:chExt cx="2603291" cy="1800493"/>
          </a:xfrm>
        </p:grpSpPr>
        <p:sp>
          <p:nvSpPr>
            <p:cNvPr id="12" name="TextBox 11">
              <a:extLst>
                <a:ext uri="{FF2B5EF4-FFF2-40B4-BE49-F238E27FC236}">
                  <a16:creationId xmlns:a16="http://schemas.microsoft.com/office/drawing/2014/main" id="{2234B5E2-29EB-4A39-9858-835501F6C866}"/>
                </a:ext>
              </a:extLst>
            </p:cNvPr>
            <p:cNvSpPr txBox="1"/>
            <p:nvPr/>
          </p:nvSpPr>
          <p:spPr>
            <a:xfrm>
              <a:off x="1044930" y="5314092"/>
              <a:ext cx="2603291" cy="461665"/>
            </a:xfrm>
            <a:prstGeom prst="rect">
              <a:avLst/>
            </a:prstGeom>
            <a:noFill/>
          </p:spPr>
          <p:txBody>
            <a:bodyPr wrap="square" rtlCol="0">
              <a:spAutoFit/>
            </a:bodyPr>
            <a:lstStyle/>
            <a:p>
              <a:r>
                <a:rPr lang="en-US" sz="2400" dirty="0"/>
                <a:t>                            0</a:t>
              </a:r>
              <a:endParaRPr lang="en-IN" sz="2400" dirty="0"/>
            </a:p>
          </p:txBody>
        </p:sp>
        <p:sp>
          <p:nvSpPr>
            <p:cNvPr id="13" name="TextBox 12">
              <a:extLst>
                <a:ext uri="{FF2B5EF4-FFF2-40B4-BE49-F238E27FC236}">
                  <a16:creationId xmlns:a16="http://schemas.microsoft.com/office/drawing/2014/main" id="{53BF48F3-D474-417D-95D8-4A73EC141457}"/>
                </a:ext>
              </a:extLst>
            </p:cNvPr>
            <p:cNvSpPr txBox="1"/>
            <p:nvPr/>
          </p:nvSpPr>
          <p:spPr>
            <a:xfrm>
              <a:off x="1329742" y="5914256"/>
              <a:ext cx="2033666" cy="1200329"/>
            </a:xfrm>
            <a:prstGeom prst="rect">
              <a:avLst/>
            </a:prstGeom>
            <a:noFill/>
          </p:spPr>
          <p:txBody>
            <a:bodyPr wrap="square">
              <a:spAutoFit/>
            </a:bodyPr>
            <a:lstStyle/>
            <a:p>
              <a:pPr algn="ctr"/>
              <a:r>
                <a:rPr lang="en-US" sz="2400" b="1" dirty="0"/>
                <a:t>SSP controller maintains the bus clock low between frames</a:t>
              </a:r>
              <a:endParaRPr lang="en-IN" sz="2400" b="1" dirty="0"/>
            </a:p>
          </p:txBody>
        </p:sp>
      </p:grpSp>
      <p:grpSp>
        <p:nvGrpSpPr>
          <p:cNvPr id="16" name="Group 15">
            <a:extLst>
              <a:ext uri="{FF2B5EF4-FFF2-40B4-BE49-F238E27FC236}">
                <a16:creationId xmlns:a16="http://schemas.microsoft.com/office/drawing/2014/main" id="{88CEE75F-7258-4448-9B54-F29203C95CA7}"/>
              </a:ext>
            </a:extLst>
          </p:cNvPr>
          <p:cNvGrpSpPr/>
          <p:nvPr/>
        </p:nvGrpSpPr>
        <p:grpSpPr>
          <a:xfrm>
            <a:off x="7275532" y="4720734"/>
            <a:ext cx="4176953" cy="1800493"/>
            <a:chOff x="1044930" y="5314092"/>
            <a:chExt cx="2603291" cy="1800493"/>
          </a:xfrm>
        </p:grpSpPr>
        <p:sp>
          <p:nvSpPr>
            <p:cNvPr id="17" name="TextBox 16">
              <a:extLst>
                <a:ext uri="{FF2B5EF4-FFF2-40B4-BE49-F238E27FC236}">
                  <a16:creationId xmlns:a16="http://schemas.microsoft.com/office/drawing/2014/main" id="{1E9DE16D-4A12-4BB5-A0A3-4F665F01D035}"/>
                </a:ext>
              </a:extLst>
            </p:cNvPr>
            <p:cNvSpPr txBox="1"/>
            <p:nvPr/>
          </p:nvSpPr>
          <p:spPr>
            <a:xfrm>
              <a:off x="1044930" y="5314092"/>
              <a:ext cx="2603291" cy="461665"/>
            </a:xfrm>
            <a:prstGeom prst="rect">
              <a:avLst/>
            </a:prstGeom>
            <a:noFill/>
          </p:spPr>
          <p:txBody>
            <a:bodyPr wrap="square" rtlCol="0">
              <a:spAutoFit/>
            </a:bodyPr>
            <a:lstStyle/>
            <a:p>
              <a:r>
                <a:rPr lang="en-US" sz="2400" dirty="0"/>
                <a:t>                            1</a:t>
              </a:r>
              <a:endParaRPr lang="en-IN" sz="2400" dirty="0"/>
            </a:p>
          </p:txBody>
        </p:sp>
        <p:sp>
          <p:nvSpPr>
            <p:cNvPr id="18" name="TextBox 17">
              <a:extLst>
                <a:ext uri="{FF2B5EF4-FFF2-40B4-BE49-F238E27FC236}">
                  <a16:creationId xmlns:a16="http://schemas.microsoft.com/office/drawing/2014/main" id="{EDBE9F4A-D9A0-42B6-B2F1-8D5CED887344}"/>
                </a:ext>
              </a:extLst>
            </p:cNvPr>
            <p:cNvSpPr txBox="1"/>
            <p:nvPr/>
          </p:nvSpPr>
          <p:spPr>
            <a:xfrm>
              <a:off x="1329742" y="5914256"/>
              <a:ext cx="2033666" cy="1200329"/>
            </a:xfrm>
            <a:prstGeom prst="rect">
              <a:avLst/>
            </a:prstGeom>
            <a:noFill/>
          </p:spPr>
          <p:txBody>
            <a:bodyPr wrap="square">
              <a:spAutoFit/>
            </a:bodyPr>
            <a:lstStyle/>
            <a:p>
              <a:pPr algn="ctr"/>
              <a:r>
                <a:rPr lang="en-US" sz="2400" b="1" dirty="0"/>
                <a:t>SSP controller maintains the bus clock high between frames</a:t>
              </a:r>
              <a:endParaRPr lang="en-IN" sz="2400" b="1" dirty="0"/>
            </a:p>
          </p:txBody>
        </p:sp>
      </p:grpSp>
      <p:sp>
        <p:nvSpPr>
          <p:cNvPr id="20" name="TextBox 19">
            <a:extLst>
              <a:ext uri="{FF2B5EF4-FFF2-40B4-BE49-F238E27FC236}">
                <a16:creationId xmlns:a16="http://schemas.microsoft.com/office/drawing/2014/main" id="{165C4BC3-5DF7-4AA2-BCBE-1240F6539A02}"/>
              </a:ext>
            </a:extLst>
          </p:cNvPr>
          <p:cNvSpPr txBox="1"/>
          <p:nvPr/>
        </p:nvSpPr>
        <p:spPr>
          <a:xfrm>
            <a:off x="416492" y="3943609"/>
            <a:ext cx="2083633" cy="830997"/>
          </a:xfrm>
          <a:prstGeom prst="rect">
            <a:avLst/>
          </a:prstGeom>
          <a:noFill/>
        </p:spPr>
        <p:txBody>
          <a:bodyPr wrap="square">
            <a:spAutoFit/>
          </a:bodyPr>
          <a:lstStyle/>
          <a:p>
            <a:r>
              <a:rPr lang="en-IN" sz="2400" dirty="0"/>
              <a:t>Clock Out Phase</a:t>
            </a:r>
          </a:p>
        </p:txBody>
      </p:sp>
      <p:grpSp>
        <p:nvGrpSpPr>
          <p:cNvPr id="21" name="Group 20">
            <a:extLst>
              <a:ext uri="{FF2B5EF4-FFF2-40B4-BE49-F238E27FC236}">
                <a16:creationId xmlns:a16="http://schemas.microsoft.com/office/drawing/2014/main" id="{4BFF04E4-B49E-403E-AA12-9A74120B6296}"/>
              </a:ext>
            </a:extLst>
          </p:cNvPr>
          <p:cNvGrpSpPr/>
          <p:nvPr/>
        </p:nvGrpSpPr>
        <p:grpSpPr>
          <a:xfrm>
            <a:off x="1056222" y="4797969"/>
            <a:ext cx="4176953" cy="2169824"/>
            <a:chOff x="1044930" y="5314092"/>
            <a:chExt cx="2603291" cy="2169824"/>
          </a:xfrm>
        </p:grpSpPr>
        <p:sp>
          <p:nvSpPr>
            <p:cNvPr id="22" name="TextBox 21">
              <a:extLst>
                <a:ext uri="{FF2B5EF4-FFF2-40B4-BE49-F238E27FC236}">
                  <a16:creationId xmlns:a16="http://schemas.microsoft.com/office/drawing/2014/main" id="{24E55D54-B5FB-444A-AD80-30AABD80B4A0}"/>
                </a:ext>
              </a:extLst>
            </p:cNvPr>
            <p:cNvSpPr txBox="1"/>
            <p:nvPr/>
          </p:nvSpPr>
          <p:spPr>
            <a:xfrm>
              <a:off x="1044930" y="5314092"/>
              <a:ext cx="2603291" cy="461665"/>
            </a:xfrm>
            <a:prstGeom prst="rect">
              <a:avLst/>
            </a:prstGeom>
            <a:noFill/>
          </p:spPr>
          <p:txBody>
            <a:bodyPr wrap="square" rtlCol="0">
              <a:spAutoFit/>
            </a:bodyPr>
            <a:lstStyle/>
            <a:p>
              <a:r>
                <a:rPr lang="en-US" sz="2400" dirty="0"/>
                <a:t>                            0</a:t>
              </a:r>
              <a:endParaRPr lang="en-IN" sz="2400" dirty="0"/>
            </a:p>
          </p:txBody>
        </p:sp>
        <p:sp>
          <p:nvSpPr>
            <p:cNvPr id="23" name="TextBox 22">
              <a:extLst>
                <a:ext uri="{FF2B5EF4-FFF2-40B4-BE49-F238E27FC236}">
                  <a16:creationId xmlns:a16="http://schemas.microsoft.com/office/drawing/2014/main" id="{E852CD33-DAC5-4EB6-AB7D-6D1A92EB27CF}"/>
                </a:ext>
              </a:extLst>
            </p:cNvPr>
            <p:cNvSpPr txBox="1"/>
            <p:nvPr/>
          </p:nvSpPr>
          <p:spPr>
            <a:xfrm>
              <a:off x="1329742" y="5914256"/>
              <a:ext cx="2033666" cy="1569660"/>
            </a:xfrm>
            <a:prstGeom prst="rect">
              <a:avLst/>
            </a:prstGeom>
            <a:noFill/>
          </p:spPr>
          <p:txBody>
            <a:bodyPr wrap="square">
              <a:spAutoFit/>
            </a:bodyPr>
            <a:lstStyle/>
            <a:p>
              <a:pPr algn="ctr"/>
              <a:r>
                <a:rPr lang="en-US" sz="2400" b="1" dirty="0"/>
                <a:t> SSP controller captures serial data on the first clock transition </a:t>
              </a:r>
            </a:p>
            <a:p>
              <a:pPr algn="ctr"/>
              <a:r>
                <a:rPr lang="en-US" sz="2400" b="1" dirty="0"/>
                <a:t>of the frame</a:t>
              </a:r>
              <a:endParaRPr lang="en-IN" sz="2400" b="1" dirty="0"/>
            </a:p>
          </p:txBody>
        </p:sp>
      </p:grpSp>
      <p:grpSp>
        <p:nvGrpSpPr>
          <p:cNvPr id="24" name="Group 23">
            <a:extLst>
              <a:ext uri="{FF2B5EF4-FFF2-40B4-BE49-F238E27FC236}">
                <a16:creationId xmlns:a16="http://schemas.microsoft.com/office/drawing/2014/main" id="{60FCCA31-8147-44F9-8EA0-CE1A030E6123}"/>
              </a:ext>
            </a:extLst>
          </p:cNvPr>
          <p:cNvGrpSpPr/>
          <p:nvPr/>
        </p:nvGrpSpPr>
        <p:grpSpPr>
          <a:xfrm>
            <a:off x="1056222" y="4774606"/>
            <a:ext cx="4176953" cy="2169824"/>
            <a:chOff x="1044930" y="5314092"/>
            <a:chExt cx="2603291" cy="2169824"/>
          </a:xfrm>
        </p:grpSpPr>
        <p:sp>
          <p:nvSpPr>
            <p:cNvPr id="25" name="TextBox 24">
              <a:extLst>
                <a:ext uri="{FF2B5EF4-FFF2-40B4-BE49-F238E27FC236}">
                  <a16:creationId xmlns:a16="http://schemas.microsoft.com/office/drawing/2014/main" id="{FAE22AFB-7271-4C8B-BE5B-28606EA1A1A4}"/>
                </a:ext>
              </a:extLst>
            </p:cNvPr>
            <p:cNvSpPr txBox="1"/>
            <p:nvPr/>
          </p:nvSpPr>
          <p:spPr>
            <a:xfrm>
              <a:off x="1044930" y="5314092"/>
              <a:ext cx="2603291" cy="461665"/>
            </a:xfrm>
            <a:prstGeom prst="rect">
              <a:avLst/>
            </a:prstGeom>
            <a:noFill/>
          </p:spPr>
          <p:txBody>
            <a:bodyPr wrap="square" rtlCol="0">
              <a:spAutoFit/>
            </a:bodyPr>
            <a:lstStyle/>
            <a:p>
              <a:r>
                <a:rPr lang="en-US" sz="2400" dirty="0"/>
                <a:t>                            1</a:t>
              </a:r>
              <a:endParaRPr lang="en-IN" sz="2400" dirty="0"/>
            </a:p>
          </p:txBody>
        </p:sp>
        <p:sp>
          <p:nvSpPr>
            <p:cNvPr id="26" name="TextBox 25">
              <a:extLst>
                <a:ext uri="{FF2B5EF4-FFF2-40B4-BE49-F238E27FC236}">
                  <a16:creationId xmlns:a16="http://schemas.microsoft.com/office/drawing/2014/main" id="{89CB0199-3904-4230-848D-DCFDEE14A009}"/>
                </a:ext>
              </a:extLst>
            </p:cNvPr>
            <p:cNvSpPr txBox="1"/>
            <p:nvPr/>
          </p:nvSpPr>
          <p:spPr>
            <a:xfrm>
              <a:off x="1329742" y="5914256"/>
              <a:ext cx="2033666" cy="1569660"/>
            </a:xfrm>
            <a:prstGeom prst="rect">
              <a:avLst/>
            </a:prstGeom>
            <a:noFill/>
          </p:spPr>
          <p:txBody>
            <a:bodyPr wrap="square">
              <a:spAutoFit/>
            </a:bodyPr>
            <a:lstStyle/>
            <a:p>
              <a:pPr algn="ctr"/>
              <a:r>
                <a:rPr lang="en-US" sz="2400" b="1" dirty="0"/>
                <a:t>  SSP controller captures serial data on the second clock </a:t>
              </a:r>
            </a:p>
            <a:p>
              <a:pPr algn="ctr"/>
              <a:r>
                <a:rPr lang="en-US" sz="2400" b="1" dirty="0"/>
                <a:t>transition of the frame</a:t>
              </a:r>
              <a:endParaRPr lang="en-IN" sz="2400" b="1" dirty="0"/>
            </a:p>
          </p:txBody>
        </p:sp>
      </p:grpSp>
    </p:spTree>
    <p:extLst>
      <p:ext uri="{BB962C8B-B14F-4D97-AF65-F5344CB8AC3E}">
        <p14:creationId xmlns:p14="http://schemas.microsoft.com/office/powerpoint/2010/main" val="424970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33333E-6 1.85185E-6 L 0.21641 0.17546 " pathEditMode="relative" rAng="0" ptsTypes="AA">
                                      <p:cBhvr>
                                        <p:cTn id="6" dur="2000" fill="hold"/>
                                        <p:tgtEl>
                                          <p:spTgt spid="7"/>
                                        </p:tgtEl>
                                        <p:attrNameLst>
                                          <p:attrName>ppt_x</p:attrName>
                                          <p:attrName>ppt_y</p:attrName>
                                        </p:attrNameLst>
                                      </p:cBhvr>
                                      <p:rCtr x="10820" y="8773"/>
                                    </p:animMotion>
                                  </p:childTnLst>
                                </p:cTn>
                              </p:par>
                              <p:par>
                                <p:cTn id="7" presetID="6" presetClass="emph" presetSubtype="0" fill="hold" nodeType="withEffect">
                                  <p:stCondLst>
                                    <p:cond delay="0"/>
                                  </p:stCondLst>
                                  <p:childTnLst>
                                    <p:animScale>
                                      <p:cBhvr>
                                        <p:cTn id="8" dur="2000" fill="hold"/>
                                        <p:tgtEl>
                                          <p:spTgt spid="7"/>
                                        </p:tgtEl>
                                      </p:cBhvr>
                                      <p:by x="150000" y="150000"/>
                                    </p:animScale>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11"/>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2" presetClass="path" presetSubtype="0" accel="50000" decel="50000" fill="hold" nodeType="clickEffect">
                                  <p:stCondLst>
                                    <p:cond delay="0"/>
                                  </p:stCondLst>
                                  <p:childTnLst>
                                    <p:animMotion origin="layout" path="M -2.29167E-6 1.85185E-6 L -0.2457 0.17338 " pathEditMode="relative" rAng="0" ptsTypes="AA">
                                      <p:cBhvr>
                                        <p:cTn id="31" dur="2000" fill="hold"/>
                                        <p:tgtEl>
                                          <p:spTgt spid="9"/>
                                        </p:tgtEl>
                                        <p:attrNameLst>
                                          <p:attrName>ppt_x</p:attrName>
                                          <p:attrName>ppt_y</p:attrName>
                                        </p:attrNameLst>
                                      </p:cBhvr>
                                      <p:rCtr x="-12292" y="8657"/>
                                    </p:animMotion>
                                  </p:childTnLst>
                                </p:cTn>
                              </p:par>
                              <p:par>
                                <p:cTn id="32" presetID="6" presetClass="emph" presetSubtype="0" fill="hold" nodeType="withEffect">
                                  <p:stCondLst>
                                    <p:cond delay="0"/>
                                  </p:stCondLst>
                                  <p:childTnLst>
                                    <p:animScale>
                                      <p:cBhvr>
                                        <p:cTn id="33" dur="2000" fill="hold"/>
                                        <p:tgtEl>
                                          <p:spTgt spid="9"/>
                                        </p:tgtEl>
                                      </p:cBhvr>
                                      <p:by x="150000" y="150000"/>
                                    </p:animScale>
                                  </p:childTnLst>
                                </p:cTn>
                              </p:par>
                            </p:childTnLst>
                          </p:cTn>
                        </p:par>
                        <p:par>
                          <p:cTn id="34" fill="hold">
                            <p:stCondLst>
                              <p:cond delay="2000"/>
                            </p:stCondLst>
                            <p:childTnLst>
                              <p:par>
                                <p:cTn id="35" presetID="1" presetClass="entr" presetSubtype="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2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13DAF0-3DD6-458B-B4ED-14CE41FAA594}"/>
              </a:ext>
            </a:extLst>
          </p:cNvPr>
          <p:cNvPicPr>
            <a:picLocks noChangeAspect="1"/>
          </p:cNvPicPr>
          <p:nvPr/>
        </p:nvPicPr>
        <p:blipFill>
          <a:blip r:embed="rId2"/>
          <a:stretch>
            <a:fillRect/>
          </a:stretch>
        </p:blipFill>
        <p:spPr>
          <a:xfrm>
            <a:off x="1178901" y="1709546"/>
            <a:ext cx="9834197" cy="1082664"/>
          </a:xfrm>
          <a:prstGeom prst="rect">
            <a:avLst/>
          </a:prstGeom>
        </p:spPr>
      </p:pic>
      <p:grpSp>
        <p:nvGrpSpPr>
          <p:cNvPr id="3" name="Group 2">
            <a:extLst>
              <a:ext uri="{FF2B5EF4-FFF2-40B4-BE49-F238E27FC236}">
                <a16:creationId xmlns:a16="http://schemas.microsoft.com/office/drawing/2014/main" id="{7F185136-80B0-4E4A-B5C6-3146E24E8353}"/>
              </a:ext>
            </a:extLst>
          </p:cNvPr>
          <p:cNvGrpSpPr/>
          <p:nvPr/>
        </p:nvGrpSpPr>
        <p:grpSpPr>
          <a:xfrm>
            <a:off x="444803" y="898653"/>
            <a:ext cx="3707472" cy="461665"/>
            <a:chOff x="474784" y="1663151"/>
            <a:chExt cx="3632981" cy="461665"/>
          </a:xfrm>
        </p:grpSpPr>
        <p:sp>
          <p:nvSpPr>
            <p:cNvPr id="4" name="TextBox 3">
              <a:extLst>
                <a:ext uri="{FF2B5EF4-FFF2-40B4-BE49-F238E27FC236}">
                  <a16:creationId xmlns:a16="http://schemas.microsoft.com/office/drawing/2014/main" id="{BC9E5594-A03B-4BD3-8356-1EF05AF0D6D8}"/>
                </a:ext>
              </a:extLst>
            </p:cNvPr>
            <p:cNvSpPr txBox="1"/>
            <p:nvPr/>
          </p:nvSpPr>
          <p:spPr>
            <a:xfrm>
              <a:off x="2776610" y="1663151"/>
              <a:ext cx="1331155" cy="461665"/>
            </a:xfrm>
            <a:prstGeom prst="rect">
              <a:avLst/>
            </a:prstGeom>
            <a:noFill/>
          </p:spPr>
          <p:txBody>
            <a:bodyPr wrap="square">
              <a:spAutoFit/>
            </a:bodyPr>
            <a:lstStyle/>
            <a:p>
              <a:r>
                <a:rPr lang="en-IN" sz="2400" b="1" dirty="0"/>
                <a:t>(SSPCR0)</a:t>
              </a:r>
            </a:p>
          </p:txBody>
        </p:sp>
        <p:sp>
          <p:nvSpPr>
            <p:cNvPr id="5" name="TextBox 4">
              <a:extLst>
                <a:ext uri="{FF2B5EF4-FFF2-40B4-BE49-F238E27FC236}">
                  <a16:creationId xmlns:a16="http://schemas.microsoft.com/office/drawing/2014/main" id="{297E379C-397A-43C5-A01C-F1269E0CAAE2}"/>
                </a:ext>
              </a:extLst>
            </p:cNvPr>
            <p:cNvSpPr txBox="1"/>
            <p:nvPr/>
          </p:nvSpPr>
          <p:spPr>
            <a:xfrm>
              <a:off x="474784" y="1663151"/>
              <a:ext cx="2465364" cy="461665"/>
            </a:xfrm>
            <a:prstGeom prst="rect">
              <a:avLst/>
            </a:prstGeom>
            <a:noFill/>
          </p:spPr>
          <p:txBody>
            <a:bodyPr wrap="square">
              <a:spAutoFit/>
            </a:bodyPr>
            <a:lstStyle/>
            <a:p>
              <a:r>
                <a:rPr lang="en-IN" sz="2400" b="1" dirty="0"/>
                <a:t>Control Register 0</a:t>
              </a:r>
            </a:p>
          </p:txBody>
        </p:sp>
      </p:grpSp>
      <p:pic>
        <p:nvPicPr>
          <p:cNvPr id="7" name="Picture 6">
            <a:extLst>
              <a:ext uri="{FF2B5EF4-FFF2-40B4-BE49-F238E27FC236}">
                <a16:creationId xmlns:a16="http://schemas.microsoft.com/office/drawing/2014/main" id="{0617CD94-A303-4358-B131-567222DC8EAB}"/>
              </a:ext>
            </a:extLst>
          </p:cNvPr>
          <p:cNvPicPr>
            <a:picLocks noChangeAspect="1"/>
          </p:cNvPicPr>
          <p:nvPr/>
        </p:nvPicPr>
        <p:blipFill>
          <a:blip r:embed="rId3"/>
          <a:stretch>
            <a:fillRect/>
          </a:stretch>
        </p:blipFill>
        <p:spPr>
          <a:xfrm>
            <a:off x="1361607" y="1724536"/>
            <a:ext cx="4547236" cy="1017145"/>
          </a:xfrm>
          <a:prstGeom prst="rect">
            <a:avLst/>
          </a:prstGeom>
        </p:spPr>
      </p:pic>
      <p:sp>
        <p:nvSpPr>
          <p:cNvPr id="9" name="TextBox 8">
            <a:extLst>
              <a:ext uri="{FF2B5EF4-FFF2-40B4-BE49-F238E27FC236}">
                <a16:creationId xmlns:a16="http://schemas.microsoft.com/office/drawing/2014/main" id="{0211C641-370C-4743-80F2-D3C0BD5A5B96}"/>
              </a:ext>
            </a:extLst>
          </p:cNvPr>
          <p:cNvSpPr txBox="1"/>
          <p:nvPr/>
        </p:nvSpPr>
        <p:spPr>
          <a:xfrm>
            <a:off x="9631267" y="4203066"/>
            <a:ext cx="2313955" cy="461665"/>
          </a:xfrm>
          <a:prstGeom prst="rect">
            <a:avLst/>
          </a:prstGeom>
          <a:noFill/>
        </p:spPr>
        <p:txBody>
          <a:bodyPr wrap="square">
            <a:spAutoFit/>
          </a:bodyPr>
          <a:lstStyle/>
          <a:p>
            <a:r>
              <a:rPr lang="en-IN" sz="2400" dirty="0"/>
              <a:t>Serial Clock Rate</a:t>
            </a:r>
          </a:p>
        </p:txBody>
      </p:sp>
      <p:sp>
        <p:nvSpPr>
          <p:cNvPr id="12" name="TextBox 11">
            <a:extLst>
              <a:ext uri="{FF2B5EF4-FFF2-40B4-BE49-F238E27FC236}">
                <a16:creationId xmlns:a16="http://schemas.microsoft.com/office/drawing/2014/main" id="{5F4B682F-EFAC-4F82-92BF-5D818516452A}"/>
              </a:ext>
            </a:extLst>
          </p:cNvPr>
          <p:cNvSpPr txBox="1"/>
          <p:nvPr/>
        </p:nvSpPr>
        <p:spPr>
          <a:xfrm>
            <a:off x="1178902" y="5290757"/>
            <a:ext cx="9569046" cy="1200329"/>
          </a:xfrm>
          <a:prstGeom prst="rect">
            <a:avLst/>
          </a:prstGeom>
          <a:noFill/>
        </p:spPr>
        <p:txBody>
          <a:bodyPr wrap="square">
            <a:spAutoFit/>
          </a:bodyPr>
          <a:lstStyle/>
          <a:p>
            <a:pPr algn="just"/>
            <a:r>
              <a:rPr lang="en-US" sz="2400" b="1" dirty="0"/>
              <a:t>The number of </a:t>
            </a:r>
            <a:r>
              <a:rPr lang="en-US" sz="2400" b="1" dirty="0" err="1"/>
              <a:t>prescaler</a:t>
            </a:r>
            <a:r>
              <a:rPr lang="en-US" sz="2400" b="1" dirty="0"/>
              <a:t>-output clocks per bit on the bus, minus one. Given that CPSDVR is the </a:t>
            </a:r>
            <a:r>
              <a:rPr lang="en-US" sz="2400" b="1" dirty="0" err="1"/>
              <a:t>prescale</a:t>
            </a:r>
            <a:r>
              <a:rPr lang="en-US" sz="2400" b="1" dirty="0"/>
              <a:t> divider, and the APB clock PCLK clocks the </a:t>
            </a:r>
            <a:r>
              <a:rPr lang="en-US" sz="2400" b="1" dirty="0" err="1"/>
              <a:t>prescaler</a:t>
            </a:r>
            <a:r>
              <a:rPr lang="en-US" sz="2400" b="1" dirty="0"/>
              <a:t>, the bit frequency is PCLK / (CPSDVSR * [SCR+1])</a:t>
            </a:r>
            <a:endParaRPr lang="en-IN" sz="2400" b="1" dirty="0"/>
          </a:p>
        </p:txBody>
      </p:sp>
    </p:spTree>
    <p:extLst>
      <p:ext uri="{BB962C8B-B14F-4D97-AF65-F5344CB8AC3E}">
        <p14:creationId xmlns:p14="http://schemas.microsoft.com/office/powerpoint/2010/main" val="382609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nodeType="clickEffect">
                                  <p:stCondLst>
                                    <p:cond delay="0"/>
                                  </p:stCondLst>
                                  <p:childTnLst>
                                    <p:animMotion origin="layout" path="M 0.00117 0.00741 L 0.20182 0.26945 " pathEditMode="relative" rAng="0" ptsTypes="AA">
                                      <p:cBhvr>
                                        <p:cTn id="6" dur="2000" fill="hold"/>
                                        <p:tgtEl>
                                          <p:spTgt spid="7"/>
                                        </p:tgtEl>
                                        <p:attrNameLst>
                                          <p:attrName>ppt_x</p:attrName>
                                          <p:attrName>ppt_y</p:attrName>
                                        </p:attrNameLst>
                                      </p:cBhvr>
                                      <p:rCtr x="10026" y="13102"/>
                                    </p:animMotion>
                                  </p:childTnLst>
                                </p:cTn>
                              </p:par>
                              <p:par>
                                <p:cTn id="7" presetID="6" presetClass="emph" presetSubtype="0" fill="hold" nodeType="withEffect">
                                  <p:stCondLst>
                                    <p:cond delay="0"/>
                                  </p:stCondLst>
                                  <p:childTnLst>
                                    <p:animScale>
                                      <p:cBhvr>
                                        <p:cTn id="8" dur="2000" fill="hold"/>
                                        <p:tgtEl>
                                          <p:spTgt spid="7"/>
                                        </p:tgtEl>
                                      </p:cBhvr>
                                      <p:by x="150000" y="150000"/>
                                    </p:animScale>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90D573-1B4D-4C8E-92F4-8734317B7158}"/>
              </a:ext>
            </a:extLst>
          </p:cNvPr>
          <p:cNvSpPr txBox="1"/>
          <p:nvPr/>
        </p:nvSpPr>
        <p:spPr>
          <a:xfrm>
            <a:off x="520505" y="618978"/>
            <a:ext cx="5205046" cy="461665"/>
          </a:xfrm>
          <a:prstGeom prst="rect">
            <a:avLst/>
          </a:prstGeom>
          <a:noFill/>
        </p:spPr>
        <p:txBody>
          <a:bodyPr wrap="square" rtlCol="0">
            <a:spAutoFit/>
          </a:bodyPr>
          <a:lstStyle/>
          <a:p>
            <a:r>
              <a:rPr lang="en-US" sz="2400" dirty="0"/>
              <a:t>Calculation of Serial Clock Rate (</a:t>
            </a:r>
            <a:r>
              <a:rPr lang="en-US" sz="2400" b="1" dirty="0"/>
              <a:t>SCR</a:t>
            </a:r>
            <a:r>
              <a:rPr lang="en-US" sz="2400" dirty="0"/>
              <a:t>)</a:t>
            </a:r>
            <a:endParaRPr lang="en-IN" sz="2400" dirty="0"/>
          </a:p>
        </p:txBody>
      </p:sp>
      <p:sp>
        <p:nvSpPr>
          <p:cNvPr id="3" name="TextBox 2">
            <a:extLst>
              <a:ext uri="{FF2B5EF4-FFF2-40B4-BE49-F238E27FC236}">
                <a16:creationId xmlns:a16="http://schemas.microsoft.com/office/drawing/2014/main" id="{1B15EA1D-E02C-4F49-A65E-F038759FD093}"/>
              </a:ext>
            </a:extLst>
          </p:cNvPr>
          <p:cNvSpPr txBox="1"/>
          <p:nvPr/>
        </p:nvSpPr>
        <p:spPr>
          <a:xfrm>
            <a:off x="520505" y="1195754"/>
            <a:ext cx="11141612" cy="830997"/>
          </a:xfrm>
          <a:prstGeom prst="rect">
            <a:avLst/>
          </a:prstGeom>
          <a:noFill/>
        </p:spPr>
        <p:txBody>
          <a:bodyPr wrap="square" rtlCol="0">
            <a:spAutoFit/>
          </a:bodyPr>
          <a:lstStyle/>
          <a:p>
            <a:r>
              <a:rPr lang="en-US" sz="2400" dirty="0"/>
              <a:t>In this program </a:t>
            </a:r>
            <a:r>
              <a:rPr lang="en-US" sz="2400" b="1" dirty="0"/>
              <a:t>SCR</a:t>
            </a:r>
            <a:r>
              <a:rPr lang="en-US" sz="2400" dirty="0"/>
              <a:t> is calculated for </a:t>
            </a:r>
            <a:r>
              <a:rPr lang="en-US" sz="2400" b="1" dirty="0"/>
              <a:t>bitrate</a:t>
            </a:r>
            <a:r>
              <a:rPr lang="en-US" sz="2400" dirty="0"/>
              <a:t> of </a:t>
            </a:r>
            <a:r>
              <a:rPr lang="en-US" sz="2400" b="1" dirty="0"/>
              <a:t>750KHz</a:t>
            </a:r>
            <a:r>
              <a:rPr lang="en-US" sz="2400" dirty="0"/>
              <a:t> frequency by considering </a:t>
            </a:r>
            <a:r>
              <a:rPr lang="en-US" sz="2400" b="1" dirty="0"/>
              <a:t>CPSDVSR = 2 </a:t>
            </a:r>
            <a:r>
              <a:rPr lang="en-US" sz="2400" dirty="0"/>
              <a:t>and </a:t>
            </a:r>
            <a:r>
              <a:rPr lang="en-US" sz="2400" b="1" dirty="0"/>
              <a:t>PCLK </a:t>
            </a:r>
            <a:r>
              <a:rPr lang="en-US" sz="2400" dirty="0"/>
              <a:t>as </a:t>
            </a:r>
            <a:r>
              <a:rPr lang="en-US" sz="2400" b="1" dirty="0"/>
              <a:t>12Mhz</a:t>
            </a:r>
            <a:r>
              <a:rPr lang="en-US" sz="2400" dirty="0"/>
              <a:t>. </a:t>
            </a:r>
            <a:endParaRPr lang="en-IN" sz="2400" dirty="0"/>
          </a:p>
        </p:txBody>
      </p:sp>
      <p:sp>
        <p:nvSpPr>
          <p:cNvPr id="4" name="TextBox 3">
            <a:extLst>
              <a:ext uri="{FF2B5EF4-FFF2-40B4-BE49-F238E27FC236}">
                <a16:creationId xmlns:a16="http://schemas.microsoft.com/office/drawing/2014/main" id="{D98F4243-F693-4B08-ADC0-59B6EFE6729D}"/>
              </a:ext>
            </a:extLst>
          </p:cNvPr>
          <p:cNvSpPr txBox="1"/>
          <p:nvPr/>
        </p:nvSpPr>
        <p:spPr>
          <a:xfrm>
            <a:off x="520505" y="2195788"/>
            <a:ext cx="5753686" cy="461665"/>
          </a:xfrm>
          <a:prstGeom prst="rect">
            <a:avLst/>
          </a:prstGeom>
          <a:noFill/>
        </p:spPr>
        <p:txBody>
          <a:bodyPr wrap="square" rtlCol="0">
            <a:spAutoFit/>
          </a:bodyPr>
          <a:lstStyle/>
          <a:p>
            <a:r>
              <a:rPr lang="en-US" sz="2400" dirty="0"/>
              <a:t>Equation to calculate Serial Clock Rate (</a:t>
            </a:r>
            <a:r>
              <a:rPr lang="en-US" sz="2400" b="1" dirty="0"/>
              <a:t>SCR</a:t>
            </a:r>
            <a:r>
              <a:rPr lang="en-US" sz="2400" dirty="0"/>
              <a:t>)</a:t>
            </a:r>
            <a:endParaRPr lang="en-IN" sz="2400" dirty="0"/>
          </a:p>
        </p:txBody>
      </p:sp>
      <p:sp>
        <p:nvSpPr>
          <p:cNvPr id="5" name="TextBox 4">
            <a:extLst>
              <a:ext uri="{FF2B5EF4-FFF2-40B4-BE49-F238E27FC236}">
                <a16:creationId xmlns:a16="http://schemas.microsoft.com/office/drawing/2014/main" id="{247BCBD4-53FC-40D8-A2C1-01F34BE1D1F6}"/>
              </a:ext>
            </a:extLst>
          </p:cNvPr>
          <p:cNvSpPr txBox="1"/>
          <p:nvPr/>
        </p:nvSpPr>
        <p:spPr>
          <a:xfrm>
            <a:off x="520505" y="2826490"/>
            <a:ext cx="9931791" cy="461665"/>
          </a:xfrm>
          <a:prstGeom prst="rect">
            <a:avLst/>
          </a:prstGeom>
          <a:noFill/>
        </p:spPr>
        <p:txBody>
          <a:bodyPr wrap="square" rtlCol="0">
            <a:spAutoFit/>
          </a:bodyPr>
          <a:lstStyle/>
          <a:p>
            <a:r>
              <a:rPr lang="en-US" sz="2400" b="1" dirty="0"/>
              <a:t>Bitrate = PCLK / ( CPSDVSR * [SCR+1])</a:t>
            </a:r>
            <a:endParaRPr lang="en-IN" sz="2400" b="1" dirty="0"/>
          </a:p>
        </p:txBody>
      </p:sp>
      <p:sp>
        <p:nvSpPr>
          <p:cNvPr id="6" name="TextBox 5">
            <a:extLst>
              <a:ext uri="{FF2B5EF4-FFF2-40B4-BE49-F238E27FC236}">
                <a16:creationId xmlns:a16="http://schemas.microsoft.com/office/drawing/2014/main" id="{4E67B47A-9E35-41EA-B46A-8A76D641D100}"/>
              </a:ext>
            </a:extLst>
          </p:cNvPr>
          <p:cNvSpPr txBox="1"/>
          <p:nvPr/>
        </p:nvSpPr>
        <p:spPr>
          <a:xfrm>
            <a:off x="520505" y="3339013"/>
            <a:ext cx="3052689" cy="461665"/>
          </a:xfrm>
          <a:prstGeom prst="rect">
            <a:avLst/>
          </a:prstGeom>
          <a:noFill/>
        </p:spPr>
        <p:txBody>
          <a:bodyPr wrap="square" rtlCol="0">
            <a:spAutoFit/>
          </a:bodyPr>
          <a:lstStyle/>
          <a:p>
            <a:r>
              <a:rPr lang="en-US" sz="2400" dirty="0"/>
              <a:t>Lets consider SCR =X</a:t>
            </a:r>
            <a:endParaRPr lang="en-IN" sz="2400" dirty="0"/>
          </a:p>
        </p:txBody>
      </p:sp>
      <p:sp>
        <p:nvSpPr>
          <p:cNvPr id="7" name="TextBox 6">
            <a:extLst>
              <a:ext uri="{FF2B5EF4-FFF2-40B4-BE49-F238E27FC236}">
                <a16:creationId xmlns:a16="http://schemas.microsoft.com/office/drawing/2014/main" id="{62063E51-B2EF-4481-BC37-B1A0533EF3D4}"/>
              </a:ext>
            </a:extLst>
          </p:cNvPr>
          <p:cNvSpPr txBox="1"/>
          <p:nvPr/>
        </p:nvSpPr>
        <p:spPr>
          <a:xfrm>
            <a:off x="520505" y="3857061"/>
            <a:ext cx="9931791" cy="461665"/>
          </a:xfrm>
          <a:prstGeom prst="rect">
            <a:avLst/>
          </a:prstGeom>
          <a:noFill/>
        </p:spPr>
        <p:txBody>
          <a:bodyPr wrap="square" rtlCol="0">
            <a:spAutoFit/>
          </a:bodyPr>
          <a:lstStyle/>
          <a:p>
            <a:r>
              <a:rPr lang="en-US" sz="2400" dirty="0"/>
              <a:t>750K = 12M / ( 2 * [X+1])</a:t>
            </a:r>
            <a:endParaRPr lang="en-IN" sz="2400" dirty="0"/>
          </a:p>
        </p:txBody>
      </p:sp>
      <p:sp>
        <p:nvSpPr>
          <p:cNvPr id="8" name="TextBox 7">
            <a:extLst>
              <a:ext uri="{FF2B5EF4-FFF2-40B4-BE49-F238E27FC236}">
                <a16:creationId xmlns:a16="http://schemas.microsoft.com/office/drawing/2014/main" id="{45C5E583-2E3F-4CE8-B853-A029ACCC4B23}"/>
              </a:ext>
            </a:extLst>
          </p:cNvPr>
          <p:cNvSpPr txBox="1"/>
          <p:nvPr/>
        </p:nvSpPr>
        <p:spPr>
          <a:xfrm>
            <a:off x="520505" y="4369585"/>
            <a:ext cx="9931791" cy="461665"/>
          </a:xfrm>
          <a:prstGeom prst="rect">
            <a:avLst/>
          </a:prstGeom>
          <a:noFill/>
        </p:spPr>
        <p:txBody>
          <a:bodyPr wrap="square" rtlCol="0">
            <a:spAutoFit/>
          </a:bodyPr>
          <a:lstStyle/>
          <a:p>
            <a:r>
              <a:rPr lang="en-US" sz="2400" dirty="0"/>
              <a:t>( 2 * [X+1]) = 12M / 750K</a:t>
            </a:r>
            <a:endParaRPr lang="en-IN" sz="2400" dirty="0"/>
          </a:p>
        </p:txBody>
      </p:sp>
      <p:sp>
        <p:nvSpPr>
          <p:cNvPr id="9" name="TextBox 8">
            <a:extLst>
              <a:ext uri="{FF2B5EF4-FFF2-40B4-BE49-F238E27FC236}">
                <a16:creationId xmlns:a16="http://schemas.microsoft.com/office/drawing/2014/main" id="{B2966744-ACC1-449B-B620-2B7531B0A552}"/>
              </a:ext>
            </a:extLst>
          </p:cNvPr>
          <p:cNvSpPr txBox="1"/>
          <p:nvPr/>
        </p:nvSpPr>
        <p:spPr>
          <a:xfrm>
            <a:off x="520505" y="4882109"/>
            <a:ext cx="9931791" cy="461665"/>
          </a:xfrm>
          <a:prstGeom prst="rect">
            <a:avLst/>
          </a:prstGeom>
          <a:noFill/>
        </p:spPr>
        <p:txBody>
          <a:bodyPr wrap="square" rtlCol="0">
            <a:spAutoFit/>
          </a:bodyPr>
          <a:lstStyle/>
          <a:p>
            <a:r>
              <a:rPr lang="en-US" sz="2400" dirty="0"/>
              <a:t>( 2X ) = 16 -2</a:t>
            </a:r>
            <a:endParaRPr lang="en-IN" sz="2400" dirty="0"/>
          </a:p>
        </p:txBody>
      </p:sp>
      <p:sp>
        <p:nvSpPr>
          <p:cNvPr id="10" name="TextBox 9">
            <a:extLst>
              <a:ext uri="{FF2B5EF4-FFF2-40B4-BE49-F238E27FC236}">
                <a16:creationId xmlns:a16="http://schemas.microsoft.com/office/drawing/2014/main" id="{03A8E7B2-3BB9-432E-A454-83A35301F728}"/>
              </a:ext>
            </a:extLst>
          </p:cNvPr>
          <p:cNvSpPr txBox="1"/>
          <p:nvPr/>
        </p:nvSpPr>
        <p:spPr>
          <a:xfrm>
            <a:off x="520505" y="5394633"/>
            <a:ext cx="9931791" cy="461665"/>
          </a:xfrm>
          <a:prstGeom prst="rect">
            <a:avLst/>
          </a:prstGeom>
          <a:noFill/>
        </p:spPr>
        <p:txBody>
          <a:bodyPr wrap="square" rtlCol="0">
            <a:spAutoFit/>
          </a:bodyPr>
          <a:lstStyle/>
          <a:p>
            <a:r>
              <a:rPr lang="en-US" sz="2400" dirty="0"/>
              <a:t>( X ) = 14 / 2 = 7</a:t>
            </a:r>
            <a:endParaRPr lang="en-IN" sz="2400" dirty="0"/>
          </a:p>
        </p:txBody>
      </p:sp>
    </p:spTree>
    <p:extLst>
      <p:ext uri="{BB962C8B-B14F-4D97-AF65-F5344CB8AC3E}">
        <p14:creationId xmlns:p14="http://schemas.microsoft.com/office/powerpoint/2010/main" val="119338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48619D-4A70-40F2-A536-1942548244D7}"/>
              </a:ext>
            </a:extLst>
          </p:cNvPr>
          <p:cNvPicPr>
            <a:picLocks noChangeAspect="1"/>
          </p:cNvPicPr>
          <p:nvPr/>
        </p:nvPicPr>
        <p:blipFill>
          <a:blip r:embed="rId2"/>
          <a:stretch>
            <a:fillRect/>
          </a:stretch>
        </p:blipFill>
        <p:spPr>
          <a:xfrm>
            <a:off x="1178901" y="1724536"/>
            <a:ext cx="9834197" cy="1082664"/>
          </a:xfrm>
          <a:prstGeom prst="rect">
            <a:avLst/>
          </a:prstGeom>
        </p:spPr>
      </p:pic>
      <p:sp>
        <p:nvSpPr>
          <p:cNvPr id="3" name="TextBox 2">
            <a:extLst>
              <a:ext uri="{FF2B5EF4-FFF2-40B4-BE49-F238E27FC236}">
                <a16:creationId xmlns:a16="http://schemas.microsoft.com/office/drawing/2014/main" id="{D21F31D8-28BF-47CC-8C96-8A678C8AEDF7}"/>
              </a:ext>
            </a:extLst>
          </p:cNvPr>
          <p:cNvSpPr txBox="1"/>
          <p:nvPr/>
        </p:nvSpPr>
        <p:spPr>
          <a:xfrm>
            <a:off x="494675" y="704538"/>
            <a:ext cx="6700604" cy="461665"/>
          </a:xfrm>
          <a:prstGeom prst="rect">
            <a:avLst/>
          </a:prstGeom>
          <a:noFill/>
        </p:spPr>
        <p:txBody>
          <a:bodyPr wrap="square" rtlCol="0">
            <a:spAutoFit/>
          </a:bodyPr>
          <a:lstStyle/>
          <a:p>
            <a:r>
              <a:rPr lang="en-US" sz="2400" b="1" dirty="0"/>
              <a:t>In program </a:t>
            </a:r>
            <a:r>
              <a:rPr lang="en-IN" sz="2400" b="1" dirty="0"/>
              <a:t>SSPCR0  is loaded with  0X707</a:t>
            </a:r>
          </a:p>
        </p:txBody>
      </p:sp>
      <p:sp>
        <p:nvSpPr>
          <p:cNvPr id="4" name="TextBox 3">
            <a:extLst>
              <a:ext uri="{FF2B5EF4-FFF2-40B4-BE49-F238E27FC236}">
                <a16:creationId xmlns:a16="http://schemas.microsoft.com/office/drawing/2014/main" id="{17BADB9D-EBF7-4FBC-91A4-F3D26E45FF68}"/>
              </a:ext>
            </a:extLst>
          </p:cNvPr>
          <p:cNvSpPr txBox="1"/>
          <p:nvPr/>
        </p:nvSpPr>
        <p:spPr>
          <a:xfrm>
            <a:off x="1304144" y="2192604"/>
            <a:ext cx="8874177" cy="461665"/>
          </a:xfrm>
          <a:prstGeom prst="rect">
            <a:avLst/>
          </a:prstGeom>
          <a:noFill/>
        </p:spPr>
        <p:txBody>
          <a:bodyPr wrap="square" rtlCol="0">
            <a:spAutoFit/>
          </a:bodyPr>
          <a:lstStyle/>
          <a:p>
            <a:r>
              <a:rPr lang="en-US" sz="2400" b="1" dirty="0"/>
              <a:t>  0       0      0      0      0     1       1      1      0      0      0     0     0      1     1       1</a:t>
            </a:r>
            <a:endParaRPr lang="en-IN" sz="2400" b="1" dirty="0"/>
          </a:p>
        </p:txBody>
      </p:sp>
      <p:sp>
        <p:nvSpPr>
          <p:cNvPr id="6" name="Right Brace 5">
            <a:extLst>
              <a:ext uri="{FF2B5EF4-FFF2-40B4-BE49-F238E27FC236}">
                <a16:creationId xmlns:a16="http://schemas.microsoft.com/office/drawing/2014/main" id="{76D78085-ACF5-4AA3-B68E-059F55CFFAC5}"/>
              </a:ext>
            </a:extLst>
          </p:cNvPr>
          <p:cNvSpPr/>
          <p:nvPr/>
        </p:nvSpPr>
        <p:spPr>
          <a:xfrm rot="5400000">
            <a:off x="8968451" y="1912467"/>
            <a:ext cx="316395" cy="210334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055C1455-3601-4694-8AE3-DBF8A1CF5204}"/>
              </a:ext>
            </a:extLst>
          </p:cNvPr>
          <p:cNvSpPr txBox="1"/>
          <p:nvPr/>
        </p:nvSpPr>
        <p:spPr>
          <a:xfrm>
            <a:off x="8334531" y="3274009"/>
            <a:ext cx="1993692" cy="461665"/>
          </a:xfrm>
          <a:prstGeom prst="rect">
            <a:avLst/>
          </a:prstGeom>
          <a:noFill/>
        </p:spPr>
        <p:txBody>
          <a:bodyPr wrap="square" rtlCol="0">
            <a:spAutoFit/>
          </a:bodyPr>
          <a:lstStyle/>
          <a:p>
            <a:r>
              <a:rPr lang="en-US" sz="2400" b="1" dirty="0"/>
              <a:t>8 Bit Transfer </a:t>
            </a:r>
            <a:endParaRPr lang="en-IN" sz="2400" b="1" dirty="0"/>
          </a:p>
        </p:txBody>
      </p:sp>
      <p:sp>
        <p:nvSpPr>
          <p:cNvPr id="8" name="Right Brace 7">
            <a:extLst>
              <a:ext uri="{FF2B5EF4-FFF2-40B4-BE49-F238E27FC236}">
                <a16:creationId xmlns:a16="http://schemas.microsoft.com/office/drawing/2014/main" id="{9D0D1EE2-2A7D-4E2B-BE79-0D97DE82EF03}"/>
              </a:ext>
            </a:extLst>
          </p:cNvPr>
          <p:cNvSpPr/>
          <p:nvPr/>
        </p:nvSpPr>
        <p:spPr>
          <a:xfrm rot="5400000">
            <a:off x="7164465" y="2657152"/>
            <a:ext cx="759219" cy="106180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id="{A1EB9401-48CA-471F-82E8-60A82ACC36EC}"/>
              </a:ext>
            </a:extLst>
          </p:cNvPr>
          <p:cNvSpPr txBox="1"/>
          <p:nvPr/>
        </p:nvSpPr>
        <p:spPr>
          <a:xfrm>
            <a:off x="7013173" y="3618973"/>
            <a:ext cx="1531220" cy="830997"/>
          </a:xfrm>
          <a:prstGeom prst="rect">
            <a:avLst/>
          </a:prstGeom>
          <a:noFill/>
        </p:spPr>
        <p:txBody>
          <a:bodyPr wrap="square" rtlCol="0">
            <a:spAutoFit/>
          </a:bodyPr>
          <a:lstStyle/>
          <a:p>
            <a:r>
              <a:rPr lang="en-US" sz="2400" b="1" dirty="0"/>
              <a:t>SPI Frame format</a:t>
            </a:r>
            <a:endParaRPr lang="en-IN" sz="2400" b="1" dirty="0"/>
          </a:p>
        </p:txBody>
      </p:sp>
      <p:sp>
        <p:nvSpPr>
          <p:cNvPr id="10" name="Right Brace 9">
            <a:extLst>
              <a:ext uri="{FF2B5EF4-FFF2-40B4-BE49-F238E27FC236}">
                <a16:creationId xmlns:a16="http://schemas.microsoft.com/office/drawing/2014/main" id="{D40B8F3E-D7A4-444F-B208-D9B8865A2B63}"/>
              </a:ext>
            </a:extLst>
          </p:cNvPr>
          <p:cNvSpPr/>
          <p:nvPr/>
        </p:nvSpPr>
        <p:spPr>
          <a:xfrm rot="5400000">
            <a:off x="5751769" y="2942330"/>
            <a:ext cx="1461006" cy="1061802"/>
          </a:xfrm>
          <a:prstGeom prst="rightBrace">
            <a:avLst>
              <a:gd name="adj1" fmla="val 8333"/>
              <a:gd name="adj2" fmla="val 5662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TextBox 10">
            <a:extLst>
              <a:ext uri="{FF2B5EF4-FFF2-40B4-BE49-F238E27FC236}">
                <a16:creationId xmlns:a16="http://schemas.microsoft.com/office/drawing/2014/main" id="{E4149410-9651-415A-B9BE-06F92F958782}"/>
              </a:ext>
            </a:extLst>
          </p:cNvPr>
          <p:cNvSpPr txBox="1"/>
          <p:nvPr/>
        </p:nvSpPr>
        <p:spPr>
          <a:xfrm>
            <a:off x="5514415" y="4333269"/>
            <a:ext cx="1680864" cy="461665"/>
          </a:xfrm>
          <a:prstGeom prst="rect">
            <a:avLst/>
          </a:prstGeom>
          <a:noFill/>
        </p:spPr>
        <p:txBody>
          <a:bodyPr wrap="square" rtlCol="0">
            <a:spAutoFit/>
          </a:bodyPr>
          <a:lstStyle/>
          <a:p>
            <a:r>
              <a:rPr lang="en-US" sz="2400" b="1" dirty="0"/>
              <a:t>SPI Mode 0</a:t>
            </a:r>
            <a:endParaRPr lang="en-IN" sz="2400" b="1" dirty="0"/>
          </a:p>
        </p:txBody>
      </p:sp>
      <p:sp>
        <p:nvSpPr>
          <p:cNvPr id="12" name="Right Brace 11">
            <a:extLst>
              <a:ext uri="{FF2B5EF4-FFF2-40B4-BE49-F238E27FC236}">
                <a16:creationId xmlns:a16="http://schemas.microsoft.com/office/drawing/2014/main" id="{2DD94FD8-4437-4937-8BE4-A12627C09F59}"/>
              </a:ext>
            </a:extLst>
          </p:cNvPr>
          <p:cNvSpPr/>
          <p:nvPr/>
        </p:nvSpPr>
        <p:spPr>
          <a:xfrm rot="5400000">
            <a:off x="3379299" y="701939"/>
            <a:ext cx="586858" cy="4557285"/>
          </a:xfrm>
          <a:prstGeom prst="rightBrace">
            <a:avLst>
              <a:gd name="adj1" fmla="val 8333"/>
              <a:gd name="adj2" fmla="val 5662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B3C1120C-F207-4E1E-8C2B-479094A59678}"/>
              </a:ext>
            </a:extLst>
          </p:cNvPr>
          <p:cNvSpPr txBox="1"/>
          <p:nvPr/>
        </p:nvSpPr>
        <p:spPr>
          <a:xfrm>
            <a:off x="2633502" y="3388140"/>
            <a:ext cx="2256066" cy="830997"/>
          </a:xfrm>
          <a:prstGeom prst="rect">
            <a:avLst/>
          </a:prstGeom>
          <a:noFill/>
        </p:spPr>
        <p:txBody>
          <a:bodyPr wrap="square" rtlCol="0">
            <a:spAutoFit/>
          </a:bodyPr>
          <a:lstStyle/>
          <a:p>
            <a:r>
              <a:rPr lang="en-US" sz="2400" b="1" dirty="0"/>
              <a:t>SCR =7 for 750KHz bitrate</a:t>
            </a:r>
            <a:endParaRPr lang="en-IN" sz="2400" b="1" dirty="0"/>
          </a:p>
        </p:txBody>
      </p:sp>
    </p:spTree>
    <p:extLst>
      <p:ext uri="{BB962C8B-B14F-4D97-AF65-F5344CB8AC3E}">
        <p14:creationId xmlns:p14="http://schemas.microsoft.com/office/powerpoint/2010/main" val="1118956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DDAEDF-6510-4EFA-9312-71670532266D}"/>
              </a:ext>
            </a:extLst>
          </p:cNvPr>
          <p:cNvSpPr txBox="1"/>
          <p:nvPr/>
        </p:nvSpPr>
        <p:spPr>
          <a:xfrm>
            <a:off x="528403" y="827170"/>
            <a:ext cx="3923676" cy="461665"/>
          </a:xfrm>
          <a:prstGeom prst="rect">
            <a:avLst/>
          </a:prstGeom>
          <a:noFill/>
        </p:spPr>
        <p:txBody>
          <a:bodyPr wrap="square">
            <a:spAutoFit/>
          </a:bodyPr>
          <a:lstStyle/>
          <a:p>
            <a:r>
              <a:rPr lang="en-IN" sz="2400" b="1" dirty="0"/>
              <a:t>Control Register 1 (SSPCR1)</a:t>
            </a:r>
          </a:p>
        </p:txBody>
      </p:sp>
      <p:pic>
        <p:nvPicPr>
          <p:cNvPr id="5" name="Picture 4">
            <a:extLst>
              <a:ext uri="{FF2B5EF4-FFF2-40B4-BE49-F238E27FC236}">
                <a16:creationId xmlns:a16="http://schemas.microsoft.com/office/drawing/2014/main" id="{667FEFE2-5CA2-4C75-9820-77FFC5CB4A47}"/>
              </a:ext>
            </a:extLst>
          </p:cNvPr>
          <p:cNvPicPr>
            <a:picLocks noChangeAspect="1"/>
          </p:cNvPicPr>
          <p:nvPr/>
        </p:nvPicPr>
        <p:blipFill rotWithShape="1">
          <a:blip r:embed="rId2"/>
          <a:srcRect l="1148"/>
          <a:stretch/>
        </p:blipFill>
        <p:spPr>
          <a:xfrm>
            <a:off x="1105503" y="1483892"/>
            <a:ext cx="9118782" cy="1271979"/>
          </a:xfrm>
          <a:prstGeom prst="rect">
            <a:avLst/>
          </a:prstGeom>
        </p:spPr>
      </p:pic>
      <p:grpSp>
        <p:nvGrpSpPr>
          <p:cNvPr id="55" name="Group 54">
            <a:extLst>
              <a:ext uri="{FF2B5EF4-FFF2-40B4-BE49-F238E27FC236}">
                <a16:creationId xmlns:a16="http://schemas.microsoft.com/office/drawing/2014/main" id="{B9F1A4DC-0267-4E44-9F88-66BE1F63D910}"/>
              </a:ext>
            </a:extLst>
          </p:cNvPr>
          <p:cNvGrpSpPr/>
          <p:nvPr/>
        </p:nvGrpSpPr>
        <p:grpSpPr>
          <a:xfrm>
            <a:off x="3816003" y="2755871"/>
            <a:ext cx="4559994" cy="4355976"/>
            <a:chOff x="7687962" y="2216225"/>
            <a:chExt cx="4559994" cy="4355976"/>
          </a:xfrm>
        </p:grpSpPr>
        <p:grpSp>
          <p:nvGrpSpPr>
            <p:cNvPr id="54" name="Group 53">
              <a:extLst>
                <a:ext uri="{FF2B5EF4-FFF2-40B4-BE49-F238E27FC236}">
                  <a16:creationId xmlns:a16="http://schemas.microsoft.com/office/drawing/2014/main" id="{64B8BD5E-2F1D-484D-83B6-C851F91AAC2D}"/>
                </a:ext>
              </a:extLst>
            </p:cNvPr>
            <p:cNvGrpSpPr/>
            <p:nvPr/>
          </p:nvGrpSpPr>
          <p:grpSpPr>
            <a:xfrm>
              <a:off x="10148341" y="2216225"/>
              <a:ext cx="2099615" cy="1110029"/>
              <a:chOff x="10148341" y="2216225"/>
              <a:chExt cx="2099615" cy="1110029"/>
            </a:xfrm>
          </p:grpSpPr>
          <p:cxnSp>
            <p:nvCxnSpPr>
              <p:cNvPr id="11" name="Straight Connector 10">
                <a:extLst>
                  <a:ext uri="{FF2B5EF4-FFF2-40B4-BE49-F238E27FC236}">
                    <a16:creationId xmlns:a16="http://schemas.microsoft.com/office/drawing/2014/main" id="{0582AC0B-4AE9-44A2-A2A0-E5CA3007C0CC}"/>
                  </a:ext>
                </a:extLst>
              </p:cNvPr>
              <p:cNvCxnSpPr>
                <a:cxnSpLocks/>
              </p:cNvCxnSpPr>
              <p:nvPr/>
            </p:nvCxnSpPr>
            <p:spPr>
              <a:xfrm>
                <a:off x="12247956" y="2216225"/>
                <a:ext cx="0" cy="8283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EB58009-E161-49FF-96FF-BC8678988A45}"/>
                  </a:ext>
                </a:extLst>
              </p:cNvPr>
              <p:cNvCxnSpPr>
                <a:cxnSpLocks/>
              </p:cNvCxnSpPr>
              <p:nvPr/>
            </p:nvCxnSpPr>
            <p:spPr>
              <a:xfrm>
                <a:off x="10148341" y="3071421"/>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0C59876-856F-4255-86B8-B24729574C77}"/>
                  </a:ext>
                </a:extLst>
              </p:cNvPr>
              <p:cNvCxnSpPr>
                <a:cxnSpLocks/>
              </p:cNvCxnSpPr>
              <p:nvPr/>
            </p:nvCxnSpPr>
            <p:spPr>
              <a:xfrm flipV="1">
                <a:off x="10148341" y="3026853"/>
                <a:ext cx="2099615" cy="177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EEA57AD4-D48B-4628-9462-09AA5209A286}"/>
                </a:ext>
              </a:extLst>
            </p:cNvPr>
            <p:cNvGrpSpPr/>
            <p:nvPr/>
          </p:nvGrpSpPr>
          <p:grpSpPr>
            <a:xfrm>
              <a:off x="7687962" y="3415390"/>
              <a:ext cx="4559994" cy="3156811"/>
              <a:chOff x="7687962" y="3415390"/>
              <a:chExt cx="4559994" cy="3156811"/>
            </a:xfrm>
          </p:grpSpPr>
          <p:grpSp>
            <p:nvGrpSpPr>
              <p:cNvPr id="32" name="Group 31">
                <a:extLst>
                  <a:ext uri="{FF2B5EF4-FFF2-40B4-BE49-F238E27FC236}">
                    <a16:creationId xmlns:a16="http://schemas.microsoft.com/office/drawing/2014/main" id="{582B4EE5-D740-4224-80F9-C4CBF92835B4}"/>
                  </a:ext>
                </a:extLst>
              </p:cNvPr>
              <p:cNvGrpSpPr/>
              <p:nvPr/>
            </p:nvGrpSpPr>
            <p:grpSpPr>
              <a:xfrm>
                <a:off x="7687962" y="3415390"/>
                <a:ext cx="3989364" cy="1200329"/>
                <a:chOff x="4119310" y="3223818"/>
                <a:chExt cx="3989364" cy="1200329"/>
              </a:xfrm>
            </p:grpSpPr>
            <p:cxnSp>
              <p:nvCxnSpPr>
                <p:cNvPr id="20" name="Straight Arrow Connector 19">
                  <a:extLst>
                    <a:ext uri="{FF2B5EF4-FFF2-40B4-BE49-F238E27FC236}">
                      <a16:creationId xmlns:a16="http://schemas.microsoft.com/office/drawing/2014/main" id="{99A010EB-41F5-494C-B802-BD9FDA53F4AF}"/>
                    </a:ext>
                  </a:extLst>
                </p:cNvPr>
                <p:cNvCxnSpPr>
                  <a:cxnSpLocks/>
                </p:cNvCxnSpPr>
                <p:nvPr/>
              </p:nvCxnSpPr>
              <p:spPr>
                <a:xfrm>
                  <a:off x="4467087" y="3823982"/>
                  <a:ext cx="41371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25" name="Group 24">
                  <a:extLst>
                    <a:ext uri="{FF2B5EF4-FFF2-40B4-BE49-F238E27FC236}">
                      <a16:creationId xmlns:a16="http://schemas.microsoft.com/office/drawing/2014/main" id="{69ACB20A-BF6F-4D03-8088-2CF5A35048C0}"/>
                    </a:ext>
                  </a:extLst>
                </p:cNvPr>
                <p:cNvGrpSpPr/>
                <p:nvPr/>
              </p:nvGrpSpPr>
              <p:grpSpPr>
                <a:xfrm>
                  <a:off x="4119310" y="3223818"/>
                  <a:ext cx="3989364" cy="1200329"/>
                  <a:chOff x="8904161" y="3326254"/>
                  <a:chExt cx="3989364" cy="1200329"/>
                </a:xfrm>
              </p:grpSpPr>
              <p:sp>
                <p:nvSpPr>
                  <p:cNvPr id="19" name="TextBox 18">
                    <a:extLst>
                      <a:ext uri="{FF2B5EF4-FFF2-40B4-BE49-F238E27FC236}">
                        <a16:creationId xmlns:a16="http://schemas.microsoft.com/office/drawing/2014/main" id="{89EF5C81-AAE7-4210-9956-B224914261F6}"/>
                      </a:ext>
                    </a:extLst>
                  </p:cNvPr>
                  <p:cNvSpPr txBox="1"/>
                  <p:nvPr/>
                </p:nvSpPr>
                <p:spPr>
                  <a:xfrm>
                    <a:off x="8904161" y="3692923"/>
                    <a:ext cx="2488360" cy="461665"/>
                  </a:xfrm>
                  <a:prstGeom prst="rect">
                    <a:avLst/>
                  </a:prstGeom>
                  <a:noFill/>
                </p:spPr>
                <p:txBody>
                  <a:bodyPr wrap="square" rtlCol="0">
                    <a:spAutoFit/>
                  </a:bodyPr>
                  <a:lstStyle/>
                  <a:p>
                    <a:r>
                      <a:rPr lang="en-US" sz="2400" dirty="0"/>
                      <a:t>0</a:t>
                    </a:r>
                    <a:endParaRPr lang="en-IN" sz="2400" dirty="0"/>
                  </a:p>
                </p:txBody>
              </p:sp>
              <p:sp>
                <p:nvSpPr>
                  <p:cNvPr id="24" name="TextBox 23">
                    <a:extLst>
                      <a:ext uri="{FF2B5EF4-FFF2-40B4-BE49-F238E27FC236}">
                        <a16:creationId xmlns:a16="http://schemas.microsoft.com/office/drawing/2014/main" id="{77548FD2-9B8F-4A7B-8522-3012FD461CE4}"/>
                      </a:ext>
                    </a:extLst>
                  </p:cNvPr>
                  <p:cNvSpPr txBox="1"/>
                  <p:nvPr/>
                </p:nvSpPr>
                <p:spPr>
                  <a:xfrm>
                    <a:off x="9746104" y="3326254"/>
                    <a:ext cx="3147421" cy="1200329"/>
                  </a:xfrm>
                  <a:prstGeom prst="rect">
                    <a:avLst/>
                  </a:prstGeom>
                  <a:noFill/>
                </p:spPr>
                <p:txBody>
                  <a:bodyPr wrap="square">
                    <a:spAutoFit/>
                  </a:bodyPr>
                  <a:lstStyle/>
                  <a:p>
                    <a:r>
                      <a:rPr lang="en-US" sz="2400" b="1" dirty="0"/>
                      <a:t>L</a:t>
                    </a:r>
                    <a:r>
                      <a:rPr lang="en-US" sz="2400" dirty="0"/>
                      <a:t>oop </a:t>
                    </a:r>
                    <a:r>
                      <a:rPr lang="en-US" sz="2400" b="1" dirty="0"/>
                      <a:t>B</a:t>
                    </a:r>
                    <a:r>
                      <a:rPr lang="en-US" sz="2400" dirty="0"/>
                      <a:t>ack </a:t>
                    </a:r>
                    <a:r>
                      <a:rPr lang="en-US" sz="2400" b="1" dirty="0"/>
                      <a:t>M</a:t>
                    </a:r>
                    <a:r>
                      <a:rPr lang="en-US" sz="2400" dirty="0"/>
                      <a:t>ode(LBM). </a:t>
                    </a:r>
                  </a:p>
                  <a:p>
                    <a:r>
                      <a:rPr lang="en-US" sz="2400" dirty="0"/>
                      <a:t>During normal operation</a:t>
                    </a:r>
                    <a:endParaRPr lang="en-IN" sz="2400" dirty="0"/>
                  </a:p>
                </p:txBody>
              </p:sp>
            </p:grpSp>
          </p:grpSp>
          <p:grpSp>
            <p:nvGrpSpPr>
              <p:cNvPr id="33" name="Group 32">
                <a:extLst>
                  <a:ext uri="{FF2B5EF4-FFF2-40B4-BE49-F238E27FC236}">
                    <a16:creationId xmlns:a16="http://schemas.microsoft.com/office/drawing/2014/main" id="{BFCCA37A-23ED-44B0-9ED6-0C4A583260A1}"/>
                  </a:ext>
                </a:extLst>
              </p:cNvPr>
              <p:cNvGrpSpPr/>
              <p:nvPr/>
            </p:nvGrpSpPr>
            <p:grpSpPr>
              <a:xfrm>
                <a:off x="7687962" y="4633209"/>
                <a:ext cx="4559994" cy="1938992"/>
                <a:chOff x="7868344" y="4453061"/>
                <a:chExt cx="4559994" cy="1938992"/>
              </a:xfrm>
            </p:grpSpPr>
            <p:grpSp>
              <p:nvGrpSpPr>
                <p:cNvPr id="26" name="Group 25">
                  <a:extLst>
                    <a:ext uri="{FF2B5EF4-FFF2-40B4-BE49-F238E27FC236}">
                      <a16:creationId xmlns:a16="http://schemas.microsoft.com/office/drawing/2014/main" id="{DC6734FF-91B9-48FD-A3D8-7F7D799F741D}"/>
                    </a:ext>
                  </a:extLst>
                </p:cNvPr>
                <p:cNvGrpSpPr/>
                <p:nvPr/>
              </p:nvGrpSpPr>
              <p:grpSpPr>
                <a:xfrm>
                  <a:off x="7868344" y="4453061"/>
                  <a:ext cx="4559994" cy="1938992"/>
                  <a:chOff x="8556893" y="3265847"/>
                  <a:chExt cx="3799997" cy="1938992"/>
                </a:xfrm>
              </p:grpSpPr>
              <p:sp>
                <p:nvSpPr>
                  <p:cNvPr id="27" name="TextBox 26">
                    <a:extLst>
                      <a:ext uri="{FF2B5EF4-FFF2-40B4-BE49-F238E27FC236}">
                        <a16:creationId xmlns:a16="http://schemas.microsoft.com/office/drawing/2014/main" id="{3FB854F0-BC8A-4D72-BBEA-9D9A16EC8BF8}"/>
                      </a:ext>
                    </a:extLst>
                  </p:cNvPr>
                  <p:cNvSpPr txBox="1"/>
                  <p:nvPr/>
                </p:nvSpPr>
                <p:spPr>
                  <a:xfrm>
                    <a:off x="8556893" y="3300827"/>
                    <a:ext cx="427211" cy="461665"/>
                  </a:xfrm>
                  <a:prstGeom prst="rect">
                    <a:avLst/>
                  </a:prstGeom>
                  <a:noFill/>
                </p:spPr>
                <p:txBody>
                  <a:bodyPr wrap="square" rtlCol="0">
                    <a:spAutoFit/>
                  </a:bodyPr>
                  <a:lstStyle/>
                  <a:p>
                    <a:r>
                      <a:rPr lang="en-US" sz="2400" dirty="0"/>
                      <a:t>1</a:t>
                    </a:r>
                    <a:endParaRPr lang="en-IN" sz="2400" dirty="0"/>
                  </a:p>
                </p:txBody>
              </p:sp>
              <p:sp>
                <p:nvSpPr>
                  <p:cNvPr id="28" name="TextBox 27">
                    <a:extLst>
                      <a:ext uri="{FF2B5EF4-FFF2-40B4-BE49-F238E27FC236}">
                        <a16:creationId xmlns:a16="http://schemas.microsoft.com/office/drawing/2014/main" id="{5F8F6662-501A-4F96-9103-D089F9F1FF32}"/>
                      </a:ext>
                    </a:extLst>
                  </p:cNvPr>
                  <p:cNvSpPr txBox="1"/>
                  <p:nvPr/>
                </p:nvSpPr>
                <p:spPr>
                  <a:xfrm>
                    <a:off x="8984104" y="3265847"/>
                    <a:ext cx="3372786" cy="1938992"/>
                  </a:xfrm>
                  <a:prstGeom prst="rect">
                    <a:avLst/>
                  </a:prstGeom>
                  <a:noFill/>
                </p:spPr>
                <p:txBody>
                  <a:bodyPr wrap="square">
                    <a:spAutoFit/>
                  </a:bodyPr>
                  <a:lstStyle/>
                  <a:p>
                    <a:r>
                      <a:rPr lang="en-US" sz="2400" dirty="0"/>
                      <a:t>Serial input is taken from the serial output (MOSI or MISO) rather than the serial input pin (MISO or MOSI respectively).</a:t>
                    </a:r>
                    <a:endParaRPr lang="en-IN" sz="2400" dirty="0"/>
                  </a:p>
                </p:txBody>
              </p:sp>
            </p:grpSp>
            <p:cxnSp>
              <p:nvCxnSpPr>
                <p:cNvPr id="30" name="Straight Arrow Connector 29">
                  <a:extLst>
                    <a:ext uri="{FF2B5EF4-FFF2-40B4-BE49-F238E27FC236}">
                      <a16:creationId xmlns:a16="http://schemas.microsoft.com/office/drawing/2014/main" id="{661385F1-25C6-4002-A33E-B5F0B4904839}"/>
                    </a:ext>
                  </a:extLst>
                </p:cNvPr>
                <p:cNvCxnSpPr>
                  <a:cxnSpLocks/>
                </p:cNvCxnSpPr>
                <p:nvPr/>
              </p:nvCxnSpPr>
              <p:spPr>
                <a:xfrm>
                  <a:off x="8138165" y="4757415"/>
                  <a:ext cx="2848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grpSp>
        <p:nvGrpSpPr>
          <p:cNvPr id="62" name="Group 61">
            <a:extLst>
              <a:ext uri="{FF2B5EF4-FFF2-40B4-BE49-F238E27FC236}">
                <a16:creationId xmlns:a16="http://schemas.microsoft.com/office/drawing/2014/main" id="{EC6485BA-6993-4754-A82B-B1E336A18EAB}"/>
              </a:ext>
            </a:extLst>
          </p:cNvPr>
          <p:cNvGrpSpPr/>
          <p:nvPr/>
        </p:nvGrpSpPr>
        <p:grpSpPr>
          <a:xfrm>
            <a:off x="3013022" y="2773361"/>
            <a:ext cx="7864841" cy="3820711"/>
            <a:chOff x="3102963" y="2755871"/>
            <a:chExt cx="7864841" cy="3820711"/>
          </a:xfrm>
        </p:grpSpPr>
        <p:grpSp>
          <p:nvGrpSpPr>
            <p:cNvPr id="63" name="Group 62">
              <a:extLst>
                <a:ext uri="{FF2B5EF4-FFF2-40B4-BE49-F238E27FC236}">
                  <a16:creationId xmlns:a16="http://schemas.microsoft.com/office/drawing/2014/main" id="{B38B9A60-B00C-43FA-8701-F880941CD5DC}"/>
                </a:ext>
              </a:extLst>
            </p:cNvPr>
            <p:cNvGrpSpPr/>
            <p:nvPr/>
          </p:nvGrpSpPr>
          <p:grpSpPr>
            <a:xfrm>
              <a:off x="3102963" y="2755871"/>
              <a:ext cx="5201587" cy="2251051"/>
              <a:chOff x="3102963" y="2755871"/>
              <a:chExt cx="5201587" cy="2251051"/>
            </a:xfrm>
          </p:grpSpPr>
          <p:cxnSp>
            <p:nvCxnSpPr>
              <p:cNvPr id="68" name="Straight Connector 67">
                <a:extLst>
                  <a:ext uri="{FF2B5EF4-FFF2-40B4-BE49-F238E27FC236}">
                    <a16:creationId xmlns:a16="http://schemas.microsoft.com/office/drawing/2014/main" id="{5F4BE5D7-447D-4D08-AD1D-BEF6A9162BC5}"/>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67E4851-AC9D-47F6-8C5E-6EC9032C4E50}"/>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6FBFA3E0-966E-4D22-9E56-F0061E5F0F10}"/>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12C0DD3B-2CA0-41AF-B490-E5CEB6D584BD}"/>
                  </a:ext>
                </a:extLst>
              </p:cNvPr>
              <p:cNvSpPr txBox="1"/>
              <p:nvPr/>
            </p:nvSpPr>
            <p:spPr>
              <a:xfrm>
                <a:off x="5326146" y="3797017"/>
                <a:ext cx="2162941" cy="461665"/>
              </a:xfrm>
              <a:prstGeom prst="rect">
                <a:avLst/>
              </a:prstGeom>
              <a:noFill/>
            </p:spPr>
            <p:txBody>
              <a:bodyPr wrap="square">
                <a:spAutoFit/>
              </a:bodyPr>
              <a:lstStyle/>
              <a:p>
                <a:r>
                  <a:rPr lang="en-IN" sz="2400" dirty="0"/>
                  <a:t>SSP Enable(SSE)</a:t>
                </a:r>
              </a:p>
            </p:txBody>
          </p:sp>
          <p:sp>
            <p:nvSpPr>
              <p:cNvPr id="72" name="TextBox 71">
                <a:extLst>
                  <a:ext uri="{FF2B5EF4-FFF2-40B4-BE49-F238E27FC236}">
                    <a16:creationId xmlns:a16="http://schemas.microsoft.com/office/drawing/2014/main" id="{A7E51598-69D7-4F9A-8364-01CB3A7836B0}"/>
                  </a:ext>
                </a:extLst>
              </p:cNvPr>
              <p:cNvSpPr txBox="1"/>
              <p:nvPr/>
            </p:nvSpPr>
            <p:spPr>
              <a:xfrm>
                <a:off x="3102963" y="4545257"/>
                <a:ext cx="5201587" cy="461665"/>
              </a:xfrm>
              <a:prstGeom prst="rect">
                <a:avLst/>
              </a:prstGeom>
              <a:noFill/>
            </p:spPr>
            <p:txBody>
              <a:bodyPr wrap="square">
                <a:spAutoFit/>
              </a:bodyPr>
              <a:lstStyle/>
              <a:p>
                <a:r>
                  <a:rPr lang="en-US" sz="2400" dirty="0"/>
                  <a:t>0         The SSP controller is disabled.</a:t>
                </a:r>
                <a:endParaRPr lang="en-IN" sz="2400" dirty="0"/>
              </a:p>
            </p:txBody>
          </p:sp>
        </p:grpSp>
        <p:sp>
          <p:nvSpPr>
            <p:cNvPr id="64" name="TextBox 63">
              <a:extLst>
                <a:ext uri="{FF2B5EF4-FFF2-40B4-BE49-F238E27FC236}">
                  <a16:creationId xmlns:a16="http://schemas.microsoft.com/office/drawing/2014/main" id="{69B5B62F-66D8-4FF1-B4DD-292344989FE0}"/>
                </a:ext>
              </a:extLst>
            </p:cNvPr>
            <p:cNvSpPr txBox="1"/>
            <p:nvPr/>
          </p:nvSpPr>
          <p:spPr>
            <a:xfrm>
              <a:off x="3907435" y="5006922"/>
              <a:ext cx="7060369" cy="1569660"/>
            </a:xfrm>
            <a:prstGeom prst="rect">
              <a:avLst/>
            </a:prstGeom>
            <a:noFill/>
          </p:spPr>
          <p:txBody>
            <a:bodyPr wrap="square">
              <a:spAutoFit/>
            </a:bodyPr>
            <a:lstStyle/>
            <a:p>
              <a:pPr algn="just"/>
              <a:r>
                <a:rPr lang="en-US" sz="2400" dirty="0"/>
                <a:t>The SSP controller will interact with other devices on the serial bus. Software should write the appropriate control information to the other SSP registers and interrupt controller registers, before setting this bit.</a:t>
              </a:r>
              <a:endParaRPr lang="en-IN" sz="2400" dirty="0"/>
            </a:p>
          </p:txBody>
        </p:sp>
        <p:sp>
          <p:nvSpPr>
            <p:cNvPr id="65" name="TextBox 64">
              <a:extLst>
                <a:ext uri="{FF2B5EF4-FFF2-40B4-BE49-F238E27FC236}">
                  <a16:creationId xmlns:a16="http://schemas.microsoft.com/office/drawing/2014/main" id="{67F203BD-3B02-418F-B524-BAD10BEB7E82}"/>
                </a:ext>
              </a:extLst>
            </p:cNvPr>
            <p:cNvSpPr txBox="1"/>
            <p:nvPr/>
          </p:nvSpPr>
          <p:spPr>
            <a:xfrm>
              <a:off x="3102963" y="5108831"/>
              <a:ext cx="6093500" cy="461665"/>
            </a:xfrm>
            <a:prstGeom prst="rect">
              <a:avLst/>
            </a:prstGeom>
            <a:noFill/>
          </p:spPr>
          <p:txBody>
            <a:bodyPr wrap="square">
              <a:spAutoFit/>
            </a:bodyPr>
            <a:lstStyle/>
            <a:p>
              <a:r>
                <a:rPr lang="en-US" sz="2400" dirty="0"/>
                <a:t>1</a:t>
              </a:r>
              <a:endParaRPr lang="en-IN" sz="2400" dirty="0"/>
            </a:p>
          </p:txBody>
        </p:sp>
        <p:cxnSp>
          <p:nvCxnSpPr>
            <p:cNvPr id="66" name="Straight Arrow Connector 65">
              <a:extLst>
                <a:ext uri="{FF2B5EF4-FFF2-40B4-BE49-F238E27FC236}">
                  <a16:creationId xmlns:a16="http://schemas.microsoft.com/office/drawing/2014/main" id="{2D2EBBB9-F588-4348-A6AB-C08ECDACC4E8}"/>
                </a:ext>
              </a:extLst>
            </p:cNvPr>
            <p:cNvCxnSpPr>
              <a:cxnSpLocks/>
            </p:cNvCxnSpPr>
            <p:nvPr/>
          </p:nvCxnSpPr>
          <p:spPr>
            <a:xfrm>
              <a:off x="3467724" y="4784640"/>
              <a:ext cx="35476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74974024-3A34-483B-9422-887606DF1D3C}"/>
                </a:ext>
              </a:extLst>
            </p:cNvPr>
            <p:cNvCxnSpPr>
              <a:cxnSpLocks/>
            </p:cNvCxnSpPr>
            <p:nvPr/>
          </p:nvCxnSpPr>
          <p:spPr>
            <a:xfrm>
              <a:off x="3470222" y="5326784"/>
              <a:ext cx="35476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grpSp>
        <p:nvGrpSpPr>
          <p:cNvPr id="73" name="Group 72">
            <a:extLst>
              <a:ext uri="{FF2B5EF4-FFF2-40B4-BE49-F238E27FC236}">
                <a16:creationId xmlns:a16="http://schemas.microsoft.com/office/drawing/2014/main" id="{18047294-454F-4DD3-8B71-05251D75DA38}"/>
              </a:ext>
            </a:extLst>
          </p:cNvPr>
          <p:cNvGrpSpPr/>
          <p:nvPr/>
        </p:nvGrpSpPr>
        <p:grpSpPr>
          <a:xfrm>
            <a:off x="2026670" y="2773360"/>
            <a:ext cx="8499423" cy="3304509"/>
            <a:chOff x="3102963" y="2755871"/>
            <a:chExt cx="8499423" cy="3304509"/>
          </a:xfrm>
        </p:grpSpPr>
        <p:grpSp>
          <p:nvGrpSpPr>
            <p:cNvPr id="74" name="Group 73">
              <a:extLst>
                <a:ext uri="{FF2B5EF4-FFF2-40B4-BE49-F238E27FC236}">
                  <a16:creationId xmlns:a16="http://schemas.microsoft.com/office/drawing/2014/main" id="{5788584C-CF18-4678-913E-88A56ABEDDAA}"/>
                </a:ext>
              </a:extLst>
            </p:cNvPr>
            <p:cNvGrpSpPr/>
            <p:nvPr/>
          </p:nvGrpSpPr>
          <p:grpSpPr>
            <a:xfrm>
              <a:off x="3102963" y="2755871"/>
              <a:ext cx="7779898" cy="3304509"/>
              <a:chOff x="3102963" y="2755871"/>
              <a:chExt cx="7779898" cy="3304509"/>
            </a:xfrm>
          </p:grpSpPr>
          <p:grpSp>
            <p:nvGrpSpPr>
              <p:cNvPr id="76" name="Group 75">
                <a:extLst>
                  <a:ext uri="{FF2B5EF4-FFF2-40B4-BE49-F238E27FC236}">
                    <a16:creationId xmlns:a16="http://schemas.microsoft.com/office/drawing/2014/main" id="{0B31EB90-301A-4C26-AB35-81FEFF7A2794}"/>
                  </a:ext>
                </a:extLst>
              </p:cNvPr>
              <p:cNvGrpSpPr/>
              <p:nvPr/>
            </p:nvGrpSpPr>
            <p:grpSpPr>
              <a:xfrm>
                <a:off x="3102963" y="2755871"/>
                <a:ext cx="6533214" cy="2251051"/>
                <a:chOff x="3102963" y="2755871"/>
                <a:chExt cx="6533214" cy="2251051"/>
              </a:xfrm>
            </p:grpSpPr>
            <p:cxnSp>
              <p:nvCxnSpPr>
                <p:cNvPr id="81" name="Straight Connector 80">
                  <a:extLst>
                    <a:ext uri="{FF2B5EF4-FFF2-40B4-BE49-F238E27FC236}">
                      <a16:creationId xmlns:a16="http://schemas.microsoft.com/office/drawing/2014/main" id="{8CDB9FBD-E936-4907-9AF6-D79C5CC30600}"/>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218FFD1-C381-4AE4-A3CB-2DEC65136CDE}"/>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F5E32DC-05CF-4953-8E48-89C7B713227D}"/>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C54CA16A-7699-4068-98B5-B30608F41726}"/>
                    </a:ext>
                  </a:extLst>
                </p:cNvPr>
                <p:cNvSpPr txBox="1"/>
                <p:nvPr/>
              </p:nvSpPr>
              <p:spPr>
                <a:xfrm>
                  <a:off x="3994522" y="3783367"/>
                  <a:ext cx="5641655" cy="830997"/>
                </a:xfrm>
                <a:prstGeom prst="rect">
                  <a:avLst/>
                </a:prstGeom>
                <a:noFill/>
              </p:spPr>
              <p:txBody>
                <a:bodyPr wrap="square">
                  <a:spAutoFit/>
                </a:bodyPr>
                <a:lstStyle/>
                <a:p>
                  <a:r>
                    <a:rPr lang="en-US" sz="2400" dirty="0"/>
                    <a:t>Master/Slave Mode. This bit can only be written when the SSE bit is 0.</a:t>
                  </a:r>
                  <a:r>
                    <a:rPr lang="en-IN" sz="2400" dirty="0"/>
                    <a:t>(SSE)</a:t>
                  </a:r>
                </a:p>
              </p:txBody>
            </p:sp>
            <p:sp>
              <p:nvSpPr>
                <p:cNvPr id="85" name="TextBox 84">
                  <a:extLst>
                    <a:ext uri="{FF2B5EF4-FFF2-40B4-BE49-F238E27FC236}">
                      <a16:creationId xmlns:a16="http://schemas.microsoft.com/office/drawing/2014/main" id="{FE72F979-7000-4454-A523-56422FCB820C}"/>
                    </a:ext>
                  </a:extLst>
                </p:cNvPr>
                <p:cNvSpPr txBox="1"/>
                <p:nvPr/>
              </p:nvSpPr>
              <p:spPr>
                <a:xfrm>
                  <a:off x="3102963" y="4545257"/>
                  <a:ext cx="719529" cy="461665"/>
                </a:xfrm>
                <a:prstGeom prst="rect">
                  <a:avLst/>
                </a:prstGeom>
                <a:noFill/>
              </p:spPr>
              <p:txBody>
                <a:bodyPr wrap="square">
                  <a:spAutoFit/>
                </a:bodyPr>
                <a:lstStyle/>
                <a:p>
                  <a:r>
                    <a:rPr lang="en-US" sz="2400" dirty="0"/>
                    <a:t>0</a:t>
                  </a:r>
                  <a:endParaRPr lang="en-IN" sz="2400" dirty="0"/>
                </a:p>
              </p:txBody>
            </p:sp>
          </p:grpSp>
          <p:sp>
            <p:nvSpPr>
              <p:cNvPr id="77" name="TextBox 76">
                <a:extLst>
                  <a:ext uri="{FF2B5EF4-FFF2-40B4-BE49-F238E27FC236}">
                    <a16:creationId xmlns:a16="http://schemas.microsoft.com/office/drawing/2014/main" id="{5BB81C5E-A7A9-41CE-98A3-E93D404B42E5}"/>
                  </a:ext>
                </a:extLst>
              </p:cNvPr>
              <p:cNvSpPr txBox="1"/>
              <p:nvPr/>
            </p:nvSpPr>
            <p:spPr>
              <a:xfrm>
                <a:off x="3822492" y="5229383"/>
                <a:ext cx="7060369" cy="830997"/>
              </a:xfrm>
              <a:prstGeom prst="rect">
                <a:avLst/>
              </a:prstGeom>
              <a:noFill/>
            </p:spPr>
            <p:txBody>
              <a:bodyPr wrap="square">
                <a:spAutoFit/>
              </a:bodyPr>
              <a:lstStyle/>
              <a:p>
                <a:pPr algn="just"/>
                <a:r>
                  <a:rPr lang="en-US" sz="2400" dirty="0"/>
                  <a:t>The SSP controller acts as a slave on the bus, driving MISO line and receiving SCLK, MOSI, and SSEL line</a:t>
                </a:r>
                <a:endParaRPr lang="en-IN" sz="2400" dirty="0"/>
              </a:p>
            </p:txBody>
          </p:sp>
          <p:sp>
            <p:nvSpPr>
              <p:cNvPr id="78" name="TextBox 77">
                <a:extLst>
                  <a:ext uri="{FF2B5EF4-FFF2-40B4-BE49-F238E27FC236}">
                    <a16:creationId xmlns:a16="http://schemas.microsoft.com/office/drawing/2014/main" id="{0F81BF0F-106D-443F-8F0E-B9821C836E84}"/>
                  </a:ext>
                </a:extLst>
              </p:cNvPr>
              <p:cNvSpPr txBox="1"/>
              <p:nvPr/>
            </p:nvSpPr>
            <p:spPr>
              <a:xfrm>
                <a:off x="3102963" y="5262178"/>
                <a:ext cx="891559" cy="461665"/>
              </a:xfrm>
              <a:prstGeom prst="rect">
                <a:avLst/>
              </a:prstGeom>
              <a:noFill/>
            </p:spPr>
            <p:txBody>
              <a:bodyPr wrap="square">
                <a:spAutoFit/>
              </a:bodyPr>
              <a:lstStyle/>
              <a:p>
                <a:r>
                  <a:rPr lang="en-US" sz="2400" dirty="0"/>
                  <a:t>1</a:t>
                </a:r>
                <a:endParaRPr lang="en-IN" sz="2400" dirty="0"/>
              </a:p>
            </p:txBody>
          </p:sp>
          <p:cxnSp>
            <p:nvCxnSpPr>
              <p:cNvPr id="79" name="Straight Arrow Connector 78">
                <a:extLst>
                  <a:ext uri="{FF2B5EF4-FFF2-40B4-BE49-F238E27FC236}">
                    <a16:creationId xmlns:a16="http://schemas.microsoft.com/office/drawing/2014/main" id="{E6ACE578-F52E-48EB-8CA4-50F2C597EE2B}"/>
                  </a:ext>
                </a:extLst>
              </p:cNvPr>
              <p:cNvCxnSpPr>
                <a:cxnSpLocks/>
              </p:cNvCxnSpPr>
              <p:nvPr/>
            </p:nvCxnSpPr>
            <p:spPr>
              <a:xfrm>
                <a:off x="3467724" y="4784640"/>
                <a:ext cx="35476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063746FC-CB57-4B1D-9C13-2ADA5A250D64}"/>
                  </a:ext>
                </a:extLst>
              </p:cNvPr>
              <p:cNvCxnSpPr>
                <a:cxnSpLocks/>
              </p:cNvCxnSpPr>
              <p:nvPr/>
            </p:nvCxnSpPr>
            <p:spPr>
              <a:xfrm>
                <a:off x="3467724" y="5513276"/>
                <a:ext cx="35476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75" name="TextBox 74">
              <a:extLst>
                <a:ext uri="{FF2B5EF4-FFF2-40B4-BE49-F238E27FC236}">
                  <a16:creationId xmlns:a16="http://schemas.microsoft.com/office/drawing/2014/main" id="{CA1AB27F-75D5-4666-8537-6C16B47F5674}"/>
                </a:ext>
              </a:extLst>
            </p:cNvPr>
            <p:cNvSpPr txBox="1"/>
            <p:nvPr/>
          </p:nvSpPr>
          <p:spPr>
            <a:xfrm>
              <a:off x="3822491" y="4528473"/>
              <a:ext cx="7779895" cy="830997"/>
            </a:xfrm>
            <a:prstGeom prst="rect">
              <a:avLst/>
            </a:prstGeom>
            <a:noFill/>
          </p:spPr>
          <p:txBody>
            <a:bodyPr wrap="square">
              <a:spAutoFit/>
            </a:bodyPr>
            <a:lstStyle/>
            <a:p>
              <a:r>
                <a:rPr lang="en-US" sz="1800" dirty="0"/>
                <a:t> </a:t>
              </a:r>
              <a:r>
                <a:rPr lang="en-US" sz="2400" dirty="0"/>
                <a:t>The SSP controller acts as a master on the bus, driving the      SCLK, MOSI, and SSEL lines and receiving the MISO line.</a:t>
              </a:r>
              <a:endParaRPr lang="en-IN" sz="2400" dirty="0"/>
            </a:p>
          </p:txBody>
        </p:sp>
      </p:grpSp>
      <p:grpSp>
        <p:nvGrpSpPr>
          <p:cNvPr id="86" name="Group 85">
            <a:extLst>
              <a:ext uri="{FF2B5EF4-FFF2-40B4-BE49-F238E27FC236}">
                <a16:creationId xmlns:a16="http://schemas.microsoft.com/office/drawing/2014/main" id="{880D94D0-7971-48DF-A133-C75FF45C6AB9}"/>
              </a:ext>
            </a:extLst>
          </p:cNvPr>
          <p:cNvGrpSpPr/>
          <p:nvPr/>
        </p:nvGrpSpPr>
        <p:grpSpPr>
          <a:xfrm>
            <a:off x="1264658" y="2755871"/>
            <a:ext cx="9118811" cy="2466644"/>
            <a:chOff x="3664586" y="2755871"/>
            <a:chExt cx="8004748" cy="2466644"/>
          </a:xfrm>
        </p:grpSpPr>
        <p:grpSp>
          <p:nvGrpSpPr>
            <p:cNvPr id="87" name="Group 86">
              <a:extLst>
                <a:ext uri="{FF2B5EF4-FFF2-40B4-BE49-F238E27FC236}">
                  <a16:creationId xmlns:a16="http://schemas.microsoft.com/office/drawing/2014/main" id="{2366606B-B55B-428D-9547-DD188C4EA0A7}"/>
                </a:ext>
              </a:extLst>
            </p:cNvPr>
            <p:cNvGrpSpPr/>
            <p:nvPr/>
          </p:nvGrpSpPr>
          <p:grpSpPr>
            <a:xfrm>
              <a:off x="5088805" y="2755871"/>
              <a:ext cx="3080834" cy="1492026"/>
              <a:chOff x="5088805" y="2755871"/>
              <a:chExt cx="3080834" cy="1492026"/>
            </a:xfrm>
          </p:grpSpPr>
          <p:cxnSp>
            <p:nvCxnSpPr>
              <p:cNvPr id="89" name="Straight Connector 88">
                <a:extLst>
                  <a:ext uri="{FF2B5EF4-FFF2-40B4-BE49-F238E27FC236}">
                    <a16:creationId xmlns:a16="http://schemas.microsoft.com/office/drawing/2014/main" id="{8D11BAD7-D2A5-4FA2-84BA-0DC95C2164EF}"/>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9D1A5A7-154E-4253-AD3D-AC8CF0B69FC5}"/>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E44CA28E-0731-4D1E-B298-DE227749C950}"/>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2" name="TextBox 91">
                <a:extLst>
                  <a:ext uri="{FF2B5EF4-FFF2-40B4-BE49-F238E27FC236}">
                    <a16:creationId xmlns:a16="http://schemas.microsoft.com/office/drawing/2014/main" id="{BDFC4040-03D2-4001-A965-0D09CC4444C3}"/>
                  </a:ext>
                </a:extLst>
              </p:cNvPr>
              <p:cNvSpPr txBox="1"/>
              <p:nvPr/>
            </p:nvSpPr>
            <p:spPr>
              <a:xfrm>
                <a:off x="5088805" y="3786232"/>
                <a:ext cx="3080834" cy="461665"/>
              </a:xfrm>
              <a:prstGeom prst="rect">
                <a:avLst/>
              </a:prstGeom>
              <a:noFill/>
            </p:spPr>
            <p:txBody>
              <a:bodyPr wrap="square">
                <a:spAutoFit/>
              </a:bodyPr>
              <a:lstStyle/>
              <a:p>
                <a:r>
                  <a:rPr lang="en-IN" sz="2400" dirty="0"/>
                  <a:t>Slave Output Disable.</a:t>
                </a:r>
              </a:p>
            </p:txBody>
          </p:sp>
        </p:grpSp>
        <p:sp>
          <p:nvSpPr>
            <p:cNvPr id="88" name="TextBox 87">
              <a:extLst>
                <a:ext uri="{FF2B5EF4-FFF2-40B4-BE49-F238E27FC236}">
                  <a16:creationId xmlns:a16="http://schemas.microsoft.com/office/drawing/2014/main" id="{C73463DA-6349-4700-9EDC-970B9FA115B2}"/>
                </a:ext>
              </a:extLst>
            </p:cNvPr>
            <p:cNvSpPr txBox="1"/>
            <p:nvPr/>
          </p:nvSpPr>
          <p:spPr>
            <a:xfrm>
              <a:off x="3664586" y="4391518"/>
              <a:ext cx="8004748" cy="830997"/>
            </a:xfrm>
            <a:prstGeom prst="rect">
              <a:avLst/>
            </a:prstGeom>
            <a:noFill/>
          </p:spPr>
          <p:txBody>
            <a:bodyPr wrap="square">
              <a:spAutoFit/>
            </a:bodyPr>
            <a:lstStyle/>
            <a:p>
              <a:r>
                <a:rPr lang="en-US" sz="2400" dirty="0"/>
                <a:t>This bit is relevant only in slave mode (MS = 1). If it is 1, this blocks this SSP controller from driving the transmit data line (MISO).</a:t>
              </a:r>
              <a:endParaRPr lang="en-IN" sz="2400" dirty="0"/>
            </a:p>
          </p:txBody>
        </p:sp>
      </p:grpSp>
      <p:grpSp>
        <p:nvGrpSpPr>
          <p:cNvPr id="95" name="Group 94">
            <a:extLst>
              <a:ext uri="{FF2B5EF4-FFF2-40B4-BE49-F238E27FC236}">
                <a16:creationId xmlns:a16="http://schemas.microsoft.com/office/drawing/2014/main" id="{928AD8AF-931D-4481-858A-209C9D1DCE5E}"/>
              </a:ext>
            </a:extLst>
          </p:cNvPr>
          <p:cNvGrpSpPr/>
          <p:nvPr/>
        </p:nvGrpSpPr>
        <p:grpSpPr>
          <a:xfrm>
            <a:off x="996263" y="2640250"/>
            <a:ext cx="4100384" cy="1257193"/>
            <a:chOff x="996263" y="2640250"/>
            <a:chExt cx="4100384" cy="1257193"/>
          </a:xfrm>
        </p:grpSpPr>
        <p:sp>
          <p:nvSpPr>
            <p:cNvPr id="93" name="Right Brace 92">
              <a:extLst>
                <a:ext uri="{FF2B5EF4-FFF2-40B4-BE49-F238E27FC236}">
                  <a16:creationId xmlns:a16="http://schemas.microsoft.com/office/drawing/2014/main" id="{C5E378EA-0451-4432-8801-F30AA1C5D242}"/>
                </a:ext>
              </a:extLst>
            </p:cNvPr>
            <p:cNvSpPr/>
            <p:nvPr/>
          </p:nvSpPr>
          <p:spPr>
            <a:xfrm rot="5400000">
              <a:off x="2685577" y="1060176"/>
              <a:ext cx="830996" cy="3991144"/>
            </a:xfrm>
            <a:prstGeom prst="rightBrace">
              <a:avLst>
                <a:gd name="adj1" fmla="val 8333"/>
                <a:gd name="adj2" fmla="val 849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4" name="TextBox 93">
              <a:extLst>
                <a:ext uri="{FF2B5EF4-FFF2-40B4-BE49-F238E27FC236}">
                  <a16:creationId xmlns:a16="http://schemas.microsoft.com/office/drawing/2014/main" id="{85844250-6D85-4C1B-8CAB-1296F52540F0}"/>
                </a:ext>
              </a:extLst>
            </p:cNvPr>
            <p:cNvSpPr txBox="1"/>
            <p:nvPr/>
          </p:nvSpPr>
          <p:spPr>
            <a:xfrm>
              <a:off x="996263" y="3435778"/>
              <a:ext cx="1438627" cy="461665"/>
            </a:xfrm>
            <a:prstGeom prst="rect">
              <a:avLst/>
            </a:prstGeom>
            <a:noFill/>
          </p:spPr>
          <p:txBody>
            <a:bodyPr wrap="square" rtlCol="0">
              <a:spAutoFit/>
            </a:bodyPr>
            <a:lstStyle/>
            <a:p>
              <a:r>
                <a:rPr lang="en-US" sz="2400" dirty="0"/>
                <a:t>Reserved</a:t>
              </a:r>
              <a:endParaRPr lang="en-IN" sz="2400" dirty="0"/>
            </a:p>
          </p:txBody>
        </p:sp>
      </p:grpSp>
    </p:spTree>
    <p:extLst>
      <p:ext uri="{BB962C8B-B14F-4D97-AF65-F5344CB8AC3E}">
        <p14:creationId xmlns:p14="http://schemas.microsoft.com/office/powerpoint/2010/main" val="374129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6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8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C24610-9D41-46AC-9A89-4AD6C6A7A369}"/>
              </a:ext>
            </a:extLst>
          </p:cNvPr>
          <p:cNvSpPr txBox="1"/>
          <p:nvPr/>
        </p:nvSpPr>
        <p:spPr>
          <a:xfrm>
            <a:off x="494675" y="569626"/>
            <a:ext cx="6700604" cy="461665"/>
          </a:xfrm>
          <a:prstGeom prst="rect">
            <a:avLst/>
          </a:prstGeom>
          <a:noFill/>
        </p:spPr>
        <p:txBody>
          <a:bodyPr wrap="square" rtlCol="0">
            <a:spAutoFit/>
          </a:bodyPr>
          <a:lstStyle/>
          <a:p>
            <a:r>
              <a:rPr lang="en-US" sz="2400" b="1" dirty="0"/>
              <a:t>In program </a:t>
            </a:r>
            <a:r>
              <a:rPr lang="en-IN" sz="2400" b="1" dirty="0"/>
              <a:t>SSPCR1  is loaded with = 0X02</a:t>
            </a:r>
          </a:p>
        </p:txBody>
      </p:sp>
      <p:pic>
        <p:nvPicPr>
          <p:cNvPr id="3" name="Picture 2">
            <a:extLst>
              <a:ext uri="{FF2B5EF4-FFF2-40B4-BE49-F238E27FC236}">
                <a16:creationId xmlns:a16="http://schemas.microsoft.com/office/drawing/2014/main" id="{00209D6C-27FC-420C-A441-9692659F75F6}"/>
              </a:ext>
            </a:extLst>
          </p:cNvPr>
          <p:cNvPicPr>
            <a:picLocks noChangeAspect="1"/>
          </p:cNvPicPr>
          <p:nvPr/>
        </p:nvPicPr>
        <p:blipFill rotWithShape="1">
          <a:blip r:embed="rId2"/>
          <a:srcRect l="1148"/>
          <a:stretch/>
        </p:blipFill>
        <p:spPr>
          <a:xfrm>
            <a:off x="1105503" y="1483892"/>
            <a:ext cx="9118782" cy="1271979"/>
          </a:xfrm>
          <a:prstGeom prst="rect">
            <a:avLst/>
          </a:prstGeom>
        </p:spPr>
      </p:pic>
      <p:sp>
        <p:nvSpPr>
          <p:cNvPr id="4" name="TextBox 3">
            <a:extLst>
              <a:ext uri="{FF2B5EF4-FFF2-40B4-BE49-F238E27FC236}">
                <a16:creationId xmlns:a16="http://schemas.microsoft.com/office/drawing/2014/main" id="{28EC17E4-C3F8-4D2D-93EE-A780E7AC0805}"/>
              </a:ext>
            </a:extLst>
          </p:cNvPr>
          <p:cNvSpPr txBox="1"/>
          <p:nvPr/>
        </p:nvSpPr>
        <p:spPr>
          <a:xfrm>
            <a:off x="1105503" y="2119881"/>
            <a:ext cx="7751298" cy="461665"/>
          </a:xfrm>
          <a:prstGeom prst="rect">
            <a:avLst/>
          </a:prstGeom>
          <a:noFill/>
        </p:spPr>
        <p:txBody>
          <a:bodyPr wrap="square" rtlCol="0">
            <a:spAutoFit/>
          </a:bodyPr>
          <a:lstStyle/>
          <a:p>
            <a:r>
              <a:rPr lang="en-US" sz="2400" b="1" dirty="0"/>
              <a:t>   0             0              0           0            0             0          1            0</a:t>
            </a:r>
            <a:r>
              <a:rPr lang="en-US" sz="2400" dirty="0"/>
              <a:t>   </a:t>
            </a:r>
            <a:r>
              <a:rPr lang="en-US" dirty="0"/>
              <a:t>     </a:t>
            </a:r>
            <a:endParaRPr lang="en-IN" dirty="0"/>
          </a:p>
        </p:txBody>
      </p:sp>
      <p:cxnSp>
        <p:nvCxnSpPr>
          <p:cNvPr id="10" name="Connector: Elbow 9">
            <a:extLst>
              <a:ext uri="{FF2B5EF4-FFF2-40B4-BE49-F238E27FC236}">
                <a16:creationId xmlns:a16="http://schemas.microsoft.com/office/drawing/2014/main" id="{5A26302A-DDA4-432C-900F-C4A46B9D70EF}"/>
              </a:ext>
            </a:extLst>
          </p:cNvPr>
          <p:cNvCxnSpPr/>
          <p:nvPr/>
        </p:nvCxnSpPr>
        <p:spPr>
          <a:xfrm>
            <a:off x="8314006" y="2700997"/>
            <a:ext cx="914400" cy="914400"/>
          </a:xfrm>
          <a:prstGeom prst="bentConnector3">
            <a:avLst>
              <a:gd name="adj1" fmla="val 76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C4BBB7-BB73-4DFD-912F-4FCF4BE6B8CA}"/>
              </a:ext>
            </a:extLst>
          </p:cNvPr>
          <p:cNvSpPr txBox="1"/>
          <p:nvPr/>
        </p:nvSpPr>
        <p:spPr>
          <a:xfrm>
            <a:off x="9228406" y="3271133"/>
            <a:ext cx="2625969" cy="830997"/>
          </a:xfrm>
          <a:prstGeom prst="rect">
            <a:avLst/>
          </a:prstGeom>
          <a:noFill/>
        </p:spPr>
        <p:txBody>
          <a:bodyPr wrap="square" rtlCol="0">
            <a:spAutoFit/>
          </a:bodyPr>
          <a:lstStyle/>
          <a:p>
            <a:r>
              <a:rPr lang="en-US" sz="2400" b="1" dirty="0"/>
              <a:t>Normal operation of SPI</a:t>
            </a:r>
            <a:endParaRPr lang="en-IN" sz="2400" b="1" dirty="0"/>
          </a:p>
        </p:txBody>
      </p:sp>
      <p:cxnSp>
        <p:nvCxnSpPr>
          <p:cNvPr id="13" name="Connector: Elbow 12">
            <a:extLst>
              <a:ext uri="{FF2B5EF4-FFF2-40B4-BE49-F238E27FC236}">
                <a16:creationId xmlns:a16="http://schemas.microsoft.com/office/drawing/2014/main" id="{86AC56E8-99A7-40CF-B7E4-6DB41BB329D0}"/>
              </a:ext>
            </a:extLst>
          </p:cNvPr>
          <p:cNvCxnSpPr>
            <a:cxnSpLocks/>
          </p:cNvCxnSpPr>
          <p:nvPr/>
        </p:nvCxnSpPr>
        <p:spPr>
          <a:xfrm rot="16200000" flipH="1">
            <a:off x="6829291" y="3312368"/>
            <a:ext cx="1759610" cy="618979"/>
          </a:xfrm>
          <a:prstGeom prst="bentConnector3">
            <a:avLst>
              <a:gd name="adj1" fmla="val 10036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C9DBB15-AD7E-4419-8888-39198754A995}"/>
              </a:ext>
            </a:extLst>
          </p:cNvPr>
          <p:cNvSpPr txBox="1"/>
          <p:nvPr/>
        </p:nvSpPr>
        <p:spPr>
          <a:xfrm>
            <a:off x="8018586" y="4270830"/>
            <a:ext cx="2625969" cy="461665"/>
          </a:xfrm>
          <a:prstGeom prst="rect">
            <a:avLst/>
          </a:prstGeom>
          <a:noFill/>
        </p:spPr>
        <p:txBody>
          <a:bodyPr wrap="square" rtlCol="0">
            <a:spAutoFit/>
          </a:bodyPr>
          <a:lstStyle/>
          <a:p>
            <a:r>
              <a:rPr lang="en-US" sz="2400" b="1" dirty="0"/>
              <a:t>SSP Enabled</a:t>
            </a:r>
            <a:endParaRPr lang="en-IN" sz="2400" b="1" dirty="0"/>
          </a:p>
        </p:txBody>
      </p:sp>
      <p:cxnSp>
        <p:nvCxnSpPr>
          <p:cNvPr id="20" name="Connector: Elbow 19">
            <a:extLst>
              <a:ext uri="{FF2B5EF4-FFF2-40B4-BE49-F238E27FC236}">
                <a16:creationId xmlns:a16="http://schemas.microsoft.com/office/drawing/2014/main" id="{57E4864D-929E-4F75-813C-50A2364157D7}"/>
              </a:ext>
            </a:extLst>
          </p:cNvPr>
          <p:cNvCxnSpPr>
            <a:cxnSpLocks/>
          </p:cNvCxnSpPr>
          <p:nvPr/>
        </p:nvCxnSpPr>
        <p:spPr>
          <a:xfrm rot="16200000" flipH="1">
            <a:off x="5408293" y="3913631"/>
            <a:ext cx="2740563" cy="488266"/>
          </a:xfrm>
          <a:prstGeom prst="bentConnector3">
            <a:avLst>
              <a:gd name="adj1" fmla="val 9979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56EB9EE-72AA-4C10-AD85-AF2BC7E94D80}"/>
              </a:ext>
            </a:extLst>
          </p:cNvPr>
          <p:cNvSpPr txBox="1"/>
          <p:nvPr/>
        </p:nvSpPr>
        <p:spPr>
          <a:xfrm>
            <a:off x="7059638" y="5112547"/>
            <a:ext cx="2625969" cy="830997"/>
          </a:xfrm>
          <a:prstGeom prst="rect">
            <a:avLst/>
          </a:prstGeom>
          <a:noFill/>
        </p:spPr>
        <p:txBody>
          <a:bodyPr wrap="square" rtlCol="0">
            <a:spAutoFit/>
          </a:bodyPr>
          <a:lstStyle/>
          <a:p>
            <a:r>
              <a:rPr lang="en-US" sz="2400" b="1" dirty="0"/>
              <a:t>SSP  controller acts as Master on Bus</a:t>
            </a:r>
            <a:endParaRPr lang="en-IN" sz="2400" b="1" dirty="0"/>
          </a:p>
        </p:txBody>
      </p:sp>
      <p:cxnSp>
        <p:nvCxnSpPr>
          <p:cNvPr id="24" name="Connector: Elbow 23">
            <a:extLst>
              <a:ext uri="{FF2B5EF4-FFF2-40B4-BE49-F238E27FC236}">
                <a16:creationId xmlns:a16="http://schemas.microsoft.com/office/drawing/2014/main" id="{BF454F9B-8E85-4114-BF5B-EB92C23337E7}"/>
              </a:ext>
            </a:extLst>
          </p:cNvPr>
          <p:cNvCxnSpPr>
            <a:cxnSpLocks/>
          </p:cNvCxnSpPr>
          <p:nvPr/>
        </p:nvCxnSpPr>
        <p:spPr>
          <a:xfrm rot="16200000" flipH="1">
            <a:off x="3816605" y="4438809"/>
            <a:ext cx="3697725" cy="338797"/>
          </a:xfrm>
          <a:prstGeom prst="bentConnector3">
            <a:avLst>
              <a:gd name="adj1" fmla="val 9983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DBF8F68-CD0E-43AF-BF70-3797196772F8}"/>
              </a:ext>
            </a:extLst>
          </p:cNvPr>
          <p:cNvSpPr txBox="1"/>
          <p:nvPr/>
        </p:nvSpPr>
        <p:spPr>
          <a:xfrm>
            <a:off x="5834866" y="6198161"/>
            <a:ext cx="3149164" cy="461665"/>
          </a:xfrm>
          <a:prstGeom prst="rect">
            <a:avLst/>
          </a:prstGeom>
          <a:noFill/>
        </p:spPr>
        <p:txBody>
          <a:bodyPr wrap="square" rtlCol="0">
            <a:spAutoFit/>
          </a:bodyPr>
          <a:lstStyle/>
          <a:p>
            <a:r>
              <a:rPr lang="en-US" sz="2400" b="1" dirty="0"/>
              <a:t>Relevant only if(MS=1)</a:t>
            </a:r>
            <a:endParaRPr lang="en-IN" sz="2400" b="1" dirty="0"/>
          </a:p>
        </p:txBody>
      </p:sp>
    </p:spTree>
    <p:extLst>
      <p:ext uri="{BB962C8B-B14F-4D97-AF65-F5344CB8AC3E}">
        <p14:creationId xmlns:p14="http://schemas.microsoft.com/office/powerpoint/2010/main" val="1908645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2EDD43-4AB7-4D51-ACD8-3B05AFDA8E34}"/>
              </a:ext>
            </a:extLst>
          </p:cNvPr>
          <p:cNvSpPr txBox="1"/>
          <p:nvPr/>
        </p:nvSpPr>
        <p:spPr>
          <a:xfrm>
            <a:off x="393491" y="812179"/>
            <a:ext cx="3653853" cy="461665"/>
          </a:xfrm>
          <a:prstGeom prst="rect">
            <a:avLst/>
          </a:prstGeom>
          <a:noFill/>
        </p:spPr>
        <p:txBody>
          <a:bodyPr wrap="square">
            <a:spAutoFit/>
          </a:bodyPr>
          <a:lstStyle/>
          <a:p>
            <a:r>
              <a:rPr lang="en-IN" sz="2400" dirty="0"/>
              <a:t>SSP Status Register (SSPSR)</a:t>
            </a:r>
          </a:p>
        </p:txBody>
      </p:sp>
      <p:pic>
        <p:nvPicPr>
          <p:cNvPr id="5" name="Picture 4">
            <a:extLst>
              <a:ext uri="{FF2B5EF4-FFF2-40B4-BE49-F238E27FC236}">
                <a16:creationId xmlns:a16="http://schemas.microsoft.com/office/drawing/2014/main" id="{A4BEAF7F-1B3D-4BCF-A5E7-5890C4E58AED}"/>
              </a:ext>
            </a:extLst>
          </p:cNvPr>
          <p:cNvPicPr>
            <a:picLocks noChangeAspect="1"/>
          </p:cNvPicPr>
          <p:nvPr/>
        </p:nvPicPr>
        <p:blipFill rotWithShape="1">
          <a:blip r:embed="rId2"/>
          <a:srcRect l="926"/>
          <a:stretch/>
        </p:blipFill>
        <p:spPr>
          <a:xfrm>
            <a:off x="2338465" y="1531183"/>
            <a:ext cx="7749931" cy="1541802"/>
          </a:xfrm>
          <a:prstGeom prst="rect">
            <a:avLst/>
          </a:prstGeom>
        </p:spPr>
      </p:pic>
      <p:grpSp>
        <p:nvGrpSpPr>
          <p:cNvPr id="6" name="Group 5">
            <a:extLst>
              <a:ext uri="{FF2B5EF4-FFF2-40B4-BE49-F238E27FC236}">
                <a16:creationId xmlns:a16="http://schemas.microsoft.com/office/drawing/2014/main" id="{6F622943-3372-431B-9E4E-06AC68B34F6D}"/>
              </a:ext>
            </a:extLst>
          </p:cNvPr>
          <p:cNvGrpSpPr/>
          <p:nvPr/>
        </p:nvGrpSpPr>
        <p:grpSpPr>
          <a:xfrm>
            <a:off x="4047344" y="3072985"/>
            <a:ext cx="6480541" cy="2097312"/>
            <a:chOff x="3664587" y="2755871"/>
            <a:chExt cx="5688801" cy="2097312"/>
          </a:xfrm>
        </p:grpSpPr>
        <p:grpSp>
          <p:nvGrpSpPr>
            <p:cNvPr id="7" name="Group 6">
              <a:extLst>
                <a:ext uri="{FF2B5EF4-FFF2-40B4-BE49-F238E27FC236}">
                  <a16:creationId xmlns:a16="http://schemas.microsoft.com/office/drawing/2014/main" id="{1B650CB8-E9FF-46AA-9EAD-5DF0E1078467}"/>
                </a:ext>
              </a:extLst>
            </p:cNvPr>
            <p:cNvGrpSpPr/>
            <p:nvPr/>
          </p:nvGrpSpPr>
          <p:grpSpPr>
            <a:xfrm>
              <a:off x="5088805" y="2755871"/>
              <a:ext cx="3080834" cy="1492026"/>
              <a:chOff x="5088805" y="2755871"/>
              <a:chExt cx="3080834" cy="1492026"/>
            </a:xfrm>
          </p:grpSpPr>
          <p:cxnSp>
            <p:nvCxnSpPr>
              <p:cNvPr id="9" name="Straight Connector 8">
                <a:extLst>
                  <a:ext uri="{FF2B5EF4-FFF2-40B4-BE49-F238E27FC236}">
                    <a16:creationId xmlns:a16="http://schemas.microsoft.com/office/drawing/2014/main" id="{FE8FC528-3579-497A-ACC8-85BDEA82C86E}"/>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4909612-B27B-4E9E-9034-0EF023266590}"/>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A35895-FD85-4118-95E0-A60279565AF5}"/>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D1E348AC-758C-4007-912A-107419972B79}"/>
                  </a:ext>
                </a:extLst>
              </p:cNvPr>
              <p:cNvSpPr txBox="1"/>
              <p:nvPr/>
            </p:nvSpPr>
            <p:spPr>
              <a:xfrm>
                <a:off x="5088805" y="3786232"/>
                <a:ext cx="3080834" cy="461665"/>
              </a:xfrm>
              <a:prstGeom prst="rect">
                <a:avLst/>
              </a:prstGeom>
              <a:noFill/>
            </p:spPr>
            <p:txBody>
              <a:bodyPr wrap="square">
                <a:spAutoFit/>
              </a:bodyPr>
              <a:lstStyle/>
              <a:p>
                <a:r>
                  <a:rPr lang="en-IN" sz="2400" dirty="0"/>
                  <a:t>Transmit FIFO Empty. (TFE)</a:t>
                </a:r>
              </a:p>
            </p:txBody>
          </p:sp>
        </p:grpSp>
        <p:sp>
          <p:nvSpPr>
            <p:cNvPr id="8" name="TextBox 7">
              <a:extLst>
                <a:ext uri="{FF2B5EF4-FFF2-40B4-BE49-F238E27FC236}">
                  <a16:creationId xmlns:a16="http://schemas.microsoft.com/office/drawing/2014/main" id="{D6321F9D-0448-48E1-A7D0-BB34D32F7182}"/>
                </a:ext>
              </a:extLst>
            </p:cNvPr>
            <p:cNvSpPr txBox="1"/>
            <p:nvPr/>
          </p:nvSpPr>
          <p:spPr>
            <a:xfrm>
              <a:off x="3664587" y="4391518"/>
              <a:ext cx="5688801" cy="461665"/>
            </a:xfrm>
            <a:prstGeom prst="rect">
              <a:avLst/>
            </a:prstGeom>
            <a:noFill/>
          </p:spPr>
          <p:txBody>
            <a:bodyPr wrap="square">
              <a:spAutoFit/>
            </a:bodyPr>
            <a:lstStyle/>
            <a:p>
              <a:r>
                <a:rPr lang="en-US" sz="2400" dirty="0"/>
                <a:t>This bit is 1 if the Transmit FIFO is empty, 0 if not.</a:t>
              </a:r>
              <a:endParaRPr lang="en-IN" sz="2400" dirty="0"/>
            </a:p>
          </p:txBody>
        </p:sp>
      </p:grpSp>
      <p:grpSp>
        <p:nvGrpSpPr>
          <p:cNvPr id="13" name="Group 12">
            <a:extLst>
              <a:ext uri="{FF2B5EF4-FFF2-40B4-BE49-F238E27FC236}">
                <a16:creationId xmlns:a16="http://schemas.microsoft.com/office/drawing/2014/main" id="{659A3DCE-A40F-42B8-8FEC-56360B4ED7FE}"/>
              </a:ext>
            </a:extLst>
          </p:cNvPr>
          <p:cNvGrpSpPr/>
          <p:nvPr/>
        </p:nvGrpSpPr>
        <p:grpSpPr>
          <a:xfrm>
            <a:off x="3372994" y="3072985"/>
            <a:ext cx="6480541" cy="2097312"/>
            <a:chOff x="3664587" y="2755871"/>
            <a:chExt cx="5688801" cy="2097312"/>
          </a:xfrm>
        </p:grpSpPr>
        <p:grpSp>
          <p:nvGrpSpPr>
            <p:cNvPr id="14" name="Group 13">
              <a:extLst>
                <a:ext uri="{FF2B5EF4-FFF2-40B4-BE49-F238E27FC236}">
                  <a16:creationId xmlns:a16="http://schemas.microsoft.com/office/drawing/2014/main" id="{30BE5487-AE1C-4B68-B5EC-C4F374605F6A}"/>
                </a:ext>
              </a:extLst>
            </p:cNvPr>
            <p:cNvGrpSpPr/>
            <p:nvPr/>
          </p:nvGrpSpPr>
          <p:grpSpPr>
            <a:xfrm>
              <a:off x="5088804" y="2755871"/>
              <a:ext cx="3488214" cy="1492026"/>
              <a:chOff x="5088804" y="2755871"/>
              <a:chExt cx="3488214" cy="1492026"/>
            </a:xfrm>
          </p:grpSpPr>
          <p:cxnSp>
            <p:nvCxnSpPr>
              <p:cNvPr id="16" name="Straight Connector 15">
                <a:extLst>
                  <a:ext uri="{FF2B5EF4-FFF2-40B4-BE49-F238E27FC236}">
                    <a16:creationId xmlns:a16="http://schemas.microsoft.com/office/drawing/2014/main" id="{5750F75E-DC93-413E-89FA-268DC55A5C70}"/>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BBA985-B173-4CB7-A4D0-3A55A07D1937}"/>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95BA7BE-07A1-4983-8485-0681B8E16453}"/>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8F9A87BD-7317-4E39-BECC-D79B983FDA23}"/>
                  </a:ext>
                </a:extLst>
              </p:cNvPr>
              <p:cNvSpPr txBox="1"/>
              <p:nvPr/>
            </p:nvSpPr>
            <p:spPr>
              <a:xfrm>
                <a:off x="5088804" y="3786232"/>
                <a:ext cx="3488214" cy="461665"/>
              </a:xfrm>
              <a:prstGeom prst="rect">
                <a:avLst/>
              </a:prstGeom>
              <a:noFill/>
            </p:spPr>
            <p:txBody>
              <a:bodyPr wrap="square">
                <a:spAutoFit/>
              </a:bodyPr>
              <a:lstStyle/>
              <a:p>
                <a:r>
                  <a:rPr lang="en-IN" sz="2400" dirty="0"/>
                  <a:t>Transmit FIFO Not Full(TNF)</a:t>
                </a:r>
              </a:p>
            </p:txBody>
          </p:sp>
        </p:grpSp>
        <p:sp>
          <p:nvSpPr>
            <p:cNvPr id="15" name="TextBox 14">
              <a:extLst>
                <a:ext uri="{FF2B5EF4-FFF2-40B4-BE49-F238E27FC236}">
                  <a16:creationId xmlns:a16="http://schemas.microsoft.com/office/drawing/2014/main" id="{E4B7007D-065E-4425-8FDF-30A1218D25C4}"/>
                </a:ext>
              </a:extLst>
            </p:cNvPr>
            <p:cNvSpPr txBox="1"/>
            <p:nvPr/>
          </p:nvSpPr>
          <p:spPr>
            <a:xfrm>
              <a:off x="3664587" y="4391518"/>
              <a:ext cx="5688801" cy="461665"/>
            </a:xfrm>
            <a:prstGeom prst="rect">
              <a:avLst/>
            </a:prstGeom>
            <a:noFill/>
          </p:spPr>
          <p:txBody>
            <a:bodyPr wrap="square">
              <a:spAutoFit/>
            </a:bodyPr>
            <a:lstStyle/>
            <a:p>
              <a:pPr algn="ctr"/>
              <a:r>
                <a:rPr lang="en-US" sz="2400" dirty="0"/>
                <a:t> This bit is 0 if the Tx FIFO is full, 1 if not</a:t>
              </a:r>
              <a:endParaRPr lang="en-IN" sz="2400" dirty="0"/>
            </a:p>
          </p:txBody>
        </p:sp>
      </p:grpSp>
      <p:grpSp>
        <p:nvGrpSpPr>
          <p:cNvPr id="20" name="Group 19">
            <a:extLst>
              <a:ext uri="{FF2B5EF4-FFF2-40B4-BE49-F238E27FC236}">
                <a16:creationId xmlns:a16="http://schemas.microsoft.com/office/drawing/2014/main" id="{A8EE2D30-BA28-4F1A-896D-0D03CB47EE1E}"/>
              </a:ext>
            </a:extLst>
          </p:cNvPr>
          <p:cNvGrpSpPr/>
          <p:nvPr/>
        </p:nvGrpSpPr>
        <p:grpSpPr>
          <a:xfrm>
            <a:off x="2698644" y="3072985"/>
            <a:ext cx="6480541" cy="2097312"/>
            <a:chOff x="3664587" y="2755871"/>
            <a:chExt cx="5688801" cy="2097312"/>
          </a:xfrm>
        </p:grpSpPr>
        <p:grpSp>
          <p:nvGrpSpPr>
            <p:cNvPr id="21" name="Group 20">
              <a:extLst>
                <a:ext uri="{FF2B5EF4-FFF2-40B4-BE49-F238E27FC236}">
                  <a16:creationId xmlns:a16="http://schemas.microsoft.com/office/drawing/2014/main" id="{F37A5E27-046A-4DED-8D36-8441EB7C3F13}"/>
                </a:ext>
              </a:extLst>
            </p:cNvPr>
            <p:cNvGrpSpPr/>
            <p:nvPr/>
          </p:nvGrpSpPr>
          <p:grpSpPr>
            <a:xfrm>
              <a:off x="5088804" y="2755871"/>
              <a:ext cx="3488214" cy="1492026"/>
              <a:chOff x="5088804" y="2755871"/>
              <a:chExt cx="3488214" cy="1492026"/>
            </a:xfrm>
          </p:grpSpPr>
          <p:cxnSp>
            <p:nvCxnSpPr>
              <p:cNvPr id="23" name="Straight Connector 22">
                <a:extLst>
                  <a:ext uri="{FF2B5EF4-FFF2-40B4-BE49-F238E27FC236}">
                    <a16:creationId xmlns:a16="http://schemas.microsoft.com/office/drawing/2014/main" id="{883ADA63-A5C6-408E-B321-806A17A3CF48}"/>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D45DD49-099C-4222-AA89-1979BD1FBC78}"/>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CD5A23-B101-41E0-92F7-B681C8ABC8A0}"/>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DEB313EC-28B2-46B8-9676-2C39A1168EA9}"/>
                  </a:ext>
                </a:extLst>
              </p:cNvPr>
              <p:cNvSpPr txBox="1"/>
              <p:nvPr/>
            </p:nvSpPr>
            <p:spPr>
              <a:xfrm>
                <a:off x="5088804" y="3786232"/>
                <a:ext cx="3488214" cy="461665"/>
              </a:xfrm>
              <a:prstGeom prst="rect">
                <a:avLst/>
              </a:prstGeom>
              <a:noFill/>
            </p:spPr>
            <p:txBody>
              <a:bodyPr wrap="square">
                <a:spAutoFit/>
              </a:bodyPr>
              <a:lstStyle/>
              <a:p>
                <a:r>
                  <a:rPr lang="en-IN" sz="2400" dirty="0"/>
                  <a:t>Receive FIFO Not Empty.(RNE)</a:t>
                </a:r>
              </a:p>
            </p:txBody>
          </p:sp>
        </p:grpSp>
        <p:sp>
          <p:nvSpPr>
            <p:cNvPr id="22" name="TextBox 21">
              <a:extLst>
                <a:ext uri="{FF2B5EF4-FFF2-40B4-BE49-F238E27FC236}">
                  <a16:creationId xmlns:a16="http://schemas.microsoft.com/office/drawing/2014/main" id="{C491AC94-B1DE-463F-874A-DF96E9D037D2}"/>
                </a:ext>
              </a:extLst>
            </p:cNvPr>
            <p:cNvSpPr txBox="1"/>
            <p:nvPr/>
          </p:nvSpPr>
          <p:spPr>
            <a:xfrm>
              <a:off x="3664587" y="4391518"/>
              <a:ext cx="5688801" cy="461665"/>
            </a:xfrm>
            <a:prstGeom prst="rect">
              <a:avLst/>
            </a:prstGeom>
            <a:noFill/>
          </p:spPr>
          <p:txBody>
            <a:bodyPr wrap="square">
              <a:spAutoFit/>
            </a:bodyPr>
            <a:lstStyle/>
            <a:p>
              <a:pPr algn="ctr"/>
              <a:r>
                <a:rPr lang="en-US" sz="2400" dirty="0"/>
                <a:t>This bit is 0 if the Receive FIFO is empty, 1 if not</a:t>
              </a:r>
              <a:endParaRPr lang="en-IN" sz="2400" dirty="0"/>
            </a:p>
          </p:txBody>
        </p:sp>
      </p:grpSp>
      <p:grpSp>
        <p:nvGrpSpPr>
          <p:cNvPr id="27" name="Group 26">
            <a:extLst>
              <a:ext uri="{FF2B5EF4-FFF2-40B4-BE49-F238E27FC236}">
                <a16:creationId xmlns:a16="http://schemas.microsoft.com/office/drawing/2014/main" id="{73FCAE91-5D14-4B29-B7F9-0C66839CC03E}"/>
              </a:ext>
            </a:extLst>
          </p:cNvPr>
          <p:cNvGrpSpPr/>
          <p:nvPr/>
        </p:nvGrpSpPr>
        <p:grpSpPr>
          <a:xfrm>
            <a:off x="1861331" y="3054690"/>
            <a:ext cx="6480541" cy="2097312"/>
            <a:chOff x="3664587" y="2755871"/>
            <a:chExt cx="5688801" cy="2097312"/>
          </a:xfrm>
        </p:grpSpPr>
        <p:grpSp>
          <p:nvGrpSpPr>
            <p:cNvPr id="28" name="Group 27">
              <a:extLst>
                <a:ext uri="{FF2B5EF4-FFF2-40B4-BE49-F238E27FC236}">
                  <a16:creationId xmlns:a16="http://schemas.microsoft.com/office/drawing/2014/main" id="{142AAE9C-AC37-4AF3-AA05-775E09787EF7}"/>
                </a:ext>
              </a:extLst>
            </p:cNvPr>
            <p:cNvGrpSpPr/>
            <p:nvPr/>
          </p:nvGrpSpPr>
          <p:grpSpPr>
            <a:xfrm>
              <a:off x="5088804" y="2755871"/>
              <a:ext cx="3488214" cy="1492026"/>
              <a:chOff x="5088804" y="2755871"/>
              <a:chExt cx="3488214" cy="1492026"/>
            </a:xfrm>
          </p:grpSpPr>
          <p:cxnSp>
            <p:nvCxnSpPr>
              <p:cNvPr id="30" name="Straight Connector 29">
                <a:extLst>
                  <a:ext uri="{FF2B5EF4-FFF2-40B4-BE49-F238E27FC236}">
                    <a16:creationId xmlns:a16="http://schemas.microsoft.com/office/drawing/2014/main" id="{2ABBC8CD-7F2F-465A-93D6-E1295E4DA873}"/>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5CF6D96-C73E-4072-B033-C038FE5FA0A7}"/>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DD8C6A6-800C-43FD-9FCF-39D85D1DEA8D}"/>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F0DEAFB5-EF34-4BF3-A979-FF13B00A53CF}"/>
                  </a:ext>
                </a:extLst>
              </p:cNvPr>
              <p:cNvSpPr txBox="1"/>
              <p:nvPr/>
            </p:nvSpPr>
            <p:spPr>
              <a:xfrm>
                <a:off x="5088804" y="3786232"/>
                <a:ext cx="3488214" cy="461665"/>
              </a:xfrm>
              <a:prstGeom prst="rect">
                <a:avLst/>
              </a:prstGeom>
              <a:noFill/>
            </p:spPr>
            <p:txBody>
              <a:bodyPr wrap="square">
                <a:spAutoFit/>
              </a:bodyPr>
              <a:lstStyle/>
              <a:p>
                <a:r>
                  <a:rPr lang="en-IN" sz="2400" dirty="0"/>
                  <a:t>Receive FIFO Full.(RFF)</a:t>
                </a:r>
              </a:p>
            </p:txBody>
          </p:sp>
        </p:grpSp>
        <p:sp>
          <p:nvSpPr>
            <p:cNvPr id="29" name="TextBox 28">
              <a:extLst>
                <a:ext uri="{FF2B5EF4-FFF2-40B4-BE49-F238E27FC236}">
                  <a16:creationId xmlns:a16="http://schemas.microsoft.com/office/drawing/2014/main" id="{3F9EB7E3-C2D4-40EF-BBC8-D95F54242A10}"/>
                </a:ext>
              </a:extLst>
            </p:cNvPr>
            <p:cNvSpPr txBox="1"/>
            <p:nvPr/>
          </p:nvSpPr>
          <p:spPr>
            <a:xfrm>
              <a:off x="3664587" y="4391518"/>
              <a:ext cx="5688801" cy="461665"/>
            </a:xfrm>
            <a:prstGeom prst="rect">
              <a:avLst/>
            </a:prstGeom>
            <a:noFill/>
          </p:spPr>
          <p:txBody>
            <a:bodyPr wrap="square">
              <a:spAutoFit/>
            </a:bodyPr>
            <a:lstStyle/>
            <a:p>
              <a:pPr algn="ctr"/>
              <a:r>
                <a:rPr lang="en-US" sz="2400" dirty="0"/>
                <a:t>This bit is 1 if the Receive FIFO is full, 0 if not</a:t>
              </a:r>
              <a:endParaRPr lang="en-IN" sz="2400" dirty="0"/>
            </a:p>
          </p:txBody>
        </p:sp>
      </p:grpSp>
      <p:grpSp>
        <p:nvGrpSpPr>
          <p:cNvPr id="34" name="Group 33">
            <a:extLst>
              <a:ext uri="{FF2B5EF4-FFF2-40B4-BE49-F238E27FC236}">
                <a16:creationId xmlns:a16="http://schemas.microsoft.com/office/drawing/2014/main" id="{460C92F6-D1DE-410B-B164-AF7DE6164268}"/>
              </a:ext>
            </a:extLst>
          </p:cNvPr>
          <p:cNvGrpSpPr/>
          <p:nvPr/>
        </p:nvGrpSpPr>
        <p:grpSpPr>
          <a:xfrm>
            <a:off x="944042" y="3072985"/>
            <a:ext cx="6480541" cy="2835976"/>
            <a:chOff x="3664587" y="2755871"/>
            <a:chExt cx="5688801" cy="2835976"/>
          </a:xfrm>
        </p:grpSpPr>
        <p:grpSp>
          <p:nvGrpSpPr>
            <p:cNvPr id="35" name="Group 34">
              <a:extLst>
                <a:ext uri="{FF2B5EF4-FFF2-40B4-BE49-F238E27FC236}">
                  <a16:creationId xmlns:a16="http://schemas.microsoft.com/office/drawing/2014/main" id="{F1CF3CFE-0F89-42E9-A134-5B127FB58F60}"/>
                </a:ext>
              </a:extLst>
            </p:cNvPr>
            <p:cNvGrpSpPr/>
            <p:nvPr/>
          </p:nvGrpSpPr>
          <p:grpSpPr>
            <a:xfrm>
              <a:off x="4840202" y="2755871"/>
              <a:ext cx="3488214" cy="1492025"/>
              <a:chOff x="4840202" y="2755871"/>
              <a:chExt cx="3488214" cy="1492025"/>
            </a:xfrm>
          </p:grpSpPr>
          <p:cxnSp>
            <p:nvCxnSpPr>
              <p:cNvPr id="37" name="Straight Connector 36">
                <a:extLst>
                  <a:ext uri="{FF2B5EF4-FFF2-40B4-BE49-F238E27FC236}">
                    <a16:creationId xmlns:a16="http://schemas.microsoft.com/office/drawing/2014/main" id="{B386421D-748B-4D4D-AB4B-820953219FDD}"/>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702C57-13D0-4C0B-BE03-64E0158305B2}"/>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13CC559-F487-4924-AA69-995F19537795}"/>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1E543691-9A6E-4B9F-AD97-0DEAB8CF48B5}"/>
                  </a:ext>
                </a:extLst>
              </p:cNvPr>
              <p:cNvSpPr txBox="1"/>
              <p:nvPr/>
            </p:nvSpPr>
            <p:spPr>
              <a:xfrm>
                <a:off x="4840202" y="3786231"/>
                <a:ext cx="3488214" cy="461665"/>
              </a:xfrm>
              <a:prstGeom prst="rect">
                <a:avLst/>
              </a:prstGeom>
              <a:noFill/>
            </p:spPr>
            <p:txBody>
              <a:bodyPr wrap="square">
                <a:spAutoFit/>
              </a:bodyPr>
              <a:lstStyle/>
              <a:p>
                <a:pPr algn="ctr"/>
                <a:r>
                  <a:rPr lang="en-IN" sz="2400" dirty="0"/>
                  <a:t>Busy(BSY)</a:t>
                </a:r>
              </a:p>
            </p:txBody>
          </p:sp>
        </p:grpSp>
        <p:sp>
          <p:nvSpPr>
            <p:cNvPr id="36" name="TextBox 35">
              <a:extLst>
                <a:ext uri="{FF2B5EF4-FFF2-40B4-BE49-F238E27FC236}">
                  <a16:creationId xmlns:a16="http://schemas.microsoft.com/office/drawing/2014/main" id="{D63190E9-5007-4A36-A6BD-C10DE56177E6}"/>
                </a:ext>
              </a:extLst>
            </p:cNvPr>
            <p:cNvSpPr txBox="1"/>
            <p:nvPr/>
          </p:nvSpPr>
          <p:spPr>
            <a:xfrm>
              <a:off x="3664587" y="4391518"/>
              <a:ext cx="5688801" cy="1200329"/>
            </a:xfrm>
            <a:prstGeom prst="rect">
              <a:avLst/>
            </a:prstGeom>
            <a:noFill/>
          </p:spPr>
          <p:txBody>
            <a:bodyPr wrap="square">
              <a:spAutoFit/>
            </a:bodyPr>
            <a:lstStyle/>
            <a:p>
              <a:pPr algn="ctr"/>
              <a:r>
                <a:rPr lang="en-US" sz="2400" dirty="0"/>
                <a:t>This bit is 0 if the SSP controller is idle, or 1 if it is currently sending/receiving a frame and/or the Tx FIFO is not empty</a:t>
              </a:r>
              <a:endParaRPr lang="en-IN" sz="2400" dirty="0"/>
            </a:p>
          </p:txBody>
        </p:sp>
      </p:grpSp>
      <p:grpSp>
        <p:nvGrpSpPr>
          <p:cNvPr id="43" name="Group 42">
            <a:extLst>
              <a:ext uri="{FF2B5EF4-FFF2-40B4-BE49-F238E27FC236}">
                <a16:creationId xmlns:a16="http://schemas.microsoft.com/office/drawing/2014/main" id="{51F3B655-D6E3-4605-A8DF-DC9F9CD73DD4}"/>
              </a:ext>
            </a:extLst>
          </p:cNvPr>
          <p:cNvGrpSpPr/>
          <p:nvPr/>
        </p:nvGrpSpPr>
        <p:grpSpPr>
          <a:xfrm>
            <a:off x="2143593" y="3138882"/>
            <a:ext cx="2851826" cy="802547"/>
            <a:chOff x="2143593" y="3138882"/>
            <a:chExt cx="2851826" cy="802547"/>
          </a:xfrm>
        </p:grpSpPr>
        <p:sp>
          <p:nvSpPr>
            <p:cNvPr id="41" name="Right Brace 40">
              <a:extLst>
                <a:ext uri="{FF2B5EF4-FFF2-40B4-BE49-F238E27FC236}">
                  <a16:creationId xmlns:a16="http://schemas.microsoft.com/office/drawing/2014/main" id="{7A1ABC2D-F9D8-4409-8843-5721C0834144}"/>
                </a:ext>
              </a:extLst>
            </p:cNvPr>
            <p:cNvSpPr/>
            <p:nvPr/>
          </p:nvSpPr>
          <p:spPr>
            <a:xfrm rot="5400000">
              <a:off x="3528196" y="1926488"/>
              <a:ext cx="254830" cy="2679617"/>
            </a:xfrm>
            <a:prstGeom prst="rightBrace">
              <a:avLst>
                <a:gd name="adj1" fmla="val 8333"/>
                <a:gd name="adj2" fmla="val 86362"/>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2" name="TextBox 41">
              <a:extLst>
                <a:ext uri="{FF2B5EF4-FFF2-40B4-BE49-F238E27FC236}">
                  <a16:creationId xmlns:a16="http://schemas.microsoft.com/office/drawing/2014/main" id="{9D8078B2-0DDC-4E9B-8D0B-23D641F931AB}"/>
                </a:ext>
              </a:extLst>
            </p:cNvPr>
            <p:cNvSpPr txBox="1"/>
            <p:nvPr/>
          </p:nvSpPr>
          <p:spPr>
            <a:xfrm>
              <a:off x="2143593" y="3479764"/>
              <a:ext cx="1343991" cy="461665"/>
            </a:xfrm>
            <a:prstGeom prst="rect">
              <a:avLst/>
            </a:prstGeom>
            <a:noFill/>
          </p:spPr>
          <p:txBody>
            <a:bodyPr wrap="square" rtlCol="0">
              <a:spAutoFit/>
            </a:bodyPr>
            <a:lstStyle/>
            <a:p>
              <a:r>
                <a:rPr lang="en-US" sz="2400" dirty="0"/>
                <a:t>Reserved</a:t>
              </a:r>
              <a:endParaRPr lang="en-IN" sz="2400" dirty="0"/>
            </a:p>
          </p:txBody>
        </p:sp>
      </p:grpSp>
    </p:spTree>
    <p:extLst>
      <p:ext uri="{BB962C8B-B14F-4D97-AF65-F5344CB8AC3E}">
        <p14:creationId xmlns:p14="http://schemas.microsoft.com/office/powerpoint/2010/main" val="87161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3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5D5A09E-1A1A-406D-A946-510A30C413EF}"/>
              </a:ext>
            </a:extLst>
          </p:cNvPr>
          <p:cNvGrpSpPr/>
          <p:nvPr/>
        </p:nvGrpSpPr>
        <p:grpSpPr>
          <a:xfrm>
            <a:off x="2096083" y="547997"/>
            <a:ext cx="8386204" cy="1541802"/>
            <a:chOff x="2096083" y="846188"/>
            <a:chExt cx="8386204" cy="1541802"/>
          </a:xfrm>
        </p:grpSpPr>
        <p:pic>
          <p:nvPicPr>
            <p:cNvPr id="2" name="Picture 1">
              <a:extLst>
                <a:ext uri="{FF2B5EF4-FFF2-40B4-BE49-F238E27FC236}">
                  <a16:creationId xmlns:a16="http://schemas.microsoft.com/office/drawing/2014/main" id="{2F42F1A2-A16A-49EA-BFA4-CB6130B47BEE}"/>
                </a:ext>
              </a:extLst>
            </p:cNvPr>
            <p:cNvPicPr>
              <a:picLocks noChangeAspect="1"/>
            </p:cNvPicPr>
            <p:nvPr/>
          </p:nvPicPr>
          <p:blipFill rotWithShape="1">
            <a:blip r:embed="rId2"/>
            <a:srcRect l="926"/>
            <a:stretch/>
          </p:blipFill>
          <p:spPr>
            <a:xfrm>
              <a:off x="2732356" y="846188"/>
              <a:ext cx="7749931" cy="1541802"/>
            </a:xfrm>
            <a:prstGeom prst="rect">
              <a:avLst/>
            </a:prstGeom>
          </p:spPr>
        </p:pic>
        <p:sp>
          <p:nvSpPr>
            <p:cNvPr id="4" name="TextBox 3">
              <a:extLst>
                <a:ext uri="{FF2B5EF4-FFF2-40B4-BE49-F238E27FC236}">
                  <a16:creationId xmlns:a16="http://schemas.microsoft.com/office/drawing/2014/main" id="{FFF3495F-C67D-4207-9560-5EAF02FF6013}"/>
                </a:ext>
              </a:extLst>
            </p:cNvPr>
            <p:cNvSpPr txBox="1"/>
            <p:nvPr/>
          </p:nvSpPr>
          <p:spPr>
            <a:xfrm>
              <a:off x="2096083" y="1785902"/>
              <a:ext cx="7751298" cy="512384"/>
            </a:xfrm>
            <a:prstGeom prst="rect">
              <a:avLst/>
            </a:prstGeom>
            <a:noFill/>
          </p:spPr>
          <p:txBody>
            <a:bodyPr wrap="square" rtlCol="0">
              <a:spAutoFit/>
            </a:bodyPr>
            <a:lstStyle/>
            <a:p>
              <a:r>
                <a:rPr lang="en-US" sz="2400" b="1" dirty="0"/>
                <a:t>            0            0          0          0          0         0          0         1</a:t>
              </a:r>
              <a:r>
                <a:rPr lang="en-US" sz="2400" dirty="0"/>
                <a:t>   </a:t>
              </a:r>
              <a:r>
                <a:rPr lang="en-US" dirty="0"/>
                <a:t>     </a:t>
              </a:r>
              <a:endParaRPr lang="en-IN" dirty="0"/>
            </a:p>
          </p:txBody>
        </p:sp>
      </p:grpSp>
      <p:sp>
        <p:nvSpPr>
          <p:cNvPr id="5" name="TextBox 4">
            <a:extLst>
              <a:ext uri="{FF2B5EF4-FFF2-40B4-BE49-F238E27FC236}">
                <a16:creationId xmlns:a16="http://schemas.microsoft.com/office/drawing/2014/main" id="{38F85612-34DD-4A79-A52F-AEDD31A298CA}"/>
              </a:ext>
            </a:extLst>
          </p:cNvPr>
          <p:cNvSpPr txBox="1"/>
          <p:nvPr/>
        </p:nvSpPr>
        <p:spPr>
          <a:xfrm>
            <a:off x="2121873" y="1999389"/>
            <a:ext cx="9833316" cy="461665"/>
          </a:xfrm>
          <a:prstGeom prst="rect">
            <a:avLst/>
          </a:prstGeom>
          <a:noFill/>
        </p:spPr>
        <p:txBody>
          <a:bodyPr wrap="square" rtlCol="0">
            <a:spAutoFit/>
          </a:bodyPr>
          <a:lstStyle/>
          <a:p>
            <a:r>
              <a:rPr lang="en-US" sz="2400" dirty="0"/>
              <a:t>program waits for the condition  0X01 to say FIFO is empty </a:t>
            </a:r>
            <a:endParaRPr lang="en-IN" sz="2400" dirty="0"/>
          </a:p>
        </p:txBody>
      </p:sp>
      <p:grpSp>
        <p:nvGrpSpPr>
          <p:cNvPr id="10" name="Group 9">
            <a:extLst>
              <a:ext uri="{FF2B5EF4-FFF2-40B4-BE49-F238E27FC236}">
                <a16:creationId xmlns:a16="http://schemas.microsoft.com/office/drawing/2014/main" id="{F2730DD7-49DC-4B60-B102-884BF360B3F8}"/>
              </a:ext>
            </a:extLst>
          </p:cNvPr>
          <p:cNvGrpSpPr/>
          <p:nvPr/>
        </p:nvGrpSpPr>
        <p:grpSpPr>
          <a:xfrm>
            <a:off x="2121873" y="2588231"/>
            <a:ext cx="8386204" cy="1541802"/>
            <a:chOff x="2121873" y="2771114"/>
            <a:chExt cx="8386204" cy="1541802"/>
          </a:xfrm>
        </p:grpSpPr>
        <p:pic>
          <p:nvPicPr>
            <p:cNvPr id="6" name="Picture 5">
              <a:extLst>
                <a:ext uri="{FF2B5EF4-FFF2-40B4-BE49-F238E27FC236}">
                  <a16:creationId xmlns:a16="http://schemas.microsoft.com/office/drawing/2014/main" id="{008840D5-657B-4111-844F-71C1CC2B56B5}"/>
                </a:ext>
              </a:extLst>
            </p:cNvPr>
            <p:cNvPicPr>
              <a:picLocks noChangeAspect="1"/>
            </p:cNvPicPr>
            <p:nvPr/>
          </p:nvPicPr>
          <p:blipFill rotWithShape="1">
            <a:blip r:embed="rId2"/>
            <a:srcRect l="926"/>
            <a:stretch/>
          </p:blipFill>
          <p:spPr>
            <a:xfrm>
              <a:off x="2758146" y="2771114"/>
              <a:ext cx="7749931" cy="1541802"/>
            </a:xfrm>
            <a:prstGeom prst="rect">
              <a:avLst/>
            </a:prstGeom>
          </p:spPr>
        </p:pic>
        <p:sp>
          <p:nvSpPr>
            <p:cNvPr id="7" name="TextBox 6">
              <a:extLst>
                <a:ext uri="{FF2B5EF4-FFF2-40B4-BE49-F238E27FC236}">
                  <a16:creationId xmlns:a16="http://schemas.microsoft.com/office/drawing/2014/main" id="{60E92028-4304-47B0-9A06-64BA43E827F7}"/>
                </a:ext>
              </a:extLst>
            </p:cNvPr>
            <p:cNvSpPr txBox="1"/>
            <p:nvPr/>
          </p:nvSpPr>
          <p:spPr>
            <a:xfrm>
              <a:off x="2121873" y="3710828"/>
              <a:ext cx="7751298" cy="461665"/>
            </a:xfrm>
            <a:prstGeom prst="rect">
              <a:avLst/>
            </a:prstGeom>
            <a:noFill/>
          </p:spPr>
          <p:txBody>
            <a:bodyPr wrap="square" rtlCol="0">
              <a:spAutoFit/>
            </a:bodyPr>
            <a:lstStyle/>
            <a:p>
              <a:r>
                <a:rPr lang="en-US" sz="2400" b="1" dirty="0"/>
                <a:t>            0            0          0          0          0         0          1         0</a:t>
              </a:r>
              <a:r>
                <a:rPr lang="en-US" sz="2400" dirty="0"/>
                <a:t>   </a:t>
              </a:r>
              <a:r>
                <a:rPr lang="en-US" dirty="0"/>
                <a:t>     </a:t>
              </a:r>
              <a:endParaRPr lang="en-IN" dirty="0"/>
            </a:p>
          </p:txBody>
        </p:sp>
      </p:grpSp>
      <p:sp>
        <p:nvSpPr>
          <p:cNvPr id="8" name="TextBox 7">
            <a:extLst>
              <a:ext uri="{FF2B5EF4-FFF2-40B4-BE49-F238E27FC236}">
                <a16:creationId xmlns:a16="http://schemas.microsoft.com/office/drawing/2014/main" id="{5C7A2FEB-49D1-4C0E-9A96-B992C089DD56}"/>
              </a:ext>
            </a:extLst>
          </p:cNvPr>
          <p:cNvSpPr txBox="1"/>
          <p:nvPr/>
        </p:nvSpPr>
        <p:spPr>
          <a:xfrm>
            <a:off x="1504779" y="4081860"/>
            <a:ext cx="9833316" cy="461665"/>
          </a:xfrm>
          <a:prstGeom prst="rect">
            <a:avLst/>
          </a:prstGeom>
          <a:noFill/>
        </p:spPr>
        <p:txBody>
          <a:bodyPr wrap="square" rtlCol="0">
            <a:spAutoFit/>
          </a:bodyPr>
          <a:lstStyle/>
          <a:p>
            <a:r>
              <a:rPr lang="en-US" sz="2400" dirty="0"/>
              <a:t>program waits for this condition is 0X10 to be false and it indicates SSP is busy</a:t>
            </a:r>
            <a:endParaRPr lang="en-IN" sz="2400" dirty="0"/>
          </a:p>
        </p:txBody>
      </p:sp>
      <p:grpSp>
        <p:nvGrpSpPr>
          <p:cNvPr id="11" name="Group 10">
            <a:extLst>
              <a:ext uri="{FF2B5EF4-FFF2-40B4-BE49-F238E27FC236}">
                <a16:creationId xmlns:a16="http://schemas.microsoft.com/office/drawing/2014/main" id="{5110851F-567B-4B87-BBE9-3198BA822D5B}"/>
              </a:ext>
            </a:extLst>
          </p:cNvPr>
          <p:cNvGrpSpPr/>
          <p:nvPr/>
        </p:nvGrpSpPr>
        <p:grpSpPr>
          <a:xfrm>
            <a:off x="2096083" y="4605544"/>
            <a:ext cx="8386204" cy="1541802"/>
            <a:chOff x="2121873" y="2771114"/>
            <a:chExt cx="8386204" cy="1541802"/>
          </a:xfrm>
        </p:grpSpPr>
        <p:pic>
          <p:nvPicPr>
            <p:cNvPr id="12" name="Picture 11">
              <a:extLst>
                <a:ext uri="{FF2B5EF4-FFF2-40B4-BE49-F238E27FC236}">
                  <a16:creationId xmlns:a16="http://schemas.microsoft.com/office/drawing/2014/main" id="{95D4D778-58D2-450A-93D7-E6310663B1B9}"/>
                </a:ext>
              </a:extLst>
            </p:cNvPr>
            <p:cNvPicPr>
              <a:picLocks noChangeAspect="1"/>
            </p:cNvPicPr>
            <p:nvPr/>
          </p:nvPicPr>
          <p:blipFill rotWithShape="1">
            <a:blip r:embed="rId2"/>
            <a:srcRect l="926"/>
            <a:stretch/>
          </p:blipFill>
          <p:spPr>
            <a:xfrm>
              <a:off x="2758146" y="2771114"/>
              <a:ext cx="7749931" cy="1541802"/>
            </a:xfrm>
            <a:prstGeom prst="rect">
              <a:avLst/>
            </a:prstGeom>
          </p:spPr>
        </p:pic>
        <p:sp>
          <p:nvSpPr>
            <p:cNvPr id="13" name="TextBox 12">
              <a:extLst>
                <a:ext uri="{FF2B5EF4-FFF2-40B4-BE49-F238E27FC236}">
                  <a16:creationId xmlns:a16="http://schemas.microsoft.com/office/drawing/2014/main" id="{D817CB9F-7F16-48EA-A739-91D6E1404041}"/>
                </a:ext>
              </a:extLst>
            </p:cNvPr>
            <p:cNvSpPr txBox="1"/>
            <p:nvPr/>
          </p:nvSpPr>
          <p:spPr>
            <a:xfrm>
              <a:off x="2121873" y="3710828"/>
              <a:ext cx="7751298" cy="461665"/>
            </a:xfrm>
            <a:prstGeom prst="rect">
              <a:avLst/>
            </a:prstGeom>
            <a:noFill/>
          </p:spPr>
          <p:txBody>
            <a:bodyPr wrap="square" rtlCol="0">
              <a:spAutoFit/>
            </a:bodyPr>
            <a:lstStyle/>
            <a:p>
              <a:r>
                <a:rPr lang="en-US" sz="2400" b="1" dirty="0"/>
                <a:t>            0            0          0          0          0         1          0         0</a:t>
              </a:r>
              <a:r>
                <a:rPr lang="en-US" sz="2400" dirty="0"/>
                <a:t>   </a:t>
              </a:r>
              <a:r>
                <a:rPr lang="en-US" dirty="0"/>
                <a:t>     </a:t>
              </a:r>
              <a:endParaRPr lang="en-IN" dirty="0"/>
            </a:p>
          </p:txBody>
        </p:sp>
      </p:grpSp>
      <p:sp>
        <p:nvSpPr>
          <p:cNvPr id="15" name="TextBox 14">
            <a:extLst>
              <a:ext uri="{FF2B5EF4-FFF2-40B4-BE49-F238E27FC236}">
                <a16:creationId xmlns:a16="http://schemas.microsoft.com/office/drawing/2014/main" id="{9A2E9095-ADD6-458D-A7EB-EF8762FB0868}"/>
              </a:ext>
            </a:extLst>
          </p:cNvPr>
          <p:cNvSpPr txBox="1"/>
          <p:nvPr/>
        </p:nvSpPr>
        <p:spPr>
          <a:xfrm>
            <a:off x="1874536" y="6147346"/>
            <a:ext cx="9833316" cy="461665"/>
          </a:xfrm>
          <a:prstGeom prst="rect">
            <a:avLst/>
          </a:prstGeom>
          <a:noFill/>
        </p:spPr>
        <p:txBody>
          <a:bodyPr wrap="square" rtlCol="0">
            <a:spAutoFit/>
          </a:bodyPr>
          <a:lstStyle/>
          <a:p>
            <a:r>
              <a:rPr lang="en-US" sz="2400" dirty="0"/>
              <a:t>program waits for this condition is 0X04 which indicates receive FIFO empty</a:t>
            </a:r>
            <a:endParaRPr lang="en-IN" sz="2400" dirty="0"/>
          </a:p>
        </p:txBody>
      </p:sp>
    </p:spTree>
    <p:extLst>
      <p:ext uri="{BB962C8B-B14F-4D97-AF65-F5344CB8AC3E}">
        <p14:creationId xmlns:p14="http://schemas.microsoft.com/office/powerpoint/2010/main" val="201369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AE50AD-89F8-4DAF-A954-0B27570004AB}"/>
              </a:ext>
            </a:extLst>
          </p:cNvPr>
          <p:cNvSpPr txBox="1"/>
          <p:nvPr/>
        </p:nvSpPr>
        <p:spPr>
          <a:xfrm>
            <a:off x="438462" y="812180"/>
            <a:ext cx="4838076" cy="461665"/>
          </a:xfrm>
          <a:prstGeom prst="rect">
            <a:avLst/>
          </a:prstGeom>
          <a:noFill/>
        </p:spPr>
        <p:txBody>
          <a:bodyPr wrap="square">
            <a:spAutoFit/>
          </a:bodyPr>
          <a:lstStyle/>
          <a:p>
            <a:r>
              <a:rPr lang="en-US" sz="2400" b="1" dirty="0"/>
              <a:t>SSP Interrupt Clear Register (SSPICR)</a:t>
            </a:r>
            <a:endParaRPr lang="en-IN" sz="2400" b="1" dirty="0"/>
          </a:p>
        </p:txBody>
      </p:sp>
      <p:pic>
        <p:nvPicPr>
          <p:cNvPr id="4" name="Picture 3">
            <a:extLst>
              <a:ext uri="{FF2B5EF4-FFF2-40B4-BE49-F238E27FC236}">
                <a16:creationId xmlns:a16="http://schemas.microsoft.com/office/drawing/2014/main" id="{47DFCFED-21BC-4209-B8BF-1BC2D28E3406}"/>
              </a:ext>
            </a:extLst>
          </p:cNvPr>
          <p:cNvPicPr>
            <a:picLocks noChangeAspect="1"/>
          </p:cNvPicPr>
          <p:nvPr/>
        </p:nvPicPr>
        <p:blipFill rotWithShape="1">
          <a:blip r:embed="rId2"/>
          <a:srcRect l="926"/>
          <a:stretch/>
        </p:blipFill>
        <p:spPr>
          <a:xfrm>
            <a:off x="2338465" y="1531183"/>
            <a:ext cx="7749931" cy="1541802"/>
          </a:xfrm>
          <a:prstGeom prst="rect">
            <a:avLst/>
          </a:prstGeom>
        </p:spPr>
      </p:pic>
      <p:grpSp>
        <p:nvGrpSpPr>
          <p:cNvPr id="5" name="Group 4">
            <a:extLst>
              <a:ext uri="{FF2B5EF4-FFF2-40B4-BE49-F238E27FC236}">
                <a16:creationId xmlns:a16="http://schemas.microsoft.com/office/drawing/2014/main" id="{2B23FE2E-CCD1-4017-8756-8E995A6A731E}"/>
              </a:ext>
            </a:extLst>
          </p:cNvPr>
          <p:cNvGrpSpPr/>
          <p:nvPr/>
        </p:nvGrpSpPr>
        <p:grpSpPr>
          <a:xfrm>
            <a:off x="4177465" y="3072985"/>
            <a:ext cx="6480541" cy="2466644"/>
            <a:chOff x="3664587" y="2755871"/>
            <a:chExt cx="5688801" cy="2466644"/>
          </a:xfrm>
        </p:grpSpPr>
        <p:grpSp>
          <p:nvGrpSpPr>
            <p:cNvPr id="6" name="Group 5">
              <a:extLst>
                <a:ext uri="{FF2B5EF4-FFF2-40B4-BE49-F238E27FC236}">
                  <a16:creationId xmlns:a16="http://schemas.microsoft.com/office/drawing/2014/main" id="{7BA0B224-CDE0-4515-B45C-4738DB773CC9}"/>
                </a:ext>
              </a:extLst>
            </p:cNvPr>
            <p:cNvGrpSpPr/>
            <p:nvPr/>
          </p:nvGrpSpPr>
          <p:grpSpPr>
            <a:xfrm>
              <a:off x="4704161" y="2755871"/>
              <a:ext cx="3488214" cy="1492025"/>
              <a:chOff x="4704161" y="2755871"/>
              <a:chExt cx="3488214" cy="1492025"/>
            </a:xfrm>
          </p:grpSpPr>
          <p:cxnSp>
            <p:nvCxnSpPr>
              <p:cNvPr id="8" name="Straight Connector 7">
                <a:extLst>
                  <a:ext uri="{FF2B5EF4-FFF2-40B4-BE49-F238E27FC236}">
                    <a16:creationId xmlns:a16="http://schemas.microsoft.com/office/drawing/2014/main" id="{28C78F8C-9915-46DF-BE5F-3274F7206518}"/>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4ED584-2FE4-4BE8-8111-50FD891CD0E7}"/>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ABECC7A-23E2-46AF-AE63-4A4F739CA18A}"/>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B27C0C21-F184-4910-979F-E9C68584BAE2}"/>
                  </a:ext>
                </a:extLst>
              </p:cNvPr>
              <p:cNvSpPr txBox="1"/>
              <p:nvPr/>
            </p:nvSpPr>
            <p:spPr>
              <a:xfrm>
                <a:off x="4704161" y="3786231"/>
                <a:ext cx="3488214" cy="461665"/>
              </a:xfrm>
              <a:prstGeom prst="rect">
                <a:avLst/>
              </a:prstGeom>
              <a:noFill/>
            </p:spPr>
            <p:txBody>
              <a:bodyPr wrap="square">
                <a:spAutoFit/>
              </a:bodyPr>
              <a:lstStyle/>
              <a:p>
                <a:pPr algn="ctr"/>
                <a:r>
                  <a:rPr lang="en-IN" sz="2400" dirty="0"/>
                  <a:t>RORIC</a:t>
                </a:r>
              </a:p>
            </p:txBody>
          </p:sp>
        </p:grpSp>
        <p:sp>
          <p:nvSpPr>
            <p:cNvPr id="7" name="TextBox 6">
              <a:extLst>
                <a:ext uri="{FF2B5EF4-FFF2-40B4-BE49-F238E27FC236}">
                  <a16:creationId xmlns:a16="http://schemas.microsoft.com/office/drawing/2014/main" id="{B1812F3A-AB6B-48F9-BE0B-37EAED047D05}"/>
                </a:ext>
              </a:extLst>
            </p:cNvPr>
            <p:cNvSpPr txBox="1"/>
            <p:nvPr/>
          </p:nvSpPr>
          <p:spPr>
            <a:xfrm>
              <a:off x="3664587" y="4391518"/>
              <a:ext cx="5688801" cy="830997"/>
            </a:xfrm>
            <a:prstGeom prst="rect">
              <a:avLst/>
            </a:prstGeom>
            <a:noFill/>
          </p:spPr>
          <p:txBody>
            <a:bodyPr wrap="square">
              <a:spAutoFit/>
            </a:bodyPr>
            <a:lstStyle/>
            <a:p>
              <a:pPr algn="ctr"/>
              <a:r>
                <a:rPr lang="en-US" sz="2400" dirty="0"/>
                <a:t>Writing a 1 to this bit clears the “frame was received when </a:t>
              </a:r>
              <a:r>
                <a:rPr lang="en-US" sz="2400" dirty="0" err="1"/>
                <a:t>RxFIFO</a:t>
              </a:r>
              <a:r>
                <a:rPr lang="en-US" sz="2400" dirty="0"/>
                <a:t> was full” interrupt.</a:t>
              </a:r>
              <a:endParaRPr lang="en-IN" sz="2400" dirty="0"/>
            </a:p>
          </p:txBody>
        </p:sp>
      </p:grpSp>
      <p:grpSp>
        <p:nvGrpSpPr>
          <p:cNvPr id="12" name="Group 11">
            <a:extLst>
              <a:ext uri="{FF2B5EF4-FFF2-40B4-BE49-F238E27FC236}">
                <a16:creationId xmlns:a16="http://schemas.microsoft.com/office/drawing/2014/main" id="{BF07EFD1-C13B-43E1-A919-AC421DD79230}"/>
              </a:ext>
            </a:extLst>
          </p:cNvPr>
          <p:cNvGrpSpPr/>
          <p:nvPr/>
        </p:nvGrpSpPr>
        <p:grpSpPr>
          <a:xfrm>
            <a:off x="3372994" y="3072985"/>
            <a:ext cx="6480541" cy="2466644"/>
            <a:chOff x="3664587" y="2755871"/>
            <a:chExt cx="5688801" cy="2466644"/>
          </a:xfrm>
        </p:grpSpPr>
        <p:grpSp>
          <p:nvGrpSpPr>
            <p:cNvPr id="13" name="Group 12">
              <a:extLst>
                <a:ext uri="{FF2B5EF4-FFF2-40B4-BE49-F238E27FC236}">
                  <a16:creationId xmlns:a16="http://schemas.microsoft.com/office/drawing/2014/main" id="{40149244-4814-4A67-A9A1-768836418593}"/>
                </a:ext>
              </a:extLst>
            </p:cNvPr>
            <p:cNvGrpSpPr/>
            <p:nvPr/>
          </p:nvGrpSpPr>
          <p:grpSpPr>
            <a:xfrm>
              <a:off x="4704161" y="2755871"/>
              <a:ext cx="3488214" cy="1492025"/>
              <a:chOff x="4704161" y="2755871"/>
              <a:chExt cx="3488214" cy="1492025"/>
            </a:xfrm>
          </p:grpSpPr>
          <p:cxnSp>
            <p:nvCxnSpPr>
              <p:cNvPr id="15" name="Straight Connector 14">
                <a:extLst>
                  <a:ext uri="{FF2B5EF4-FFF2-40B4-BE49-F238E27FC236}">
                    <a16:creationId xmlns:a16="http://schemas.microsoft.com/office/drawing/2014/main" id="{13A643C3-3A1F-4A61-912A-D6C555D4AB35}"/>
                  </a:ext>
                </a:extLst>
              </p:cNvPr>
              <p:cNvCxnSpPr>
                <a:cxnSpLocks/>
              </p:cNvCxnSpPr>
              <p:nvPr/>
            </p:nvCxnSpPr>
            <p:spPr>
              <a:xfrm>
                <a:off x="7437620" y="2755871"/>
                <a:ext cx="0" cy="8867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222CE45-663B-4C46-BE89-7609259765F0}"/>
                  </a:ext>
                </a:extLst>
              </p:cNvPr>
              <p:cNvCxnSpPr>
                <a:cxnSpLocks/>
              </p:cNvCxnSpPr>
              <p:nvPr/>
            </p:nvCxnSpPr>
            <p:spPr>
              <a:xfrm>
                <a:off x="6448269" y="3642610"/>
                <a:ext cx="98935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B01B21F-AC80-4D4A-82C8-0BDAE1AF29EF}"/>
                  </a:ext>
                </a:extLst>
              </p:cNvPr>
              <p:cNvCxnSpPr>
                <a:cxnSpLocks/>
              </p:cNvCxnSpPr>
              <p:nvPr/>
            </p:nvCxnSpPr>
            <p:spPr>
              <a:xfrm>
                <a:off x="6448269" y="3642610"/>
                <a:ext cx="0" cy="254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EE1A9A8D-4587-4DC2-AED1-133ED5597F9A}"/>
                  </a:ext>
                </a:extLst>
              </p:cNvPr>
              <p:cNvSpPr txBox="1"/>
              <p:nvPr/>
            </p:nvSpPr>
            <p:spPr>
              <a:xfrm>
                <a:off x="4704161" y="3786231"/>
                <a:ext cx="3488214" cy="461665"/>
              </a:xfrm>
              <a:prstGeom prst="rect">
                <a:avLst/>
              </a:prstGeom>
              <a:noFill/>
            </p:spPr>
            <p:txBody>
              <a:bodyPr wrap="square">
                <a:spAutoFit/>
              </a:bodyPr>
              <a:lstStyle/>
              <a:p>
                <a:pPr algn="ctr"/>
                <a:r>
                  <a:rPr lang="en-IN" sz="2400" dirty="0"/>
                  <a:t>RTIC</a:t>
                </a:r>
              </a:p>
            </p:txBody>
          </p:sp>
        </p:grpSp>
        <p:sp>
          <p:nvSpPr>
            <p:cNvPr id="14" name="TextBox 13">
              <a:extLst>
                <a:ext uri="{FF2B5EF4-FFF2-40B4-BE49-F238E27FC236}">
                  <a16:creationId xmlns:a16="http://schemas.microsoft.com/office/drawing/2014/main" id="{3C137672-C340-41AC-A633-31793556D948}"/>
                </a:ext>
              </a:extLst>
            </p:cNvPr>
            <p:cNvSpPr txBox="1"/>
            <p:nvPr/>
          </p:nvSpPr>
          <p:spPr>
            <a:xfrm>
              <a:off x="3664587" y="4391518"/>
              <a:ext cx="5688801" cy="830997"/>
            </a:xfrm>
            <a:prstGeom prst="rect">
              <a:avLst/>
            </a:prstGeom>
            <a:noFill/>
          </p:spPr>
          <p:txBody>
            <a:bodyPr wrap="square">
              <a:spAutoFit/>
            </a:bodyPr>
            <a:lstStyle/>
            <a:p>
              <a:pPr algn="ctr"/>
              <a:r>
                <a:rPr lang="en-US" sz="2400" dirty="0"/>
                <a:t>Writing a 1 to this bit clears the Receive Timeout interrupt.</a:t>
              </a:r>
              <a:endParaRPr lang="en-IN" sz="2400" dirty="0"/>
            </a:p>
          </p:txBody>
        </p:sp>
      </p:grpSp>
      <p:grpSp>
        <p:nvGrpSpPr>
          <p:cNvPr id="21" name="Group 20">
            <a:extLst>
              <a:ext uri="{FF2B5EF4-FFF2-40B4-BE49-F238E27FC236}">
                <a16:creationId xmlns:a16="http://schemas.microsoft.com/office/drawing/2014/main" id="{4618042A-A95D-442B-AC68-B4004F1B0958}"/>
              </a:ext>
            </a:extLst>
          </p:cNvPr>
          <p:cNvGrpSpPr/>
          <p:nvPr/>
        </p:nvGrpSpPr>
        <p:grpSpPr>
          <a:xfrm>
            <a:off x="2233535" y="3072985"/>
            <a:ext cx="5115033" cy="923322"/>
            <a:chOff x="2233535" y="3072985"/>
            <a:chExt cx="5115033" cy="923322"/>
          </a:xfrm>
        </p:grpSpPr>
        <p:sp>
          <p:nvSpPr>
            <p:cNvPr id="19" name="Right Brace 18">
              <a:extLst>
                <a:ext uri="{FF2B5EF4-FFF2-40B4-BE49-F238E27FC236}">
                  <a16:creationId xmlns:a16="http://schemas.microsoft.com/office/drawing/2014/main" id="{010E1861-0C4B-4E49-90BA-92149FB29702}"/>
                </a:ext>
              </a:extLst>
            </p:cNvPr>
            <p:cNvSpPr/>
            <p:nvPr/>
          </p:nvSpPr>
          <p:spPr>
            <a:xfrm rot="5400000">
              <a:off x="4612687" y="798762"/>
              <a:ext cx="461658" cy="5010104"/>
            </a:xfrm>
            <a:prstGeom prst="rightBrace">
              <a:avLst>
                <a:gd name="adj1" fmla="val 8333"/>
                <a:gd name="adj2" fmla="val 9368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TextBox 19">
              <a:extLst>
                <a:ext uri="{FF2B5EF4-FFF2-40B4-BE49-F238E27FC236}">
                  <a16:creationId xmlns:a16="http://schemas.microsoft.com/office/drawing/2014/main" id="{84758484-05F1-408D-A806-5BA883367FA5}"/>
                </a:ext>
              </a:extLst>
            </p:cNvPr>
            <p:cNvSpPr txBox="1"/>
            <p:nvPr/>
          </p:nvSpPr>
          <p:spPr>
            <a:xfrm>
              <a:off x="2233535" y="3534642"/>
              <a:ext cx="1896205" cy="461665"/>
            </a:xfrm>
            <a:prstGeom prst="rect">
              <a:avLst/>
            </a:prstGeom>
            <a:noFill/>
            <a:ln w="19050">
              <a:noFill/>
            </a:ln>
          </p:spPr>
          <p:txBody>
            <a:bodyPr wrap="square" rtlCol="0">
              <a:spAutoFit/>
            </a:bodyPr>
            <a:lstStyle/>
            <a:p>
              <a:r>
                <a:rPr lang="en-US" sz="2400" dirty="0"/>
                <a:t>Reserved</a:t>
              </a:r>
              <a:endParaRPr lang="en-IN" sz="2400" dirty="0"/>
            </a:p>
          </p:txBody>
        </p:sp>
      </p:grpSp>
    </p:spTree>
    <p:extLst>
      <p:ext uri="{BB962C8B-B14F-4D97-AF65-F5344CB8AC3E}">
        <p14:creationId xmlns:p14="http://schemas.microsoft.com/office/powerpoint/2010/main" val="83112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E809C5-0DC1-4CD7-9181-8D8A1F2259F3}"/>
              </a:ext>
            </a:extLst>
          </p:cNvPr>
          <p:cNvSpPr txBox="1"/>
          <p:nvPr/>
        </p:nvSpPr>
        <p:spPr>
          <a:xfrm>
            <a:off x="354054" y="798112"/>
            <a:ext cx="9085368" cy="461665"/>
          </a:xfrm>
          <a:prstGeom prst="rect">
            <a:avLst/>
          </a:prstGeom>
          <a:noFill/>
        </p:spPr>
        <p:txBody>
          <a:bodyPr wrap="square">
            <a:spAutoFit/>
          </a:bodyPr>
          <a:lstStyle/>
          <a:p>
            <a:r>
              <a:rPr lang="en-US" sz="2400" b="1" dirty="0"/>
              <a:t>In program SSP Interrupt Clear Register (SSPICR) is loaded with 0X01</a:t>
            </a:r>
            <a:endParaRPr lang="en-IN" sz="2400" b="1" dirty="0"/>
          </a:p>
        </p:txBody>
      </p:sp>
      <p:pic>
        <p:nvPicPr>
          <p:cNvPr id="3" name="Picture 2">
            <a:extLst>
              <a:ext uri="{FF2B5EF4-FFF2-40B4-BE49-F238E27FC236}">
                <a16:creationId xmlns:a16="http://schemas.microsoft.com/office/drawing/2014/main" id="{929EF470-997E-4961-8433-462C71EDE101}"/>
              </a:ext>
            </a:extLst>
          </p:cNvPr>
          <p:cNvPicPr>
            <a:picLocks noChangeAspect="1"/>
          </p:cNvPicPr>
          <p:nvPr/>
        </p:nvPicPr>
        <p:blipFill rotWithShape="1">
          <a:blip r:embed="rId2"/>
          <a:srcRect l="926"/>
          <a:stretch/>
        </p:blipFill>
        <p:spPr>
          <a:xfrm>
            <a:off x="2338465" y="1531183"/>
            <a:ext cx="7749931" cy="1541802"/>
          </a:xfrm>
          <a:prstGeom prst="rect">
            <a:avLst/>
          </a:prstGeom>
        </p:spPr>
      </p:pic>
      <p:sp>
        <p:nvSpPr>
          <p:cNvPr id="4" name="TextBox 3">
            <a:extLst>
              <a:ext uri="{FF2B5EF4-FFF2-40B4-BE49-F238E27FC236}">
                <a16:creationId xmlns:a16="http://schemas.microsoft.com/office/drawing/2014/main" id="{3E842BD8-ED12-445E-A5B5-0FBB18F8480B}"/>
              </a:ext>
            </a:extLst>
          </p:cNvPr>
          <p:cNvSpPr txBox="1"/>
          <p:nvPr/>
        </p:nvSpPr>
        <p:spPr>
          <a:xfrm>
            <a:off x="1688124" y="2302084"/>
            <a:ext cx="7751298" cy="461665"/>
          </a:xfrm>
          <a:prstGeom prst="rect">
            <a:avLst/>
          </a:prstGeom>
          <a:noFill/>
        </p:spPr>
        <p:txBody>
          <a:bodyPr wrap="square" rtlCol="0">
            <a:spAutoFit/>
          </a:bodyPr>
          <a:lstStyle/>
          <a:p>
            <a:r>
              <a:rPr lang="en-US" sz="2400" b="1" dirty="0"/>
              <a:t>            0            0          0          0          0         0          0         1</a:t>
            </a:r>
            <a:r>
              <a:rPr lang="en-US" sz="2400" dirty="0"/>
              <a:t>   </a:t>
            </a:r>
            <a:r>
              <a:rPr lang="en-US" dirty="0"/>
              <a:t>     </a:t>
            </a:r>
            <a:endParaRPr lang="en-IN" dirty="0"/>
          </a:p>
        </p:txBody>
      </p:sp>
      <p:cxnSp>
        <p:nvCxnSpPr>
          <p:cNvPr id="10" name="Straight Arrow Connector 9">
            <a:extLst>
              <a:ext uri="{FF2B5EF4-FFF2-40B4-BE49-F238E27FC236}">
                <a16:creationId xmlns:a16="http://schemas.microsoft.com/office/drawing/2014/main" id="{B50F2238-AFA2-4C83-8044-6E9EAA296CF6}"/>
              </a:ext>
            </a:extLst>
          </p:cNvPr>
          <p:cNvCxnSpPr>
            <a:cxnSpLocks/>
          </p:cNvCxnSpPr>
          <p:nvPr/>
        </p:nvCxnSpPr>
        <p:spPr>
          <a:xfrm>
            <a:off x="8496886" y="3072985"/>
            <a:ext cx="0" cy="7120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2408504-B03F-4D67-B000-9D536AAAA0E2}"/>
              </a:ext>
            </a:extLst>
          </p:cNvPr>
          <p:cNvSpPr txBox="1"/>
          <p:nvPr/>
        </p:nvSpPr>
        <p:spPr>
          <a:xfrm>
            <a:off x="7976381" y="3896751"/>
            <a:ext cx="1800655" cy="830997"/>
          </a:xfrm>
          <a:prstGeom prst="rect">
            <a:avLst/>
          </a:prstGeom>
          <a:noFill/>
        </p:spPr>
        <p:txBody>
          <a:bodyPr wrap="square" rtlCol="0">
            <a:spAutoFit/>
          </a:bodyPr>
          <a:lstStyle/>
          <a:p>
            <a:r>
              <a:rPr lang="en-US" sz="2400" dirty="0"/>
              <a:t>Clears the interrupt</a:t>
            </a:r>
            <a:endParaRPr lang="en-IN" sz="2400" dirty="0"/>
          </a:p>
        </p:txBody>
      </p:sp>
    </p:spTree>
    <p:extLst>
      <p:ext uri="{BB962C8B-B14F-4D97-AF65-F5344CB8AC3E}">
        <p14:creationId xmlns:p14="http://schemas.microsoft.com/office/powerpoint/2010/main" val="309925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B34F2F-BA3B-48C1-AA0D-7362856F4689}"/>
              </a:ext>
            </a:extLst>
          </p:cNvPr>
          <p:cNvSpPr txBox="1"/>
          <p:nvPr/>
        </p:nvSpPr>
        <p:spPr>
          <a:xfrm>
            <a:off x="453453" y="707248"/>
            <a:ext cx="4987977" cy="461665"/>
          </a:xfrm>
          <a:prstGeom prst="rect">
            <a:avLst/>
          </a:prstGeom>
          <a:noFill/>
        </p:spPr>
        <p:txBody>
          <a:bodyPr wrap="square">
            <a:spAutoFit/>
          </a:bodyPr>
          <a:lstStyle/>
          <a:p>
            <a:r>
              <a:rPr lang="en-IN" sz="2400" b="1" dirty="0"/>
              <a:t>SSP Clock </a:t>
            </a:r>
            <a:r>
              <a:rPr lang="en-IN" sz="2400" b="1" dirty="0" err="1"/>
              <a:t>Prescale</a:t>
            </a:r>
            <a:r>
              <a:rPr lang="en-IN" sz="2400" b="1" dirty="0"/>
              <a:t> Register (SSPCPSR)</a:t>
            </a:r>
          </a:p>
        </p:txBody>
      </p:sp>
      <p:pic>
        <p:nvPicPr>
          <p:cNvPr id="4" name="Picture 3">
            <a:extLst>
              <a:ext uri="{FF2B5EF4-FFF2-40B4-BE49-F238E27FC236}">
                <a16:creationId xmlns:a16="http://schemas.microsoft.com/office/drawing/2014/main" id="{24AA5351-6EFC-4A42-87B1-6D9A584DAA97}"/>
              </a:ext>
            </a:extLst>
          </p:cNvPr>
          <p:cNvPicPr>
            <a:picLocks noChangeAspect="1"/>
          </p:cNvPicPr>
          <p:nvPr/>
        </p:nvPicPr>
        <p:blipFill rotWithShape="1">
          <a:blip r:embed="rId2"/>
          <a:srcRect l="926"/>
          <a:stretch/>
        </p:blipFill>
        <p:spPr>
          <a:xfrm>
            <a:off x="2338465" y="1531183"/>
            <a:ext cx="7749931" cy="1541802"/>
          </a:xfrm>
          <a:prstGeom prst="rect">
            <a:avLst/>
          </a:prstGeom>
        </p:spPr>
      </p:pic>
      <p:sp>
        <p:nvSpPr>
          <p:cNvPr id="6" name="TextBox 5">
            <a:extLst>
              <a:ext uri="{FF2B5EF4-FFF2-40B4-BE49-F238E27FC236}">
                <a16:creationId xmlns:a16="http://schemas.microsoft.com/office/drawing/2014/main" id="{EAC65CFA-BCB0-46E2-9987-7C18D40D6B41}"/>
              </a:ext>
            </a:extLst>
          </p:cNvPr>
          <p:cNvSpPr txBox="1"/>
          <p:nvPr/>
        </p:nvSpPr>
        <p:spPr>
          <a:xfrm>
            <a:off x="453453" y="3551792"/>
            <a:ext cx="11328816" cy="830997"/>
          </a:xfrm>
          <a:prstGeom prst="rect">
            <a:avLst/>
          </a:prstGeom>
          <a:noFill/>
        </p:spPr>
        <p:txBody>
          <a:bodyPr wrap="square">
            <a:spAutoFit/>
          </a:bodyPr>
          <a:lstStyle/>
          <a:p>
            <a:r>
              <a:rPr lang="en-US" sz="2400" dirty="0"/>
              <a:t>This even value between 2 and 254, by which PCLK is divided to yield the pre-scaler output clock. Bit 0 always reads as 0.</a:t>
            </a:r>
            <a:endParaRPr lang="en-IN" sz="2400" dirty="0"/>
          </a:p>
        </p:txBody>
      </p:sp>
      <p:sp>
        <p:nvSpPr>
          <p:cNvPr id="7" name="TextBox 6">
            <a:extLst>
              <a:ext uri="{FF2B5EF4-FFF2-40B4-BE49-F238E27FC236}">
                <a16:creationId xmlns:a16="http://schemas.microsoft.com/office/drawing/2014/main" id="{49ED2296-7367-45D0-92BB-95F2ACCA14EE}"/>
              </a:ext>
            </a:extLst>
          </p:cNvPr>
          <p:cNvSpPr txBox="1"/>
          <p:nvPr/>
        </p:nvSpPr>
        <p:spPr>
          <a:xfrm>
            <a:off x="125537" y="4861596"/>
            <a:ext cx="11940926" cy="1938992"/>
          </a:xfrm>
          <a:prstGeom prst="rect">
            <a:avLst/>
          </a:prstGeom>
          <a:noFill/>
        </p:spPr>
        <p:txBody>
          <a:bodyPr wrap="square">
            <a:spAutoFit/>
          </a:bodyPr>
          <a:lstStyle/>
          <a:p>
            <a:r>
              <a:rPr lang="en-US" sz="2400" b="1" dirty="0"/>
              <a:t>From Data sheet :</a:t>
            </a:r>
          </a:p>
          <a:p>
            <a:r>
              <a:rPr lang="en-US" sz="2400" dirty="0"/>
              <a:t>The SSPCPSR value must be properly initialized or else the SSP controller will not be able to transmit data correctly. In case of a SSP operating in the master mode, the </a:t>
            </a:r>
            <a:r>
              <a:rPr lang="en-US" sz="2400" dirty="0" err="1"/>
              <a:t>CPSDVSRmin</a:t>
            </a:r>
            <a:r>
              <a:rPr lang="en-US" sz="2400" dirty="0"/>
              <a:t> = 2. While SSPCPSR and SCR do not affect operations of a SSP controller in the slave mode, the SSP in slave mode can not receive data at clock rate higher than PCLK/12.</a:t>
            </a:r>
            <a:endParaRPr lang="en-IN" sz="2400" dirty="0"/>
          </a:p>
        </p:txBody>
      </p:sp>
    </p:spTree>
    <p:extLst>
      <p:ext uri="{BB962C8B-B14F-4D97-AF65-F5344CB8AC3E}">
        <p14:creationId xmlns:p14="http://schemas.microsoft.com/office/powerpoint/2010/main" val="371747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18B38F-858F-44F3-8585-C544BEA4505F}"/>
              </a:ext>
            </a:extLst>
          </p:cNvPr>
          <p:cNvSpPr txBox="1"/>
          <p:nvPr/>
        </p:nvSpPr>
        <p:spPr>
          <a:xfrm>
            <a:off x="4387120" y="121356"/>
            <a:ext cx="3692578" cy="523220"/>
          </a:xfrm>
          <a:prstGeom prst="rect">
            <a:avLst/>
          </a:prstGeom>
          <a:noFill/>
        </p:spPr>
        <p:txBody>
          <a:bodyPr wrap="square" rtlCol="0">
            <a:spAutoFit/>
          </a:bodyPr>
          <a:lstStyle/>
          <a:p>
            <a:pPr algn="ctr"/>
            <a:r>
              <a:rPr lang="en-US" sz="2800" b="1" dirty="0"/>
              <a:t>Programing EEPROM </a:t>
            </a:r>
            <a:endParaRPr lang="en-IN" sz="2800" b="1" dirty="0"/>
          </a:p>
        </p:txBody>
      </p:sp>
      <p:sp>
        <p:nvSpPr>
          <p:cNvPr id="3" name="TextBox 2">
            <a:extLst>
              <a:ext uri="{FF2B5EF4-FFF2-40B4-BE49-F238E27FC236}">
                <a16:creationId xmlns:a16="http://schemas.microsoft.com/office/drawing/2014/main" id="{11DCF8A4-C97F-44F9-8C53-F2402822A741}"/>
              </a:ext>
            </a:extLst>
          </p:cNvPr>
          <p:cNvSpPr txBox="1"/>
          <p:nvPr/>
        </p:nvSpPr>
        <p:spPr>
          <a:xfrm>
            <a:off x="539646" y="1146028"/>
            <a:ext cx="3057994" cy="461665"/>
          </a:xfrm>
          <a:prstGeom prst="rect">
            <a:avLst/>
          </a:prstGeom>
          <a:noFill/>
        </p:spPr>
        <p:txBody>
          <a:bodyPr wrap="square" rtlCol="0">
            <a:spAutoFit/>
          </a:bodyPr>
          <a:lstStyle/>
          <a:p>
            <a:r>
              <a:rPr lang="en-US" sz="2400" b="1" dirty="0"/>
              <a:t>Features of EEPROM</a:t>
            </a:r>
            <a:endParaRPr lang="en-IN" sz="2400" b="1" dirty="0"/>
          </a:p>
        </p:txBody>
      </p:sp>
      <p:sp>
        <p:nvSpPr>
          <p:cNvPr id="5" name="TextBox 4">
            <a:extLst>
              <a:ext uri="{FF2B5EF4-FFF2-40B4-BE49-F238E27FC236}">
                <a16:creationId xmlns:a16="http://schemas.microsoft.com/office/drawing/2014/main" id="{6D311F97-4A8D-4E54-A539-3F25C702EBA2}"/>
              </a:ext>
            </a:extLst>
          </p:cNvPr>
          <p:cNvSpPr txBox="1"/>
          <p:nvPr/>
        </p:nvSpPr>
        <p:spPr>
          <a:xfrm>
            <a:off x="811967" y="1720840"/>
            <a:ext cx="10568065" cy="341632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400" dirty="0"/>
              <a:t>EEPROM supports </a:t>
            </a:r>
            <a:r>
              <a:rPr lang="en-US" sz="2400" dirty="0" err="1"/>
              <a:t>upto</a:t>
            </a:r>
            <a:r>
              <a:rPr lang="en-US" sz="2400" dirty="0"/>
              <a:t> MAX clock of 10 MHz</a:t>
            </a:r>
          </a:p>
          <a:p>
            <a:pPr marL="342900" indent="-342900">
              <a:lnSpc>
                <a:spcPct val="150000"/>
              </a:lnSpc>
              <a:buFont typeface="Wingdings" panose="05000000000000000000" pitchFamily="2" charset="2"/>
              <a:buChar char="Ø"/>
            </a:pPr>
            <a:r>
              <a:rPr lang="en-US" sz="2400" dirty="0"/>
              <a:t>LOW power CMOS technology Max Read current and Write current is 5mA at </a:t>
            </a:r>
            <a:r>
              <a:rPr lang="en-US" sz="2400" dirty="0" err="1"/>
              <a:t>at</a:t>
            </a:r>
            <a:r>
              <a:rPr lang="en-US" sz="2400" dirty="0"/>
              <a:t> 5.5V 10 </a:t>
            </a:r>
            <a:r>
              <a:rPr lang="en-US" sz="2400" dirty="0" err="1"/>
              <a:t>MhZ</a:t>
            </a:r>
            <a:endParaRPr lang="en-US" sz="2400" dirty="0"/>
          </a:p>
          <a:p>
            <a:pPr marL="342900" indent="-342900">
              <a:lnSpc>
                <a:spcPct val="150000"/>
              </a:lnSpc>
              <a:buFont typeface="Wingdings" panose="05000000000000000000" pitchFamily="2" charset="2"/>
              <a:buChar char="Ø"/>
            </a:pPr>
            <a:r>
              <a:rPr lang="en-US" sz="2400" dirty="0"/>
              <a:t>Page size  64 bytes</a:t>
            </a:r>
          </a:p>
          <a:p>
            <a:pPr marL="342900" indent="-342900">
              <a:lnSpc>
                <a:spcPct val="150000"/>
              </a:lnSpc>
              <a:buFont typeface="Wingdings" panose="05000000000000000000" pitchFamily="2" charset="2"/>
              <a:buChar char="Ø"/>
            </a:pPr>
            <a:r>
              <a:rPr lang="en-US" sz="2400" dirty="0"/>
              <a:t>32,768 by 8 bit organization.</a:t>
            </a:r>
          </a:p>
          <a:p>
            <a:endParaRPr lang="en-US" dirty="0"/>
          </a:p>
          <a:p>
            <a:endParaRPr lang="en-IN" dirty="0"/>
          </a:p>
        </p:txBody>
      </p:sp>
    </p:spTree>
    <p:extLst>
      <p:ext uri="{BB962C8B-B14F-4D97-AF65-F5344CB8AC3E}">
        <p14:creationId xmlns:p14="http://schemas.microsoft.com/office/powerpoint/2010/main" val="4184341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7142B1-0416-4A4B-87C2-DF357A87D3BC}"/>
              </a:ext>
            </a:extLst>
          </p:cNvPr>
          <p:cNvPicPr>
            <a:picLocks noChangeAspect="1"/>
          </p:cNvPicPr>
          <p:nvPr/>
        </p:nvPicPr>
        <p:blipFill>
          <a:blip r:embed="rId2"/>
          <a:stretch>
            <a:fillRect/>
          </a:stretch>
        </p:blipFill>
        <p:spPr>
          <a:xfrm>
            <a:off x="436125" y="2294652"/>
            <a:ext cx="11319749" cy="2666375"/>
          </a:xfrm>
          <a:prstGeom prst="rect">
            <a:avLst/>
          </a:prstGeom>
        </p:spPr>
      </p:pic>
      <p:sp>
        <p:nvSpPr>
          <p:cNvPr id="4" name="TextBox 3">
            <a:extLst>
              <a:ext uri="{FF2B5EF4-FFF2-40B4-BE49-F238E27FC236}">
                <a16:creationId xmlns:a16="http://schemas.microsoft.com/office/drawing/2014/main" id="{6543E278-6519-4531-886F-392C26A55D80}"/>
              </a:ext>
            </a:extLst>
          </p:cNvPr>
          <p:cNvSpPr txBox="1"/>
          <p:nvPr/>
        </p:nvSpPr>
        <p:spPr>
          <a:xfrm>
            <a:off x="436124" y="1031411"/>
            <a:ext cx="7808465" cy="461665"/>
          </a:xfrm>
          <a:prstGeom prst="rect">
            <a:avLst/>
          </a:prstGeom>
          <a:noFill/>
        </p:spPr>
        <p:txBody>
          <a:bodyPr wrap="square" rtlCol="0">
            <a:spAutoFit/>
          </a:bodyPr>
          <a:lstStyle/>
          <a:p>
            <a:r>
              <a:rPr lang="en-US" sz="2400" dirty="0"/>
              <a:t>Instruction used for READ and  WRITE  operation of EEPROM</a:t>
            </a:r>
            <a:endParaRPr lang="en-IN" sz="2400" dirty="0"/>
          </a:p>
        </p:txBody>
      </p:sp>
      <p:sp>
        <p:nvSpPr>
          <p:cNvPr id="5" name="Rectangle 4">
            <a:extLst>
              <a:ext uri="{FF2B5EF4-FFF2-40B4-BE49-F238E27FC236}">
                <a16:creationId xmlns:a16="http://schemas.microsoft.com/office/drawing/2014/main" id="{3007B38E-48C8-407F-A529-207AE833C4B7}"/>
              </a:ext>
            </a:extLst>
          </p:cNvPr>
          <p:cNvSpPr/>
          <p:nvPr/>
        </p:nvSpPr>
        <p:spPr>
          <a:xfrm>
            <a:off x="436124" y="2743200"/>
            <a:ext cx="11181253" cy="3859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CEC25954-280D-4AFD-89C2-946ABA661A6E}"/>
              </a:ext>
            </a:extLst>
          </p:cNvPr>
          <p:cNvSpPr/>
          <p:nvPr/>
        </p:nvSpPr>
        <p:spPr>
          <a:xfrm>
            <a:off x="436124" y="3104659"/>
            <a:ext cx="11181253" cy="3859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C912738-489F-44B1-8BB7-F8CFA4583788}"/>
              </a:ext>
            </a:extLst>
          </p:cNvPr>
          <p:cNvSpPr/>
          <p:nvPr/>
        </p:nvSpPr>
        <p:spPr>
          <a:xfrm>
            <a:off x="443075" y="3466117"/>
            <a:ext cx="11181253" cy="3859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A86701FE-D61F-48A7-BA40-06DB827C98C2}"/>
              </a:ext>
            </a:extLst>
          </p:cNvPr>
          <p:cNvSpPr/>
          <p:nvPr/>
        </p:nvSpPr>
        <p:spPr>
          <a:xfrm>
            <a:off x="436124" y="3852113"/>
            <a:ext cx="11181253" cy="3859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71222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91CFE3-A07D-459D-9207-2B62B33682D4}"/>
              </a:ext>
            </a:extLst>
          </p:cNvPr>
          <p:cNvSpPr txBox="1"/>
          <p:nvPr/>
        </p:nvSpPr>
        <p:spPr>
          <a:xfrm>
            <a:off x="3492708" y="329784"/>
            <a:ext cx="4766872" cy="523220"/>
          </a:xfrm>
          <a:prstGeom prst="rect">
            <a:avLst/>
          </a:prstGeom>
          <a:noFill/>
        </p:spPr>
        <p:txBody>
          <a:bodyPr wrap="square" rtlCol="0">
            <a:spAutoFit/>
          </a:bodyPr>
          <a:lstStyle/>
          <a:p>
            <a:pPr algn="ctr"/>
            <a:r>
              <a:rPr lang="en-US" sz="2800" dirty="0"/>
              <a:t>Read Sequence</a:t>
            </a:r>
            <a:endParaRPr lang="en-IN" sz="2800" dirty="0"/>
          </a:p>
        </p:txBody>
      </p:sp>
      <p:pic>
        <p:nvPicPr>
          <p:cNvPr id="4" name="Picture 3">
            <a:extLst>
              <a:ext uri="{FF2B5EF4-FFF2-40B4-BE49-F238E27FC236}">
                <a16:creationId xmlns:a16="http://schemas.microsoft.com/office/drawing/2014/main" id="{700190EE-AD02-4499-A053-76FD5966C4DB}"/>
              </a:ext>
            </a:extLst>
          </p:cNvPr>
          <p:cNvPicPr>
            <a:picLocks noChangeAspect="1"/>
          </p:cNvPicPr>
          <p:nvPr/>
        </p:nvPicPr>
        <p:blipFill>
          <a:blip r:embed="rId2"/>
          <a:stretch>
            <a:fillRect/>
          </a:stretch>
        </p:blipFill>
        <p:spPr>
          <a:xfrm>
            <a:off x="890796" y="1615142"/>
            <a:ext cx="10410407" cy="3138176"/>
          </a:xfrm>
          <a:prstGeom prst="rect">
            <a:avLst/>
          </a:prstGeom>
        </p:spPr>
      </p:pic>
    </p:spTree>
    <p:extLst>
      <p:ext uri="{BB962C8B-B14F-4D97-AF65-F5344CB8AC3E}">
        <p14:creationId xmlns:p14="http://schemas.microsoft.com/office/powerpoint/2010/main" val="4249129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70107B-452F-499E-8616-121051DC7CD5}"/>
              </a:ext>
            </a:extLst>
          </p:cNvPr>
          <p:cNvSpPr txBox="1"/>
          <p:nvPr/>
        </p:nvSpPr>
        <p:spPr>
          <a:xfrm>
            <a:off x="3492708" y="329784"/>
            <a:ext cx="4766872" cy="523220"/>
          </a:xfrm>
          <a:prstGeom prst="rect">
            <a:avLst/>
          </a:prstGeom>
          <a:noFill/>
        </p:spPr>
        <p:txBody>
          <a:bodyPr wrap="square" rtlCol="0">
            <a:spAutoFit/>
          </a:bodyPr>
          <a:lstStyle/>
          <a:p>
            <a:pPr algn="ctr"/>
            <a:r>
              <a:rPr lang="en-US" sz="2800" dirty="0"/>
              <a:t>Write Byte Sequence</a:t>
            </a:r>
            <a:endParaRPr lang="en-IN" sz="2800" dirty="0"/>
          </a:p>
        </p:txBody>
      </p:sp>
      <p:pic>
        <p:nvPicPr>
          <p:cNvPr id="5" name="Picture 4">
            <a:extLst>
              <a:ext uri="{FF2B5EF4-FFF2-40B4-BE49-F238E27FC236}">
                <a16:creationId xmlns:a16="http://schemas.microsoft.com/office/drawing/2014/main" id="{CD434D55-1226-43B9-89E3-66C88912CE71}"/>
              </a:ext>
            </a:extLst>
          </p:cNvPr>
          <p:cNvPicPr>
            <a:picLocks noChangeAspect="1"/>
          </p:cNvPicPr>
          <p:nvPr/>
        </p:nvPicPr>
        <p:blipFill>
          <a:blip r:embed="rId2"/>
          <a:stretch>
            <a:fillRect/>
          </a:stretch>
        </p:blipFill>
        <p:spPr>
          <a:xfrm>
            <a:off x="663656" y="1548467"/>
            <a:ext cx="10864688" cy="3354752"/>
          </a:xfrm>
          <a:prstGeom prst="rect">
            <a:avLst/>
          </a:prstGeom>
        </p:spPr>
      </p:pic>
    </p:spTree>
    <p:extLst>
      <p:ext uri="{BB962C8B-B14F-4D97-AF65-F5344CB8AC3E}">
        <p14:creationId xmlns:p14="http://schemas.microsoft.com/office/powerpoint/2010/main" val="686570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E0283C-4078-4300-81A5-F504FE270924}"/>
              </a:ext>
            </a:extLst>
          </p:cNvPr>
          <p:cNvSpPr txBox="1"/>
          <p:nvPr/>
        </p:nvSpPr>
        <p:spPr>
          <a:xfrm>
            <a:off x="1067638" y="400986"/>
            <a:ext cx="10051726" cy="461665"/>
          </a:xfrm>
          <a:prstGeom prst="rect">
            <a:avLst/>
          </a:prstGeom>
          <a:noFill/>
        </p:spPr>
        <p:txBody>
          <a:bodyPr wrap="none" rtlCol="0">
            <a:spAutoFit/>
          </a:bodyPr>
          <a:lstStyle/>
          <a:p>
            <a:r>
              <a:rPr lang="en-US" sz="2400" dirty="0"/>
              <a:t>Procedure to Transmit data between  EEPROM and LPC2148 Using SPI protocol </a:t>
            </a:r>
            <a:endParaRPr lang="en-IN" sz="2400" dirty="0"/>
          </a:p>
        </p:txBody>
      </p:sp>
      <p:sp>
        <p:nvSpPr>
          <p:cNvPr id="4" name="TextBox 3">
            <a:extLst>
              <a:ext uri="{FF2B5EF4-FFF2-40B4-BE49-F238E27FC236}">
                <a16:creationId xmlns:a16="http://schemas.microsoft.com/office/drawing/2014/main" id="{7F77B235-C182-4ADF-84FF-EC1F2E55B41A}"/>
              </a:ext>
            </a:extLst>
          </p:cNvPr>
          <p:cNvSpPr txBox="1"/>
          <p:nvPr/>
        </p:nvSpPr>
        <p:spPr>
          <a:xfrm>
            <a:off x="537146" y="862651"/>
            <a:ext cx="11529935" cy="6740307"/>
          </a:xfrm>
          <a:prstGeom prst="rect">
            <a:avLst/>
          </a:prstGeom>
          <a:noFill/>
        </p:spPr>
        <p:txBody>
          <a:bodyPr wrap="square" rtlCol="0">
            <a:spAutoFit/>
          </a:bodyPr>
          <a:lstStyle/>
          <a:p>
            <a:r>
              <a:rPr lang="en-US" sz="2400" dirty="0"/>
              <a:t>Initialize SPI1 using PCONP with 8 bit transfer ,CPOL and CPHA =0, and SCR =7.</a:t>
            </a:r>
          </a:p>
          <a:p>
            <a:r>
              <a:rPr lang="en-US" sz="2400" dirty="0"/>
              <a:t>Initialize URAT0 for 9600 baud rate.</a:t>
            </a:r>
          </a:p>
          <a:p>
            <a:r>
              <a:rPr lang="en-IN" sz="2400" b="1" dirty="0"/>
              <a:t>Writing EEPROM</a:t>
            </a:r>
          </a:p>
          <a:p>
            <a:pPr marL="342900" indent="-342900">
              <a:buFont typeface="Wingdings" panose="05000000000000000000" pitchFamily="2" charset="2"/>
              <a:buChar char="§"/>
            </a:pPr>
            <a:r>
              <a:rPr lang="en-US" sz="2400" dirty="0"/>
              <a:t>Enabling SPI by setting </a:t>
            </a:r>
            <a:r>
              <a:rPr lang="en-US" sz="2400" b="1" dirty="0"/>
              <a:t>CS line low </a:t>
            </a:r>
            <a:r>
              <a:rPr lang="en-US" sz="2400" dirty="0"/>
              <a:t>by loading register </a:t>
            </a:r>
            <a:r>
              <a:rPr lang="en-US" sz="2400" b="1" dirty="0"/>
              <a:t>IO0CLR </a:t>
            </a:r>
            <a:r>
              <a:rPr lang="en-US" sz="2400" dirty="0"/>
              <a:t>with</a:t>
            </a:r>
            <a:r>
              <a:rPr lang="en-US" sz="2400" b="1" dirty="0"/>
              <a:t> 0X00100000</a:t>
            </a:r>
          </a:p>
          <a:p>
            <a:pPr marL="342900" indent="-342900">
              <a:buFont typeface="Wingdings" panose="05000000000000000000" pitchFamily="2" charset="2"/>
              <a:buChar char="§"/>
            </a:pPr>
            <a:r>
              <a:rPr lang="en-US" sz="2400" dirty="0"/>
              <a:t>Wait for transmit </a:t>
            </a:r>
            <a:r>
              <a:rPr lang="en-US" sz="2400" b="1" dirty="0"/>
              <a:t>FIFO empty </a:t>
            </a:r>
            <a:r>
              <a:rPr lang="en-US" sz="2400" dirty="0"/>
              <a:t>by until </a:t>
            </a:r>
            <a:r>
              <a:rPr lang="en-US" sz="2400" b="1" dirty="0"/>
              <a:t>SSPSR</a:t>
            </a:r>
            <a:r>
              <a:rPr lang="en-US" sz="2400" dirty="0"/>
              <a:t> register content = </a:t>
            </a:r>
            <a:r>
              <a:rPr lang="en-US" sz="2400" b="1" dirty="0"/>
              <a:t>0X00</a:t>
            </a:r>
          </a:p>
          <a:p>
            <a:pPr marL="342900" indent="-342900">
              <a:buFont typeface="Wingdings" panose="05000000000000000000" pitchFamily="2" charset="2"/>
              <a:buChar char="§"/>
            </a:pPr>
            <a:r>
              <a:rPr lang="en-US" sz="2400" dirty="0"/>
              <a:t>Set the write enable latch (enable write operations) by assigning </a:t>
            </a:r>
            <a:r>
              <a:rPr lang="en-US" sz="2400" b="1" dirty="0"/>
              <a:t>0X06</a:t>
            </a:r>
            <a:r>
              <a:rPr lang="en-US" sz="2400" dirty="0"/>
              <a:t> to </a:t>
            </a:r>
            <a:r>
              <a:rPr lang="en-US" sz="2400" b="1" dirty="0"/>
              <a:t>SSPDR</a:t>
            </a:r>
          </a:p>
          <a:p>
            <a:pPr marL="342900" indent="-342900">
              <a:buFont typeface="Wingdings" panose="05000000000000000000" pitchFamily="2" charset="2"/>
              <a:buChar char="§"/>
            </a:pPr>
            <a:r>
              <a:rPr lang="en-IN" sz="2400" dirty="0"/>
              <a:t>check for SSP controller busy/idle by waiting until </a:t>
            </a:r>
            <a:r>
              <a:rPr lang="en-IN" sz="2400" b="1" dirty="0"/>
              <a:t>SSPSR</a:t>
            </a:r>
            <a:r>
              <a:rPr lang="en-IN" sz="2400" dirty="0"/>
              <a:t> content change from </a:t>
            </a:r>
            <a:r>
              <a:rPr lang="en-IN" sz="2400" b="1" dirty="0"/>
              <a:t>0X10</a:t>
            </a:r>
            <a:r>
              <a:rPr lang="en-IN" sz="2400" dirty="0"/>
              <a:t> to </a:t>
            </a:r>
            <a:r>
              <a:rPr lang="en-IN" sz="2400" b="1" dirty="0"/>
              <a:t>0X00</a:t>
            </a:r>
            <a:r>
              <a:rPr lang="en-IN" sz="2400" dirty="0"/>
              <a:t> .</a:t>
            </a:r>
          </a:p>
          <a:p>
            <a:pPr marL="342900" indent="-342900">
              <a:buFont typeface="Wingdings" panose="05000000000000000000" pitchFamily="2" charset="2"/>
              <a:buChar char="§"/>
            </a:pPr>
            <a:r>
              <a:rPr lang="en-US" sz="2400" dirty="0"/>
              <a:t>Use dummy variable read to clear receive FIFO by assigning </a:t>
            </a:r>
            <a:r>
              <a:rPr lang="en-US" sz="2400" b="1" dirty="0"/>
              <a:t>SSPDR</a:t>
            </a:r>
            <a:r>
              <a:rPr lang="en-US" sz="2400" dirty="0"/>
              <a:t> value to variable </a:t>
            </a:r>
            <a:r>
              <a:rPr lang="en-US" sz="2400" b="1" dirty="0"/>
              <a:t>dummy</a:t>
            </a:r>
          </a:p>
          <a:p>
            <a:pPr marL="342900" indent="-342900">
              <a:buFont typeface="Wingdings" panose="05000000000000000000" pitchFamily="2" charset="2"/>
              <a:buChar char="§"/>
            </a:pPr>
            <a:r>
              <a:rPr lang="en-IN" sz="2400" dirty="0"/>
              <a:t>Make </a:t>
            </a:r>
            <a:r>
              <a:rPr lang="en-IN" sz="2400" b="1" dirty="0"/>
              <a:t>CS High </a:t>
            </a:r>
            <a:r>
              <a:rPr lang="en-IN" sz="2400" dirty="0"/>
              <a:t>by loading register </a:t>
            </a:r>
            <a:r>
              <a:rPr lang="en-IN" sz="2400" b="1" dirty="0"/>
              <a:t>IO0SET</a:t>
            </a:r>
            <a:r>
              <a:rPr lang="en-IN" sz="2400" dirty="0"/>
              <a:t> with </a:t>
            </a:r>
            <a:r>
              <a:rPr lang="en-US" sz="2400" b="1" dirty="0"/>
              <a:t>0X00100000</a:t>
            </a:r>
            <a:endParaRPr lang="en-IN" sz="2400" dirty="0"/>
          </a:p>
          <a:p>
            <a:pPr marL="342900" indent="-342900">
              <a:buFont typeface="Wingdings" panose="05000000000000000000" pitchFamily="2" charset="2"/>
              <a:buChar char="§"/>
            </a:pPr>
            <a:r>
              <a:rPr lang="en-US" sz="2400" dirty="0"/>
              <a:t>Wait for transmit </a:t>
            </a:r>
            <a:r>
              <a:rPr lang="en-US" sz="2400" b="1" dirty="0"/>
              <a:t>FIFO empty </a:t>
            </a:r>
            <a:r>
              <a:rPr lang="en-US" sz="2400" dirty="0"/>
              <a:t>by until </a:t>
            </a:r>
            <a:r>
              <a:rPr lang="en-US" sz="2400" b="1" dirty="0"/>
              <a:t>SSPSR</a:t>
            </a:r>
            <a:r>
              <a:rPr lang="en-US" sz="2400" dirty="0"/>
              <a:t> register content = </a:t>
            </a:r>
            <a:r>
              <a:rPr lang="en-US" sz="2400" b="1" dirty="0"/>
              <a:t>0X00</a:t>
            </a:r>
          </a:p>
          <a:p>
            <a:pPr marL="342900" indent="-342900">
              <a:buFont typeface="Wingdings" panose="05000000000000000000" pitchFamily="2" charset="2"/>
              <a:buChar char="§"/>
            </a:pPr>
            <a:r>
              <a:rPr lang="en-US" sz="2400" dirty="0"/>
              <a:t>Write data to memory array beginning at selected address by assigning </a:t>
            </a:r>
            <a:r>
              <a:rPr lang="en-US" sz="2400" b="1" dirty="0"/>
              <a:t>0X02</a:t>
            </a:r>
            <a:r>
              <a:rPr lang="en-US" sz="2400" dirty="0"/>
              <a:t> to </a:t>
            </a:r>
            <a:r>
              <a:rPr lang="en-US" sz="2400" b="1" dirty="0"/>
              <a:t>SSPDR</a:t>
            </a:r>
            <a:endParaRPr lang="en-US" sz="2400" dirty="0"/>
          </a:p>
          <a:p>
            <a:pPr marL="342900" indent="-342900">
              <a:buFont typeface="Wingdings" panose="05000000000000000000" pitchFamily="2" charset="2"/>
              <a:buChar char="§"/>
            </a:pPr>
            <a:r>
              <a:rPr lang="en-IN" sz="2400" dirty="0"/>
              <a:t>check for SSP controller busy/idle by waiting until </a:t>
            </a:r>
            <a:r>
              <a:rPr lang="en-IN" sz="2400" b="1" dirty="0"/>
              <a:t>SSPSR</a:t>
            </a:r>
            <a:r>
              <a:rPr lang="en-IN" sz="2400" dirty="0"/>
              <a:t> content change from </a:t>
            </a:r>
            <a:r>
              <a:rPr lang="en-IN" sz="2400" b="1" dirty="0"/>
              <a:t>0X10</a:t>
            </a:r>
            <a:r>
              <a:rPr lang="en-IN" sz="2400" dirty="0"/>
              <a:t> to </a:t>
            </a:r>
            <a:r>
              <a:rPr lang="en-IN" sz="2400" b="1" dirty="0"/>
              <a:t>0X00</a:t>
            </a:r>
            <a:r>
              <a:rPr lang="en-IN" sz="2400" dirty="0"/>
              <a:t> .</a:t>
            </a:r>
          </a:p>
          <a:p>
            <a:endParaRPr lang="en-IN" sz="2400" dirty="0"/>
          </a:p>
          <a:p>
            <a:endParaRPr lang="en-US" sz="2400" dirty="0"/>
          </a:p>
          <a:p>
            <a:endParaRPr lang="en-IN" sz="2400" b="1" dirty="0"/>
          </a:p>
        </p:txBody>
      </p:sp>
    </p:spTree>
    <p:extLst>
      <p:ext uri="{BB962C8B-B14F-4D97-AF65-F5344CB8AC3E}">
        <p14:creationId xmlns:p14="http://schemas.microsoft.com/office/powerpoint/2010/main" val="51370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C94BE5-9715-4A6E-AB7B-00D6509542AD}"/>
              </a:ext>
            </a:extLst>
          </p:cNvPr>
          <p:cNvSpPr txBox="1"/>
          <p:nvPr/>
        </p:nvSpPr>
        <p:spPr>
          <a:xfrm>
            <a:off x="693294" y="763621"/>
            <a:ext cx="10504357" cy="5262979"/>
          </a:xfrm>
          <a:prstGeom prst="rect">
            <a:avLst/>
          </a:prstGeom>
          <a:noFill/>
        </p:spPr>
        <p:txBody>
          <a:bodyPr wrap="square">
            <a:spAutoFit/>
          </a:bodyPr>
          <a:lstStyle/>
          <a:p>
            <a:pPr marL="342900" indent="-342900">
              <a:buFont typeface="Wingdings" panose="05000000000000000000" pitchFamily="2" charset="2"/>
              <a:buChar char="§"/>
            </a:pPr>
            <a:r>
              <a:rPr lang="en-US" sz="2400" dirty="0"/>
              <a:t>Use dummy variable read to clear receive FIFO by assigning </a:t>
            </a:r>
            <a:r>
              <a:rPr lang="en-US" sz="2400" b="1" dirty="0"/>
              <a:t>SSPDR</a:t>
            </a:r>
            <a:r>
              <a:rPr lang="en-US" sz="2400" dirty="0"/>
              <a:t> value to variable </a:t>
            </a:r>
            <a:r>
              <a:rPr lang="en-US" sz="2400" b="1" dirty="0"/>
              <a:t>dummy</a:t>
            </a:r>
          </a:p>
          <a:p>
            <a:pPr marL="342900" indent="-342900">
              <a:buFont typeface="Wingdings" panose="05000000000000000000" pitchFamily="2" charset="2"/>
              <a:buChar char="§"/>
            </a:pPr>
            <a:r>
              <a:rPr lang="en-US" sz="2400" dirty="0"/>
              <a:t>Wait for transmit </a:t>
            </a:r>
            <a:r>
              <a:rPr lang="en-US" sz="2400" b="1" dirty="0"/>
              <a:t>FIFO empty </a:t>
            </a:r>
            <a:r>
              <a:rPr lang="en-US" sz="2400" dirty="0"/>
              <a:t>by until </a:t>
            </a:r>
            <a:r>
              <a:rPr lang="en-US" sz="2400" b="1" dirty="0"/>
              <a:t>SSPSR</a:t>
            </a:r>
            <a:r>
              <a:rPr lang="en-US" sz="2400" dirty="0"/>
              <a:t> register content = </a:t>
            </a:r>
            <a:r>
              <a:rPr lang="en-US" sz="2400" b="1" dirty="0"/>
              <a:t>0X00</a:t>
            </a:r>
          </a:p>
          <a:p>
            <a:pPr marL="342900" indent="-342900">
              <a:buFont typeface="Wingdings" panose="05000000000000000000" pitchFamily="2" charset="2"/>
              <a:buChar char="§"/>
            </a:pPr>
            <a:r>
              <a:rPr lang="en-IN" sz="2400" dirty="0"/>
              <a:t>write </a:t>
            </a:r>
            <a:r>
              <a:rPr lang="en-IN" sz="2400" b="1" dirty="0"/>
              <a:t>MSB of address </a:t>
            </a:r>
            <a:r>
              <a:rPr lang="en-IN" sz="2400" dirty="0"/>
              <a:t>by assigning </a:t>
            </a:r>
            <a:r>
              <a:rPr lang="en-IN" sz="2400" b="1" dirty="0"/>
              <a:t>0x00</a:t>
            </a:r>
            <a:r>
              <a:rPr lang="en-IN" sz="2400" dirty="0"/>
              <a:t> to </a:t>
            </a:r>
            <a:r>
              <a:rPr lang="en-IN" sz="2400" b="1" dirty="0"/>
              <a:t>SSPDR</a:t>
            </a:r>
          </a:p>
          <a:p>
            <a:pPr marL="342900" indent="-342900">
              <a:buFont typeface="Wingdings" panose="05000000000000000000" pitchFamily="2" charset="2"/>
              <a:buChar char="§"/>
            </a:pPr>
            <a:r>
              <a:rPr lang="en-IN" sz="2400" dirty="0"/>
              <a:t>check for SSP controller busy/idle. by waiting until </a:t>
            </a:r>
            <a:r>
              <a:rPr lang="en-IN" sz="2400" b="1" dirty="0"/>
              <a:t>SSPSR</a:t>
            </a:r>
            <a:r>
              <a:rPr lang="en-IN" sz="2400" dirty="0"/>
              <a:t> content change from </a:t>
            </a:r>
            <a:r>
              <a:rPr lang="en-IN" sz="2400" b="1" dirty="0"/>
              <a:t>0X10</a:t>
            </a:r>
            <a:r>
              <a:rPr lang="en-IN" sz="2400" dirty="0"/>
              <a:t> to </a:t>
            </a:r>
            <a:r>
              <a:rPr lang="en-IN" sz="2400" b="1" dirty="0"/>
              <a:t>0X00</a:t>
            </a:r>
            <a:r>
              <a:rPr lang="en-IN" sz="2400" dirty="0"/>
              <a:t> .</a:t>
            </a:r>
          </a:p>
          <a:p>
            <a:pPr marL="342900" indent="-342900">
              <a:buFont typeface="Wingdings" panose="05000000000000000000" pitchFamily="2" charset="2"/>
              <a:buChar char="§"/>
            </a:pPr>
            <a:r>
              <a:rPr lang="en-US" sz="2400" dirty="0"/>
              <a:t>Use dummy variable read to clear receive FIFO by assigning </a:t>
            </a:r>
            <a:r>
              <a:rPr lang="en-US" sz="2400" b="1" dirty="0"/>
              <a:t>SSPDR</a:t>
            </a:r>
            <a:r>
              <a:rPr lang="en-US" sz="2400" dirty="0"/>
              <a:t> value to variable </a:t>
            </a:r>
            <a:r>
              <a:rPr lang="en-US" sz="2400" b="1" dirty="0"/>
              <a:t>dummy</a:t>
            </a:r>
          </a:p>
          <a:p>
            <a:pPr marL="342900" indent="-342900">
              <a:buFont typeface="Wingdings" panose="05000000000000000000" pitchFamily="2" charset="2"/>
              <a:buChar char="§"/>
            </a:pPr>
            <a:r>
              <a:rPr lang="en-US" sz="2400" dirty="0"/>
              <a:t>Wait for transmit </a:t>
            </a:r>
            <a:r>
              <a:rPr lang="en-US" sz="2400" b="1" dirty="0"/>
              <a:t>FIFO empty </a:t>
            </a:r>
            <a:r>
              <a:rPr lang="en-US" sz="2400" dirty="0"/>
              <a:t>by until </a:t>
            </a:r>
            <a:r>
              <a:rPr lang="en-US" sz="2400" b="1" dirty="0"/>
              <a:t>SSPSR</a:t>
            </a:r>
            <a:r>
              <a:rPr lang="en-US" sz="2400" dirty="0"/>
              <a:t> register content = </a:t>
            </a:r>
            <a:r>
              <a:rPr lang="en-US" sz="2400" b="1" dirty="0"/>
              <a:t>0X00</a:t>
            </a:r>
          </a:p>
          <a:p>
            <a:pPr marL="342900" indent="-342900">
              <a:buFont typeface="Wingdings" panose="05000000000000000000" pitchFamily="2" charset="2"/>
              <a:buChar char="§"/>
            </a:pPr>
            <a:r>
              <a:rPr lang="en-US" sz="2400" dirty="0"/>
              <a:t>Write </a:t>
            </a:r>
            <a:r>
              <a:rPr lang="en-US" sz="2400" b="1" dirty="0"/>
              <a:t>LSB of address </a:t>
            </a:r>
            <a:r>
              <a:rPr lang="en-IN" sz="2400" dirty="0"/>
              <a:t>by assigning </a:t>
            </a:r>
            <a:r>
              <a:rPr lang="en-IN" sz="2400" b="1" dirty="0"/>
              <a:t>0x00</a:t>
            </a:r>
            <a:r>
              <a:rPr lang="en-IN" sz="2400" dirty="0"/>
              <a:t> to </a:t>
            </a:r>
            <a:r>
              <a:rPr lang="en-IN" sz="2400" b="1" dirty="0"/>
              <a:t>SSPDR</a:t>
            </a:r>
            <a:endParaRPr lang="en-US" sz="2400" dirty="0"/>
          </a:p>
          <a:p>
            <a:pPr marL="342900" indent="-342900">
              <a:buFont typeface="Wingdings" panose="05000000000000000000" pitchFamily="2" charset="2"/>
              <a:buChar char="§"/>
            </a:pPr>
            <a:r>
              <a:rPr lang="en-US" sz="2400" dirty="0"/>
              <a:t>checking for SSP controller busy/idle.</a:t>
            </a:r>
            <a:r>
              <a:rPr lang="en-IN" sz="2400" dirty="0"/>
              <a:t> check for SSP controller busy/idle. by waiting until </a:t>
            </a:r>
            <a:r>
              <a:rPr lang="en-IN" sz="2400" b="1" dirty="0"/>
              <a:t>SSPSR</a:t>
            </a:r>
            <a:r>
              <a:rPr lang="en-IN" sz="2400" dirty="0"/>
              <a:t> content change from </a:t>
            </a:r>
            <a:r>
              <a:rPr lang="en-IN" sz="2400" b="1" dirty="0"/>
              <a:t>0X10</a:t>
            </a:r>
            <a:r>
              <a:rPr lang="en-IN" sz="2400" dirty="0"/>
              <a:t> to </a:t>
            </a:r>
            <a:r>
              <a:rPr lang="en-IN" sz="2400" b="1" dirty="0"/>
              <a:t>0X00</a:t>
            </a:r>
            <a:r>
              <a:rPr lang="en-IN" sz="2400" dirty="0"/>
              <a:t> .</a:t>
            </a:r>
            <a:endParaRPr lang="en-US" sz="2400" dirty="0"/>
          </a:p>
          <a:p>
            <a:pPr marL="342900" indent="-342900">
              <a:buFont typeface="Wingdings" panose="05000000000000000000" pitchFamily="2" charset="2"/>
              <a:buChar char="§"/>
            </a:pPr>
            <a:r>
              <a:rPr lang="en-US" sz="2400" dirty="0"/>
              <a:t>Use dummy variable read to clear receive FIFO by assigning </a:t>
            </a:r>
            <a:r>
              <a:rPr lang="en-US" sz="2400" b="1" dirty="0"/>
              <a:t>SSPDR</a:t>
            </a:r>
            <a:r>
              <a:rPr lang="en-US" sz="2400" dirty="0"/>
              <a:t> value to variable </a:t>
            </a:r>
            <a:r>
              <a:rPr lang="en-US" sz="2400" b="1" dirty="0"/>
              <a:t>dummy</a:t>
            </a:r>
          </a:p>
        </p:txBody>
      </p:sp>
    </p:spTree>
    <p:extLst>
      <p:ext uri="{BB962C8B-B14F-4D97-AF65-F5344CB8AC3E}">
        <p14:creationId xmlns:p14="http://schemas.microsoft.com/office/powerpoint/2010/main" val="343306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CA8FA1-F870-4483-8587-C2777799FC72}"/>
              </a:ext>
            </a:extLst>
          </p:cNvPr>
          <p:cNvSpPr txBox="1"/>
          <p:nvPr/>
        </p:nvSpPr>
        <p:spPr>
          <a:xfrm>
            <a:off x="723275" y="891357"/>
            <a:ext cx="10684239" cy="1200329"/>
          </a:xfrm>
          <a:prstGeom prst="rect">
            <a:avLst/>
          </a:prstGeom>
          <a:noFill/>
        </p:spPr>
        <p:txBody>
          <a:bodyPr wrap="square">
            <a:spAutoFit/>
          </a:bodyPr>
          <a:lstStyle/>
          <a:p>
            <a:pPr marL="342900" indent="-342900">
              <a:buFont typeface="Wingdings" panose="05000000000000000000" pitchFamily="2" charset="2"/>
              <a:buChar char="§"/>
            </a:pPr>
            <a:r>
              <a:rPr lang="en-US" sz="2400" dirty="0"/>
              <a:t>Send data to EEPROM by assigning data to </a:t>
            </a:r>
            <a:r>
              <a:rPr lang="en-US" sz="2400" b="1" dirty="0"/>
              <a:t>SSPDR</a:t>
            </a:r>
            <a:r>
              <a:rPr lang="en-US" sz="2400" dirty="0"/>
              <a:t> register</a:t>
            </a:r>
          </a:p>
          <a:p>
            <a:pPr marL="342900" indent="-342900">
              <a:buFont typeface="Wingdings" panose="05000000000000000000" pitchFamily="2" charset="2"/>
              <a:buChar char="§"/>
            </a:pPr>
            <a:r>
              <a:rPr lang="en-US" sz="2400" b="1" dirty="0"/>
              <a:t>Note:</a:t>
            </a:r>
            <a:r>
              <a:rPr lang="en-US" sz="2400" dirty="0"/>
              <a:t> Check for transmit FIFO empty , SSP controller busy/idle and clear SSPDR.</a:t>
            </a:r>
          </a:p>
          <a:p>
            <a:pPr marL="342900" indent="-342900">
              <a:buFont typeface="Wingdings" panose="05000000000000000000" pitchFamily="2" charset="2"/>
              <a:buChar char="§"/>
            </a:pPr>
            <a:r>
              <a:rPr lang="en-IN" sz="2400" dirty="0"/>
              <a:t>Make </a:t>
            </a:r>
            <a:r>
              <a:rPr lang="en-IN" sz="2400" b="1" dirty="0"/>
              <a:t>CS High </a:t>
            </a:r>
            <a:r>
              <a:rPr lang="en-IN" sz="2400" dirty="0"/>
              <a:t>by loading register </a:t>
            </a:r>
            <a:r>
              <a:rPr lang="en-IN" sz="2400" b="1" dirty="0"/>
              <a:t>IO0SET</a:t>
            </a:r>
            <a:r>
              <a:rPr lang="en-IN" sz="2400" dirty="0"/>
              <a:t> with </a:t>
            </a:r>
            <a:r>
              <a:rPr lang="en-US" sz="2400" b="1" dirty="0"/>
              <a:t>0X00100000</a:t>
            </a:r>
            <a:endParaRPr lang="en-IN" sz="2400" dirty="0"/>
          </a:p>
        </p:txBody>
      </p:sp>
    </p:spTree>
    <p:extLst>
      <p:ext uri="{BB962C8B-B14F-4D97-AF65-F5344CB8AC3E}">
        <p14:creationId xmlns:p14="http://schemas.microsoft.com/office/powerpoint/2010/main" val="345769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D441B4-8908-409D-8211-8D2D00F8B71A}"/>
              </a:ext>
            </a:extLst>
          </p:cNvPr>
          <p:cNvSpPr txBox="1"/>
          <p:nvPr/>
        </p:nvSpPr>
        <p:spPr>
          <a:xfrm>
            <a:off x="509666" y="344774"/>
            <a:ext cx="2863121" cy="461665"/>
          </a:xfrm>
          <a:prstGeom prst="rect">
            <a:avLst/>
          </a:prstGeom>
          <a:noFill/>
        </p:spPr>
        <p:txBody>
          <a:bodyPr wrap="square" rtlCol="0">
            <a:spAutoFit/>
          </a:bodyPr>
          <a:lstStyle/>
          <a:p>
            <a:r>
              <a:rPr lang="en-US" sz="2400" b="1" dirty="0"/>
              <a:t>Reading EEPROM</a:t>
            </a:r>
            <a:endParaRPr lang="en-IN" sz="2400" b="1" dirty="0"/>
          </a:p>
        </p:txBody>
      </p:sp>
      <p:sp>
        <p:nvSpPr>
          <p:cNvPr id="3" name="TextBox 2">
            <a:extLst>
              <a:ext uri="{FF2B5EF4-FFF2-40B4-BE49-F238E27FC236}">
                <a16:creationId xmlns:a16="http://schemas.microsoft.com/office/drawing/2014/main" id="{0507ED13-5A4E-4824-9455-5457F29397F9}"/>
              </a:ext>
            </a:extLst>
          </p:cNvPr>
          <p:cNvSpPr txBox="1"/>
          <p:nvPr/>
        </p:nvSpPr>
        <p:spPr>
          <a:xfrm>
            <a:off x="629587" y="1034321"/>
            <a:ext cx="10702977" cy="6001643"/>
          </a:xfrm>
          <a:prstGeom prst="rect">
            <a:avLst/>
          </a:prstGeom>
          <a:noFill/>
        </p:spPr>
        <p:txBody>
          <a:bodyPr wrap="square" rtlCol="0">
            <a:spAutoFit/>
          </a:bodyPr>
          <a:lstStyle/>
          <a:p>
            <a:pPr marL="342900" indent="-342900">
              <a:buFont typeface="Wingdings" panose="05000000000000000000" pitchFamily="2" charset="2"/>
              <a:buChar char="§"/>
            </a:pPr>
            <a:r>
              <a:rPr lang="en-US" sz="2400" dirty="0"/>
              <a:t>  Enabling SPI by setting </a:t>
            </a:r>
            <a:r>
              <a:rPr lang="en-US" sz="2400" b="1" dirty="0"/>
              <a:t>CS line low </a:t>
            </a:r>
            <a:r>
              <a:rPr lang="en-US" sz="2400" dirty="0"/>
              <a:t>by loading register </a:t>
            </a:r>
            <a:r>
              <a:rPr lang="en-US" sz="2400" b="1" dirty="0"/>
              <a:t>IO0CLR </a:t>
            </a:r>
            <a:r>
              <a:rPr lang="en-US" sz="2400" dirty="0"/>
              <a:t>with</a:t>
            </a:r>
            <a:r>
              <a:rPr lang="en-US" sz="2400" b="1" dirty="0"/>
              <a:t> 0X00100000</a:t>
            </a:r>
          </a:p>
          <a:p>
            <a:pPr marL="342900" indent="-342900">
              <a:buFont typeface="Wingdings" panose="05000000000000000000" pitchFamily="2" charset="2"/>
              <a:buChar char="§"/>
            </a:pPr>
            <a:r>
              <a:rPr lang="en-US" sz="2400" dirty="0"/>
              <a:t>  Wait for transmit </a:t>
            </a:r>
            <a:r>
              <a:rPr lang="en-US" sz="2400" b="1" dirty="0"/>
              <a:t>FIFO empty </a:t>
            </a:r>
            <a:r>
              <a:rPr lang="en-US" sz="2400" dirty="0"/>
              <a:t>by until </a:t>
            </a:r>
            <a:r>
              <a:rPr lang="en-US" sz="2400" b="1" dirty="0"/>
              <a:t>SSPSR</a:t>
            </a:r>
            <a:r>
              <a:rPr lang="en-US" sz="2400" dirty="0"/>
              <a:t> register content = </a:t>
            </a:r>
            <a:r>
              <a:rPr lang="en-US" sz="2400" b="1" dirty="0"/>
              <a:t>0X00</a:t>
            </a:r>
          </a:p>
          <a:p>
            <a:pPr marL="457200" indent="-457200">
              <a:buFont typeface="Wingdings" panose="05000000000000000000" pitchFamily="2" charset="2"/>
              <a:buChar char="§"/>
            </a:pPr>
            <a:r>
              <a:rPr lang="en-US" sz="2400" dirty="0"/>
              <a:t>Read data from memory array beginning at selected address by assigning </a:t>
            </a:r>
            <a:r>
              <a:rPr lang="en-US" sz="2400" b="1" dirty="0"/>
              <a:t>0X03</a:t>
            </a:r>
            <a:r>
              <a:rPr lang="en-US" sz="2400" dirty="0"/>
              <a:t> to </a:t>
            </a:r>
            <a:r>
              <a:rPr lang="en-US" sz="2400" b="1" dirty="0"/>
              <a:t>SSPDR</a:t>
            </a:r>
          </a:p>
          <a:p>
            <a:pPr marL="457200" indent="-457200">
              <a:buFont typeface="Wingdings" panose="05000000000000000000" pitchFamily="2" charset="2"/>
              <a:buChar char="§"/>
            </a:pPr>
            <a:r>
              <a:rPr lang="en-IN" sz="2400" dirty="0"/>
              <a:t>Check for SSP controller busy/idle by waiting until </a:t>
            </a:r>
            <a:r>
              <a:rPr lang="en-IN" sz="2400" b="1" dirty="0"/>
              <a:t>SSPSR</a:t>
            </a:r>
            <a:r>
              <a:rPr lang="en-IN" sz="2400" dirty="0"/>
              <a:t> content change from </a:t>
            </a:r>
            <a:r>
              <a:rPr lang="en-IN" sz="2400" b="1" dirty="0"/>
              <a:t>0X10</a:t>
            </a:r>
            <a:r>
              <a:rPr lang="en-IN" sz="2400" dirty="0"/>
              <a:t> to </a:t>
            </a:r>
            <a:r>
              <a:rPr lang="en-IN" sz="2400" b="1" dirty="0"/>
              <a:t>0X00</a:t>
            </a:r>
            <a:r>
              <a:rPr lang="en-IN" sz="2400" dirty="0"/>
              <a:t> </a:t>
            </a:r>
            <a:endParaRPr lang="en-US" sz="2400" dirty="0"/>
          </a:p>
          <a:p>
            <a:pPr marL="342900" indent="-342900">
              <a:buFont typeface="Wingdings" panose="05000000000000000000" pitchFamily="2" charset="2"/>
              <a:buChar char="§"/>
            </a:pPr>
            <a:r>
              <a:rPr lang="en-US" sz="2400" dirty="0"/>
              <a:t>Use dummy variable read to clear receive FIFO by assigning </a:t>
            </a:r>
            <a:r>
              <a:rPr lang="en-US" sz="2400" b="1" dirty="0"/>
              <a:t>SSPDR</a:t>
            </a:r>
            <a:r>
              <a:rPr lang="en-US" sz="2400" dirty="0"/>
              <a:t> value to variable </a:t>
            </a:r>
            <a:r>
              <a:rPr lang="en-US" sz="2400" b="1" dirty="0"/>
              <a:t>dummy</a:t>
            </a:r>
          </a:p>
          <a:p>
            <a:pPr marL="457200" indent="-457200">
              <a:buFont typeface="Wingdings" panose="05000000000000000000" pitchFamily="2" charset="2"/>
              <a:buChar char="§"/>
            </a:pPr>
            <a:r>
              <a:rPr lang="en-US" sz="2400" dirty="0"/>
              <a:t>Wait for transmit </a:t>
            </a:r>
            <a:r>
              <a:rPr lang="en-US" sz="2400" b="1" dirty="0"/>
              <a:t>FIFO empty </a:t>
            </a:r>
            <a:r>
              <a:rPr lang="en-US" sz="2400" dirty="0"/>
              <a:t>by until </a:t>
            </a:r>
            <a:r>
              <a:rPr lang="en-US" sz="2400" b="1" dirty="0"/>
              <a:t>SSPSR</a:t>
            </a:r>
            <a:r>
              <a:rPr lang="en-US" sz="2400" dirty="0"/>
              <a:t> register content = </a:t>
            </a:r>
            <a:r>
              <a:rPr lang="en-US" sz="2400" b="1" dirty="0"/>
              <a:t>0X00.</a:t>
            </a:r>
            <a:endParaRPr lang="en-US" sz="2400" dirty="0"/>
          </a:p>
          <a:p>
            <a:pPr marL="342900" indent="-342900">
              <a:buFont typeface="Wingdings" panose="05000000000000000000" pitchFamily="2" charset="2"/>
              <a:buChar char="§"/>
            </a:pPr>
            <a:r>
              <a:rPr lang="en-IN" sz="2400" dirty="0"/>
              <a:t>write </a:t>
            </a:r>
            <a:r>
              <a:rPr lang="en-IN" sz="2400" b="1" dirty="0"/>
              <a:t>MSB of address </a:t>
            </a:r>
            <a:r>
              <a:rPr lang="en-IN" sz="2400" dirty="0"/>
              <a:t>by assigning </a:t>
            </a:r>
            <a:r>
              <a:rPr lang="en-IN" sz="2400" b="1" dirty="0"/>
              <a:t>0x00</a:t>
            </a:r>
            <a:r>
              <a:rPr lang="en-IN" sz="2400" dirty="0"/>
              <a:t> to </a:t>
            </a:r>
            <a:r>
              <a:rPr lang="en-IN" sz="2400" b="1" dirty="0"/>
              <a:t>SSPDR</a:t>
            </a:r>
          </a:p>
          <a:p>
            <a:pPr marL="457200" indent="-457200">
              <a:buFont typeface="Wingdings" panose="05000000000000000000" pitchFamily="2" charset="2"/>
              <a:buChar char="§"/>
            </a:pPr>
            <a:r>
              <a:rPr lang="en-IN" sz="2400" dirty="0"/>
              <a:t>Check for SSP controller busy/idle by waiting until </a:t>
            </a:r>
            <a:r>
              <a:rPr lang="en-IN" sz="2400" b="1" dirty="0"/>
              <a:t>SSPSR</a:t>
            </a:r>
            <a:r>
              <a:rPr lang="en-IN" sz="2400" dirty="0"/>
              <a:t> content change from </a:t>
            </a:r>
            <a:r>
              <a:rPr lang="en-IN" sz="2400" b="1" dirty="0"/>
              <a:t>0X10</a:t>
            </a:r>
            <a:r>
              <a:rPr lang="en-IN" sz="2400" dirty="0"/>
              <a:t> to </a:t>
            </a:r>
            <a:r>
              <a:rPr lang="en-IN" sz="2400" b="1" dirty="0"/>
              <a:t>0X00</a:t>
            </a:r>
            <a:r>
              <a:rPr lang="en-IN" sz="2400" dirty="0"/>
              <a:t> </a:t>
            </a:r>
            <a:endParaRPr lang="en-US" sz="2400" dirty="0"/>
          </a:p>
          <a:p>
            <a:pPr marL="342900" indent="-342900">
              <a:buFont typeface="Wingdings" panose="05000000000000000000" pitchFamily="2" charset="2"/>
              <a:buChar char="§"/>
            </a:pPr>
            <a:r>
              <a:rPr lang="en-US" sz="2400" dirty="0"/>
              <a:t>Use dummy variable read to clear receive FIFO by assigning </a:t>
            </a:r>
            <a:r>
              <a:rPr lang="en-US" sz="2400" b="1" dirty="0"/>
              <a:t>SSPDR</a:t>
            </a:r>
            <a:r>
              <a:rPr lang="en-US" sz="2400" dirty="0"/>
              <a:t> value to variable </a:t>
            </a:r>
            <a:r>
              <a:rPr lang="en-US" sz="2400" b="1" dirty="0"/>
              <a:t>dummy</a:t>
            </a:r>
          </a:p>
          <a:p>
            <a:endParaRPr lang="en-US" sz="2400" dirty="0"/>
          </a:p>
          <a:p>
            <a:r>
              <a:rPr lang="en-US" sz="2400" dirty="0"/>
              <a:t>	</a:t>
            </a:r>
            <a:endParaRPr lang="en-IN" sz="2400" dirty="0"/>
          </a:p>
        </p:txBody>
      </p:sp>
    </p:spTree>
    <p:extLst>
      <p:ext uri="{BB962C8B-B14F-4D97-AF65-F5344CB8AC3E}">
        <p14:creationId xmlns:p14="http://schemas.microsoft.com/office/powerpoint/2010/main" val="227201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051998-BC25-4DA8-8BC4-75DB98396B3E}"/>
              </a:ext>
            </a:extLst>
          </p:cNvPr>
          <p:cNvSpPr txBox="1"/>
          <p:nvPr/>
        </p:nvSpPr>
        <p:spPr>
          <a:xfrm>
            <a:off x="501126" y="827170"/>
            <a:ext cx="11416054" cy="4154984"/>
          </a:xfrm>
          <a:prstGeom prst="rect">
            <a:avLst/>
          </a:prstGeom>
          <a:noFill/>
        </p:spPr>
        <p:txBody>
          <a:bodyPr wrap="square">
            <a:spAutoFit/>
          </a:bodyPr>
          <a:lstStyle/>
          <a:p>
            <a:pPr marL="342900" indent="-342900">
              <a:buFont typeface="Wingdings" panose="05000000000000000000" pitchFamily="2" charset="2"/>
              <a:buChar char="§"/>
            </a:pPr>
            <a:r>
              <a:rPr lang="en-US" sz="2400" dirty="0"/>
              <a:t>Wait for transmit </a:t>
            </a:r>
            <a:r>
              <a:rPr lang="en-US" sz="2400" b="1" dirty="0"/>
              <a:t>FIFO empty </a:t>
            </a:r>
            <a:r>
              <a:rPr lang="en-US" sz="2400" dirty="0"/>
              <a:t>by until </a:t>
            </a:r>
            <a:r>
              <a:rPr lang="en-US" sz="2400" b="1" dirty="0"/>
              <a:t>SSPSR</a:t>
            </a:r>
            <a:r>
              <a:rPr lang="en-US" sz="2400" dirty="0"/>
              <a:t> register content = </a:t>
            </a:r>
            <a:r>
              <a:rPr lang="en-US" sz="2400" b="1" dirty="0"/>
              <a:t>0X00</a:t>
            </a:r>
          </a:p>
          <a:p>
            <a:pPr marL="342900" indent="-342900">
              <a:buFont typeface="Wingdings" panose="05000000000000000000" pitchFamily="2" charset="2"/>
              <a:buChar char="§"/>
            </a:pPr>
            <a:r>
              <a:rPr lang="en-US" sz="2400" dirty="0"/>
              <a:t>Write </a:t>
            </a:r>
            <a:r>
              <a:rPr lang="en-US" sz="2400" b="1" dirty="0"/>
              <a:t>LSB of address </a:t>
            </a:r>
            <a:r>
              <a:rPr lang="en-IN" sz="2400" dirty="0"/>
              <a:t>by assigning </a:t>
            </a:r>
            <a:r>
              <a:rPr lang="en-IN" sz="2400" b="1" dirty="0"/>
              <a:t>0x00</a:t>
            </a:r>
            <a:r>
              <a:rPr lang="en-IN" sz="2400" dirty="0"/>
              <a:t> to </a:t>
            </a:r>
            <a:r>
              <a:rPr lang="en-IN" sz="2400" b="1" dirty="0"/>
              <a:t>SSPDR </a:t>
            </a:r>
            <a:r>
              <a:rPr lang="en-US" sz="2400" dirty="0"/>
              <a:t>Check for SSP controller busy/idle.</a:t>
            </a:r>
          </a:p>
          <a:p>
            <a:pPr marL="342900" indent="-342900">
              <a:buFont typeface="Wingdings" panose="05000000000000000000" pitchFamily="2" charset="2"/>
              <a:buChar char="§"/>
            </a:pPr>
            <a:r>
              <a:rPr lang="en-US" sz="2400" dirty="0"/>
              <a:t>Use dummy variable read to clear receive FIFO by assigning </a:t>
            </a:r>
            <a:r>
              <a:rPr lang="en-US" sz="2400" b="1" dirty="0"/>
              <a:t>SSPDR</a:t>
            </a:r>
            <a:r>
              <a:rPr lang="en-US" sz="2400" dirty="0"/>
              <a:t> value to variable </a:t>
            </a:r>
            <a:r>
              <a:rPr lang="en-US" sz="2400" b="1" dirty="0"/>
              <a:t>dummy</a:t>
            </a:r>
          </a:p>
          <a:p>
            <a:pPr marL="342900" indent="-342900">
              <a:buFont typeface="Wingdings" panose="05000000000000000000" pitchFamily="2" charset="2"/>
              <a:buChar char="§"/>
            </a:pPr>
            <a:r>
              <a:rPr lang="en-US" sz="2400" dirty="0"/>
              <a:t>Wait for transmit </a:t>
            </a:r>
            <a:r>
              <a:rPr lang="en-US" sz="2400" b="1" dirty="0"/>
              <a:t>FIFO empty </a:t>
            </a:r>
            <a:r>
              <a:rPr lang="en-US" sz="2400" dirty="0"/>
              <a:t>by until </a:t>
            </a:r>
            <a:r>
              <a:rPr lang="en-US" sz="2400" b="1" dirty="0"/>
              <a:t>SSPSR</a:t>
            </a:r>
            <a:r>
              <a:rPr lang="en-US" sz="2400" dirty="0"/>
              <a:t> register content = </a:t>
            </a:r>
            <a:r>
              <a:rPr lang="en-US" sz="2400" b="1" dirty="0"/>
              <a:t>0X00</a:t>
            </a:r>
          </a:p>
          <a:p>
            <a:pPr marL="342900" indent="-342900">
              <a:buFont typeface="Wingdings" panose="05000000000000000000" pitchFamily="2" charset="2"/>
              <a:buChar char="§"/>
            </a:pPr>
            <a:r>
              <a:rPr lang="en-US" sz="2400" dirty="0"/>
              <a:t>Assign </a:t>
            </a:r>
            <a:r>
              <a:rPr lang="en-US" sz="2400" b="1" dirty="0"/>
              <a:t>0X00</a:t>
            </a:r>
            <a:r>
              <a:rPr lang="en-US" sz="2400" dirty="0"/>
              <a:t> to </a:t>
            </a:r>
            <a:r>
              <a:rPr lang="en-US" sz="2400" b="1" dirty="0"/>
              <a:t>SSPDR</a:t>
            </a:r>
            <a:endParaRPr lang="en-IN" sz="2400" b="1" dirty="0"/>
          </a:p>
          <a:p>
            <a:pPr marL="342900" indent="-342900">
              <a:buFont typeface="Wingdings" panose="05000000000000000000" pitchFamily="2" charset="2"/>
              <a:buChar char="§"/>
            </a:pPr>
            <a:r>
              <a:rPr lang="en-US" sz="2400" dirty="0"/>
              <a:t>checking for SSP controller busy/idle.</a:t>
            </a:r>
            <a:r>
              <a:rPr lang="en-IN" sz="2400" dirty="0"/>
              <a:t> check for SSP controller busy/idle. by waiting until </a:t>
            </a:r>
            <a:r>
              <a:rPr lang="en-IN" sz="2400" b="1" dirty="0"/>
              <a:t>SSPSR</a:t>
            </a:r>
            <a:r>
              <a:rPr lang="en-IN" sz="2400" dirty="0"/>
              <a:t> content change from </a:t>
            </a:r>
            <a:r>
              <a:rPr lang="en-IN" sz="2400" b="1" dirty="0"/>
              <a:t>0X10</a:t>
            </a:r>
            <a:r>
              <a:rPr lang="en-IN" sz="2400" dirty="0"/>
              <a:t> to </a:t>
            </a:r>
            <a:r>
              <a:rPr lang="en-IN" sz="2400" b="1" dirty="0"/>
              <a:t>0X00</a:t>
            </a:r>
            <a:r>
              <a:rPr lang="en-IN" sz="2400" dirty="0"/>
              <a:t> Wait until receive FIFO is empty</a:t>
            </a:r>
          </a:p>
          <a:p>
            <a:pPr marL="342900" indent="-342900">
              <a:buFont typeface="Wingdings" panose="05000000000000000000" pitchFamily="2" charset="2"/>
              <a:buChar char="§"/>
            </a:pPr>
            <a:r>
              <a:rPr lang="en-IN" sz="2400" dirty="0"/>
              <a:t>Read </a:t>
            </a:r>
            <a:r>
              <a:rPr lang="en-IN" sz="2400" b="1" dirty="0"/>
              <a:t>EEPROM</a:t>
            </a:r>
            <a:r>
              <a:rPr lang="en-IN" sz="2400" dirty="0"/>
              <a:t> data . By assigning </a:t>
            </a:r>
            <a:r>
              <a:rPr lang="en-IN" sz="2400" b="1" dirty="0"/>
              <a:t>SSPDR</a:t>
            </a:r>
            <a:r>
              <a:rPr lang="en-IN" sz="2400" dirty="0"/>
              <a:t> value to </a:t>
            </a:r>
            <a:r>
              <a:rPr lang="en-IN" sz="2400" b="1" dirty="0" err="1"/>
              <a:t>nvrom_data</a:t>
            </a:r>
            <a:r>
              <a:rPr lang="en-IN" sz="2400" b="1" dirty="0"/>
              <a:t> </a:t>
            </a:r>
            <a:r>
              <a:rPr lang="en-IN" sz="2400" dirty="0"/>
              <a:t>array. </a:t>
            </a:r>
          </a:p>
          <a:p>
            <a:pPr marL="342900" indent="-342900">
              <a:buFont typeface="Wingdings" panose="05000000000000000000" pitchFamily="2" charset="2"/>
              <a:buChar char="§"/>
            </a:pPr>
            <a:r>
              <a:rPr lang="en-US" sz="2400" dirty="0"/>
              <a:t>Disable SPI  </a:t>
            </a:r>
            <a:r>
              <a:rPr lang="en-IN" sz="2400" b="1" dirty="0"/>
              <a:t>CS High </a:t>
            </a:r>
            <a:r>
              <a:rPr lang="en-IN" sz="2400" dirty="0"/>
              <a:t>by loading register </a:t>
            </a:r>
            <a:r>
              <a:rPr lang="en-IN" sz="2400" b="1" dirty="0"/>
              <a:t>IO0SET</a:t>
            </a:r>
            <a:r>
              <a:rPr lang="en-IN" sz="2400" dirty="0"/>
              <a:t> with </a:t>
            </a:r>
            <a:r>
              <a:rPr lang="en-US" sz="2400" b="1" dirty="0"/>
              <a:t>0X00100000</a:t>
            </a:r>
            <a:endParaRPr lang="en-IN" sz="2400" dirty="0"/>
          </a:p>
          <a:p>
            <a:endParaRPr lang="en-IN" sz="2400" dirty="0"/>
          </a:p>
        </p:txBody>
      </p:sp>
    </p:spTree>
    <p:extLst>
      <p:ext uri="{BB962C8B-B14F-4D97-AF65-F5344CB8AC3E}">
        <p14:creationId xmlns:p14="http://schemas.microsoft.com/office/powerpoint/2010/main" val="92127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18314</TotalTime>
  <Words>1996</Words>
  <Application>Microsoft Office PowerPoint</Application>
  <PresentationFormat>Widescreen</PresentationFormat>
  <Paragraphs>220</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Calibri </vt:lpstr>
      <vt:lpstr>Calibri Light</vt:lpstr>
      <vt:lpstr>Calibri(body</vt:lpstr>
      <vt:lpstr>Montserrat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131</cp:revision>
  <dcterms:created xsi:type="dcterms:W3CDTF">2022-09-03T06:48:34Z</dcterms:created>
  <dcterms:modified xsi:type="dcterms:W3CDTF">2022-09-17T03:43:08Z</dcterms:modified>
</cp:coreProperties>
</file>