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7"/>
  </p:notesMasterIdLst>
  <p:sldIdLst>
    <p:sldId id="282" r:id="rId2"/>
    <p:sldId id="256" r:id="rId3"/>
    <p:sldId id="283" r:id="rId4"/>
    <p:sldId id="257" r:id="rId5"/>
    <p:sldId id="286" r:id="rId6"/>
    <p:sldId id="295" r:id="rId7"/>
    <p:sldId id="279" r:id="rId8"/>
    <p:sldId id="296" r:id="rId9"/>
    <p:sldId id="298" r:id="rId10"/>
    <p:sldId id="310" r:id="rId11"/>
    <p:sldId id="299" r:id="rId12"/>
    <p:sldId id="300" r:id="rId13"/>
    <p:sldId id="302" r:id="rId14"/>
    <p:sldId id="303" r:id="rId15"/>
    <p:sldId id="311" r:id="rId16"/>
    <p:sldId id="312" r:id="rId17"/>
    <p:sldId id="313" r:id="rId18"/>
    <p:sldId id="304" r:id="rId19"/>
    <p:sldId id="314" r:id="rId20"/>
    <p:sldId id="305" r:id="rId21"/>
    <p:sldId id="306" r:id="rId22"/>
    <p:sldId id="307" r:id="rId23"/>
    <p:sldId id="308" r:id="rId24"/>
    <p:sldId id="315" r:id="rId25"/>
    <p:sldId id="273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27" autoAdjust="0"/>
    <p:restoredTop sz="94660"/>
  </p:normalViewPr>
  <p:slideViewPr>
    <p:cSldViewPr>
      <p:cViewPr>
        <p:scale>
          <a:sx n="75" d="100"/>
          <a:sy n="75" d="100"/>
        </p:scale>
        <p:origin x="-1194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D7B84C-B8A9-420E-96D0-684DFA262CD7}" type="datetimeFigureOut">
              <a:rPr lang="en-IN" smtClean="0"/>
              <a:pPr/>
              <a:t>07-08-2021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29D1D3-03DD-4166-B6DA-1C942171BE4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4537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29D1D3-03DD-4166-B6DA-1C942171BE48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946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0954F-D712-4EB3-9F0A-D894D5B9304E}" type="datetime1">
              <a:rPr lang="en-IN" smtClean="0"/>
              <a:t>07-08-2021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RTOS_LAB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BCFA-415E-45EC-9026-21BB5BA36EF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1533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B47D0-43AA-4DAD-81B4-B621E28E582F}" type="datetime1">
              <a:rPr lang="en-IN" smtClean="0"/>
              <a:t>07-08-2021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RTOS_LAB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BCFA-415E-45EC-9026-21BB5BA36EF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3346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BABE5-0EE1-472B-8AC0-8709E14CCE84}" type="datetime1">
              <a:rPr lang="en-IN" smtClean="0"/>
              <a:t>07-08-2021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RTOS_LAB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BCFA-415E-45EC-9026-21BB5BA36EF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6171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689FE-6AC1-4B05-90BD-3BD3E58C4DED}" type="datetime1">
              <a:rPr lang="en-IN" smtClean="0"/>
              <a:t>07-08-2021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RTOS_LAB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BCFA-415E-45EC-9026-21BB5BA36EF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0179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1D02B-30F2-45FB-BCCE-00F674112F05}" type="datetime1">
              <a:rPr lang="en-IN" smtClean="0"/>
              <a:t>07-08-2021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RTOS_LAB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BCFA-415E-45EC-9026-21BB5BA36EF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2132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12619-27D6-4C4B-A5B3-7AFBFE4A670F}" type="datetime1">
              <a:rPr lang="en-IN" smtClean="0"/>
              <a:t>07-08-2021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RTOS_LAB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BCFA-415E-45EC-9026-21BB5BA36EF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6694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79472-375D-4995-AD44-0D489A2D383A}" type="datetime1">
              <a:rPr lang="en-IN" smtClean="0"/>
              <a:t>07-08-2021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RTOS_LAB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BCFA-415E-45EC-9026-21BB5BA36EF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3565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DBADE-4770-4F90-A607-F1CFE39A7FF2}" type="datetime1">
              <a:rPr lang="en-IN" smtClean="0"/>
              <a:t>07-08-2021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RTOS_LAB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BCFA-415E-45EC-9026-21BB5BA36EF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4092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44B3D-0603-4081-9149-89ACDEC3A1D3}" type="datetime1">
              <a:rPr lang="en-IN" smtClean="0"/>
              <a:t>07-08-2021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RTOS_LAB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BCFA-415E-45EC-9026-21BB5BA36EF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1428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9F570-0F90-4E32-9D96-753F6D85438A}" type="datetime1">
              <a:rPr lang="en-IN" smtClean="0"/>
              <a:t>07-08-2021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RTOS_LAB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BCFA-415E-45EC-9026-21BB5BA36EF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1663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5F0F0-6E8C-49A9-B8CE-8F12E4AA9EF1}" type="datetime1">
              <a:rPr lang="en-IN" smtClean="0"/>
              <a:t>07-08-2021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RTOS_LAB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BCFA-415E-45EC-9026-21BB5BA36EF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8603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b="5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33B6AC-198E-4AB7-84EA-07585FD325F9}" type="datetime1">
              <a:rPr lang="en-IN" smtClean="0"/>
              <a:t>07-08-2021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smtClean="0"/>
              <a:t>RTOS_LAB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04BCFA-415E-45EC-9026-21BB5BA36EF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3488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1772817"/>
            <a:ext cx="8712968" cy="18002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Course: </a:t>
            </a:r>
            <a:r>
              <a:rPr lang="en-US" dirty="0"/>
              <a:t>ARM Processor &amp; </a:t>
            </a:r>
            <a:r>
              <a:rPr lang="en-US" dirty="0" smtClean="0"/>
              <a:t>Applications</a:t>
            </a:r>
            <a:br>
              <a:rPr lang="en-US" dirty="0" smtClean="0"/>
            </a:br>
            <a:r>
              <a:rPr lang="en-US" dirty="0" smtClean="0"/>
              <a:t>(15EECC207) </a:t>
            </a:r>
            <a:r>
              <a:rPr lang="en-US" sz="5400" dirty="0" smtClean="0"/>
              <a:t>   </a:t>
            </a:r>
            <a:r>
              <a:rPr lang="en-IN" dirty="0">
                <a:latin typeface="Arial"/>
                <a:ea typeface="Arial"/>
              </a:rPr>
              <a:t/>
            </a:r>
            <a:br>
              <a:rPr lang="en-IN" dirty="0">
                <a:latin typeface="Arial"/>
                <a:ea typeface="Arial"/>
              </a:rPr>
            </a:br>
            <a:r>
              <a:rPr lang="en-US" dirty="0" smtClean="0"/>
              <a:t> 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1560" y="4268688"/>
            <a:ext cx="7776864" cy="1752600"/>
          </a:xfrm>
        </p:spPr>
        <p:txBody>
          <a:bodyPr>
            <a:normAutofit/>
          </a:bodyPr>
          <a:lstStyle/>
          <a:p>
            <a:r>
              <a:rPr lang="en-IN" sz="2800" dirty="0" smtClean="0"/>
              <a:t>Faculty In Charge: </a:t>
            </a:r>
            <a:r>
              <a:rPr lang="en-IN" sz="2800" dirty="0" err="1" smtClean="0"/>
              <a:t>Bhagyashree</a:t>
            </a:r>
            <a:r>
              <a:rPr lang="en-IN" sz="2800" dirty="0" smtClean="0"/>
              <a:t> K., </a:t>
            </a:r>
            <a:r>
              <a:rPr lang="en-IN" sz="2800" dirty="0" err="1" smtClean="0"/>
              <a:t>Preeti</a:t>
            </a:r>
            <a:r>
              <a:rPr lang="en-IN" sz="2800" dirty="0" smtClean="0"/>
              <a:t> S. </a:t>
            </a:r>
            <a:r>
              <a:rPr lang="en-IN" sz="2800" dirty="0" err="1" smtClean="0"/>
              <a:t>Pillai</a:t>
            </a:r>
            <a:r>
              <a:rPr lang="en-IN" sz="2800" dirty="0" smtClean="0"/>
              <a:t>, </a:t>
            </a:r>
            <a:r>
              <a:rPr lang="en-IN" sz="2800" dirty="0" err="1" smtClean="0"/>
              <a:t>Supriya</a:t>
            </a:r>
            <a:r>
              <a:rPr lang="en-IN" sz="2800" dirty="0" smtClean="0"/>
              <a:t> K.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029049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83768" y="44625"/>
            <a:ext cx="5974432" cy="1008112"/>
          </a:xfrm>
        </p:spPr>
        <p:txBody>
          <a:bodyPr>
            <a:normAutofit/>
          </a:bodyPr>
          <a:lstStyle/>
          <a:p>
            <a:r>
              <a:rPr lang="en-US" sz="2800" dirty="0" smtClean="0"/>
              <a:t>Course: ARM </a:t>
            </a:r>
            <a:r>
              <a:rPr lang="en-US" sz="2800" dirty="0"/>
              <a:t>Processor &amp; Applications</a:t>
            </a:r>
            <a:endParaRPr lang="en-IN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1560" y="1196752"/>
            <a:ext cx="7920880" cy="5112568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US" b="1" dirty="0"/>
              <a:t>Course Outcomes (COs): </a:t>
            </a:r>
            <a:endParaRPr lang="en-IN" dirty="0"/>
          </a:p>
          <a:p>
            <a:pPr algn="l"/>
            <a:r>
              <a:rPr lang="en-US" dirty="0"/>
              <a:t>At the end of the course the student should be able to</a:t>
            </a:r>
            <a:r>
              <a:rPr lang="en-US" dirty="0" smtClean="0"/>
              <a:t>:</a:t>
            </a:r>
          </a:p>
          <a:p>
            <a:pPr algn="l"/>
            <a:r>
              <a:rPr lang="en-US" dirty="0" smtClean="0"/>
              <a:t>  </a:t>
            </a:r>
            <a:endParaRPr lang="en-IN" dirty="0"/>
          </a:p>
          <a:p>
            <a:pPr marL="571500" lvl="0" indent="-571500" algn="l">
              <a:buFont typeface="+mj-lt"/>
              <a:buAutoNum type="romanLcPeriod"/>
            </a:pPr>
            <a:r>
              <a:rPr lang="en-US" dirty="0"/>
              <a:t>Discuss advanced microprocessor architecture and pipeline </a:t>
            </a:r>
            <a:r>
              <a:rPr lang="en-US" dirty="0" smtClean="0"/>
              <a:t>structure.</a:t>
            </a:r>
            <a:endParaRPr lang="en-IN" dirty="0"/>
          </a:p>
          <a:p>
            <a:pPr marL="571500" lvl="0" indent="-571500" algn="l">
              <a:buFont typeface="+mj-lt"/>
              <a:buAutoNum type="romanLcPeriod"/>
            </a:pPr>
            <a:r>
              <a:rPr lang="en-US" dirty="0" smtClean="0"/>
              <a:t>Write </a:t>
            </a:r>
            <a:r>
              <a:rPr lang="en-US" dirty="0"/>
              <a:t>assembly language programs with a tradeoff between size and complexity and test it using development </a:t>
            </a:r>
            <a:r>
              <a:rPr lang="en-US" dirty="0" smtClean="0"/>
              <a:t>tools.</a:t>
            </a:r>
            <a:endParaRPr lang="en-IN" dirty="0"/>
          </a:p>
          <a:p>
            <a:pPr marL="571500" lvl="0" indent="-571500" algn="l">
              <a:buFont typeface="+mj-lt"/>
              <a:buAutoNum type="romanLcPeriod"/>
            </a:pPr>
            <a:r>
              <a:rPr lang="en-US" dirty="0" smtClean="0"/>
              <a:t>Develop </a:t>
            </a:r>
            <a:r>
              <a:rPr lang="en-US" dirty="0"/>
              <a:t>an assembly level program for the given application using ARM or THUMB or both instruction </a:t>
            </a:r>
            <a:r>
              <a:rPr lang="en-US" dirty="0" smtClean="0"/>
              <a:t>set.</a:t>
            </a:r>
            <a:endParaRPr lang="en-IN" dirty="0"/>
          </a:p>
          <a:p>
            <a:pPr marL="571500" lvl="0" indent="-571500" algn="l">
              <a:buFont typeface="+mj-lt"/>
              <a:buAutoNum type="romanLcPeriod"/>
            </a:pPr>
            <a:r>
              <a:rPr lang="en-US" dirty="0"/>
              <a:t>Discuss the concept of interrupt and their application.</a:t>
            </a:r>
            <a:endParaRPr lang="en-IN" dirty="0"/>
          </a:p>
          <a:p>
            <a:pPr marL="571500" indent="-571500" algn="l">
              <a:buFont typeface="+mj-lt"/>
              <a:buAutoNum type="romanLcPeriod"/>
            </a:pPr>
            <a:r>
              <a:rPr lang="en-US" b="1" dirty="0">
                <a:solidFill>
                  <a:schemeClr val="tx1"/>
                </a:solidFill>
              </a:rPr>
              <a:t>Develop a C code for interfacing different ON/OFF board peripheral devices to LPC 2148 controller.</a:t>
            </a:r>
            <a:endParaRPr lang="en-IN" b="1" dirty="0">
              <a:solidFill>
                <a:schemeClr val="tx1"/>
              </a:solidFill>
            </a:endParaRP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4154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981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Unit-3</a:t>
            </a:r>
            <a:r>
              <a:rPr lang="en-IN" dirty="0"/>
              <a:t/>
            </a:r>
            <a:br>
              <a:rPr lang="en-IN" dirty="0"/>
            </a:br>
            <a:r>
              <a:rPr lang="en-US" sz="4000" dirty="0"/>
              <a:t>LPC 2148 Controller Architectural overview </a:t>
            </a:r>
            <a:endParaRPr lang="en-IN" sz="4000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26875-F871-4229-A0D0-85A9D93A4229}" type="datetime1">
              <a:rPr lang="en-IN" smtClean="0"/>
              <a:t>07-08-2021</a:t>
            </a:fld>
            <a:endParaRPr lang="en-I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RTOS_LAB</a:t>
            </a:r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BCFA-415E-45EC-9026-21BB5BA36EF0}" type="slidenum">
              <a:rPr lang="en-IN" smtClean="0"/>
              <a:pPr/>
              <a:t>3</a:t>
            </a:fld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 smtClean="0"/>
          </a:p>
          <a:p>
            <a:endParaRPr lang="en-IN" dirty="0" smtClean="0"/>
          </a:p>
          <a:p>
            <a:endParaRPr lang="en-IN" dirty="0"/>
          </a:p>
          <a:p>
            <a:pPr marL="0" indent="0" algn="ctr">
              <a:buNone/>
            </a:pPr>
            <a:r>
              <a:rPr lang="en-IN" b="1" dirty="0" smtClean="0"/>
              <a:t> </a:t>
            </a:r>
            <a:r>
              <a:rPr lang="en-IN" b="1" dirty="0" err="1" smtClean="0"/>
              <a:t>Analog</a:t>
            </a:r>
            <a:r>
              <a:rPr lang="en-IN" b="1" dirty="0" smtClean="0"/>
              <a:t> to Digital Converter(ADC)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940301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457200" y="-89904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Introduction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22D5D-5A79-47FD-AAC9-C0C58E485647}" type="datetime1">
              <a:rPr lang="en-IN" smtClean="0"/>
              <a:t>07-08-2021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RTOS_LAB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BCFA-415E-45EC-9026-21BB5BA36EF0}" type="slidenum">
              <a:rPr lang="en-IN" smtClean="0"/>
              <a:pPr/>
              <a:t>4</a:t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500034" y="797511"/>
            <a:ext cx="835824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 smtClean="0"/>
              <a:t>Analog signals are continuous, with infinite values in a given range. Digital signals have discrete values such as on/off or 0/1.</a:t>
            </a:r>
          </a:p>
          <a:p>
            <a:pPr algn="just">
              <a:lnSpc>
                <a:spcPct val="150000"/>
              </a:lnSpc>
            </a:pPr>
            <a:r>
              <a:rPr lang="en-US" sz="2400" dirty="0" smtClean="0"/>
              <a:t>Limitations of analog signals</a:t>
            </a:r>
          </a:p>
          <a:p>
            <a:pPr lvl="1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/>
              <a:t>Analog signals pick </a:t>
            </a:r>
            <a:r>
              <a:rPr lang="en-US" sz="2400" dirty="0" smtClean="0">
                <a:solidFill>
                  <a:schemeClr val="folHlink"/>
                </a:solidFill>
              </a:rPr>
              <a:t>up noise</a:t>
            </a:r>
            <a:r>
              <a:rPr lang="en-US" sz="2400" dirty="0" smtClean="0"/>
              <a:t> as they are being amplified.</a:t>
            </a:r>
          </a:p>
          <a:p>
            <a:pPr lvl="1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/>
              <a:t>Analog signals are </a:t>
            </a:r>
            <a:r>
              <a:rPr lang="en-US" sz="2400" dirty="0" smtClean="0">
                <a:solidFill>
                  <a:schemeClr val="folHlink"/>
                </a:solidFill>
              </a:rPr>
              <a:t>difficult</a:t>
            </a:r>
            <a:r>
              <a:rPr lang="en-US" sz="2400" dirty="0" smtClean="0"/>
              <a:t> to store.</a:t>
            </a:r>
          </a:p>
          <a:p>
            <a:pPr lvl="1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/>
              <a:t>Analog systems are more </a:t>
            </a:r>
            <a:r>
              <a:rPr lang="en-US" sz="2400" dirty="0" smtClean="0">
                <a:solidFill>
                  <a:schemeClr val="folHlink"/>
                </a:solidFill>
              </a:rPr>
              <a:t>expensive</a:t>
            </a:r>
            <a:r>
              <a:rPr lang="en-US" sz="2400" dirty="0" smtClean="0"/>
              <a:t> in relation to digital systems.</a:t>
            </a:r>
          </a:p>
        </p:txBody>
      </p:sp>
    </p:spTree>
    <p:extLst>
      <p:ext uri="{BB962C8B-B14F-4D97-AF65-F5344CB8AC3E}">
        <p14:creationId xmlns:p14="http://schemas.microsoft.com/office/powerpoint/2010/main" val="170105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457200" y="-89904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Introduction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457200" y="1052736"/>
            <a:ext cx="8229240" cy="5073024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just">
              <a:lnSpc>
                <a:spcPct val="100000"/>
              </a:lnSpc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E6075-89DE-4C85-8046-3C847BED3EC3}" type="datetime1">
              <a:rPr lang="en-IN" smtClean="0"/>
              <a:t>07-08-2021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RTOS_LAB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BCFA-415E-45EC-9026-21BB5BA36EF0}" type="slidenum">
              <a:rPr lang="en-IN" smtClean="0"/>
              <a:pPr/>
              <a:t>5</a:t>
            </a:fld>
            <a:endParaRPr lang="en-IN"/>
          </a:p>
        </p:txBody>
      </p:sp>
      <p:pic>
        <p:nvPicPr>
          <p:cNvPr id="7" name="Picture 6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496" y="44624"/>
            <a:ext cx="2192020" cy="781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928662" y="1142984"/>
            <a:ext cx="7215238" cy="4467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 smtClean="0"/>
              <a:t>Advantages of digital systems (signals)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folHlink"/>
                </a:solidFill>
              </a:rPr>
              <a:t>Noise can be reduced</a:t>
            </a:r>
            <a:r>
              <a:rPr lang="en-US" sz="2400" dirty="0" smtClean="0"/>
              <a:t> by converting analog signals in 0s and1s.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/>
              <a:t>Binary signals of 0s/1s can be </a:t>
            </a:r>
            <a:r>
              <a:rPr lang="en-US" sz="2400" dirty="0" smtClean="0">
                <a:solidFill>
                  <a:schemeClr val="folHlink"/>
                </a:solidFill>
              </a:rPr>
              <a:t>easily stored</a:t>
            </a:r>
            <a:r>
              <a:rPr lang="en-US" sz="2400" dirty="0" smtClean="0"/>
              <a:t> in memory.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/>
              <a:t>Technology for </a:t>
            </a:r>
            <a:r>
              <a:rPr lang="en-US" sz="2400" dirty="0" smtClean="0">
                <a:solidFill>
                  <a:schemeClr val="folHlink"/>
                </a:solidFill>
              </a:rPr>
              <a:t>fabricating</a:t>
            </a:r>
            <a:r>
              <a:rPr lang="en-US" sz="2400" dirty="0" smtClean="0"/>
              <a:t> digital systems has become so advanced that they can be produced at low cost.</a:t>
            </a:r>
          </a:p>
          <a:p>
            <a:pPr algn="just">
              <a:lnSpc>
                <a:spcPct val="150000"/>
              </a:lnSpc>
            </a:pPr>
            <a:r>
              <a:rPr lang="en-US" sz="2400" dirty="0" smtClean="0"/>
              <a:t>The major limitation of a digital system is how accurately it </a:t>
            </a:r>
            <a:r>
              <a:rPr lang="en-US" sz="2400" dirty="0" smtClean="0">
                <a:solidFill>
                  <a:schemeClr val="folHlink"/>
                </a:solidFill>
              </a:rPr>
              <a:t>represents</a:t>
            </a:r>
            <a:r>
              <a:rPr lang="en-US" sz="2400" dirty="0" smtClean="0"/>
              <a:t> the analog signals after conversion</a:t>
            </a:r>
            <a:r>
              <a:rPr lang="en-US" sz="20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71194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99392"/>
            <a:ext cx="8229600" cy="1143000"/>
          </a:xfrm>
        </p:spPr>
        <p:txBody>
          <a:bodyPr/>
          <a:lstStyle/>
          <a:p>
            <a:r>
              <a:rPr lang="en-IN" dirty="0" smtClean="0"/>
              <a:t>      Introduction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9BAF5-CC0E-435C-B67C-02D115343A93}" type="datetime1">
              <a:rPr lang="en-IN" smtClean="0"/>
              <a:t>07-08-2021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RTOS_LAB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BCFA-415E-45EC-9026-21BB5BA36EF0}" type="slidenum">
              <a:rPr lang="en-IN" smtClean="0"/>
              <a:pPr/>
              <a:t>6</a:t>
            </a:fld>
            <a:endParaRPr lang="en-IN"/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524000"/>
            <a:ext cx="82296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135404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extShape 1"/>
          <p:cNvSpPr txBox="1"/>
          <p:nvPr/>
        </p:nvSpPr>
        <p:spPr>
          <a:xfrm>
            <a:off x="2143108" y="-27384"/>
            <a:ext cx="6543332" cy="11426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Analog to Digital Converter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62" name="TextShape 2"/>
          <p:cNvSpPr txBox="1"/>
          <p:nvPr/>
        </p:nvSpPr>
        <p:spPr>
          <a:xfrm>
            <a:off x="457200" y="1124744"/>
            <a:ext cx="8435280" cy="504056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457200" indent="-457200"/>
            <a:endParaRPr lang="en-IN" sz="3200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2189B-6E40-4054-8D13-709889204EB1}" type="datetime1">
              <a:rPr lang="en-IN" smtClean="0"/>
              <a:t>07-08-2021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RTOS_LAB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BCFA-415E-45EC-9026-21BB5BA36EF0}" type="slidenum">
              <a:rPr lang="en-IN" smtClean="0"/>
              <a:pPr/>
              <a:t>7</a:t>
            </a:fld>
            <a:endParaRPr lang="en-IN"/>
          </a:p>
        </p:txBody>
      </p:sp>
      <p:pic>
        <p:nvPicPr>
          <p:cNvPr id="14338" name="Picture 2" descr="A/D Converter D/A Converter Operation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28" y="3714752"/>
            <a:ext cx="6215106" cy="2386016"/>
          </a:xfrm>
          <a:prstGeom prst="rect">
            <a:avLst/>
          </a:prstGeom>
          <a:noFill/>
        </p:spPr>
      </p:pic>
      <p:sp>
        <p:nvSpPr>
          <p:cNvPr id="9" name="Rectangle 8"/>
          <p:cNvSpPr/>
          <p:nvPr/>
        </p:nvSpPr>
        <p:spPr>
          <a:xfrm>
            <a:off x="571472" y="1214422"/>
            <a:ext cx="778674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dirty="0" smtClean="0"/>
              <a:t>The A/D converter breaks up (samples) the amplitude of the </a:t>
            </a:r>
            <a:r>
              <a:rPr lang="en-IN" dirty="0" err="1" smtClean="0"/>
              <a:t>analog</a:t>
            </a:r>
            <a:r>
              <a:rPr lang="en-IN" dirty="0" smtClean="0"/>
              <a:t> signal at discrete intervals, which are then converted into digital values. The resolution of an </a:t>
            </a:r>
            <a:r>
              <a:rPr lang="en-IN" dirty="0" err="1" smtClean="0"/>
              <a:t>analog</a:t>
            </a:r>
            <a:r>
              <a:rPr lang="en-IN" dirty="0" smtClean="0"/>
              <a:t> to digital converter (indicating the number of discrete values it can produce over a range of </a:t>
            </a:r>
            <a:r>
              <a:rPr lang="en-IN" dirty="0" err="1" smtClean="0"/>
              <a:t>analog</a:t>
            </a:r>
            <a:r>
              <a:rPr lang="en-IN" dirty="0" smtClean="0"/>
              <a:t> values) is typically expressed by the number of bits. In the above case of a 3bit A/D converter, the upper value (b2) is referred to as the Most Significant Bit (MSB) and the lowest value (b0) the Least Significant Bit (LSB).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4557828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Conversion steps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900486" cy="4525963"/>
          </a:xfrm>
        </p:spPr>
        <p:txBody>
          <a:bodyPr>
            <a:normAutofit fontScale="77500" lnSpcReduction="20000"/>
          </a:bodyPr>
          <a:lstStyle/>
          <a:p>
            <a:pPr algn="just">
              <a:lnSpc>
                <a:spcPct val="90000"/>
              </a:lnSpc>
            </a:pPr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In order to change an analog signal to digital, the input analog signal is sampled at a high rate of speed.</a:t>
            </a:r>
            <a:r>
              <a:rPr lang="en-US" dirty="0" smtClean="0"/>
              <a:t>  </a:t>
            </a:r>
          </a:p>
          <a:p>
            <a:pPr algn="just">
              <a:lnSpc>
                <a:spcPct val="90000"/>
              </a:lnSpc>
            </a:pPr>
            <a:r>
              <a:rPr lang="en-US" dirty="0" smtClean="0">
                <a:solidFill>
                  <a:srgbClr val="FF0000"/>
                </a:solidFill>
              </a:rPr>
              <a:t>The amplitude at each of those sampled moments is converted into a number equivalent – this is called quantization. </a:t>
            </a:r>
          </a:p>
          <a:p>
            <a:pPr algn="just">
              <a:lnSpc>
                <a:spcPct val="90000"/>
              </a:lnSpc>
            </a:pPr>
            <a:r>
              <a:rPr lang="en-US" dirty="0" smtClean="0">
                <a:solidFill>
                  <a:srgbClr val="FFC000"/>
                </a:solidFill>
              </a:rPr>
              <a:t>These numbers are simply the combinations of the 0s and 1s used in computer language – this called encoding.</a:t>
            </a:r>
          </a:p>
          <a:p>
            <a:endParaRPr lang="en-US" dirty="0" smtClean="0"/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92826-8F9B-4144-B800-9A8A13DA7A1F}" type="datetime1">
              <a:rPr lang="en-IN" smtClean="0"/>
              <a:t>07-08-2021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RTOS_LAB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BCFA-415E-45EC-9026-21BB5BA36EF0}" type="slidenum">
              <a:rPr lang="en-IN" smtClean="0"/>
              <a:pPr/>
              <a:t>8</a:t>
            </a:fld>
            <a:endParaRPr lang="en-IN"/>
          </a:p>
        </p:txBody>
      </p:sp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0" y="1214422"/>
            <a:ext cx="4071965" cy="22145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8" descr="ADC2-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4" y="3500438"/>
            <a:ext cx="3857652" cy="27812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Resolution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 smtClean="0"/>
              <a:t>Resolution (number of discrete values the converter can produce) = Analog Quantization size (Q)</a:t>
            </a:r>
          </a:p>
          <a:p>
            <a:pPr algn="just">
              <a:buNone/>
            </a:pPr>
            <a:r>
              <a:rPr lang="en-US" sz="2400" dirty="0" smtClean="0"/>
              <a:t>	(Q) = </a:t>
            </a:r>
            <a:r>
              <a:rPr lang="en-US" sz="2400" dirty="0" err="1" smtClean="0"/>
              <a:t>Vrange</a:t>
            </a:r>
            <a:r>
              <a:rPr lang="en-US" sz="2400" dirty="0" smtClean="0"/>
              <a:t> / 2^n, where </a:t>
            </a:r>
            <a:r>
              <a:rPr lang="en-US" sz="2400" dirty="0" err="1" smtClean="0"/>
              <a:t>Vrange</a:t>
            </a:r>
            <a:r>
              <a:rPr lang="en-US" sz="2400" dirty="0" smtClean="0"/>
              <a:t> is the range of analog voltages which can be represented</a:t>
            </a:r>
          </a:p>
          <a:p>
            <a:pPr algn="just">
              <a:buNone/>
            </a:pPr>
            <a:endParaRPr lang="en-US" sz="2400" dirty="0" smtClean="0"/>
          </a:p>
          <a:p>
            <a:pPr algn="just"/>
            <a:r>
              <a:rPr lang="en-US" sz="2400" dirty="0" smtClean="0"/>
              <a:t>limited by signal-to-noise ratio (should be around 6dB)</a:t>
            </a:r>
          </a:p>
          <a:p>
            <a:pPr algn="just">
              <a:buNone/>
            </a:pPr>
            <a:endParaRPr lang="en-US" sz="2400" dirty="0" smtClean="0"/>
          </a:p>
          <a:p>
            <a:pPr algn="just"/>
            <a:r>
              <a:rPr lang="en-US" sz="2400" dirty="0" smtClean="0"/>
              <a:t>In our previous example: Q = 1.25V, this is a high resolution.  A lower resolution would be if we used a 2-bit converter, then the resolution would be 10/2^2 = 2.50V.</a:t>
            </a:r>
          </a:p>
          <a:p>
            <a:pPr algn="just"/>
            <a:endParaRPr lang="en-IN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6C21B-DFCC-4F78-81E0-EA94D40C5CE3}" type="datetime1">
              <a:rPr lang="en-IN" smtClean="0"/>
              <a:t>07-08-2021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RTOS_LAB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BCFA-415E-45EC-9026-21BB5BA36EF0}" type="slidenum">
              <a:rPr lang="en-IN" smtClean="0"/>
              <a:pPr/>
              <a:t>9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Accuracy of A/D Conversion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90000"/>
              </a:lnSpc>
              <a:buNone/>
            </a:pPr>
            <a:r>
              <a:rPr lang="en-US" sz="2400" dirty="0" smtClean="0"/>
              <a:t>There are two ways to best improve accuracy of A/D conversion:</a:t>
            </a:r>
          </a:p>
          <a:p>
            <a:pPr algn="just">
              <a:lnSpc>
                <a:spcPct val="90000"/>
              </a:lnSpc>
              <a:buNone/>
            </a:pPr>
            <a:endParaRPr lang="en-US" sz="2400" dirty="0" smtClean="0"/>
          </a:p>
          <a:p>
            <a:pPr algn="just">
              <a:lnSpc>
                <a:spcPct val="90000"/>
              </a:lnSpc>
            </a:pPr>
            <a:r>
              <a:rPr lang="en-US" sz="2400" dirty="0" smtClean="0"/>
              <a:t>Increasing the </a:t>
            </a:r>
            <a:r>
              <a:rPr lang="en-US" sz="2400" dirty="0" smtClean="0"/>
              <a:t>resolution which improves the accuracy in measuring the amplitude of the analog signal.</a:t>
            </a:r>
          </a:p>
          <a:p>
            <a:pPr algn="just">
              <a:lnSpc>
                <a:spcPct val="90000"/>
              </a:lnSpc>
            </a:pPr>
            <a:r>
              <a:rPr lang="en-US" sz="2400" dirty="0" smtClean="0"/>
              <a:t>Increasing the </a:t>
            </a:r>
            <a:r>
              <a:rPr lang="en-US" sz="2400" dirty="0" smtClean="0"/>
              <a:t>sampling rate which increases the maximum frequency that can be measured.</a:t>
            </a:r>
          </a:p>
          <a:p>
            <a:pPr algn="just"/>
            <a:endParaRPr lang="en-IN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FED68-9066-4F68-83F8-1CBF005A3514}" type="datetime1">
              <a:rPr lang="en-IN" smtClean="0"/>
              <a:t>07-08-2021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RTOS_LAB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BCFA-415E-45EC-9026-21BB5BA36EF0}" type="slidenum">
              <a:rPr lang="en-IN" smtClean="0"/>
              <a:pPr/>
              <a:t>10</a:t>
            </a:fld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ADC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Converters</a:t>
            </a:r>
          </a:p>
          <a:p>
            <a:pPr>
              <a:buNone/>
            </a:pPr>
            <a:endParaRPr lang="en-US" sz="2400" dirty="0" smtClean="0"/>
          </a:p>
          <a:p>
            <a:pPr lvl="1"/>
            <a:r>
              <a:rPr lang="en-US" sz="2400" dirty="0" smtClean="0"/>
              <a:t>Flash ADC</a:t>
            </a:r>
          </a:p>
          <a:p>
            <a:pPr lvl="1"/>
            <a:r>
              <a:rPr lang="en-US" sz="2400" dirty="0" smtClean="0"/>
              <a:t>Delta-Sigma ADC</a:t>
            </a:r>
          </a:p>
          <a:p>
            <a:pPr lvl="1"/>
            <a:r>
              <a:rPr lang="en-US" sz="2400" dirty="0" smtClean="0"/>
              <a:t>Dual Slope (integrating) ADC</a:t>
            </a:r>
          </a:p>
          <a:p>
            <a:pPr lvl="1"/>
            <a:r>
              <a:rPr lang="en-US" sz="2400" dirty="0" smtClean="0"/>
              <a:t>Successive Approximation ADC</a:t>
            </a:r>
          </a:p>
          <a:p>
            <a:pPr lvl="1">
              <a:buNone/>
            </a:pPr>
            <a:endParaRPr lang="en-US" sz="2400" dirty="0" smtClean="0"/>
          </a:p>
          <a:p>
            <a:pPr lvl="1"/>
            <a:endParaRPr lang="en-US" sz="2400" dirty="0" smtClean="0"/>
          </a:p>
          <a:p>
            <a:endParaRPr lang="en-IN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DD64A-9D9E-4816-9A26-9D5AEC974053}" type="datetime1">
              <a:rPr lang="en-IN" smtClean="0"/>
              <a:t>07-08-2021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RTOS_LAB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BCFA-415E-45EC-9026-21BB5BA36EF0}" type="slidenum">
              <a:rPr lang="en-IN" smtClean="0"/>
              <a:pPr/>
              <a:t>11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SAR –Successive Approximation Register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257544" cy="452596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sz="2000" dirty="0" smtClean="0"/>
              <a:t>Successive approximation ADC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 smtClean="0"/>
              <a:t>V</a:t>
            </a:r>
            <a:r>
              <a:rPr lang="en-US" altLang="en-US" sz="1800" baseline="-25000" dirty="0" smtClean="0"/>
              <a:t>IN</a:t>
            </a:r>
            <a:r>
              <a:rPr lang="en-US" altLang="en-US" sz="1800" dirty="0" smtClean="0"/>
              <a:t> is approximated as a </a:t>
            </a:r>
            <a:br>
              <a:rPr lang="en-US" altLang="en-US" sz="1800" dirty="0" smtClean="0"/>
            </a:br>
            <a:r>
              <a:rPr lang="en-US" altLang="en-US" sz="1800" dirty="0" smtClean="0"/>
              <a:t>static value in a </a:t>
            </a:r>
            <a:r>
              <a:rPr lang="en-US" altLang="en-US" sz="1800" i="1" dirty="0" smtClean="0"/>
              <a:t>sample and hold</a:t>
            </a:r>
            <a:r>
              <a:rPr lang="en-US" altLang="en-US" sz="1800" dirty="0" smtClean="0"/>
              <a:t> (S/H) circuit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 smtClean="0"/>
              <a:t>the </a:t>
            </a:r>
            <a:r>
              <a:rPr lang="en-US" altLang="en-US" sz="1800" i="1" dirty="0" smtClean="0"/>
              <a:t>successive approximation register</a:t>
            </a:r>
            <a:r>
              <a:rPr lang="en-US" altLang="en-US" sz="1800" dirty="0" smtClean="0"/>
              <a:t> (SAR) is a counter that increments each </a:t>
            </a:r>
            <a:r>
              <a:rPr lang="en-US" altLang="en-US" sz="1800" i="1" dirty="0" smtClean="0"/>
              <a:t>clock</a:t>
            </a:r>
            <a:r>
              <a:rPr lang="en-US" altLang="en-US" sz="1800" dirty="0" smtClean="0"/>
              <a:t> </a:t>
            </a:r>
            <a:br>
              <a:rPr lang="en-US" altLang="en-US" sz="1800" dirty="0" smtClean="0"/>
            </a:br>
            <a:r>
              <a:rPr lang="en-US" altLang="en-US" sz="1800" dirty="0" smtClean="0"/>
              <a:t>as long as it is enabled by </a:t>
            </a:r>
            <a:br>
              <a:rPr lang="en-US" altLang="en-US" sz="1800" dirty="0" smtClean="0"/>
            </a:br>
            <a:r>
              <a:rPr lang="en-US" altLang="en-US" sz="1800" dirty="0" smtClean="0"/>
              <a:t>the </a:t>
            </a:r>
            <a:r>
              <a:rPr lang="en-US" altLang="en-US" sz="1800" i="1" dirty="0" smtClean="0"/>
              <a:t>comparator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 smtClean="0"/>
              <a:t>the output of the SAR is fed </a:t>
            </a:r>
            <a:br>
              <a:rPr lang="en-US" altLang="en-US" sz="1800" dirty="0" smtClean="0"/>
            </a:br>
            <a:r>
              <a:rPr lang="en-US" altLang="en-US" sz="1800" dirty="0" smtClean="0"/>
              <a:t>to a DAC that generates a voltage for comparison with V</a:t>
            </a:r>
            <a:r>
              <a:rPr lang="en-US" altLang="en-US" sz="1800" baseline="-25000" dirty="0" smtClean="0"/>
              <a:t>IN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 smtClean="0"/>
              <a:t>when the output of the DAC = V</a:t>
            </a:r>
            <a:r>
              <a:rPr lang="en-US" altLang="en-US" sz="1800" baseline="-25000" dirty="0" smtClean="0"/>
              <a:t>IN</a:t>
            </a:r>
            <a:r>
              <a:rPr lang="en-US" altLang="en-US" sz="1800" dirty="0" smtClean="0"/>
              <a:t> the value of SAR is the digital representation of V</a:t>
            </a:r>
            <a:r>
              <a:rPr lang="en-US" altLang="en-US" sz="1800" baseline="-25000" dirty="0" smtClean="0"/>
              <a:t>IN</a:t>
            </a:r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67CFC-0262-4121-ACDE-9150B69BFA72}" type="datetime1">
              <a:rPr lang="en-IN" smtClean="0"/>
              <a:t>07-08-2021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RTOS_LAB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BCFA-415E-45EC-9026-21BB5BA36EF0}" type="slidenum">
              <a:rPr lang="en-IN" smtClean="0"/>
              <a:pPr/>
              <a:t>12</a:t>
            </a:fld>
            <a:endParaRPr lang="en-IN"/>
          </a:p>
        </p:txBody>
      </p:sp>
      <p:pic>
        <p:nvPicPr>
          <p:cNvPr id="7" name="Picture 4" descr="sa_adc_block_diagram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648200" y="1714488"/>
            <a:ext cx="3852890" cy="421484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On-chip ADC :LPC2148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000" dirty="0" smtClean="0"/>
              <a:t>Two 10 bit successive approximation </a:t>
            </a:r>
            <a:r>
              <a:rPr lang="en-IN" sz="2000" dirty="0" err="1" smtClean="0"/>
              <a:t>analog</a:t>
            </a:r>
            <a:r>
              <a:rPr lang="en-IN" sz="2000" dirty="0" smtClean="0"/>
              <a:t> to digital converters.</a:t>
            </a:r>
          </a:p>
          <a:p>
            <a:pPr algn="just"/>
            <a:r>
              <a:rPr lang="en-IN" sz="2000" b="1" dirty="0" smtClean="0"/>
              <a:t> Input multiplexing among 6 or 8 pins (ADC0 and ADC1).</a:t>
            </a:r>
            <a:r>
              <a:rPr lang="en-IN" sz="2000" dirty="0" smtClean="0"/>
              <a:t> AD0.7:6, AD0.4:1&amp;AD1.7:0</a:t>
            </a:r>
            <a:endParaRPr lang="en-IN" sz="2000" b="1" dirty="0" smtClean="0"/>
          </a:p>
          <a:p>
            <a:pPr algn="just"/>
            <a:r>
              <a:rPr lang="en-IN" sz="2000" b="1" dirty="0" smtClean="0"/>
              <a:t> Power-down mode.</a:t>
            </a:r>
          </a:p>
          <a:p>
            <a:pPr algn="just"/>
            <a:r>
              <a:rPr lang="en-IN" sz="2000" b="1" dirty="0" smtClean="0"/>
              <a:t> Measurement range 0 V to VREF (typically 3 V; not to exceed VDDA voltage level).</a:t>
            </a:r>
          </a:p>
          <a:p>
            <a:pPr algn="just"/>
            <a:r>
              <a:rPr lang="en-IN" sz="2000" b="1" dirty="0" smtClean="0"/>
              <a:t> 10 bit conversion time ≥ 2.44µ s.</a:t>
            </a:r>
          </a:p>
          <a:p>
            <a:pPr algn="just"/>
            <a:r>
              <a:rPr lang="en-IN" sz="2000" b="1" dirty="0" smtClean="0"/>
              <a:t>Burst conversion mode for single or multiple inputs.</a:t>
            </a:r>
          </a:p>
          <a:p>
            <a:pPr algn="just"/>
            <a:r>
              <a:rPr lang="en-IN" sz="2000" b="1" dirty="0" smtClean="0"/>
              <a:t> Global Start command for both converters .</a:t>
            </a:r>
          </a:p>
          <a:p>
            <a:pPr algn="just"/>
            <a:r>
              <a:rPr lang="en-IN" sz="2000" dirty="0" smtClean="0"/>
              <a:t>A programmable divider is included in each converter, to scale this clock to the 4.5 MHz (max) clock needed by the successive approximation process.</a:t>
            </a:r>
          </a:p>
          <a:p>
            <a:pPr algn="just"/>
            <a:r>
              <a:rPr lang="en-IN" sz="2000" dirty="0" smtClean="0"/>
              <a:t>A fully accurate conversion requires 11 of these clocks.</a:t>
            </a:r>
            <a:endParaRPr lang="en-IN" sz="2000" b="1" dirty="0" smtClean="0"/>
          </a:p>
          <a:p>
            <a:pPr>
              <a:buNone/>
            </a:pPr>
            <a:endParaRPr lang="en-IN" sz="20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E401B-834B-4D77-A13D-401E8994FE35}" type="datetime1">
              <a:rPr lang="en-IN" smtClean="0"/>
              <a:t>07-08-2021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RTOS_LAB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BCFA-415E-45EC-9026-21BB5BA36EF0}" type="slidenum">
              <a:rPr lang="en-IN" smtClean="0"/>
              <a:pPr/>
              <a:t>13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Registers related to ADC0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AD0CR:ADC Control register</a:t>
            </a:r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A8CB5-52B5-4367-9C24-12289D6BFA4D}" type="datetime1">
              <a:rPr lang="en-IN" smtClean="0"/>
              <a:t>07-08-2021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RTOS_LAB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BCFA-415E-45EC-9026-21BB5BA36EF0}" type="slidenum">
              <a:rPr lang="en-IN" smtClean="0"/>
              <a:pPr/>
              <a:t>14</a:t>
            </a:fld>
            <a:endParaRPr lang="en-IN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000100" y="2714620"/>
          <a:ext cx="6664960" cy="1869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</a:tblGrid>
              <a:tr h="370840">
                <a:tc gridSpan="32">
                  <a:txBody>
                    <a:bodyPr/>
                    <a:lstStyle/>
                    <a:p>
                      <a:r>
                        <a:rPr lang="en-US" dirty="0" smtClean="0"/>
                        <a:t>AD0CR=</a:t>
                      </a:r>
                      <a:r>
                        <a:rPr lang="en-IN" dirty="0" smtClean="0"/>
                        <a:t> 0x09200010; </a:t>
                      </a:r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31</a:t>
                      </a:r>
                      <a:endParaRPr lang="en-IN" sz="1400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30</a:t>
                      </a:r>
                      <a:endParaRPr lang="en-IN" sz="1400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29</a:t>
                      </a:r>
                      <a:endParaRPr lang="en-IN" sz="1400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28</a:t>
                      </a:r>
                      <a:endParaRPr lang="en-IN" sz="1400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27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26</a:t>
                      </a:r>
                      <a:endParaRPr lang="en-IN" sz="1400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25</a:t>
                      </a:r>
                      <a:endParaRPr lang="en-IN" sz="1400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24</a:t>
                      </a:r>
                      <a:endParaRPr lang="en-IN" sz="1400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23</a:t>
                      </a:r>
                      <a:endParaRPr lang="en-IN" sz="1400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22</a:t>
                      </a:r>
                      <a:endParaRPr lang="en-IN" sz="1400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21</a:t>
                      </a:r>
                      <a:endParaRPr lang="en-IN" sz="1400" b="1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20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19</a:t>
                      </a:r>
                      <a:endParaRPr lang="en-IN" sz="1400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18</a:t>
                      </a:r>
                      <a:endParaRPr lang="en-IN" sz="1400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17</a:t>
                      </a:r>
                      <a:endParaRPr lang="en-IN" sz="1400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16</a:t>
                      </a:r>
                      <a:endParaRPr lang="en-IN" sz="1400" b="1" dirty="0"/>
                    </a:p>
                  </a:txBody>
                  <a:tcPr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15</a:t>
                      </a:r>
                      <a:endParaRPr lang="en-IN" sz="14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14</a:t>
                      </a:r>
                      <a:endParaRPr lang="en-IN" sz="14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13</a:t>
                      </a:r>
                      <a:endParaRPr lang="en-IN" sz="14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12</a:t>
                      </a:r>
                      <a:endParaRPr lang="en-IN" sz="14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11</a:t>
                      </a:r>
                      <a:endParaRPr lang="en-IN" sz="14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10</a:t>
                      </a:r>
                      <a:endParaRPr lang="en-IN" sz="14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9</a:t>
                      </a:r>
                      <a:endParaRPr lang="en-IN" sz="14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8</a:t>
                      </a:r>
                      <a:endParaRPr lang="en-IN" sz="14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7</a:t>
                      </a:r>
                      <a:endParaRPr lang="en-IN" sz="1400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6</a:t>
                      </a:r>
                      <a:endParaRPr lang="en-IN" sz="1400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5</a:t>
                      </a:r>
                      <a:endParaRPr lang="en-IN" sz="1400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4</a:t>
                      </a:r>
                      <a:endParaRPr lang="en-IN" sz="1400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3</a:t>
                      </a:r>
                      <a:endParaRPr lang="en-IN" sz="1400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2</a:t>
                      </a:r>
                      <a:endParaRPr lang="en-IN" sz="1400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1</a:t>
                      </a:r>
                      <a:endParaRPr lang="en-IN" sz="1400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0</a:t>
                      </a:r>
                      <a:endParaRPr lang="en-IN" sz="1400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0</a:t>
                      </a:r>
                      <a:endParaRPr lang="en-IN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0</a:t>
                      </a:r>
                      <a:endParaRPr lang="en-IN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0</a:t>
                      </a:r>
                      <a:endParaRPr lang="en-IN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0</a:t>
                      </a:r>
                      <a:endParaRPr lang="en-IN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0</a:t>
                      </a:r>
                      <a:endParaRPr lang="en-IN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0</a:t>
                      </a:r>
                      <a:endParaRPr lang="en-IN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1</a:t>
                      </a:r>
                      <a:endParaRPr lang="en-IN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0</a:t>
                      </a:r>
                      <a:endParaRPr lang="en-IN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0</a:t>
                      </a:r>
                      <a:endParaRPr lang="en-IN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1</a:t>
                      </a:r>
                      <a:endParaRPr lang="en-IN" b="1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0</a:t>
                      </a:r>
                      <a:endParaRPr lang="en-IN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0</a:t>
                      </a:r>
                      <a:endParaRPr lang="en-IN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0</a:t>
                      </a:r>
                      <a:endParaRPr lang="en-IN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0</a:t>
                      </a:r>
                      <a:endParaRPr lang="en-IN" b="1" dirty="0"/>
                    </a:p>
                  </a:txBody>
                  <a:tcPr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0</a:t>
                      </a:r>
                      <a:endParaRPr lang="en-IN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0</a:t>
                      </a:r>
                      <a:endParaRPr lang="en-IN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0</a:t>
                      </a:r>
                      <a:endParaRPr lang="en-IN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0</a:t>
                      </a:r>
                      <a:endParaRPr lang="en-IN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0</a:t>
                      </a:r>
                      <a:endParaRPr lang="en-IN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0</a:t>
                      </a:r>
                      <a:endParaRPr lang="en-IN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0</a:t>
                      </a:r>
                      <a:endParaRPr lang="en-IN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0</a:t>
                      </a:r>
                      <a:endParaRPr lang="en-IN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0</a:t>
                      </a:r>
                      <a:endParaRPr lang="en-IN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0</a:t>
                      </a:r>
                      <a:endParaRPr lang="en-IN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0</a:t>
                      </a:r>
                      <a:endParaRPr lang="en-IN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1</a:t>
                      </a:r>
                      <a:endParaRPr lang="en-IN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0</a:t>
                      </a:r>
                      <a:endParaRPr lang="en-IN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0</a:t>
                      </a:r>
                      <a:endParaRPr lang="en-IN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0</a:t>
                      </a:r>
                      <a:endParaRPr lang="en-IN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0</a:t>
                      </a:r>
                      <a:endParaRPr lang="en-IN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sz="1600" b="1" dirty="0" smtClean="0"/>
                        <a:t>R</a:t>
                      </a:r>
                      <a:endParaRPr lang="en-IN" sz="1600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E</a:t>
                      </a:r>
                      <a:endParaRPr lang="en-IN" b="1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sz="1600" b="1" dirty="0" smtClean="0"/>
                        <a:t>SOC</a:t>
                      </a:r>
                      <a:endParaRPr lang="en-IN" sz="1600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600" b="1" dirty="0" smtClean="0"/>
                        <a:t>R</a:t>
                      </a:r>
                      <a:endParaRPr lang="en-IN" sz="1600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O</a:t>
                      </a:r>
                      <a:endParaRPr lang="en-IN" sz="1400" b="1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/>
                        <a:t>R</a:t>
                      </a:r>
                      <a:endParaRPr lang="en-IN" sz="1600" b="1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sz="1600" b="1" dirty="0" smtClean="0"/>
                        <a:t>CLKS</a:t>
                      </a:r>
                      <a:endParaRPr lang="en-IN" sz="1600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/>
                        <a:t>B</a:t>
                      </a:r>
                      <a:endParaRPr lang="en-IN" sz="1600" b="1" dirty="0"/>
                    </a:p>
                  </a:txBody>
                  <a:tcPr>
                    <a:solidFill>
                      <a:srgbClr val="FF5050"/>
                    </a:solidFill>
                  </a:tcPr>
                </a:tc>
                <a:tc gridSpan="8">
                  <a:txBody>
                    <a:bodyPr/>
                    <a:lstStyle/>
                    <a:p>
                      <a:r>
                        <a:rPr lang="en-US" sz="1600" b="1" dirty="0" smtClean="0"/>
                        <a:t>CLK DIV(4.5MHz)</a:t>
                      </a:r>
                      <a:endParaRPr lang="en-IN" sz="16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 smtClean="0"/>
                        <a:t>ADC PIN SEL BITs</a:t>
                      </a:r>
                      <a:endParaRPr lang="en-IN" sz="1600" b="1" dirty="0" smtClean="0"/>
                    </a:p>
                    <a:p>
                      <a:endParaRPr lang="en-IN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B47D0-43AA-4DAD-81B4-B621E28E582F}" type="datetime1">
              <a:rPr lang="en-IN" smtClean="0"/>
              <a:t>07-08-2021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RTOS_LAB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BCFA-415E-45EC-9026-21BB5BA36EF0}" type="slidenum">
              <a:rPr lang="en-IN" smtClean="0"/>
              <a:pPr/>
              <a:t>15</a:t>
            </a:fld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521031"/>
            <a:ext cx="8892480" cy="4141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878223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B47D0-43AA-4DAD-81B4-B621E28E582F}" type="datetime1">
              <a:rPr lang="en-IN" smtClean="0"/>
              <a:t>07-08-2021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RTOS_LAB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BCFA-415E-45EC-9026-21BB5BA36EF0}" type="slidenum">
              <a:rPr lang="en-IN" smtClean="0"/>
              <a:pPr/>
              <a:t>16</a:t>
            </a:fld>
            <a:endParaRPr lang="en-IN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484784"/>
            <a:ext cx="9074344" cy="4320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909916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B47D0-43AA-4DAD-81B4-B621E28E582F}" type="datetime1">
              <a:rPr lang="en-IN" smtClean="0"/>
              <a:t>07-08-2021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RTOS_LAB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BCFA-415E-45EC-9026-21BB5BA36EF0}" type="slidenum">
              <a:rPr lang="en-IN" smtClean="0"/>
              <a:pPr/>
              <a:t>17</a:t>
            </a:fld>
            <a:endParaRPr lang="en-IN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389438"/>
            <a:ext cx="9144000" cy="44398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651759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Registers related to ADC0(</a:t>
            </a:r>
            <a:r>
              <a:rPr lang="en-US" dirty="0" err="1" smtClean="0"/>
              <a:t>contd</a:t>
            </a:r>
            <a:r>
              <a:rPr lang="en-US" dirty="0" smtClean="0"/>
              <a:t>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AD0GDR-ADC0 Global Data Register</a:t>
            </a:r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071AA-189F-40D0-B359-D9563F4955B9}" type="datetime1">
              <a:rPr lang="en-IN" smtClean="0"/>
              <a:t>07-08-2021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RTOS_LAB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BCFA-415E-45EC-9026-21BB5BA36EF0}" type="slidenum">
              <a:rPr lang="en-IN" smtClean="0"/>
              <a:pPr/>
              <a:t>18</a:t>
            </a:fld>
            <a:endParaRPr lang="en-IN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142976" y="2285992"/>
          <a:ext cx="6664960" cy="3901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</a:tblGrid>
              <a:tr h="370840">
                <a:tc gridSpan="32">
                  <a:txBody>
                    <a:bodyPr/>
                    <a:lstStyle/>
                    <a:p>
                      <a:r>
                        <a:rPr lang="en-US" dirty="0" smtClean="0"/>
                        <a:t>AD0GDR</a:t>
                      </a:r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31</a:t>
                      </a:r>
                      <a:endParaRPr lang="en-IN" sz="14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30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29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28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27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26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25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24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23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22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21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20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19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18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17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16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15</a:t>
                      </a:r>
                      <a:endParaRPr lang="en-IN" sz="1400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14</a:t>
                      </a:r>
                      <a:endParaRPr lang="en-IN" sz="1400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13</a:t>
                      </a:r>
                      <a:endParaRPr lang="en-IN" sz="1400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12</a:t>
                      </a:r>
                      <a:endParaRPr lang="en-IN" sz="1400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11</a:t>
                      </a:r>
                      <a:endParaRPr lang="en-IN" sz="1400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10</a:t>
                      </a:r>
                      <a:endParaRPr lang="en-IN" sz="1400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9</a:t>
                      </a:r>
                      <a:endParaRPr lang="en-IN" sz="1400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8</a:t>
                      </a:r>
                      <a:endParaRPr lang="en-IN" sz="1400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7</a:t>
                      </a:r>
                      <a:endParaRPr lang="en-IN" sz="1400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6</a:t>
                      </a:r>
                      <a:endParaRPr lang="en-IN" sz="1400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5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4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3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2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1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0</a:t>
                      </a:r>
                      <a:endParaRPr lang="en-IN" sz="1400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/>
                        <a:t>EOC</a:t>
                      </a:r>
                      <a:endParaRPr lang="en-IN" sz="12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r>
                        <a:rPr lang="en-US" dirty="0" smtClean="0"/>
                        <a:t>10-bit Data(digital)</a:t>
                      </a:r>
                    </a:p>
                    <a:p>
                      <a:r>
                        <a:rPr lang="en-US" dirty="0" smtClean="0"/>
                        <a:t>Ex.3FF(full</a:t>
                      </a:r>
                      <a:r>
                        <a:rPr lang="en-US" baseline="0" dirty="0" smtClean="0"/>
                        <a:t> Scale)</a:t>
                      </a:r>
                      <a:endParaRPr lang="en-IN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70840">
                <a:tc gridSpan="32">
                  <a:txBody>
                    <a:bodyPr/>
                    <a:lstStyle/>
                    <a:p>
                      <a:r>
                        <a:rPr lang="en-US" dirty="0" smtClean="0"/>
                        <a:t>IOSET0 Register for LCD</a:t>
                      </a:r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31</a:t>
                      </a:r>
                      <a:endParaRPr lang="en-IN" sz="1400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30</a:t>
                      </a:r>
                      <a:endParaRPr lang="en-IN" sz="1400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29</a:t>
                      </a:r>
                      <a:endParaRPr lang="en-IN" sz="1400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28</a:t>
                      </a:r>
                      <a:endParaRPr lang="en-IN" sz="1400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27</a:t>
                      </a:r>
                      <a:endParaRPr lang="en-IN" sz="1400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26</a:t>
                      </a:r>
                      <a:endParaRPr lang="en-IN" sz="1400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25</a:t>
                      </a:r>
                      <a:endParaRPr lang="en-IN" sz="1400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24</a:t>
                      </a:r>
                      <a:endParaRPr lang="en-IN" sz="1400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23</a:t>
                      </a:r>
                      <a:endParaRPr lang="en-IN" sz="1400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22</a:t>
                      </a:r>
                      <a:endParaRPr lang="en-IN" sz="1400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21</a:t>
                      </a:r>
                      <a:endParaRPr lang="en-IN" sz="1400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20</a:t>
                      </a:r>
                      <a:endParaRPr lang="en-IN" sz="1400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19</a:t>
                      </a:r>
                      <a:endParaRPr lang="en-IN" sz="1400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18</a:t>
                      </a:r>
                      <a:endParaRPr lang="en-IN" sz="1400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17</a:t>
                      </a:r>
                      <a:endParaRPr lang="en-IN" sz="1400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16</a:t>
                      </a:r>
                      <a:endParaRPr lang="en-IN" sz="1400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15</a:t>
                      </a:r>
                      <a:endParaRPr lang="en-IN" sz="1400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14</a:t>
                      </a:r>
                      <a:endParaRPr lang="en-IN" sz="1400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13</a:t>
                      </a:r>
                      <a:endParaRPr lang="en-IN" sz="1400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12</a:t>
                      </a:r>
                      <a:endParaRPr lang="en-IN" sz="1400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11</a:t>
                      </a:r>
                      <a:endParaRPr lang="en-IN" sz="1400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10</a:t>
                      </a:r>
                      <a:endParaRPr lang="en-IN" sz="1400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9</a:t>
                      </a:r>
                      <a:endParaRPr lang="en-IN" sz="1400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8</a:t>
                      </a:r>
                      <a:endParaRPr lang="en-IN" sz="1400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7</a:t>
                      </a:r>
                      <a:endParaRPr lang="en-IN" sz="1400" b="1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6</a:t>
                      </a:r>
                      <a:endParaRPr lang="en-IN" sz="1400" b="1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5</a:t>
                      </a:r>
                      <a:endParaRPr lang="en-IN" sz="1400" b="1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4</a:t>
                      </a:r>
                      <a:endParaRPr lang="en-IN" sz="1400" b="1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3</a:t>
                      </a:r>
                      <a:endParaRPr lang="en-IN" sz="1400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2</a:t>
                      </a:r>
                      <a:endParaRPr lang="en-IN" sz="1400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1</a:t>
                      </a:r>
                      <a:endParaRPr lang="en-IN" sz="1400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0</a:t>
                      </a:r>
                      <a:endParaRPr lang="en-IN" sz="1400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17" name="Straight Arrow Connector 16"/>
          <p:cNvCxnSpPr/>
          <p:nvPr/>
        </p:nvCxnSpPr>
        <p:spPr>
          <a:xfrm>
            <a:off x="6572264" y="4071942"/>
            <a:ext cx="642942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B47D0-43AA-4DAD-81B4-B621E28E582F}" type="datetime1">
              <a:rPr lang="en-IN" smtClean="0"/>
              <a:t>07-08-2021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RTOS_LAB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BCFA-415E-45EC-9026-21BB5BA36EF0}" type="slidenum">
              <a:rPr lang="en-IN" smtClean="0"/>
              <a:pPr/>
              <a:t>19</a:t>
            </a:fld>
            <a:endParaRPr lang="en-IN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88" y="947738"/>
            <a:ext cx="8734425" cy="4962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543438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PROGRAM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>
              <a:buNone/>
            </a:pPr>
            <a:r>
              <a:rPr lang="en-IN" dirty="0" smtClean="0"/>
              <a:t>#include &lt;lpc214x.h&gt;</a:t>
            </a:r>
          </a:p>
          <a:p>
            <a:pPr>
              <a:buNone/>
            </a:pPr>
            <a:r>
              <a:rPr lang="en-IN" dirty="0" smtClean="0"/>
              <a:t>#include &lt;</a:t>
            </a:r>
            <a:r>
              <a:rPr lang="en-IN" dirty="0" err="1" smtClean="0"/>
              <a:t>Stdio.h</a:t>
            </a:r>
            <a:r>
              <a:rPr lang="en-IN" dirty="0" smtClean="0"/>
              <a:t>&gt; </a:t>
            </a:r>
          </a:p>
          <a:p>
            <a:pPr>
              <a:buNone/>
            </a:pPr>
            <a:endParaRPr lang="en-IN" dirty="0" smtClean="0"/>
          </a:p>
          <a:p>
            <a:pPr>
              <a:buNone/>
            </a:pPr>
            <a:r>
              <a:rPr lang="en-IN" dirty="0" smtClean="0"/>
              <a:t>unsigned </a:t>
            </a:r>
            <a:r>
              <a:rPr lang="en-IN" dirty="0" err="1" smtClean="0"/>
              <a:t>int</a:t>
            </a:r>
            <a:r>
              <a:rPr lang="en-IN" dirty="0" smtClean="0"/>
              <a:t> </a:t>
            </a:r>
            <a:r>
              <a:rPr lang="en-IN" dirty="0" err="1" smtClean="0"/>
              <a:t>i</a:t>
            </a:r>
            <a:r>
              <a:rPr lang="en-IN" dirty="0" smtClean="0"/>
              <a:t>;</a:t>
            </a:r>
          </a:p>
          <a:p>
            <a:pPr>
              <a:buNone/>
            </a:pPr>
            <a:r>
              <a:rPr lang="en-IN" dirty="0" smtClean="0"/>
              <a:t>void </a:t>
            </a:r>
            <a:r>
              <a:rPr lang="en-IN" dirty="0" err="1" smtClean="0"/>
              <a:t>lcd_init</a:t>
            </a:r>
            <a:r>
              <a:rPr lang="en-IN" dirty="0" smtClean="0"/>
              <a:t>(void);</a:t>
            </a:r>
          </a:p>
          <a:p>
            <a:pPr>
              <a:buNone/>
            </a:pPr>
            <a:r>
              <a:rPr lang="en-IN" dirty="0" smtClean="0"/>
              <a:t>void delay(unsigned long </a:t>
            </a:r>
            <a:r>
              <a:rPr lang="en-IN" dirty="0" err="1" smtClean="0"/>
              <a:t>int</a:t>
            </a:r>
            <a:r>
              <a:rPr lang="en-IN" dirty="0" smtClean="0"/>
              <a:t>);</a:t>
            </a:r>
          </a:p>
          <a:p>
            <a:pPr>
              <a:buNone/>
            </a:pPr>
            <a:r>
              <a:rPr lang="en-IN" dirty="0" smtClean="0"/>
              <a:t>void </a:t>
            </a:r>
            <a:r>
              <a:rPr lang="en-IN" dirty="0" err="1" smtClean="0"/>
              <a:t>cmd</a:t>
            </a:r>
            <a:r>
              <a:rPr lang="en-IN" dirty="0" smtClean="0"/>
              <a:t>(unsigned </a:t>
            </a:r>
            <a:r>
              <a:rPr lang="en-IN" dirty="0" err="1" smtClean="0"/>
              <a:t>int</a:t>
            </a:r>
            <a:r>
              <a:rPr lang="en-IN" dirty="0" smtClean="0"/>
              <a:t> );</a:t>
            </a:r>
          </a:p>
          <a:p>
            <a:pPr>
              <a:buNone/>
            </a:pPr>
            <a:r>
              <a:rPr lang="en-IN" dirty="0" smtClean="0"/>
              <a:t>void </a:t>
            </a:r>
            <a:r>
              <a:rPr lang="en-IN" dirty="0" err="1" smtClean="0"/>
              <a:t>hascii</a:t>
            </a:r>
            <a:r>
              <a:rPr lang="en-IN" dirty="0" smtClean="0"/>
              <a:t>(</a:t>
            </a:r>
            <a:r>
              <a:rPr lang="en-IN" dirty="0" err="1" smtClean="0"/>
              <a:t>int</a:t>
            </a:r>
            <a:r>
              <a:rPr lang="en-IN" dirty="0" smtClean="0"/>
              <a:t> *);</a:t>
            </a:r>
          </a:p>
          <a:p>
            <a:pPr>
              <a:buNone/>
            </a:pPr>
            <a:r>
              <a:rPr lang="en-IN" dirty="0" smtClean="0"/>
              <a:t>unsigned  </a:t>
            </a:r>
            <a:r>
              <a:rPr lang="en-IN" dirty="0" err="1" smtClean="0"/>
              <a:t>int</a:t>
            </a:r>
            <a:r>
              <a:rPr lang="en-IN" dirty="0" smtClean="0"/>
              <a:t> </a:t>
            </a:r>
            <a:r>
              <a:rPr lang="en-IN" dirty="0" err="1" smtClean="0"/>
              <a:t>adc_value</a:t>
            </a:r>
            <a:r>
              <a:rPr lang="en-IN" dirty="0" smtClean="0"/>
              <a:t>=0,temp_adc=0;</a:t>
            </a:r>
          </a:p>
          <a:p>
            <a:pPr>
              <a:buNone/>
            </a:pPr>
            <a:r>
              <a:rPr lang="en-IN" dirty="0" smtClean="0"/>
              <a:t>void data(unsigned </a:t>
            </a:r>
            <a:r>
              <a:rPr lang="en-IN" dirty="0" err="1" smtClean="0"/>
              <a:t>int</a:t>
            </a:r>
            <a:r>
              <a:rPr lang="en-IN" dirty="0" smtClean="0"/>
              <a:t> );</a:t>
            </a:r>
          </a:p>
          <a:p>
            <a:pPr>
              <a:buNone/>
            </a:pPr>
            <a:r>
              <a:rPr lang="en-IN" dirty="0" err="1" smtClean="0"/>
              <a:t>int</a:t>
            </a:r>
            <a:r>
              <a:rPr lang="en-IN" dirty="0" smtClean="0"/>
              <a:t> temp;</a:t>
            </a:r>
          </a:p>
          <a:p>
            <a:pPr>
              <a:buNone/>
            </a:pPr>
            <a:r>
              <a:rPr lang="en-IN" dirty="0" err="1" smtClean="0"/>
              <a:t>int</a:t>
            </a:r>
            <a:r>
              <a:rPr lang="en-IN" dirty="0" smtClean="0"/>
              <a:t> </a:t>
            </a:r>
            <a:r>
              <a:rPr lang="en-IN" dirty="0" err="1" smtClean="0"/>
              <a:t>var</a:t>
            </a:r>
            <a:r>
              <a:rPr lang="en-IN" dirty="0" smtClean="0"/>
              <a:t>[10];</a:t>
            </a:r>
          </a:p>
          <a:p>
            <a:pPr>
              <a:buNone/>
            </a:pPr>
            <a:r>
              <a:rPr lang="en-IN" dirty="0" smtClean="0"/>
              <a:t>char </a:t>
            </a:r>
            <a:r>
              <a:rPr lang="en-IN" dirty="0" err="1" smtClean="0"/>
              <a:t>val</a:t>
            </a:r>
            <a:r>
              <a:rPr lang="en-IN" dirty="0" smtClean="0"/>
              <a:t>[10]; </a:t>
            </a:r>
          </a:p>
          <a:p>
            <a:pPr>
              <a:buNone/>
            </a:pPr>
            <a:r>
              <a:rPr lang="en-IN" dirty="0" err="1" smtClean="0"/>
              <a:t>int</a:t>
            </a:r>
            <a:r>
              <a:rPr lang="en-IN" dirty="0" smtClean="0"/>
              <a:t> main()</a:t>
            </a:r>
          </a:p>
          <a:p>
            <a:pPr>
              <a:buNone/>
            </a:pPr>
            <a:r>
              <a:rPr lang="en-IN" dirty="0" smtClean="0"/>
              <a:t>{	    PINSEL1  = 0X00040000;       //AD0.4 pin is selected(P0.18)</a:t>
            </a:r>
          </a:p>
          <a:p>
            <a:pPr>
              <a:buNone/>
            </a:pPr>
            <a:r>
              <a:rPr lang="en-IN" dirty="0" smtClean="0"/>
              <a:t>        IO0DIR   = 0x000000FC;      //configure o/p lines for </a:t>
            </a:r>
            <a:r>
              <a:rPr lang="en-IN" dirty="0" err="1" smtClean="0"/>
              <a:t>lcd</a:t>
            </a:r>
            <a:r>
              <a:rPr lang="en-IN" dirty="0" smtClean="0"/>
              <a:t>  </a:t>
            </a:r>
          </a:p>
          <a:p>
            <a:pPr>
              <a:buNone/>
            </a:pPr>
            <a:r>
              <a:rPr lang="en-IN" dirty="0" smtClean="0"/>
              <a:t>	 </a:t>
            </a:r>
            <a:r>
              <a:rPr lang="en-IN" dirty="0" err="1" smtClean="0"/>
              <a:t>lcd_init</a:t>
            </a:r>
            <a:r>
              <a:rPr lang="en-IN" dirty="0" smtClean="0"/>
              <a:t>();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1A3AE-E91A-49FC-9685-6722F8020AF3}" type="datetime1">
              <a:rPr lang="en-IN" smtClean="0"/>
              <a:t>07-08-2021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RTOS_LAB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BCFA-415E-45EC-9026-21BB5BA36EF0}" type="slidenum">
              <a:rPr lang="en-IN" smtClean="0"/>
              <a:pPr/>
              <a:t>20</a:t>
            </a:fld>
            <a:endParaRPr lang="en-IN"/>
          </a:p>
        </p:txBody>
      </p:sp>
      <p:pic>
        <p:nvPicPr>
          <p:cNvPr id="7" name="Picture 6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496" y="44624"/>
            <a:ext cx="2192020" cy="781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4A661-C99B-4B32-850A-10A34ECAC0AD}" type="datetime1">
              <a:rPr lang="en-IN" smtClean="0"/>
              <a:t>07-08-2021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RTOS_LAB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BCFA-415E-45EC-9026-21BB5BA36EF0}" type="slidenum">
              <a:rPr lang="en-IN" smtClean="0"/>
              <a:pPr/>
              <a:t>21</a:t>
            </a:fld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714348" y="428604"/>
            <a:ext cx="7929618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/>
              <a:t>while(1)</a:t>
            </a:r>
          </a:p>
          <a:p>
            <a:r>
              <a:rPr lang="en-IN" dirty="0" smtClean="0"/>
              <a:t>    {  	</a:t>
            </a:r>
          </a:p>
          <a:p>
            <a:r>
              <a:rPr lang="en-IN" dirty="0" smtClean="0"/>
              <a:t>		//CONTROL register for ADC</a:t>
            </a:r>
          </a:p>
          <a:p>
            <a:r>
              <a:rPr lang="en-IN" dirty="0" smtClean="0"/>
              <a:t>		AD0CR = 0x09200010;       				  	</a:t>
            </a:r>
            <a:r>
              <a:rPr lang="en-IN" dirty="0" smtClean="0">
                <a:solidFill>
                  <a:schemeClr val="accent6">
                    <a:lumMod val="75000"/>
                  </a:schemeClr>
                </a:solidFill>
              </a:rPr>
              <a:t>//command register for ADC-AD0.4</a:t>
            </a:r>
          </a:p>
          <a:p>
            <a:r>
              <a:rPr lang="en-IN" dirty="0" smtClean="0"/>
              <a:t>	  	delay(100);</a:t>
            </a:r>
          </a:p>
          <a:p>
            <a:r>
              <a:rPr lang="en-IN" dirty="0" smtClean="0"/>
              <a:t>		while((</a:t>
            </a:r>
            <a:r>
              <a:rPr lang="en-IN" dirty="0" err="1" smtClean="0"/>
              <a:t>temp_adc</a:t>
            </a:r>
            <a:r>
              <a:rPr lang="en-IN" dirty="0" smtClean="0"/>
              <a:t> = AD0GDR) == 0x80000000);	</a:t>
            </a:r>
            <a:r>
              <a:rPr lang="en-IN" dirty="0" smtClean="0">
                <a:solidFill>
                  <a:schemeClr val="accent6">
                    <a:lumMod val="75000"/>
                  </a:schemeClr>
                </a:solidFill>
              </a:rPr>
              <a:t>      //to check the interrupt bit</a:t>
            </a:r>
          </a:p>
          <a:p>
            <a:r>
              <a:rPr lang="en-IN" dirty="0" smtClean="0"/>
              <a:t>		</a:t>
            </a:r>
            <a:r>
              <a:rPr lang="en-IN" dirty="0" err="1" smtClean="0"/>
              <a:t>adc_value</a:t>
            </a:r>
            <a:r>
              <a:rPr lang="en-IN" dirty="0" smtClean="0"/>
              <a:t> = AD0GDR;          	</a:t>
            </a:r>
            <a:r>
              <a:rPr lang="en-IN" dirty="0" smtClean="0">
                <a:solidFill>
                  <a:schemeClr val="accent6">
                    <a:lumMod val="75000"/>
                  </a:schemeClr>
                </a:solidFill>
              </a:rPr>
              <a:t>//reading the ADC value</a:t>
            </a:r>
          </a:p>
          <a:p>
            <a:r>
              <a:rPr lang="en-IN" dirty="0" smtClean="0"/>
              <a:t>		</a:t>
            </a:r>
            <a:r>
              <a:rPr lang="en-IN" dirty="0" err="1" smtClean="0"/>
              <a:t>adc_value</a:t>
            </a:r>
            <a:r>
              <a:rPr lang="en-IN" dirty="0" smtClean="0"/>
              <a:t> &gt;&gt;=6;</a:t>
            </a:r>
          </a:p>
          <a:p>
            <a:r>
              <a:rPr lang="en-IN" dirty="0" smtClean="0"/>
              <a:t>		</a:t>
            </a:r>
            <a:r>
              <a:rPr lang="en-IN" dirty="0" err="1" smtClean="0"/>
              <a:t>adc_value</a:t>
            </a:r>
            <a:r>
              <a:rPr lang="en-IN" dirty="0" smtClean="0"/>
              <a:t> &amp;= 0x000003ff;</a:t>
            </a:r>
          </a:p>
          <a:p>
            <a:r>
              <a:rPr lang="en-IN" dirty="0" smtClean="0"/>
              <a:t> 		temp=</a:t>
            </a:r>
            <a:r>
              <a:rPr lang="en-IN" dirty="0" err="1" smtClean="0"/>
              <a:t>adc_value</a:t>
            </a:r>
            <a:r>
              <a:rPr lang="en-IN" dirty="0" smtClean="0"/>
              <a:t> &amp; 0x00000f00;</a:t>
            </a:r>
          </a:p>
          <a:p>
            <a:r>
              <a:rPr lang="en-IN" dirty="0" smtClean="0"/>
              <a:t>		</a:t>
            </a:r>
            <a:r>
              <a:rPr lang="en-IN" dirty="0" err="1" smtClean="0"/>
              <a:t>var</a:t>
            </a:r>
            <a:r>
              <a:rPr lang="en-IN" dirty="0" smtClean="0"/>
              <a:t>[0]= temp&gt;&gt;8	;</a:t>
            </a:r>
          </a:p>
          <a:p>
            <a:r>
              <a:rPr lang="en-IN" dirty="0" smtClean="0"/>
              <a:t>		temp=</a:t>
            </a:r>
            <a:r>
              <a:rPr lang="en-IN" dirty="0" err="1" smtClean="0"/>
              <a:t>adc_value</a:t>
            </a:r>
            <a:r>
              <a:rPr lang="en-IN" dirty="0" smtClean="0"/>
              <a:t> &amp; 0x000000f0;</a:t>
            </a:r>
          </a:p>
          <a:p>
            <a:r>
              <a:rPr lang="en-IN" dirty="0" smtClean="0"/>
              <a:t>		</a:t>
            </a:r>
            <a:r>
              <a:rPr lang="en-IN" dirty="0" err="1" smtClean="0"/>
              <a:t>var</a:t>
            </a:r>
            <a:r>
              <a:rPr lang="en-IN" dirty="0" smtClean="0"/>
              <a:t>[1]= temp&gt;&gt;4;</a:t>
            </a:r>
          </a:p>
          <a:p>
            <a:r>
              <a:rPr lang="en-IN" dirty="0" smtClean="0"/>
              <a:t>		temp=</a:t>
            </a:r>
            <a:r>
              <a:rPr lang="en-IN" dirty="0" err="1" smtClean="0"/>
              <a:t>adc_value</a:t>
            </a:r>
            <a:r>
              <a:rPr lang="en-IN" dirty="0" smtClean="0"/>
              <a:t> &amp; 0x0000000f; </a:t>
            </a:r>
          </a:p>
          <a:p>
            <a:r>
              <a:rPr lang="en-IN" dirty="0" smtClean="0"/>
              <a:t>		</a:t>
            </a:r>
            <a:r>
              <a:rPr lang="en-IN" dirty="0" err="1" smtClean="0"/>
              <a:t>var</a:t>
            </a:r>
            <a:r>
              <a:rPr lang="en-IN" dirty="0" smtClean="0"/>
              <a:t>[2]=temp;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961A7-BDD6-4CA5-A1E0-310562D78F16}" type="datetime1">
              <a:rPr lang="en-IN" smtClean="0"/>
              <a:t>07-08-2021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RTOS_LAB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BCFA-415E-45EC-9026-21BB5BA36EF0}" type="slidenum">
              <a:rPr lang="en-IN" smtClean="0"/>
              <a:pPr/>
              <a:t>22</a:t>
            </a:fld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1428728" y="857233"/>
            <a:ext cx="6072214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/>
              <a:t> </a:t>
            </a:r>
            <a:r>
              <a:rPr lang="en-IN" dirty="0" err="1" smtClean="0"/>
              <a:t>hascii</a:t>
            </a:r>
            <a:r>
              <a:rPr lang="en-IN" dirty="0" smtClean="0"/>
              <a:t>(</a:t>
            </a:r>
            <a:r>
              <a:rPr lang="en-IN" dirty="0" err="1" smtClean="0"/>
              <a:t>var</a:t>
            </a:r>
            <a:r>
              <a:rPr lang="en-IN" dirty="0" smtClean="0"/>
              <a:t>);</a:t>
            </a:r>
          </a:p>
          <a:p>
            <a:r>
              <a:rPr lang="en-IN" dirty="0" smtClean="0"/>
              <a:t>	      </a:t>
            </a:r>
          </a:p>
          <a:p>
            <a:r>
              <a:rPr lang="en-IN" dirty="0" smtClean="0"/>
              <a:t>               	   for(</a:t>
            </a:r>
            <a:r>
              <a:rPr lang="en-IN" dirty="0" err="1" smtClean="0"/>
              <a:t>i</a:t>
            </a:r>
            <a:r>
              <a:rPr lang="en-IN" dirty="0" smtClean="0"/>
              <a:t>=0;i&lt;3;i++)</a:t>
            </a:r>
          </a:p>
          <a:p>
            <a:r>
              <a:rPr lang="en-IN" dirty="0" smtClean="0"/>
              <a:t>                {</a:t>
            </a:r>
          </a:p>
          <a:p>
            <a:r>
              <a:rPr lang="en-IN" dirty="0" smtClean="0"/>
              <a:t>				   delay(32000);</a:t>
            </a:r>
          </a:p>
          <a:p>
            <a:r>
              <a:rPr lang="en-IN" dirty="0" smtClean="0"/>
              <a:t>					 	</a:t>
            </a:r>
          </a:p>
          <a:p>
            <a:r>
              <a:rPr lang="en-IN" dirty="0" smtClean="0"/>
              <a:t>                 data(</a:t>
            </a:r>
            <a:r>
              <a:rPr lang="en-IN" dirty="0" err="1" smtClean="0"/>
              <a:t>val</a:t>
            </a:r>
            <a:r>
              <a:rPr lang="en-IN" dirty="0" smtClean="0"/>
              <a:t>[</a:t>
            </a:r>
            <a:r>
              <a:rPr lang="en-IN" dirty="0" err="1" smtClean="0"/>
              <a:t>i</a:t>
            </a:r>
            <a:r>
              <a:rPr lang="en-IN" dirty="0" smtClean="0"/>
              <a:t>]);</a:t>
            </a:r>
          </a:p>
          <a:p>
            <a:r>
              <a:rPr lang="en-IN" dirty="0" smtClean="0"/>
              <a:t>                    delay(32000); delay(32000); delay(32000); </a:t>
            </a:r>
          </a:p>
          <a:p>
            <a:r>
              <a:rPr lang="en-IN" dirty="0" smtClean="0"/>
              <a:t>                }       </a:t>
            </a:r>
          </a:p>
          <a:p>
            <a:r>
              <a:rPr lang="en-IN" dirty="0" smtClean="0"/>
              <a:t>				  </a:t>
            </a:r>
            <a:r>
              <a:rPr lang="en-IN" dirty="0" err="1" smtClean="0"/>
              <a:t>cmd</a:t>
            </a:r>
            <a:r>
              <a:rPr lang="en-IN" dirty="0" smtClean="0"/>
              <a:t>(0x01); delay(120000); delay(120000);	 </a:t>
            </a:r>
          </a:p>
          <a:p>
            <a:r>
              <a:rPr lang="en-IN" dirty="0" smtClean="0"/>
              <a:t>	}	 </a:t>
            </a:r>
          </a:p>
          <a:p>
            <a:r>
              <a:rPr lang="en-IN" dirty="0" smtClean="0"/>
              <a:t>}			 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B82D6-2D55-4803-AADB-CA30BD9DCC5E}" type="datetime1">
              <a:rPr lang="en-IN" smtClean="0"/>
              <a:t>07-08-2021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RTOS_LAB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BCFA-415E-45EC-9026-21BB5BA36EF0}" type="slidenum">
              <a:rPr lang="en-IN" smtClean="0"/>
              <a:pPr/>
              <a:t>23</a:t>
            </a:fld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1285852" y="1443841"/>
            <a:ext cx="671517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/>
              <a:t>void delay(unsigned  long </a:t>
            </a:r>
            <a:r>
              <a:rPr lang="en-IN" dirty="0" err="1" smtClean="0"/>
              <a:t>int</a:t>
            </a:r>
            <a:r>
              <a:rPr lang="en-IN" dirty="0" smtClean="0"/>
              <a:t> r1)</a:t>
            </a:r>
          </a:p>
          <a:p>
            <a:r>
              <a:rPr lang="en-IN" dirty="0" smtClean="0"/>
              <a:t>{</a:t>
            </a:r>
          </a:p>
          <a:p>
            <a:r>
              <a:rPr lang="en-IN" dirty="0" smtClean="0"/>
              <a:t>  	unsigned  long </a:t>
            </a:r>
            <a:r>
              <a:rPr lang="en-IN" dirty="0" err="1" smtClean="0"/>
              <a:t>int</a:t>
            </a:r>
            <a:r>
              <a:rPr lang="en-IN" dirty="0" smtClean="0"/>
              <a:t> r;</a:t>
            </a:r>
          </a:p>
          <a:p>
            <a:r>
              <a:rPr lang="en-IN" dirty="0" smtClean="0"/>
              <a:t>  	for(r=0;r&lt;r1;r++);</a:t>
            </a:r>
          </a:p>
          <a:p>
            <a:r>
              <a:rPr lang="en-IN" dirty="0" smtClean="0"/>
              <a:t>}</a:t>
            </a:r>
          </a:p>
          <a:p>
            <a:r>
              <a:rPr lang="en-IN" dirty="0" smtClean="0"/>
              <a:t> void </a:t>
            </a:r>
            <a:r>
              <a:rPr lang="en-IN" dirty="0" err="1" smtClean="0"/>
              <a:t>hascii</a:t>
            </a:r>
            <a:r>
              <a:rPr lang="en-IN" dirty="0" smtClean="0"/>
              <a:t>(</a:t>
            </a:r>
            <a:r>
              <a:rPr lang="en-IN" dirty="0" err="1" smtClean="0"/>
              <a:t>int</a:t>
            </a:r>
            <a:r>
              <a:rPr lang="en-IN" dirty="0" smtClean="0"/>
              <a:t> </a:t>
            </a:r>
            <a:r>
              <a:rPr lang="en-IN" dirty="0" err="1" smtClean="0"/>
              <a:t>var</a:t>
            </a:r>
            <a:r>
              <a:rPr lang="en-IN" dirty="0" smtClean="0"/>
              <a:t>[])</a:t>
            </a:r>
          </a:p>
          <a:p>
            <a:r>
              <a:rPr lang="en-IN" dirty="0" smtClean="0"/>
              <a:t> {</a:t>
            </a:r>
          </a:p>
          <a:p>
            <a:r>
              <a:rPr lang="en-IN" dirty="0" smtClean="0"/>
              <a:t> char </a:t>
            </a:r>
            <a:r>
              <a:rPr lang="en-IN" dirty="0" err="1" smtClean="0"/>
              <a:t>asc</a:t>
            </a:r>
            <a:r>
              <a:rPr lang="en-IN" dirty="0" smtClean="0"/>
              <a:t>[20]={'0','1','2','3','4','5','6','7','8','9','A','B','C','D','E','F'};</a:t>
            </a:r>
          </a:p>
          <a:p>
            <a:r>
              <a:rPr lang="en-IN" dirty="0" smtClean="0"/>
              <a:t> </a:t>
            </a:r>
          </a:p>
          <a:p>
            <a:r>
              <a:rPr lang="en-IN" dirty="0" smtClean="0"/>
              <a:t> for (</a:t>
            </a:r>
            <a:r>
              <a:rPr lang="en-IN" dirty="0" err="1" smtClean="0"/>
              <a:t>i</a:t>
            </a:r>
            <a:r>
              <a:rPr lang="en-IN" dirty="0" smtClean="0"/>
              <a:t>=0;i&lt;3;i++)</a:t>
            </a:r>
          </a:p>
          <a:p>
            <a:r>
              <a:rPr lang="en-IN" dirty="0" smtClean="0"/>
              <a:t> </a:t>
            </a:r>
            <a:r>
              <a:rPr lang="en-IN" dirty="0" err="1" smtClean="0"/>
              <a:t>val</a:t>
            </a:r>
            <a:r>
              <a:rPr lang="en-IN" dirty="0" smtClean="0"/>
              <a:t>[</a:t>
            </a:r>
            <a:r>
              <a:rPr lang="en-IN" dirty="0" err="1" smtClean="0"/>
              <a:t>i</a:t>
            </a:r>
            <a:r>
              <a:rPr lang="en-IN" dirty="0" smtClean="0"/>
              <a:t>]=</a:t>
            </a:r>
            <a:r>
              <a:rPr lang="en-IN" dirty="0" err="1" smtClean="0"/>
              <a:t>asc</a:t>
            </a:r>
            <a:r>
              <a:rPr lang="en-IN" dirty="0" smtClean="0"/>
              <a:t>[</a:t>
            </a:r>
            <a:r>
              <a:rPr lang="en-IN" dirty="0" err="1" smtClean="0"/>
              <a:t>var</a:t>
            </a:r>
            <a:r>
              <a:rPr lang="en-IN" dirty="0" smtClean="0"/>
              <a:t>[</a:t>
            </a:r>
            <a:r>
              <a:rPr lang="en-IN" dirty="0" err="1" smtClean="0"/>
              <a:t>i</a:t>
            </a:r>
            <a:r>
              <a:rPr lang="en-IN" dirty="0" smtClean="0"/>
              <a:t>]];</a:t>
            </a:r>
          </a:p>
          <a:p>
            <a:r>
              <a:rPr lang="en-IN" dirty="0" smtClean="0"/>
              <a:t> }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UM10139 Volume </a:t>
            </a:r>
            <a:r>
              <a:rPr lang="en-US" dirty="0"/>
              <a:t>1: LPC214x User </a:t>
            </a:r>
            <a:r>
              <a:rPr lang="en-US" dirty="0" smtClean="0"/>
              <a:t>Manual Rev</a:t>
            </a:r>
            <a:r>
              <a:rPr lang="en-US" dirty="0"/>
              <a:t>. 02 — 25 July 2006 User manual LPC214x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79472-375D-4995-AD44-0D489A2D383A}" type="datetime1">
              <a:rPr lang="en-IN" smtClean="0"/>
              <a:t>07-08-2021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RTOS_LAB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BCFA-415E-45EC-9026-21BB5BA36EF0}" type="slidenum">
              <a:rPr lang="en-IN" smtClean="0"/>
              <a:pPr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1005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TextShape 1"/>
          <p:cNvSpPr txBox="1"/>
          <p:nvPr/>
        </p:nvSpPr>
        <p:spPr>
          <a:xfrm>
            <a:off x="457200" y="1447920"/>
            <a:ext cx="8229240" cy="38858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8800" strike="noStrike" spc="-1" dirty="0">
                <a:uFill>
                  <a:solidFill>
                    <a:srgbClr val="FFFFFF"/>
                  </a:solidFill>
                </a:uFill>
                <a:latin typeface="Algerian" pitchFamily="82" charset="0"/>
              </a:rPr>
              <a:t>THANK 
YOU</a:t>
            </a:r>
            <a:endParaRPr lang="en-US" sz="2400" strike="noStrike" spc="-1" dirty="0">
              <a:uFill>
                <a:solidFill>
                  <a:srgbClr val="FFFFFF"/>
                </a:solidFill>
              </a:uFill>
              <a:latin typeface="Algerian" pitchFamily="82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5C3A7-4DB4-4DF7-BB6E-FF1E35B01180}" type="datetime1">
              <a:rPr lang="en-IN" smtClean="0"/>
              <a:t>07-08-2021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RTOS_LAB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BCFA-415E-45EC-9026-21BB5BA36EF0}" type="slidenum">
              <a:rPr lang="en-IN" smtClean="0"/>
              <a:pPr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9995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758</TotalTime>
  <Words>932</Words>
  <Application>Microsoft Office PowerPoint</Application>
  <PresentationFormat>On-screen Show (4:3)</PresentationFormat>
  <Paragraphs>360</Paragraphs>
  <Slides>25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Course: ARM Processor &amp; Applications (15EECC207)      </vt:lpstr>
      <vt:lpstr>Course: ARM Processor &amp; Applications</vt:lpstr>
      <vt:lpstr>Unit-3 LPC 2148 Controller Architectural overview </vt:lpstr>
      <vt:lpstr>PowerPoint Presentation</vt:lpstr>
      <vt:lpstr>PowerPoint Presentation</vt:lpstr>
      <vt:lpstr>      Introduction</vt:lpstr>
      <vt:lpstr>PowerPoint Presentation</vt:lpstr>
      <vt:lpstr>Conversion steps</vt:lpstr>
      <vt:lpstr>Resolution</vt:lpstr>
      <vt:lpstr>Accuracy of A/D Conversion</vt:lpstr>
      <vt:lpstr>Types of ADC</vt:lpstr>
      <vt:lpstr>SAR –Successive Approximation Register</vt:lpstr>
      <vt:lpstr>On-chip ADC :LPC2148</vt:lpstr>
      <vt:lpstr>Registers related to ADC0</vt:lpstr>
      <vt:lpstr>PowerPoint Presentation</vt:lpstr>
      <vt:lpstr>PowerPoint Presentation</vt:lpstr>
      <vt:lpstr>PowerPoint Presentation</vt:lpstr>
      <vt:lpstr>Registers related to ADC0(contd)</vt:lpstr>
      <vt:lpstr>PowerPoint Presentation</vt:lpstr>
      <vt:lpstr>PROGRAM</vt:lpstr>
      <vt:lpstr>PowerPoint Presentation</vt:lpstr>
      <vt:lpstr>PowerPoint Presentation</vt:lpstr>
      <vt:lpstr>PowerPoint Presentation</vt:lpstr>
      <vt:lpstr>REFERENCES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Exception handling</dc:title>
  <dc:creator>SUPRIYA</dc:creator>
  <cp:lastModifiedBy>Acer</cp:lastModifiedBy>
  <cp:revision>65</cp:revision>
  <dcterms:created xsi:type="dcterms:W3CDTF">2020-04-16T07:03:55Z</dcterms:created>
  <dcterms:modified xsi:type="dcterms:W3CDTF">2021-08-07T07:32:24Z</dcterms:modified>
</cp:coreProperties>
</file>