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8"/>
  </p:notesMasterIdLst>
  <p:sldIdLst>
    <p:sldId id="270" r:id="rId2"/>
    <p:sldId id="271" r:id="rId3"/>
    <p:sldId id="273" r:id="rId4"/>
    <p:sldId id="272" r:id="rId5"/>
    <p:sldId id="257" r:id="rId6"/>
    <p:sldId id="267" r:id="rId7"/>
    <p:sldId id="282" r:id="rId8"/>
    <p:sldId id="281" r:id="rId9"/>
    <p:sldId id="258" r:id="rId10"/>
    <p:sldId id="274" r:id="rId11"/>
    <p:sldId id="275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76" r:id="rId20"/>
    <p:sldId id="277" r:id="rId21"/>
    <p:sldId id="278" r:id="rId22"/>
    <p:sldId id="279" r:id="rId23"/>
    <p:sldId id="266" r:id="rId24"/>
    <p:sldId id="268" r:id="rId25"/>
    <p:sldId id="283" r:id="rId26"/>
    <p:sldId id="280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3B6502-E83B-499E-913B-31FB72D30DF0}" type="datetimeFigureOut">
              <a:rPr lang="en-US" smtClean="0"/>
              <a:t>5/4/2020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8F9F0-BD52-4EEA-B148-155130B24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159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29D1D3-03DD-4166-B6DA-1C942171BE4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946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0D616-C589-4977-9EB8-19C6CC7973AE}" type="datetime1">
              <a:rPr lang="en-US" smtClean="0"/>
              <a:t>5/4/2020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57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0BC8D-CF73-4299-A730-E76046729976}" type="datetime1">
              <a:rPr lang="en-US" smtClean="0"/>
              <a:t>5/4/2020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682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10A86-F6F1-425D-B588-B04A88B204D9}" type="datetime1">
              <a:rPr lang="en-US" smtClean="0"/>
              <a:t>5/4/2020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34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EC813-7D84-4CF7-927C-BE1B73E9B9D5}" type="datetime1">
              <a:rPr lang="en-US" smtClean="0"/>
              <a:t>5/4/2020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555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3EE86-8F25-4ED1-AAFF-14BE218D9D24}" type="datetime1">
              <a:rPr lang="en-US" smtClean="0"/>
              <a:t>5/4/2020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711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691DB-6111-4921-88F4-4EC59C3AC843}" type="datetime1">
              <a:rPr lang="en-US" smtClean="0"/>
              <a:t>5/4/2020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06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E140D-5BC2-403F-9D81-3563F13F24B2}" type="datetime1">
              <a:rPr lang="en-US" smtClean="0"/>
              <a:t>5/4/2020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08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FDB55-6AEA-480C-ABC8-84DBD21E05BB}" type="datetime1">
              <a:rPr lang="en-US" smtClean="0"/>
              <a:t>5/4/2020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746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DC29E-5191-470A-9204-FC4AD4526B8A}" type="datetime1">
              <a:rPr lang="en-US" smtClean="0"/>
              <a:t>5/4/2020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48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85AA9-82A7-46BF-A18F-3A5A0AE19539}" type="datetime1">
              <a:rPr lang="en-US" smtClean="0"/>
              <a:t>5/4/2020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183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6878C-DD7B-47C7-AEE6-1D05263A9384}" type="datetime1">
              <a:rPr lang="en-US" smtClean="0"/>
              <a:t>5/4/2020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962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8B0517-BF92-4361-8C01-81D36618AD82}" type="datetime1">
              <a:rPr lang="en-US" smtClean="0"/>
              <a:t>5/4/2020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73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1772817"/>
            <a:ext cx="8712968" cy="18002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Course: </a:t>
            </a:r>
            <a:r>
              <a:rPr lang="en-US" b="1" dirty="0"/>
              <a:t>ARM Processor &amp; </a:t>
            </a:r>
            <a:r>
              <a:rPr lang="en-US" b="1" dirty="0" smtClean="0"/>
              <a:t>Applications</a:t>
            </a:r>
            <a:br>
              <a:rPr lang="en-US" b="1" dirty="0" smtClean="0"/>
            </a:br>
            <a:r>
              <a:rPr lang="en-US" b="1" dirty="0" smtClean="0"/>
              <a:t>(15EECC207) </a:t>
            </a:r>
            <a:r>
              <a:rPr lang="en-US" sz="5400" b="1" dirty="0" smtClean="0"/>
              <a:t>   </a:t>
            </a:r>
            <a:r>
              <a:rPr lang="en-IN" b="1" dirty="0">
                <a:latin typeface="Arial"/>
                <a:ea typeface="Arial"/>
              </a:rPr>
              <a:t/>
            </a:r>
            <a:br>
              <a:rPr lang="en-IN" b="1" dirty="0">
                <a:latin typeface="Arial"/>
                <a:ea typeface="Arial"/>
              </a:rPr>
            </a:br>
            <a:r>
              <a:rPr lang="en-US" b="1" dirty="0" smtClean="0"/>
              <a:t> </a:t>
            </a: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268688"/>
            <a:ext cx="6400800" cy="1752600"/>
          </a:xfrm>
        </p:spPr>
        <p:txBody>
          <a:bodyPr/>
          <a:lstStyle/>
          <a:p>
            <a:r>
              <a:rPr lang="en-IN" dirty="0" smtClean="0"/>
              <a:t>Faculty In Charge: Supriya </a:t>
            </a:r>
            <a:r>
              <a:rPr lang="en-IN" dirty="0" err="1" smtClean="0"/>
              <a:t>Katwe</a:t>
            </a:r>
            <a:endParaRPr lang="en-IN" dirty="0" smtClean="0"/>
          </a:p>
          <a:p>
            <a:r>
              <a:rPr lang="en-IN" smtClean="0"/>
              <a:t>	</a:t>
            </a:r>
            <a:r>
              <a:rPr lang="en-IN"/>
              <a:t> </a:t>
            </a:r>
            <a:r>
              <a:rPr lang="en-IN" smtClean="0"/>
              <a:t>                </a:t>
            </a:r>
            <a:r>
              <a:rPr lang="en-IN" smtClean="0"/>
              <a:t>Preeti</a:t>
            </a:r>
            <a:r>
              <a:rPr lang="en-IN" dirty="0" smtClean="0"/>
              <a:t> </a:t>
            </a:r>
            <a:r>
              <a:rPr lang="en-IN" dirty="0" err="1" smtClean="0"/>
              <a:t>Pillai</a:t>
            </a:r>
            <a:endParaRPr lang="en-IN" dirty="0" smtClean="0"/>
          </a:p>
          <a:p>
            <a:r>
              <a:rPr lang="en-IN" dirty="0" smtClean="0"/>
              <a:t>			   </a:t>
            </a:r>
            <a:r>
              <a:rPr lang="en-IN" dirty="0" err="1" smtClean="0"/>
              <a:t>Bhagyashree</a:t>
            </a:r>
            <a:r>
              <a:rPr lang="en-IN" dirty="0" smtClean="0"/>
              <a:t> K</a:t>
            </a:r>
            <a:endParaRPr lang="en-IN" dirty="0"/>
          </a:p>
        </p:txBody>
      </p:sp>
      <p:pic>
        <p:nvPicPr>
          <p:cNvPr id="5" name="Picture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71791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83768" y="44625"/>
            <a:ext cx="5974432" cy="100811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Course: ARM </a:t>
            </a:r>
            <a:r>
              <a:rPr lang="en-US" sz="2800" dirty="0"/>
              <a:t>Processor &amp; Applications</a:t>
            </a:r>
            <a:endParaRPr lang="en-IN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1196752"/>
            <a:ext cx="7920880" cy="5112568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b="1" dirty="0"/>
              <a:t>Course Outcomes (COs): </a:t>
            </a:r>
            <a:endParaRPr lang="en-IN" dirty="0"/>
          </a:p>
          <a:p>
            <a:pPr algn="l"/>
            <a:r>
              <a:rPr lang="en-US" dirty="0"/>
              <a:t>At the end of the course the student should be able to</a:t>
            </a:r>
            <a:r>
              <a:rPr lang="en-US" dirty="0" smtClean="0"/>
              <a:t>:</a:t>
            </a:r>
          </a:p>
          <a:p>
            <a:pPr algn="l"/>
            <a:r>
              <a:rPr lang="en-US" dirty="0" smtClean="0"/>
              <a:t>  </a:t>
            </a:r>
            <a:endParaRPr lang="en-IN" dirty="0"/>
          </a:p>
          <a:p>
            <a:pPr marL="571500" lvl="0" indent="-571500" algn="l">
              <a:buFont typeface="+mj-lt"/>
              <a:buAutoNum type="romanLcPeriod"/>
            </a:pPr>
            <a:r>
              <a:rPr lang="en-US" dirty="0"/>
              <a:t>Discuss advanced microprocessor architecture and pipeline </a:t>
            </a:r>
            <a:r>
              <a:rPr lang="en-US" dirty="0" smtClean="0"/>
              <a:t>structure.</a:t>
            </a:r>
            <a:endParaRPr lang="en-IN" dirty="0"/>
          </a:p>
          <a:p>
            <a:pPr marL="571500" lvl="0" indent="-571500" algn="l">
              <a:buFont typeface="+mj-lt"/>
              <a:buAutoNum type="romanLcPeriod"/>
            </a:pPr>
            <a:r>
              <a:rPr lang="en-US" dirty="0" smtClean="0"/>
              <a:t>Write </a:t>
            </a:r>
            <a:r>
              <a:rPr lang="en-US" dirty="0"/>
              <a:t>assembly language programs with a tradeoff between size and complexity and test it using development </a:t>
            </a:r>
            <a:r>
              <a:rPr lang="en-US" dirty="0" smtClean="0"/>
              <a:t>tools.</a:t>
            </a:r>
            <a:endParaRPr lang="en-IN" dirty="0"/>
          </a:p>
          <a:p>
            <a:pPr marL="571500" lvl="0" indent="-571500" algn="l">
              <a:buFont typeface="+mj-lt"/>
              <a:buAutoNum type="romanLcPeriod"/>
            </a:pPr>
            <a:r>
              <a:rPr lang="en-US" dirty="0" smtClean="0"/>
              <a:t>Develop </a:t>
            </a:r>
            <a:r>
              <a:rPr lang="en-US" dirty="0"/>
              <a:t>an assembly level program for the given application using ARM or THUMB or both instruction </a:t>
            </a:r>
            <a:r>
              <a:rPr lang="en-US" dirty="0" smtClean="0"/>
              <a:t>set.</a:t>
            </a:r>
            <a:endParaRPr lang="en-IN" dirty="0"/>
          </a:p>
          <a:p>
            <a:pPr marL="571500" lvl="0" indent="-571500" algn="l">
              <a:buFont typeface="+mj-lt"/>
              <a:buAutoNum type="romanLcPeriod"/>
            </a:pPr>
            <a:r>
              <a:rPr lang="en-US" dirty="0"/>
              <a:t>Discuss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dirty="0"/>
              <a:t>the concept of interrupt and their application.</a:t>
            </a:r>
            <a:endParaRPr lang="en-IN" dirty="0"/>
          </a:p>
          <a:p>
            <a:pPr marL="571500" lvl="0" indent="-571500" algn="l">
              <a:buFont typeface="+mj-lt"/>
              <a:buAutoNum type="romanLcPeriod"/>
            </a:pPr>
            <a:r>
              <a:rPr lang="en-US" b="1" dirty="0" smtClean="0">
                <a:solidFill>
                  <a:schemeClr val="tx1"/>
                </a:solidFill>
              </a:rPr>
              <a:t>Develop </a:t>
            </a:r>
            <a:r>
              <a:rPr lang="en-US" b="1" dirty="0">
                <a:solidFill>
                  <a:schemeClr val="tx1"/>
                </a:solidFill>
              </a:rPr>
              <a:t>a C code for interfacing different ON/OFF board peripheral devices to LPC 2148 controller.</a:t>
            </a:r>
            <a:endParaRPr lang="en-IN" b="1" dirty="0">
              <a:solidFill>
                <a:schemeClr val="tx1"/>
              </a:solidFill>
            </a:endParaRPr>
          </a:p>
          <a:p>
            <a:pPr algn="l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58442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Lesson Schedule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6B1BF-BB59-41D7-B751-AD34B4D1FC6D}" type="datetime1">
              <a:rPr lang="en-US" smtClean="0"/>
              <a:t>5/4/2020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686713"/>
              </p:ext>
            </p:extLst>
          </p:nvPr>
        </p:nvGraphicFramePr>
        <p:xfrm>
          <a:off x="914400" y="2286000"/>
          <a:ext cx="6096000" cy="372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181600"/>
              </a:tblGrid>
              <a:tr h="46609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Sl</a:t>
                      </a:r>
                      <a:r>
                        <a:rPr lang="en-US" dirty="0" smtClean="0"/>
                        <a:t> No.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Topic </a:t>
                      </a:r>
                      <a:endParaRPr lang="en-US" dirty="0"/>
                    </a:p>
                  </a:txBody>
                  <a:tcPr/>
                </a:tc>
              </a:tr>
              <a:tr h="46609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Introduction to lpc2148</a:t>
                      </a:r>
                      <a:endParaRPr lang="en-US" dirty="0"/>
                    </a:p>
                  </a:txBody>
                  <a:tcPr/>
                </a:tc>
              </a:tr>
              <a:tr h="46609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Features </a:t>
                      </a:r>
                      <a:endParaRPr lang="en-US" dirty="0"/>
                    </a:p>
                  </a:txBody>
                  <a:tcPr/>
                </a:tc>
              </a:tr>
              <a:tr h="46609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GPIO Register Configuration </a:t>
                      </a:r>
                      <a:endParaRPr lang="en-US" dirty="0"/>
                    </a:p>
                  </a:txBody>
                  <a:tcPr/>
                </a:tc>
              </a:tr>
              <a:tr h="46609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LPC2148 Board</a:t>
                      </a:r>
                      <a:endParaRPr lang="en-US" dirty="0"/>
                    </a:p>
                  </a:txBody>
                  <a:tcPr/>
                </a:tc>
              </a:tr>
              <a:tr h="46609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Algorithm </a:t>
                      </a:r>
                      <a:endParaRPr lang="en-US" dirty="0"/>
                    </a:p>
                  </a:txBody>
                  <a:tcPr/>
                </a:tc>
              </a:tr>
              <a:tr h="46609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Program</a:t>
                      </a:r>
                      <a:endParaRPr lang="en-US" dirty="0"/>
                    </a:p>
                  </a:txBody>
                  <a:tcPr/>
                </a:tc>
              </a:tr>
              <a:tr h="46609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Simulation 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05800" cy="14779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Unit-III</a:t>
            </a:r>
            <a:br>
              <a:rPr lang="en-US" b="1" dirty="0" smtClean="0"/>
            </a:br>
            <a:r>
              <a:rPr lang="en-US" b="1" dirty="0" smtClean="0"/>
              <a:t>Introduction to LPC2148 &amp; GPIO Programming </a:t>
            </a:r>
            <a:endParaRPr lang="en-US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8" name="Picture 7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98630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Introduction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NXP (founded by Philips) LPC2148 is an ARM7TDMI-S based high-performance 32-bit RISC Microcontroller.</a:t>
            </a:r>
          </a:p>
          <a:p>
            <a:r>
              <a:rPr lang="en-US" sz="2400" dirty="0" smtClean="0"/>
              <a:t>LPC is Linear Programming Control. in LPC2148 and 2148 is the version of LPC controllers.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82F89-BEA1-4365-AFF9-0B1AA90A66AD}" type="datetime1">
              <a:rPr lang="en-US" smtClean="0"/>
              <a:t>5/4/2020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863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smtClean="0"/>
              <a:t>LPC2148 Features </a:t>
            </a:r>
            <a:endParaRPr lang="en-US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It </a:t>
            </a:r>
            <a:r>
              <a:rPr lang="en-US" sz="2400" dirty="0"/>
              <a:t>has an on-chip static RAM of 32kB and an on-chip flash memory of </a:t>
            </a:r>
            <a:r>
              <a:rPr lang="en-US" sz="2400" dirty="0" smtClean="0"/>
              <a:t>512kB.</a:t>
            </a:r>
          </a:p>
          <a:p>
            <a:r>
              <a:rPr lang="en-US" sz="2400" dirty="0"/>
              <a:t>45 </a:t>
            </a:r>
            <a:r>
              <a:rPr lang="en-US" sz="2400" dirty="0" smtClean="0"/>
              <a:t> </a:t>
            </a:r>
            <a:r>
              <a:rPr lang="en-US" sz="2400" dirty="0"/>
              <a:t>GPIO lines</a:t>
            </a:r>
          </a:p>
          <a:p>
            <a:r>
              <a:rPr lang="en-US" sz="2400" dirty="0" smtClean="0"/>
              <a:t>9 external </a:t>
            </a:r>
            <a:r>
              <a:rPr lang="en-US" sz="2400" dirty="0"/>
              <a:t>interrupt pins</a:t>
            </a:r>
            <a:endParaRPr lang="en-US" sz="2400" dirty="0" smtClean="0"/>
          </a:p>
          <a:p>
            <a:r>
              <a:rPr lang="en-US" sz="2400" dirty="0" smtClean="0"/>
              <a:t>2  </a:t>
            </a:r>
            <a:r>
              <a:rPr lang="en-US" sz="2400" dirty="0"/>
              <a:t>10-bit ADCs (ADC0 and ADC1</a:t>
            </a:r>
            <a:r>
              <a:rPr lang="en-US" sz="2400" dirty="0" smtClean="0"/>
              <a:t>).</a:t>
            </a:r>
          </a:p>
          <a:p>
            <a:r>
              <a:rPr lang="en-US" sz="2400" dirty="0" smtClean="0"/>
              <a:t>2  </a:t>
            </a:r>
            <a:r>
              <a:rPr lang="en-US" sz="2400" dirty="0"/>
              <a:t>32-bit timers/external </a:t>
            </a:r>
            <a:r>
              <a:rPr lang="en-US" sz="2400" dirty="0" smtClean="0"/>
              <a:t>event.</a:t>
            </a:r>
          </a:p>
          <a:p>
            <a:r>
              <a:rPr lang="en-US" sz="2400" dirty="0"/>
              <a:t>CPU clock up to 60 MHz</a:t>
            </a:r>
            <a:r>
              <a:rPr lang="en-US" sz="2400" dirty="0" smtClean="0"/>
              <a:t>, On-chip </a:t>
            </a:r>
            <a:r>
              <a:rPr lang="en-US" sz="2400" dirty="0"/>
              <a:t>crystal oscillator and On-chip PLL</a:t>
            </a:r>
            <a:r>
              <a:rPr lang="en-US" sz="2400" dirty="0" smtClean="0"/>
              <a:t>. </a:t>
            </a:r>
            <a:endParaRPr lang="en-US" sz="2400" dirty="0"/>
          </a:p>
          <a:p>
            <a:r>
              <a:rPr lang="en-US" sz="2400" dirty="0" smtClean="0"/>
              <a:t>Low </a:t>
            </a:r>
            <a:r>
              <a:rPr lang="en-US" sz="2400" dirty="0"/>
              <a:t>power real-time </a:t>
            </a:r>
            <a:r>
              <a:rPr lang="en-US" sz="2400" dirty="0" smtClean="0"/>
              <a:t>clock(RTC)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AB529-B294-4EC0-9A0E-400CB7F53B35}" type="datetime1">
              <a:rPr lang="en-US" smtClean="0"/>
              <a:t>5/4/2020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282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LPC2148 Features </a:t>
            </a:r>
            <a:r>
              <a:rPr lang="en-US" sz="4400" b="1" dirty="0" smtClean="0"/>
              <a:t>Contd..</a:t>
            </a:r>
            <a:endParaRPr lang="en-US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Multiple serial interfaces </a:t>
            </a:r>
          </a:p>
          <a:p>
            <a:pPr lvl="1"/>
            <a:r>
              <a:rPr lang="en-US" sz="2400" dirty="0"/>
              <a:t> 2 UARTs (16C550), </a:t>
            </a:r>
          </a:p>
          <a:p>
            <a:pPr lvl="1"/>
            <a:r>
              <a:rPr lang="en-US" sz="2400" dirty="0"/>
              <a:t>2 Fast I2C-bus</a:t>
            </a:r>
          </a:p>
          <a:p>
            <a:pPr lvl="1"/>
            <a:r>
              <a:rPr lang="en-US" sz="2400" dirty="0" smtClean="0"/>
              <a:t> 2  </a:t>
            </a:r>
            <a:r>
              <a:rPr lang="en-US" sz="2400" dirty="0"/>
              <a:t>SPI</a:t>
            </a:r>
          </a:p>
          <a:p>
            <a:r>
              <a:rPr lang="en-US" sz="2400" dirty="0"/>
              <a:t>Vectored interrupt controller with configurable priorities and vector addresses.</a:t>
            </a:r>
          </a:p>
          <a:p>
            <a:r>
              <a:rPr lang="en-US" sz="2400" dirty="0"/>
              <a:t>A 10-bit DAC</a:t>
            </a:r>
          </a:p>
          <a:p>
            <a:endParaRPr lang="en-US" sz="2400" dirty="0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2CE93-DD99-4C66-81F1-9D2A9A5952AE}" type="datetime1">
              <a:rPr lang="en-US" smtClean="0"/>
              <a:t>5/4/2020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714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0BC8D-CF73-4299-A730-E76046729976}" type="datetime1">
              <a:rPr lang="en-US" smtClean="0"/>
              <a:t>5/4/2020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27" name="Picture 3" descr="C:\Users\Acer\Desktop\lpc2148block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72333"/>
            <a:ext cx="5548516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6416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Applications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Industrial Control</a:t>
            </a:r>
          </a:p>
          <a:p>
            <a:r>
              <a:rPr lang="en-US" dirty="0" smtClean="0"/>
              <a:t>Medical Systems</a:t>
            </a:r>
          </a:p>
          <a:p>
            <a:r>
              <a:rPr lang="en-US" dirty="0" smtClean="0"/>
              <a:t>Communication Gateway</a:t>
            </a:r>
          </a:p>
          <a:p>
            <a:r>
              <a:rPr lang="en-US" dirty="0" smtClean="0"/>
              <a:t>Access Control</a:t>
            </a:r>
          </a:p>
          <a:p>
            <a:r>
              <a:rPr lang="en-US" dirty="0" smtClean="0"/>
              <a:t>Embedded Soft Modem</a:t>
            </a:r>
          </a:p>
          <a:p>
            <a:r>
              <a:rPr lang="en-US" dirty="0" smtClean="0"/>
              <a:t>General Purpose Applications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0BC8D-CF73-4299-A730-E76046729976}" type="datetime1">
              <a:rPr lang="en-US" smtClean="0"/>
              <a:t>5/4/2020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18631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 smtClean="0"/>
              <a:t>GPIO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LPC2148 has two 32-bit General Purpose I/O ports.</a:t>
            </a:r>
          </a:p>
          <a:p>
            <a:pPr marL="0" indent="0">
              <a:buNone/>
            </a:pPr>
            <a:r>
              <a:rPr lang="en-US" sz="2400" dirty="0"/>
              <a:t>1.  </a:t>
            </a:r>
            <a:r>
              <a:rPr lang="en-US" sz="2400" b="1" dirty="0"/>
              <a:t>PORT0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2.  </a:t>
            </a:r>
            <a:r>
              <a:rPr lang="en-US" sz="2400" b="1" dirty="0"/>
              <a:t>PORT1</a:t>
            </a:r>
            <a:endParaRPr lang="en-US" sz="2400" dirty="0"/>
          </a:p>
          <a:p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874910"/>
              </p:ext>
            </p:extLst>
          </p:nvPr>
        </p:nvGraphicFramePr>
        <p:xfrm>
          <a:off x="304800" y="2971800"/>
          <a:ext cx="8001000" cy="3108960"/>
        </p:xfrm>
        <a:graphic>
          <a:graphicData uri="http://schemas.openxmlformats.org/drawingml/2006/table">
            <a:tbl>
              <a:tblPr/>
              <a:tblGrid>
                <a:gridCol w="2667000"/>
                <a:gridCol w="2667000"/>
                <a:gridCol w="2667000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PORT PINS       </a:t>
                      </a:r>
                      <a:endParaRPr lang="en-US" sz="2400" dirty="0">
                        <a:effectLst/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TYPE</a:t>
                      </a:r>
                      <a:endParaRPr lang="en-US" sz="2400">
                        <a:effectLst/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DESCRIPTION</a:t>
                      </a:r>
                      <a:endParaRPr lang="en-US" sz="2400">
                        <a:effectLst/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effectLst/>
                          <a:latin typeface="+mn-lt"/>
                        </a:rPr>
                        <a:t>P0.0-P0.31</a:t>
                      </a:r>
                      <a:br>
                        <a:rPr lang="en-US" sz="2400" dirty="0">
                          <a:effectLst/>
                          <a:latin typeface="+mn-lt"/>
                        </a:rPr>
                      </a:br>
                      <a:r>
                        <a:rPr lang="en-US" sz="2400" dirty="0">
                          <a:effectLst/>
                          <a:latin typeface="+mn-lt"/>
                        </a:rPr>
                        <a:t>P1.16-P1.31</a:t>
                      </a: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effectLst/>
                          <a:latin typeface="+mn-lt"/>
                        </a:rPr>
                        <a:t>Input/output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effectLst/>
                          <a:latin typeface="+mn-lt"/>
                        </a:rPr>
                        <a:t>General purpose input/output. The number of GPIOs actually available depends on the use of alternate functions.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6FE32-5701-48A3-AC0F-A8C784E7448F}" type="datetime1">
              <a:rPr lang="en-US" smtClean="0"/>
              <a:t>5/4/2020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257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PORT0 </a:t>
            </a:r>
            <a:r>
              <a:rPr lang="en-US" dirty="0"/>
              <a:t>is a 32-bit port</a:t>
            </a:r>
          </a:p>
          <a:p>
            <a:r>
              <a:rPr lang="en-US" dirty="0"/>
              <a:t>Out of these 32 pins, 28 pins can be configured as either general purpose input or output.</a:t>
            </a:r>
          </a:p>
          <a:p>
            <a:r>
              <a:rPr lang="en-US" dirty="0"/>
              <a:t>1 of these 32 pins (P0.31) can be configured as general-purpose output only.</a:t>
            </a:r>
          </a:p>
          <a:p>
            <a:r>
              <a:rPr lang="en-US" dirty="0"/>
              <a:t>3 of these 32 pins (P0.24, P0.26 and P0.27) are reserved. Hence, they are not available for use. Also, these pins are not mentioned in pin diagram.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F4F8-A615-4C9F-B4B7-0E14AA759528}" type="datetime1">
              <a:rPr lang="en-US" smtClean="0"/>
              <a:t>5/4/2020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87257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LPC2148 Pin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4ED31-DABF-4253-BCAE-91C4F515D517}" type="datetime1">
              <a:rPr lang="en-US" smtClean="0"/>
              <a:t>5/4/2020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1342309"/>
            <a:ext cx="4876800" cy="5305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8" name="Picture 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58193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b="1" dirty="0"/>
              <a:t>Register</a:t>
            </a:r>
            <a:r>
              <a:rPr lang="en-US" b="1" dirty="0"/>
              <a:t> Configuration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b="1" dirty="0" smtClean="0"/>
              <a:t>PINSEL</a:t>
            </a:r>
          </a:p>
          <a:p>
            <a:r>
              <a:rPr lang="pt-BR" sz="2800" b="1" dirty="0" smtClean="0"/>
              <a:t>IODIR</a:t>
            </a:r>
          </a:p>
          <a:p>
            <a:r>
              <a:rPr lang="pt-BR" sz="2800" b="1" dirty="0" smtClean="0"/>
              <a:t>IOSET</a:t>
            </a:r>
          </a:p>
          <a:p>
            <a:r>
              <a:rPr lang="pt-BR" sz="2800" b="1" dirty="0" smtClean="0"/>
              <a:t>IOCLR</a:t>
            </a:r>
          </a:p>
          <a:p>
            <a:r>
              <a:rPr lang="pt-BR" sz="2800" b="1" dirty="0" smtClean="0"/>
              <a:t>IOPIN</a:t>
            </a:r>
            <a:endParaRPr lang="en-US" sz="2800" dirty="0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C4B52-0AE9-4D6C-8BAE-F638DA51BECA}" type="datetime1">
              <a:rPr lang="en-US" smtClean="0"/>
              <a:t>5/4/2020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510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35466"/>
            <a:ext cx="8229600" cy="1143000"/>
          </a:xfrm>
        </p:spPr>
        <p:txBody>
          <a:bodyPr/>
          <a:lstStyle/>
          <a:p>
            <a:r>
              <a:rPr lang="pt-BR" sz="4400" b="1" dirty="0"/>
              <a:t>PINSEL: GPIO Pins Select Register</a:t>
            </a:r>
            <a:endParaRPr lang="en-US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Pin Function Select Registers are 32-bit registers. These registers are used to select or configure specific pin functionality</a:t>
            </a:r>
            <a:r>
              <a:rPr lang="en-US" sz="2400" dirty="0" smtClean="0"/>
              <a:t>.</a:t>
            </a:r>
          </a:p>
          <a:p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514600"/>
            <a:ext cx="732155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419600"/>
            <a:ext cx="70866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381000" y="4098924"/>
            <a:ext cx="8229600" cy="3960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 smtClean="0">
                <a:latin typeface="+mn-lt"/>
              </a:rPr>
              <a:t>For Example PINSEL0 In LPC2148 for BIT P0.0</a:t>
            </a:r>
            <a:endParaRPr lang="en-US" sz="2000" dirty="0">
              <a:latin typeface="+mn-lt"/>
            </a:endParaRPr>
          </a:p>
        </p:txBody>
      </p:sp>
      <p:pic>
        <p:nvPicPr>
          <p:cNvPr id="8" name="Picture 7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1359D-F908-4D1D-84AA-80E93A37476A}" type="datetime1">
              <a:rPr lang="en-US" smtClean="0"/>
              <a:t>5/4/2020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96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33400" y="1905000"/>
            <a:ext cx="767541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There are 3 Pin Function Select Registers in LPC2148</a:t>
            </a:r>
            <a:r>
              <a:rPr lang="en-US" sz="2400" dirty="0" smtClean="0"/>
              <a:t>: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en-US" sz="2400" b="1" dirty="0" smtClean="0"/>
              <a:t>PINSEL0 </a:t>
            </a:r>
            <a:r>
              <a:rPr lang="en-US" sz="2400" b="1" dirty="0"/>
              <a:t>: - </a:t>
            </a:r>
            <a:r>
              <a:rPr lang="en-US" sz="2400" dirty="0"/>
              <a:t>PINSEL0 is used to configure PORT0 pins P0.0 to P0.15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dirty="0"/>
              <a:t>2.  </a:t>
            </a:r>
            <a:r>
              <a:rPr lang="en-US" sz="2400" b="1" dirty="0"/>
              <a:t>PINSEL1 : - </a:t>
            </a:r>
            <a:r>
              <a:rPr lang="en-US" sz="2400" dirty="0"/>
              <a:t>PINSEL1 is used to configure PORT0 pins P0.16 to P0.31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dirty="0"/>
              <a:t>3.  </a:t>
            </a:r>
            <a:r>
              <a:rPr lang="en-US" sz="2400" b="1" dirty="0"/>
              <a:t>PINSEL2 : - </a:t>
            </a:r>
            <a:r>
              <a:rPr lang="en-US" sz="2400" dirty="0"/>
              <a:t>PINSEL2 is used to configure PORT1 pins P1.16 to P1.31.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4032A-04FB-4476-8C81-3A92F68BB300}" type="datetime1">
              <a:rPr lang="en-US" smtClean="0"/>
              <a:t>5/4/2020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594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smtClean="0"/>
              <a:t>IODIR</a:t>
            </a:r>
            <a:r>
              <a:rPr lang="fr-FR" sz="4400" b="1" dirty="0"/>
              <a:t>  </a:t>
            </a:r>
            <a:endParaRPr lang="en-US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/>
              <a:t>IODIR0/</a:t>
            </a:r>
            <a:r>
              <a:rPr lang="en-US" sz="2400" b="1" dirty="0"/>
              <a:t> </a:t>
            </a:r>
            <a:r>
              <a:rPr lang="en-US" sz="2400" b="1" dirty="0" smtClean="0"/>
              <a:t>IODIR1</a:t>
            </a:r>
            <a:r>
              <a:rPr lang="fr-FR" sz="2400" dirty="0"/>
              <a:t> </a:t>
            </a:r>
            <a:endParaRPr lang="fr-FR" sz="2400" dirty="0" smtClean="0"/>
          </a:p>
          <a:p>
            <a:pPr marL="0" indent="0">
              <a:buNone/>
            </a:pPr>
            <a:r>
              <a:rPr lang="fr-FR" sz="2400" dirty="0" smtClean="0"/>
              <a:t>GPIO </a:t>
            </a:r>
            <a:r>
              <a:rPr lang="fr-FR" sz="2400" dirty="0"/>
              <a:t>Port Direction control </a:t>
            </a:r>
            <a:r>
              <a:rPr lang="fr-FR" sz="2400" dirty="0" err="1" smtClean="0"/>
              <a:t>register</a:t>
            </a:r>
            <a:endParaRPr lang="fr-FR" sz="2400" dirty="0" smtClean="0"/>
          </a:p>
          <a:p>
            <a:pPr marL="0" indent="0">
              <a:buNone/>
            </a:pPr>
            <a:r>
              <a:rPr lang="en-US" sz="2400" b="1" dirty="0"/>
              <a:t>Controls the direction of each Port </a:t>
            </a:r>
            <a:r>
              <a:rPr lang="en-US" sz="2400" b="1" dirty="0" smtClean="0"/>
              <a:t>Pin</a:t>
            </a:r>
          </a:p>
          <a:p>
            <a:r>
              <a:rPr lang="en-US" sz="2400" dirty="0" smtClean="0"/>
              <a:t>IODIR0 is </a:t>
            </a:r>
            <a:r>
              <a:rPr lang="en-US" sz="2400" dirty="0"/>
              <a:t>used to configure pins of Port 0-P0 as input or output pins.</a:t>
            </a:r>
          </a:p>
          <a:p>
            <a:r>
              <a:rPr lang="en-US" sz="2400" dirty="0"/>
              <a:t>1= Output Pin</a:t>
            </a:r>
            <a:br>
              <a:rPr lang="en-US" sz="2400" dirty="0"/>
            </a:br>
            <a:r>
              <a:rPr lang="en-US" sz="2400" dirty="0"/>
              <a:t>0= Input </a:t>
            </a:r>
            <a:r>
              <a:rPr lang="en-US" sz="2400" dirty="0" smtClean="0"/>
              <a:t>Pin</a:t>
            </a:r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r>
              <a:rPr lang="en-US" sz="2400" b="1" dirty="0" smtClean="0"/>
              <a:t>Example</a:t>
            </a:r>
            <a:r>
              <a:rPr lang="en-US" sz="2400" b="1" dirty="0"/>
              <a:t>:</a:t>
            </a:r>
            <a:r>
              <a:rPr lang="en-US" sz="2400"/>
              <a:t> </a:t>
            </a:r>
            <a:r>
              <a:rPr lang="en-US" sz="2400" b="1" smtClean="0"/>
              <a:t>IODIR0=0x0000FFFF</a:t>
            </a:r>
            <a:r>
              <a:rPr lang="en-US" sz="2400" dirty="0"/>
              <a:t> means </a:t>
            </a:r>
            <a:r>
              <a:rPr lang="en-US" sz="2400" dirty="0" smtClean="0"/>
              <a:t>pins </a:t>
            </a:r>
            <a:r>
              <a:rPr lang="en-US" sz="2400"/>
              <a:t>(</a:t>
            </a:r>
            <a:r>
              <a:rPr lang="en-US" sz="2400" smtClean="0"/>
              <a:t>P0.16-P0.31</a:t>
            </a:r>
            <a:r>
              <a:rPr lang="en-US" sz="2400" dirty="0" smtClean="0"/>
              <a:t>) </a:t>
            </a:r>
            <a:r>
              <a:rPr lang="en-US" sz="2400" dirty="0"/>
              <a:t>are configured as </a:t>
            </a:r>
            <a:r>
              <a:rPr lang="en-US" sz="2400" dirty="0" smtClean="0"/>
              <a:t>INPUT pins </a:t>
            </a:r>
            <a:r>
              <a:rPr lang="en-US" sz="2400" dirty="0"/>
              <a:t>and </a:t>
            </a:r>
            <a:r>
              <a:rPr lang="en-US" sz="2400" dirty="0" smtClean="0"/>
              <a:t> </a:t>
            </a:r>
            <a:r>
              <a:rPr lang="en-US" sz="2400" dirty="0"/>
              <a:t>pins </a:t>
            </a:r>
            <a:r>
              <a:rPr lang="en-US" sz="2400"/>
              <a:t>(</a:t>
            </a:r>
            <a:r>
              <a:rPr lang="en-US" sz="2400" smtClean="0"/>
              <a:t>P0.0-P0.15</a:t>
            </a:r>
            <a:r>
              <a:rPr lang="en-US" sz="2400" dirty="0" smtClean="0"/>
              <a:t>) </a:t>
            </a:r>
            <a:r>
              <a:rPr lang="en-US" sz="2400" dirty="0"/>
              <a:t>are configured as </a:t>
            </a:r>
            <a:r>
              <a:rPr lang="en-US" sz="2400" dirty="0" smtClean="0"/>
              <a:t>OUTPUT </a:t>
            </a:r>
            <a:r>
              <a:rPr lang="en-US" sz="2400" dirty="0"/>
              <a:t>pins.</a:t>
            </a:r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A914B-1500-4EC4-9277-FA770368A73A}" type="datetime1">
              <a:rPr lang="en-US" smtClean="0"/>
              <a:t>5/4/2020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554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1143000"/>
          </a:xfrm>
        </p:spPr>
        <p:txBody>
          <a:bodyPr/>
          <a:lstStyle/>
          <a:p>
            <a:r>
              <a:rPr lang="en-US" sz="4400" b="1" dirty="0"/>
              <a:t>IOSET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IOSET0/</a:t>
            </a:r>
            <a:r>
              <a:rPr lang="en-US" sz="2400" b="1" dirty="0"/>
              <a:t> </a:t>
            </a:r>
            <a:r>
              <a:rPr lang="en-US" sz="2400" b="1" dirty="0" smtClean="0"/>
              <a:t>IOSET1</a:t>
            </a:r>
          </a:p>
          <a:p>
            <a:pPr marL="0" indent="0">
              <a:buNone/>
            </a:pPr>
            <a:r>
              <a:rPr lang="en-US" sz="2400" dirty="0"/>
              <a:t>GPIO Port Output Set registers</a:t>
            </a:r>
            <a:endParaRPr lang="en-US" sz="2400" b="1" dirty="0" smtClean="0"/>
          </a:p>
          <a:p>
            <a:r>
              <a:rPr lang="en-US" sz="2400" dirty="0"/>
              <a:t>This </a:t>
            </a:r>
            <a:r>
              <a:rPr lang="en-US" sz="2400" b="1" dirty="0"/>
              <a:t>register controls the state of output pins </a:t>
            </a:r>
            <a:endParaRPr lang="en-US" sz="2400" b="1" dirty="0" smtClean="0"/>
          </a:p>
          <a:p>
            <a:r>
              <a:rPr lang="en-US" sz="2400" dirty="0" smtClean="0"/>
              <a:t>Writing </a:t>
            </a:r>
            <a:r>
              <a:rPr lang="en-US" sz="2400" dirty="0"/>
              <a:t>ones produces highs at the </a:t>
            </a:r>
            <a:r>
              <a:rPr lang="en-US" sz="2400" dirty="0" smtClean="0"/>
              <a:t>corresponding </a:t>
            </a:r>
            <a:r>
              <a:rPr lang="en-US" sz="2400" dirty="0"/>
              <a:t>port pins. </a:t>
            </a:r>
            <a:endParaRPr lang="en-US" sz="2400" dirty="0" smtClean="0"/>
          </a:p>
          <a:p>
            <a:r>
              <a:rPr lang="en-US" sz="2400" dirty="0" smtClean="0"/>
              <a:t>Writing </a:t>
            </a:r>
            <a:r>
              <a:rPr lang="en-US" sz="2400" dirty="0"/>
              <a:t>zeroes has no effect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It is used to set pins of </a:t>
            </a:r>
            <a:r>
              <a:rPr lang="en-US" sz="2400" dirty="0" smtClean="0"/>
              <a:t>PORT0/PORT1 to </a:t>
            </a:r>
            <a:r>
              <a:rPr lang="en-US" sz="2400" dirty="0"/>
              <a:t>logic 1.</a:t>
            </a:r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 smtClean="0"/>
              <a:t>Example</a:t>
            </a:r>
            <a:r>
              <a:rPr lang="en-US" sz="2400" b="1" dirty="0"/>
              <a:t>: </a:t>
            </a:r>
            <a:r>
              <a:rPr lang="en-US" sz="2400" b="1" dirty="0" smtClean="0"/>
              <a:t>IOSET0=0x0000FFFF</a:t>
            </a:r>
            <a:r>
              <a:rPr lang="en-US" sz="2400" dirty="0"/>
              <a:t> will set pins P0.0 to P0.15 at </a:t>
            </a:r>
            <a:r>
              <a:rPr lang="en-US" sz="2400" dirty="0">
                <a:solidFill>
                  <a:srgbClr val="FF0000"/>
                </a:solidFill>
              </a:rPr>
              <a:t>logic 1</a:t>
            </a:r>
            <a:r>
              <a:rPr lang="en-US" sz="2400" dirty="0"/>
              <a:t>. It will not affect other pins.</a:t>
            </a:r>
          </a:p>
          <a:p>
            <a:endParaRPr lang="en-US" sz="2400" dirty="0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5ED99-6588-43BC-A0CE-225D2030D29A}" type="datetime1">
              <a:rPr lang="en-US" smtClean="0"/>
              <a:t>5/4/2020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763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IOCLR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IOCLR0/</a:t>
            </a:r>
            <a:r>
              <a:rPr lang="en-US" sz="2400" b="1" dirty="0"/>
              <a:t> </a:t>
            </a:r>
            <a:r>
              <a:rPr lang="en-US" sz="2400" b="1" dirty="0" smtClean="0"/>
              <a:t>IOCLR1</a:t>
            </a:r>
          </a:p>
          <a:p>
            <a:pPr marL="0" indent="0">
              <a:buNone/>
            </a:pPr>
            <a:r>
              <a:rPr lang="en-US" sz="2400" dirty="0"/>
              <a:t>GPIO Port Output Clear registers. </a:t>
            </a:r>
            <a:endParaRPr lang="en-US" sz="2400" dirty="0" smtClean="0"/>
          </a:p>
          <a:p>
            <a:r>
              <a:rPr lang="en-US" sz="2400" dirty="0" smtClean="0"/>
              <a:t>This</a:t>
            </a:r>
            <a:r>
              <a:rPr lang="en-US" sz="2400" dirty="0"/>
              <a:t> </a:t>
            </a:r>
            <a:r>
              <a:rPr lang="en-US" sz="2400" b="1" dirty="0"/>
              <a:t>register controls the state of output pins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Writing </a:t>
            </a:r>
            <a:r>
              <a:rPr lang="en-US" sz="2400" dirty="0"/>
              <a:t>ones produces lows at the corresponding port pins </a:t>
            </a:r>
            <a:endParaRPr lang="en-US" sz="2400" dirty="0" smtClean="0"/>
          </a:p>
          <a:p>
            <a:r>
              <a:rPr lang="en-US" sz="2400" dirty="0" smtClean="0"/>
              <a:t>Writing </a:t>
            </a:r>
            <a:r>
              <a:rPr lang="en-US" sz="2400" dirty="0"/>
              <a:t>zeroes has no effect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It is used to set pins of </a:t>
            </a:r>
            <a:r>
              <a:rPr lang="en-US" sz="2400" dirty="0" smtClean="0"/>
              <a:t>PORT0/PORT1 to </a:t>
            </a:r>
            <a:r>
              <a:rPr lang="en-US" sz="2400" dirty="0"/>
              <a:t>logic 0.</a:t>
            </a:r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 smtClean="0"/>
              <a:t>Example</a:t>
            </a:r>
            <a:r>
              <a:rPr lang="en-US" sz="2400" b="1" dirty="0"/>
              <a:t>:</a:t>
            </a:r>
            <a:r>
              <a:rPr lang="en-US" sz="2400" dirty="0"/>
              <a:t> </a:t>
            </a:r>
            <a:r>
              <a:rPr lang="en-US" sz="2400" b="1" dirty="0" smtClean="0"/>
              <a:t>IOCLR0=0x0000FFFF</a:t>
            </a:r>
            <a:r>
              <a:rPr lang="en-US" sz="2400" dirty="0"/>
              <a:t> will set pins P0.0 to P0.15 at </a:t>
            </a:r>
            <a:r>
              <a:rPr lang="en-US" sz="2400" dirty="0">
                <a:solidFill>
                  <a:srgbClr val="FF0000"/>
                </a:solidFill>
              </a:rPr>
              <a:t>logic 0</a:t>
            </a:r>
            <a:r>
              <a:rPr lang="en-US" sz="2400" dirty="0"/>
              <a:t>. It will not affect other pins.</a:t>
            </a:r>
          </a:p>
          <a:p>
            <a:endParaRPr lang="en-US" sz="2400" dirty="0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437FA-B734-4EA7-9802-B16E35B21195}" type="datetime1">
              <a:rPr lang="en-US" smtClean="0"/>
              <a:t>5/4/2020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748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IOPIN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/>
              <a:t>IOPIN0/</a:t>
            </a:r>
            <a:r>
              <a:rPr lang="en-US" sz="2400" b="1" dirty="0"/>
              <a:t> </a:t>
            </a:r>
            <a:r>
              <a:rPr lang="en-US" sz="2400" b="1" dirty="0" smtClean="0"/>
              <a:t>IOPIN1</a:t>
            </a:r>
          </a:p>
          <a:p>
            <a:pPr marL="0" indent="0">
              <a:buNone/>
            </a:pPr>
            <a:r>
              <a:rPr lang="en-US" sz="2400" dirty="0"/>
              <a:t>GPIO Port Pin value register. </a:t>
            </a:r>
            <a:endParaRPr lang="en-US" sz="2400" dirty="0" smtClean="0"/>
          </a:p>
          <a:p>
            <a:r>
              <a:rPr lang="en-US" sz="2400" dirty="0" smtClean="0"/>
              <a:t>The</a:t>
            </a:r>
            <a:r>
              <a:rPr lang="en-US" sz="2400" dirty="0"/>
              <a:t> </a:t>
            </a:r>
            <a:r>
              <a:rPr lang="en-US" sz="2400" b="1" dirty="0"/>
              <a:t>Current State of the GPIO</a:t>
            </a:r>
            <a:r>
              <a:rPr lang="en-US" sz="2400" dirty="0"/>
              <a:t> configured port pins can always be read from this register, regardless of pin direction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Example</a:t>
            </a:r>
            <a:r>
              <a:rPr lang="en-US" sz="2400" b="1" dirty="0" smtClean="0"/>
              <a:t>:</a:t>
            </a:r>
          </a:p>
          <a:p>
            <a:pPr marL="0" indent="0">
              <a:buNone/>
            </a:pPr>
            <a:r>
              <a:rPr lang="en-US" sz="2400" b="1" dirty="0" err="1" smtClean="0"/>
              <a:t>Int</a:t>
            </a:r>
            <a:r>
              <a:rPr lang="en-US" sz="2400" b="1" dirty="0" smtClean="0"/>
              <a:t> x;</a:t>
            </a:r>
          </a:p>
          <a:p>
            <a:pPr marL="0" indent="0">
              <a:buNone/>
            </a:pPr>
            <a:r>
              <a:rPr lang="en-US" sz="2400" b="1" dirty="0" smtClean="0"/>
              <a:t>x=IOPIN0;</a:t>
            </a:r>
            <a:endParaRPr lang="en-US" sz="2400" dirty="0" smtClean="0"/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 </a:t>
            </a:r>
            <a:endParaRPr lang="en-US" sz="2400" dirty="0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03F0E-C994-4264-B2DE-FF4F3D351F50}" type="datetime1">
              <a:rPr lang="en-US" smtClean="0"/>
              <a:t>5/4/2020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470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LPC2148 Development Board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D9B6F-349E-4D4B-8BC9-55302C3A9143}" type="datetime1">
              <a:rPr lang="en-US" smtClean="0"/>
              <a:t>5/4/2020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0"/>
            <a:ext cx="8655570" cy="4512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8" name="Picture 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51222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/>
              <a:t>Board Specifications</a:t>
            </a:r>
            <a:br>
              <a:rPr lang="en-US" b="1" dirty="0" smtClean="0"/>
            </a:br>
            <a:r>
              <a:rPr lang="en-US" b="1" dirty="0" smtClean="0"/>
              <a:t>  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732AA-448A-4C49-A79B-3915909BB4F1}" type="datetime1">
              <a:rPr lang="en-US" smtClean="0"/>
              <a:t>5/4/2020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12MHz Crystal</a:t>
            </a:r>
          </a:p>
          <a:p>
            <a:r>
              <a:rPr lang="en-US" dirty="0" smtClean="0"/>
              <a:t>On board voltage regulator</a:t>
            </a:r>
          </a:p>
          <a:p>
            <a:r>
              <a:rPr lang="en-US" dirty="0" smtClean="0"/>
              <a:t>4 LEDS</a:t>
            </a:r>
          </a:p>
          <a:p>
            <a:r>
              <a:rPr lang="en-US" dirty="0" smtClean="0"/>
              <a:t>Buzzer Interface</a:t>
            </a:r>
          </a:p>
          <a:p>
            <a:r>
              <a:rPr lang="en-US" dirty="0" smtClean="0"/>
              <a:t>4 DIP switches</a:t>
            </a:r>
          </a:p>
          <a:p>
            <a:r>
              <a:rPr lang="en-US" dirty="0" smtClean="0"/>
              <a:t>16x2 LCD Display</a:t>
            </a:r>
          </a:p>
          <a:p>
            <a:r>
              <a:rPr lang="en-US" dirty="0" smtClean="0"/>
              <a:t>2 –digit multiplexed Seven Segment Display Interface</a:t>
            </a:r>
          </a:p>
          <a:p>
            <a:r>
              <a:rPr lang="en-US" dirty="0" smtClean="0"/>
              <a:t>4x4 key Matrix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8" name="Picture 7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100417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Stepper </a:t>
            </a:r>
            <a:r>
              <a:rPr lang="en-US" dirty="0" smtClean="0"/>
              <a:t>Motor Interface</a:t>
            </a:r>
            <a:endParaRPr lang="en-US" dirty="0"/>
          </a:p>
          <a:p>
            <a:r>
              <a:rPr lang="en-US" dirty="0"/>
              <a:t>Dc </a:t>
            </a:r>
            <a:r>
              <a:rPr lang="en-US" dirty="0" smtClean="0"/>
              <a:t>Motor Interface</a:t>
            </a:r>
            <a:endParaRPr lang="en-US" dirty="0"/>
          </a:p>
          <a:p>
            <a:r>
              <a:rPr lang="en-US" dirty="0"/>
              <a:t>Relay </a:t>
            </a:r>
            <a:r>
              <a:rPr lang="en-US" dirty="0" smtClean="0"/>
              <a:t>Interface</a:t>
            </a:r>
            <a:endParaRPr lang="en-US" dirty="0"/>
          </a:p>
          <a:p>
            <a:r>
              <a:rPr lang="en-US" dirty="0"/>
              <a:t>8 –bit DAC </a:t>
            </a:r>
            <a:r>
              <a:rPr lang="en-US" dirty="0" smtClean="0"/>
              <a:t>Interface</a:t>
            </a:r>
            <a:endParaRPr lang="en-US" dirty="0"/>
          </a:p>
          <a:p>
            <a:r>
              <a:rPr lang="en-US" dirty="0" err="1"/>
              <a:t>Onchip</a:t>
            </a:r>
            <a:r>
              <a:rPr lang="en-US" dirty="0"/>
              <a:t> </a:t>
            </a:r>
            <a:r>
              <a:rPr lang="en-US" dirty="0" smtClean="0"/>
              <a:t>ADC interface </a:t>
            </a:r>
            <a:r>
              <a:rPr lang="en-US" dirty="0"/>
              <a:t>circuitry through pot</a:t>
            </a:r>
          </a:p>
          <a:p>
            <a:r>
              <a:rPr lang="en-US" dirty="0" smtClean="0"/>
              <a:t>External </a:t>
            </a:r>
            <a:r>
              <a:rPr lang="en-US" dirty="0"/>
              <a:t>interrupt 0 </a:t>
            </a:r>
            <a:r>
              <a:rPr lang="en-US" dirty="0" smtClean="0"/>
              <a:t>interfacing</a:t>
            </a:r>
            <a:endParaRPr lang="en-US" dirty="0"/>
          </a:p>
          <a:p>
            <a:r>
              <a:rPr lang="en-US" dirty="0"/>
              <a:t>External interrupt 1 interfacing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81B1-4A34-45C4-909B-2AF4D8169EEB}" type="datetime1">
              <a:rPr lang="en-US" smtClean="0"/>
              <a:t>5/4/2020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/>
              <a:t>Board Specifications Contd..</a:t>
            </a:r>
            <a:br>
              <a:rPr lang="en-US" b="1" dirty="0" smtClean="0"/>
            </a:br>
            <a:r>
              <a:rPr lang="en-US" b="1" dirty="0" smtClean="0"/>
              <a:t>  </a:t>
            </a:r>
            <a:endParaRPr lang="en-US" b="1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8" name="Picture 7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568603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LED Circuit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0" y="2209800"/>
            <a:ext cx="4800600" cy="3916363"/>
          </a:xfrm>
        </p:spPr>
        <p:txBody>
          <a:bodyPr/>
          <a:lstStyle/>
          <a:p>
            <a:r>
              <a:rPr lang="en-US" dirty="0" smtClean="0"/>
              <a:t>4 LEDS connected in common anode fashion.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Logic 0 at port = LED ON</a:t>
            </a:r>
          </a:p>
          <a:p>
            <a:r>
              <a:rPr lang="en-US" dirty="0" smtClean="0"/>
              <a:t>Logic 1 at port = LED OFF</a:t>
            </a:r>
          </a:p>
          <a:p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0872-ADF3-4391-A006-CC51B59445E4}" type="datetime1">
              <a:rPr lang="en-US" smtClean="0"/>
              <a:t>5/4/2020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57400"/>
            <a:ext cx="3952875" cy="330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8" name="Picture 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1082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 smtClean="0"/>
              <a:t>Algorithm </a:t>
            </a:r>
            <a:endParaRPr lang="en-US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Blink LEDs connected on pins </a:t>
            </a:r>
            <a:r>
              <a:rPr lang="en-US" sz="2400" dirty="0" smtClean="0"/>
              <a:t>P0.16-P0.19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Step-1:</a:t>
            </a:r>
            <a:r>
              <a:rPr lang="en-US" sz="2400" dirty="0"/>
              <a:t> Select the </a:t>
            </a:r>
            <a:r>
              <a:rPr lang="en-US" sz="2400" b="1" dirty="0"/>
              <a:t>GPIO PORT</a:t>
            </a:r>
            <a:r>
              <a:rPr lang="en-US" sz="2400" dirty="0"/>
              <a:t> Pins using </a:t>
            </a:r>
            <a:r>
              <a:rPr lang="en-US" sz="2400" b="1" dirty="0"/>
              <a:t>PINSEL0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Step-2:</a:t>
            </a:r>
            <a:r>
              <a:rPr lang="en-US" sz="2400" dirty="0"/>
              <a:t> Specify the direction of pins as output using </a:t>
            </a:r>
            <a:r>
              <a:rPr lang="en-US" sz="2400" b="1" dirty="0" smtClean="0"/>
              <a:t>IODIR0</a:t>
            </a:r>
            <a:r>
              <a:rPr lang="en-US" sz="2400" dirty="0" smtClean="0"/>
              <a:t>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Step-3:</a:t>
            </a:r>
            <a:r>
              <a:rPr lang="en-US" sz="2400" dirty="0"/>
              <a:t>  Clear pins </a:t>
            </a:r>
            <a:r>
              <a:rPr lang="en-US" sz="2400" b="1" dirty="0"/>
              <a:t>P0.16-P0.19 using </a:t>
            </a:r>
            <a:r>
              <a:rPr lang="en-US" sz="2400" b="1" dirty="0" smtClean="0"/>
              <a:t>IOCLR0</a:t>
            </a:r>
            <a:r>
              <a:rPr lang="en-US" sz="2400" dirty="0" smtClean="0"/>
              <a:t> to turn ON LEDs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 smtClean="0"/>
              <a:t>Step-4</a:t>
            </a:r>
            <a:r>
              <a:rPr lang="en-US" sz="2400" b="1" dirty="0"/>
              <a:t>:</a:t>
            </a:r>
            <a:r>
              <a:rPr lang="en-US" sz="2400" dirty="0"/>
              <a:t> </a:t>
            </a:r>
            <a:r>
              <a:rPr lang="en-US" sz="2400" dirty="0" smtClean="0"/>
              <a:t>Wait for sometime</a:t>
            </a:r>
          </a:p>
          <a:p>
            <a:pPr marL="0" indent="0">
              <a:buNone/>
            </a:pPr>
            <a:r>
              <a:rPr lang="en-US" sz="2400" b="1" dirty="0" smtClean="0"/>
              <a:t>Step5:   </a:t>
            </a:r>
            <a:r>
              <a:rPr lang="en-US" sz="2400" dirty="0" smtClean="0"/>
              <a:t>Set </a:t>
            </a:r>
            <a:r>
              <a:rPr lang="en-US" sz="2400" dirty="0"/>
              <a:t>pins </a:t>
            </a:r>
            <a:r>
              <a:rPr lang="en-US" sz="2400" b="1" dirty="0"/>
              <a:t>P0.16-P0.19 using </a:t>
            </a:r>
            <a:r>
              <a:rPr lang="en-US" sz="2400" b="1" dirty="0" smtClean="0"/>
              <a:t>IOSET0 to turn OFF LEDs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 smtClean="0"/>
              <a:t>Step-6:</a:t>
            </a:r>
            <a:r>
              <a:rPr lang="en-US" sz="2400" dirty="0"/>
              <a:t> Go to step-2.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DBC1F-8BAE-47B1-B522-A847D1B53871}" type="datetime1">
              <a:rPr lang="en-US" smtClean="0"/>
              <a:t>5/4/2020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517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smtClean="0"/>
              <a:t>First Program </a:t>
            </a:r>
            <a:endParaRPr lang="en-US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864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 smtClean="0"/>
              <a:t>#</a:t>
            </a:r>
            <a:r>
              <a:rPr lang="en-US" sz="1800" dirty="0"/>
              <a:t>include&lt;lpc21xx.h</a:t>
            </a:r>
            <a:r>
              <a:rPr lang="en-US" sz="1800" dirty="0" smtClean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smtClean="0"/>
              <a:t>void </a:t>
            </a:r>
            <a:r>
              <a:rPr lang="en-US" sz="1800" dirty="0"/>
              <a:t>delay(unsigned </a:t>
            </a:r>
            <a:r>
              <a:rPr lang="en-US" sz="1800" dirty="0" err="1"/>
              <a:t>int</a:t>
            </a:r>
            <a:r>
              <a:rPr lang="en-US" sz="1800" dirty="0" smtClean="0"/>
              <a:t>);</a:t>
            </a: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</a:t>
            </a:r>
            <a:r>
              <a:rPr lang="en-US" sz="1800" dirty="0" err="1"/>
              <a:t>int</a:t>
            </a:r>
            <a:r>
              <a:rPr lang="en-US" sz="1800" dirty="0"/>
              <a:t> main()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smtClean="0"/>
              <a:t>PINSEL0=0X00000000;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smtClean="0"/>
              <a:t>IODIR0=0X000F0000;		// </a:t>
            </a:r>
            <a:r>
              <a:rPr lang="en-US" sz="1800" dirty="0"/>
              <a:t>Configure P0.16-P0.19 as Output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smtClean="0"/>
              <a:t>while(1</a:t>
            </a:r>
            <a:r>
              <a:rPr lang="en-US" sz="1800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smtClean="0"/>
              <a:t>	{</a:t>
            </a: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smtClean="0"/>
              <a:t>IOCLR0=0X000F0000;	</a:t>
            </a:r>
            <a:r>
              <a:rPr lang="en-US" sz="1800" dirty="0"/>
              <a:t>// CLEAR (0) P0.16-P0.19</a:t>
            </a:r>
            <a:r>
              <a:rPr lang="en-US" sz="1800" dirty="0" smtClean="0"/>
              <a:t> </a:t>
            </a:r>
            <a:r>
              <a:rPr lang="en-US" sz="1800" dirty="0"/>
              <a:t>to turn </a:t>
            </a:r>
            <a:r>
              <a:rPr lang="en-US" sz="1800" dirty="0" smtClean="0"/>
              <a:t>LEDs </a:t>
            </a:r>
            <a:r>
              <a:rPr lang="en-US" sz="1800" dirty="0"/>
              <a:t>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	delay(100000);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smtClean="0"/>
              <a:t>IOSET0=0X000F0000;	</a:t>
            </a:r>
            <a:r>
              <a:rPr lang="en-US" sz="1800" dirty="0"/>
              <a:t> // SET (1) P0.16-P0.19</a:t>
            </a:r>
            <a:r>
              <a:rPr lang="en-US" sz="1800" dirty="0" smtClean="0"/>
              <a:t> </a:t>
            </a:r>
            <a:r>
              <a:rPr lang="en-US" sz="1800" dirty="0"/>
              <a:t>to turn LEDs OFF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	delay(100000);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smtClean="0"/>
              <a:t>	}</a:t>
            </a:r>
            <a:r>
              <a:rPr lang="en-US" sz="1800" dirty="0"/>
              <a:t>	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smtClean="0"/>
              <a:t>}</a:t>
            </a: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void delay(unsigned </a:t>
            </a:r>
            <a:r>
              <a:rPr lang="en-US" sz="1800" dirty="0" err="1"/>
              <a:t>int</a:t>
            </a:r>
            <a:r>
              <a:rPr lang="en-US" sz="1800" dirty="0"/>
              <a:t> j)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smtClean="0"/>
              <a:t>{</a:t>
            </a:r>
            <a:r>
              <a:rPr lang="en-US" sz="1800" dirty="0"/>
              <a:t>	unsigned </a:t>
            </a:r>
            <a:r>
              <a:rPr lang="en-US" sz="1800" dirty="0" err="1"/>
              <a:t>int</a:t>
            </a:r>
            <a:r>
              <a:rPr lang="en-US" sz="1800" dirty="0"/>
              <a:t> i;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	for(i=0;i&lt;</a:t>
            </a:r>
            <a:r>
              <a:rPr lang="en-US" sz="1800" dirty="0" err="1"/>
              <a:t>j;i</a:t>
            </a:r>
            <a:r>
              <a:rPr lang="en-US" sz="1800" dirty="0"/>
              <a:t>++);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smtClean="0"/>
              <a:t>}</a:t>
            </a:r>
            <a:endParaRPr lang="en-US" sz="1800" dirty="0"/>
          </a:p>
          <a:p>
            <a:endParaRPr lang="en-US" sz="1800" dirty="0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22D51-B241-493E-80E2-C7829B532550}" type="datetime1">
              <a:rPr lang="en-US" smtClean="0"/>
              <a:t>5/4/2020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30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Summary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Lpc2148 Features</a:t>
            </a:r>
          </a:p>
          <a:p>
            <a:r>
              <a:rPr lang="en-US" dirty="0" err="1" smtClean="0"/>
              <a:t>Gpio</a:t>
            </a:r>
            <a:r>
              <a:rPr lang="en-US" dirty="0" smtClean="0"/>
              <a:t> Programming Registers</a:t>
            </a:r>
          </a:p>
          <a:p>
            <a:r>
              <a:rPr lang="en-US" dirty="0" smtClean="0"/>
              <a:t>Board Specifications</a:t>
            </a:r>
          </a:p>
          <a:p>
            <a:r>
              <a:rPr lang="en-US" dirty="0" smtClean="0"/>
              <a:t>LED Blink Simulation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0BC8D-CF73-4299-A730-E76046729976}" type="datetime1">
              <a:rPr lang="en-US" smtClean="0"/>
              <a:t>5/4/2020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4882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4000" b="1" dirty="0" smtClean="0"/>
          </a:p>
          <a:p>
            <a:endParaRPr lang="en-US" sz="4000" b="1" dirty="0"/>
          </a:p>
          <a:p>
            <a:endParaRPr lang="en-US" sz="4000" b="1" dirty="0" smtClean="0"/>
          </a:p>
          <a:p>
            <a:pPr marL="914400" lvl="2" indent="0">
              <a:buNone/>
            </a:pPr>
            <a:r>
              <a:rPr lang="en-US" sz="7200" b="1" dirty="0" smtClean="0">
                <a:latin typeface="+mj-lt"/>
              </a:rPr>
              <a:t>	Thank You </a:t>
            </a:r>
            <a:endParaRPr lang="en-US" sz="7200" b="1" dirty="0">
              <a:latin typeface="+mj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DE7B9-7B10-4D7F-92F9-34EDA46093B8}" type="datetime1">
              <a:rPr lang="en-US" smtClean="0"/>
              <a:t>5/4/2020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School of Electronics &amp; Communication Engg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982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</TotalTime>
  <Words>747</Words>
  <Application>Microsoft Office PowerPoint</Application>
  <PresentationFormat>On-screen Show (4:3)</PresentationFormat>
  <Paragraphs>258</Paragraphs>
  <Slides>26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Course: ARM Processor &amp; Applications (15EECC207)      </vt:lpstr>
      <vt:lpstr>Course: ARM Processor &amp; Applications</vt:lpstr>
      <vt:lpstr>Unit-III Introduction to LPC2148 &amp; GPIO Programming </vt:lpstr>
      <vt:lpstr>Introduction </vt:lpstr>
      <vt:lpstr>LPC2148 Features </vt:lpstr>
      <vt:lpstr>LPC2148 Features Contd..</vt:lpstr>
      <vt:lpstr>PowerPoint Presentation</vt:lpstr>
      <vt:lpstr>Applications </vt:lpstr>
      <vt:lpstr>GPIO </vt:lpstr>
      <vt:lpstr>PowerPoint Presentation</vt:lpstr>
      <vt:lpstr>LPC2148 Pin Diagram</vt:lpstr>
      <vt:lpstr>Register Configuration </vt:lpstr>
      <vt:lpstr>PINSEL: GPIO Pins Select Register</vt:lpstr>
      <vt:lpstr>PowerPoint Presentation</vt:lpstr>
      <vt:lpstr>IODIR  </vt:lpstr>
      <vt:lpstr>IOSET</vt:lpstr>
      <vt:lpstr>IOCLR</vt:lpstr>
      <vt:lpstr>IOPIN</vt:lpstr>
      <vt:lpstr>LPC2148 Development Board</vt:lpstr>
      <vt:lpstr>Board Specifications   </vt:lpstr>
      <vt:lpstr>PowerPoint Presentation</vt:lpstr>
      <vt:lpstr>LED Circuit </vt:lpstr>
      <vt:lpstr>Algorithm </vt:lpstr>
      <vt:lpstr>First Program </vt:lpstr>
      <vt:lpstr>Summary 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LPC2148 GPIO Programming </dc:title>
  <dc:creator>supriyavinayak</dc:creator>
  <cp:lastModifiedBy>Acer</cp:lastModifiedBy>
  <cp:revision>39</cp:revision>
  <dcterms:created xsi:type="dcterms:W3CDTF">2006-08-16T00:00:00Z</dcterms:created>
  <dcterms:modified xsi:type="dcterms:W3CDTF">2020-05-04T06:58:17Z</dcterms:modified>
</cp:coreProperties>
</file>